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5240000" cy="85725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620774-7215-4E28-95F8-B19736A8EE58}" v="27" dt="2026-10-04T15:10:09.1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37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no dernier" userId="0b849cd58950a972" providerId="LiveId" clId="{D3882F65-1598-4E5F-B3AD-5CD47B29D372}"/>
    <pc:docChg chg="undo custSel modSld">
      <pc:chgData name="bruno dernier" userId="0b849cd58950a972" providerId="LiveId" clId="{D3882F65-1598-4E5F-B3AD-5CD47B29D372}" dt="2026-10-04T15:22:00.851" v="150" actId="20577"/>
      <pc:docMkLst>
        <pc:docMk/>
      </pc:docMkLst>
      <pc:sldChg chg="modSp mod">
        <pc:chgData name="bruno dernier" userId="0b849cd58950a972" providerId="LiveId" clId="{D3882F65-1598-4E5F-B3AD-5CD47B29D372}" dt="2026-10-04T15:22:00.851" v="150" actId="20577"/>
        <pc:sldMkLst>
          <pc:docMk/>
          <pc:sldMk cId="1137530186" sldId="256"/>
        </pc:sldMkLst>
        <pc:spChg chg="mod">
          <ac:chgData name="bruno dernier" userId="0b849cd58950a972" providerId="LiveId" clId="{D3882F65-1598-4E5F-B3AD-5CD47B29D372}" dt="2026-10-04T15:22:00.851" v="150" actId="20577"/>
          <ac:spMkLst>
            <pc:docMk/>
            <pc:sldMk cId="1137530186" sldId="256"/>
            <ac:spMk id="5" creationId="{47E56C86-F77C-48C9-865D-38377A836448}"/>
          </ac:spMkLst>
        </pc:spChg>
      </pc:sldChg>
      <pc:sldChg chg="modSp mod">
        <pc:chgData name="bruno dernier" userId="0b849cd58950a972" providerId="LiveId" clId="{D3882F65-1598-4E5F-B3AD-5CD47B29D372}" dt="2026-10-04T14:55:47.156" v="1"/>
        <pc:sldMkLst>
          <pc:docMk/>
          <pc:sldMk cId="830229291" sldId="279"/>
        </pc:sldMkLst>
        <pc:spChg chg="mod">
          <ac:chgData name="bruno dernier" userId="0b849cd58950a972" providerId="LiveId" clId="{D3882F65-1598-4E5F-B3AD-5CD47B29D372}" dt="2026-10-04T14:55:47.156" v="1"/>
          <ac:spMkLst>
            <pc:docMk/>
            <pc:sldMk cId="830229291" sldId="279"/>
            <ac:spMk id="6" creationId="{27CA5D6E-6DD5-4D68-8173-90FF86879AAD}"/>
          </ac:spMkLst>
        </pc:spChg>
      </pc:sldChg>
      <pc:sldChg chg="modSp mod">
        <pc:chgData name="bruno dernier" userId="0b849cd58950a972" providerId="LiveId" clId="{D3882F65-1598-4E5F-B3AD-5CD47B29D372}" dt="2026-10-04T14:55:47.180" v="8"/>
        <pc:sldMkLst>
          <pc:docMk/>
          <pc:sldMk cId="38112153" sldId="281"/>
        </pc:sldMkLst>
        <pc:spChg chg="mod">
          <ac:chgData name="bruno dernier" userId="0b849cd58950a972" providerId="LiveId" clId="{D3882F65-1598-4E5F-B3AD-5CD47B29D372}" dt="2026-10-04T14:55:47.170" v="3"/>
          <ac:spMkLst>
            <pc:docMk/>
            <pc:sldMk cId="38112153" sldId="281"/>
            <ac:spMk id="4" creationId="{A54717B6-4393-4F12-AE75-BC5F8C10A1F2}"/>
          </ac:spMkLst>
        </pc:spChg>
        <pc:spChg chg="mod">
          <ac:chgData name="bruno dernier" userId="0b849cd58950a972" providerId="LiveId" clId="{D3882F65-1598-4E5F-B3AD-5CD47B29D372}" dt="2026-10-04T14:55:47.177" v="6" actId="27636"/>
          <ac:spMkLst>
            <pc:docMk/>
            <pc:sldMk cId="38112153" sldId="281"/>
            <ac:spMk id="6" creationId="{362F13BC-9473-4C5C-B7C7-FF1CF0357698}"/>
          </ac:spMkLst>
        </pc:spChg>
        <pc:spChg chg="mod">
          <ac:chgData name="bruno dernier" userId="0b849cd58950a972" providerId="LiveId" clId="{D3882F65-1598-4E5F-B3AD-5CD47B29D372}" dt="2026-10-04T14:55:47.180" v="8"/>
          <ac:spMkLst>
            <pc:docMk/>
            <pc:sldMk cId="38112153" sldId="281"/>
            <ac:spMk id="8" creationId="{23100034-6D1B-4D85-96D8-2349E99B4564}"/>
          </ac:spMkLst>
        </pc:spChg>
      </pc:sldChg>
      <pc:sldChg chg="modSp mod">
        <pc:chgData name="bruno dernier" userId="0b849cd58950a972" providerId="LiveId" clId="{D3882F65-1598-4E5F-B3AD-5CD47B29D372}" dt="2026-10-04T14:55:47.193" v="15"/>
        <pc:sldMkLst>
          <pc:docMk/>
          <pc:sldMk cId="1697006384" sldId="282"/>
        </pc:sldMkLst>
        <pc:spChg chg="mod">
          <ac:chgData name="bruno dernier" userId="0b849cd58950a972" providerId="LiveId" clId="{D3882F65-1598-4E5F-B3AD-5CD47B29D372}" dt="2026-10-04T14:55:47.185" v="10"/>
          <ac:spMkLst>
            <pc:docMk/>
            <pc:sldMk cId="1697006384" sldId="282"/>
            <ac:spMk id="4" creationId="{1A1CE31A-3B3D-492B-892F-D9C023E62483}"/>
          </ac:spMkLst>
        </pc:spChg>
        <pc:spChg chg="mod">
          <ac:chgData name="bruno dernier" userId="0b849cd58950a972" providerId="LiveId" clId="{D3882F65-1598-4E5F-B3AD-5CD47B29D372}" dt="2026-10-04T14:55:47.191" v="13" actId="27636"/>
          <ac:spMkLst>
            <pc:docMk/>
            <pc:sldMk cId="1697006384" sldId="282"/>
            <ac:spMk id="6" creationId="{269FAAF0-50EB-4503-B639-272A24BBFAAE}"/>
          </ac:spMkLst>
        </pc:spChg>
        <pc:spChg chg="mod">
          <ac:chgData name="bruno dernier" userId="0b849cd58950a972" providerId="LiveId" clId="{D3882F65-1598-4E5F-B3AD-5CD47B29D372}" dt="2026-10-04T14:55:47.193" v="15"/>
          <ac:spMkLst>
            <pc:docMk/>
            <pc:sldMk cId="1697006384" sldId="282"/>
            <ac:spMk id="8" creationId="{5C570778-4B8C-48E2-89D3-0F7479CB4D01}"/>
          </ac:spMkLst>
        </pc:spChg>
      </pc:sldChg>
      <pc:sldChg chg="modSp mod">
        <pc:chgData name="bruno dernier" userId="0b849cd58950a972" providerId="LiveId" clId="{D3882F65-1598-4E5F-B3AD-5CD47B29D372}" dt="2026-10-04T14:56:35.981" v="48"/>
        <pc:sldMkLst>
          <pc:docMk/>
          <pc:sldMk cId="460497655" sldId="283"/>
        </pc:sldMkLst>
        <pc:spChg chg="mod">
          <ac:chgData name="bruno dernier" userId="0b849cd58950a972" providerId="LiveId" clId="{D3882F65-1598-4E5F-B3AD-5CD47B29D372}" dt="2026-10-04T14:55:47.199" v="17"/>
          <ac:spMkLst>
            <pc:docMk/>
            <pc:sldMk cId="460497655" sldId="283"/>
            <ac:spMk id="4" creationId="{3E088C13-3EF4-4989-A7BE-38239E889DF8}"/>
          </ac:spMkLst>
        </pc:spChg>
        <pc:spChg chg="mod">
          <ac:chgData name="bruno dernier" userId="0b849cd58950a972" providerId="LiveId" clId="{D3882F65-1598-4E5F-B3AD-5CD47B29D372}" dt="2026-10-04T14:56:35.981" v="48"/>
          <ac:spMkLst>
            <pc:docMk/>
            <pc:sldMk cId="460497655" sldId="283"/>
            <ac:spMk id="6" creationId="{624C5564-FA99-4255-87D7-E2A3479E72E0}"/>
          </ac:spMkLst>
        </pc:spChg>
        <pc:spChg chg="mod">
          <ac:chgData name="bruno dernier" userId="0b849cd58950a972" providerId="LiveId" clId="{D3882F65-1598-4E5F-B3AD-5CD47B29D372}" dt="2026-10-04T14:55:47.207" v="21"/>
          <ac:spMkLst>
            <pc:docMk/>
            <pc:sldMk cId="460497655" sldId="283"/>
            <ac:spMk id="8" creationId="{82A968C0-BC2C-40D0-AC83-EBD8733A4364}"/>
          </ac:spMkLst>
        </pc:spChg>
      </pc:sldChg>
      <pc:sldChg chg="modSp mod">
        <pc:chgData name="bruno dernier" userId="0b849cd58950a972" providerId="LiveId" clId="{D3882F65-1598-4E5F-B3AD-5CD47B29D372}" dt="2026-10-04T14:59:21.668" v="52" actId="114"/>
        <pc:sldMkLst>
          <pc:docMk/>
          <pc:sldMk cId="766426791" sldId="284"/>
        </pc:sldMkLst>
        <pc:spChg chg="mod">
          <ac:chgData name="bruno dernier" userId="0b849cd58950a972" providerId="LiveId" clId="{D3882F65-1598-4E5F-B3AD-5CD47B29D372}" dt="2026-10-04T14:55:47.211" v="23"/>
          <ac:spMkLst>
            <pc:docMk/>
            <pc:sldMk cId="766426791" sldId="284"/>
            <ac:spMk id="5" creationId="{C2F29E62-114C-45C8-A43C-875E37E54709}"/>
          </ac:spMkLst>
        </pc:spChg>
        <pc:spChg chg="mod">
          <ac:chgData name="bruno dernier" userId="0b849cd58950a972" providerId="LiveId" clId="{D3882F65-1598-4E5F-B3AD-5CD47B29D372}" dt="2026-10-04T14:59:21.668" v="52" actId="114"/>
          <ac:spMkLst>
            <pc:docMk/>
            <pc:sldMk cId="766426791" sldId="284"/>
            <ac:spMk id="7" creationId="{26FD9E1E-E391-4373-9014-AFFCEBBE23F4}"/>
          </ac:spMkLst>
        </pc:spChg>
        <pc:spChg chg="mod">
          <ac:chgData name="bruno dernier" userId="0b849cd58950a972" providerId="LiveId" clId="{D3882F65-1598-4E5F-B3AD-5CD47B29D372}" dt="2026-10-04T14:55:47.218" v="27"/>
          <ac:spMkLst>
            <pc:docMk/>
            <pc:sldMk cId="766426791" sldId="284"/>
            <ac:spMk id="9" creationId="{CE2175D7-4868-447F-BF02-AE0706D1BFC4}"/>
          </ac:spMkLst>
        </pc:spChg>
        <pc:spChg chg="mod">
          <ac:chgData name="bruno dernier" userId="0b849cd58950a972" providerId="LiveId" clId="{D3882F65-1598-4E5F-B3AD-5CD47B29D372}" dt="2026-10-04T14:55:47.224" v="30" actId="27636"/>
          <ac:spMkLst>
            <pc:docMk/>
            <pc:sldMk cId="766426791" sldId="284"/>
            <ac:spMk id="14" creationId="{704731D3-EFF1-A473-7E9F-3EB1BEDB5C2F}"/>
          </ac:spMkLst>
        </pc:spChg>
      </pc:sldChg>
      <pc:sldChg chg="modSp mod">
        <pc:chgData name="bruno dernier" userId="0b849cd58950a972" providerId="LiveId" clId="{D3882F65-1598-4E5F-B3AD-5CD47B29D372}" dt="2026-10-04T14:55:47.227" v="32"/>
        <pc:sldMkLst>
          <pc:docMk/>
          <pc:sldMk cId="1264322554" sldId="285"/>
        </pc:sldMkLst>
        <pc:spChg chg="mod">
          <ac:chgData name="bruno dernier" userId="0b849cd58950a972" providerId="LiveId" clId="{D3882F65-1598-4E5F-B3AD-5CD47B29D372}" dt="2026-10-04T14:55:47.227" v="32"/>
          <ac:spMkLst>
            <pc:docMk/>
            <pc:sldMk cId="1264322554" sldId="285"/>
            <ac:spMk id="7" creationId="{9E89579D-F6F9-4C54-B00C-5978E6FE0C97}"/>
          </ac:spMkLst>
        </pc:spChg>
      </pc:sldChg>
      <pc:sldChg chg="modSp mod">
        <pc:chgData name="bruno dernier" userId="0b849cd58950a972" providerId="LiveId" clId="{D3882F65-1598-4E5F-B3AD-5CD47B29D372}" dt="2026-10-04T14:55:47.236" v="38"/>
        <pc:sldMkLst>
          <pc:docMk/>
          <pc:sldMk cId="1611188488" sldId="287"/>
        </pc:sldMkLst>
        <pc:spChg chg="mod">
          <ac:chgData name="bruno dernier" userId="0b849cd58950a972" providerId="LiveId" clId="{D3882F65-1598-4E5F-B3AD-5CD47B29D372}" dt="2026-10-04T14:55:47.230" v="34"/>
          <ac:spMkLst>
            <pc:docMk/>
            <pc:sldMk cId="1611188488" sldId="287"/>
            <ac:spMk id="4" creationId="{647349B3-97A8-4AE7-9542-2DD5C648D0CF}"/>
          </ac:spMkLst>
        </pc:spChg>
        <pc:spChg chg="mod">
          <ac:chgData name="bruno dernier" userId="0b849cd58950a972" providerId="LiveId" clId="{D3882F65-1598-4E5F-B3AD-5CD47B29D372}" dt="2026-10-04T14:55:47.233" v="36"/>
          <ac:spMkLst>
            <pc:docMk/>
            <pc:sldMk cId="1611188488" sldId="287"/>
            <ac:spMk id="5" creationId="{6D8FCE2A-9837-443C-BFCA-7CA9B542A5A3}"/>
          </ac:spMkLst>
        </pc:spChg>
        <pc:spChg chg="mod">
          <ac:chgData name="bruno dernier" userId="0b849cd58950a972" providerId="LiveId" clId="{D3882F65-1598-4E5F-B3AD-5CD47B29D372}" dt="2026-10-04T14:55:47.236" v="38"/>
          <ac:spMkLst>
            <pc:docMk/>
            <pc:sldMk cId="1611188488" sldId="287"/>
            <ac:spMk id="7" creationId="{132F1B83-B13A-423E-A546-203D3C76EAE9}"/>
          </ac:spMkLst>
        </pc:spChg>
      </pc:sldChg>
      <pc:sldChg chg="modSp mod">
        <pc:chgData name="bruno dernier" userId="0b849cd58950a972" providerId="LiveId" clId="{D3882F65-1598-4E5F-B3AD-5CD47B29D372}" dt="2026-10-04T14:55:47.239" v="40"/>
        <pc:sldMkLst>
          <pc:docMk/>
          <pc:sldMk cId="31176348" sldId="288"/>
        </pc:sldMkLst>
        <pc:spChg chg="mod">
          <ac:chgData name="bruno dernier" userId="0b849cd58950a972" providerId="LiveId" clId="{D3882F65-1598-4E5F-B3AD-5CD47B29D372}" dt="2026-10-04T14:55:47.239" v="40"/>
          <ac:spMkLst>
            <pc:docMk/>
            <pc:sldMk cId="31176348" sldId="288"/>
            <ac:spMk id="7" creationId="{F35C59BE-7400-486F-A7B2-462B62A9ADF0}"/>
          </ac:spMkLst>
        </pc:spChg>
      </pc:sldChg>
      <pc:sldChg chg="delSp modSp mod">
        <pc:chgData name="bruno dernier" userId="0b849cd58950a972" providerId="LiveId" clId="{D3882F65-1598-4E5F-B3AD-5CD47B29D372}" dt="2026-10-04T15:10:48.179" v="112" actId="478"/>
        <pc:sldMkLst>
          <pc:docMk/>
          <pc:sldMk cId="1118650950" sldId="289"/>
        </pc:sldMkLst>
        <pc:spChg chg="mod">
          <ac:chgData name="bruno dernier" userId="0b849cd58950a972" providerId="LiveId" clId="{D3882F65-1598-4E5F-B3AD-5CD47B29D372}" dt="2026-10-04T15:02:42.650" v="57" actId="6549"/>
          <ac:spMkLst>
            <pc:docMk/>
            <pc:sldMk cId="1118650950" sldId="289"/>
            <ac:spMk id="3" creationId="{28775A8A-9DD2-4240-B9E7-C4149053D709}"/>
          </ac:spMkLst>
        </pc:spChg>
        <pc:spChg chg="mod">
          <ac:chgData name="bruno dernier" userId="0b849cd58950a972" providerId="LiveId" clId="{D3882F65-1598-4E5F-B3AD-5CD47B29D372}" dt="2026-10-04T15:03:56.878" v="77" actId="21"/>
          <ac:spMkLst>
            <pc:docMk/>
            <pc:sldMk cId="1118650950" sldId="289"/>
            <ac:spMk id="4" creationId="{E0455332-0153-400C-A4B2-7BE0167ADFC3}"/>
          </ac:spMkLst>
        </pc:spChg>
        <pc:spChg chg="mod">
          <ac:chgData name="bruno dernier" userId="0b849cd58950a972" providerId="LiveId" clId="{D3882F65-1598-4E5F-B3AD-5CD47B29D372}" dt="2026-10-04T15:10:20.566" v="110" actId="255"/>
          <ac:spMkLst>
            <pc:docMk/>
            <pc:sldMk cId="1118650950" sldId="289"/>
            <ac:spMk id="5" creationId="{49C4FB3D-77AA-4EC3-910C-F3DAAC229C4D}"/>
          </ac:spMkLst>
        </pc:spChg>
        <pc:spChg chg="del">
          <ac:chgData name="bruno dernier" userId="0b849cd58950a972" providerId="LiveId" clId="{D3882F65-1598-4E5F-B3AD-5CD47B29D372}" dt="2026-10-04T15:10:46.328" v="111" actId="478"/>
          <ac:spMkLst>
            <pc:docMk/>
            <pc:sldMk cId="1118650950" sldId="289"/>
            <ac:spMk id="6" creationId="{56990F76-4396-41F1-BA87-F559134FBE25}"/>
          </ac:spMkLst>
        </pc:spChg>
        <pc:spChg chg="del">
          <ac:chgData name="bruno dernier" userId="0b849cd58950a972" providerId="LiveId" clId="{D3882F65-1598-4E5F-B3AD-5CD47B29D372}" dt="2026-10-04T15:10:48.179" v="112" actId="478"/>
          <ac:spMkLst>
            <pc:docMk/>
            <pc:sldMk cId="1118650950" sldId="289"/>
            <ac:spMk id="7" creationId="{338E691E-E87C-4AA9-A1BB-722AFA093076}"/>
          </ac:spMkLst>
        </pc:spChg>
        <pc:picChg chg="mod">
          <ac:chgData name="bruno dernier" userId="0b849cd58950a972" providerId="LiveId" clId="{D3882F65-1598-4E5F-B3AD-5CD47B29D372}" dt="2026-10-04T15:04:17.858" v="88" actId="1076"/>
          <ac:picMkLst>
            <pc:docMk/>
            <pc:sldMk cId="1118650950" sldId="289"/>
            <ac:picMk id="10" creationId="{00000000-0000-0000-0000-00000000000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Durée en ms</c:v>
          </c:tx>
          <c:spPr>
            <a:solidFill>
              <a:srgbClr val="228F99"/>
            </a:solidFill>
          </c:spPr>
          <c:invertIfNegative val="1"/>
          <c:dLbls>
            <c:spPr>
              <a:noFill/>
              <a:ln>
                <a:noFill/>
              </a:ln>
              <a:effectLst/>
            </c:spPr>
            <c:txPr>
              <a:bodyPr anchorCtr="1"/>
              <a:lstStyle/>
              <a:p>
                <a:pPr>
                  <a:defRPr sz="1650" b="1">
                    <a:solidFill>
                      <a:srgbClr val="173044"/>
                    </a:solidFill>
                    <a:latin typeface="Aptos"/>
                    <a:ea typeface="Aptos"/>
                    <a:cs typeface="Apto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p50</c:v>
                </c:pt>
                <c:pt idx="1">
                  <c:v>p90</c:v>
                </c:pt>
                <c:pt idx="2">
                  <c:v>p95</c:v>
                </c:pt>
                <c:pt idx="3">
                  <c:v>p99</c:v>
                </c:pt>
              </c:strCache>
            </c:strRef>
          </c:cat>
          <c:val>
            <c:numRef>
              <c:f>'Chart Data'!$B$2:$B$5</c:f>
              <c:numCache>
                <c:formatCode>General</c:formatCode>
                <c:ptCount val="4"/>
                <c:pt idx="0">
                  <c:v>80</c:v>
                </c:pt>
                <c:pt idx="1">
                  <c:v>160</c:v>
                </c:pt>
                <c:pt idx="2">
                  <c:v>220</c:v>
                </c:pt>
                <c:pt idx="3">
                  <c:v>610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DA7-4EB1-9E20-4332B678D87F}"/>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73044"/>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C8B7A1"/>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3F5B66"/>
                </a:solidFill>
                <a:latin typeface="Aptos"/>
                <a:ea typeface="Aptos"/>
                <a:cs typeface="Apto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Descriptif DEV - RNCP 40166 - M2 - OPTIMISATION BDD - M2.pdf fourni, p. 1-2. Séquence conçue pour 35 heures.</a:t>
            </a:r>
          </a:p>
          <a:p>
            <a:r>
              <a:t>Cours de référence : Formation_NoSQL_2026. Thème et illustrations existantes réutilisés.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descriptif rattache ce module à B4C8 : intégrer les données aux services et aux API. L’étudiant doit relier un besoin applicatif à un schéma, à une requête correcte et à un comportement mesuré.</a:t>
            </a:r>
          </a:p>
          <a:p>
            <a:r>
              <a:t>Le dossier collectif MSPR 4.1 reçoit des preuves : état initial, modification expliquée, résultats comparables et limites. Chaque journée ajoute une pièce à ce dossier. Le cours contribue au Bloc 4 sans couvrir tout le titre.</a:t>
            </a:r>
          </a:p>
          <a:p>
            <a:r>
              <a:t>Aujourd’hui : produire un diagnostic argumenté avant de modifier le système.</a:t>
            </a:r>
          </a:p>
          <a:p>
            <a:endParaRPr/>
          </a:p>
          <a:p>
            <a:r>
              <a:t>Descriptif DEV - RNCP 40166 - M2 - OPTIMISATION BDD - M2.pdf fourni, p. 1-2. Séquence conçue pour 35 heures.</a:t>
            </a:r>
          </a:p>
          <a:p>
            <a:r>
              <a:t>Sources techniques : https://www.francecompetences.fr/recherche/rncp/40166/</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matin pose la méthode de mesure et la lecture d’un plan. L’après-midi applique cette méthode à des jointures et à un endpoint de consultation de commandes.</a:t>
            </a:r>
          </a:p>
          <a:p>
            <a:r>
              <a:t>Le temps de manipulation fait partie des 7 heures. Le support sert de référence pendant l’atelier et après le cours. Les commandes ciblent PostgreSQL 18, avec un schéma de laboratoire fourni.</a:t>
            </a:r>
          </a:p>
          <a:p>
            <a:endParaRP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ShopFlow vend des produits à des clients et conserve leurs commandes. Une API affiche l’historique d’un client, le détail d’une commande et un catalogue filtré. Une seconde activité produit des indicateurs mensuels.</a:t>
            </a:r>
          </a:p>
          <a:p>
            <a:r>
              <a:t>Le jeu pédagogique contient des clients, des produits, des commandes et leurs lignes. Les volumes et les objectifs sont des hypothèses de laboratoire, à distinguer des mesures réellement obtenues. Les mêmes résultats fonctionnels doivent subsister après optimisation.</a:t>
            </a:r>
          </a:p>
          <a:p>
            <a:r>
              <a:t>Le laboratoire fourni utilise 1 000 clients, 200 produits et 100 000 commandes synthétiques.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requête HTTP traverse des couches qui peuvent toutes ajouter de la latence. La base exécute seulement une partie du travail. Un SQL rapide peut accompagner une API lente si elle attend une connexion ou sérialise un résultat énorme.</a:t>
            </a:r>
          </a:p>
          <a:p>
            <a:r>
              <a:t>Une trace associe les durées d’attente et d’exécution au même identifiant. Elle permet de choisir une action au bon endroit : requête, accès ORM, pool, réseau ou taille de réponse.</a:t>
            </a:r>
          </a:p>
          <a:p>
            <a:endParaRP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performance décrit le temps de réponse, le débit et les ressources nécessaires pour un travail donné. L’exactitude décrit le résultat attendu et les invariants métier. Une optimisation doit conserver les deux objectifs.</a:t>
            </a:r>
          </a:p>
          <a:p>
            <a:r>
              <a:t>Supprimer une jointure peut accélérer une requête tout en retirant des commandes. Une pagination peut afficher des doublons. Un cache peut exposer une valeur ancienne. On valide donc le contenu et les droits d’accès en même temps que la durée.</a:t>
            </a:r>
          </a:p>
          <a:p>
            <a:r>
              <a:t>Exemple : le total facturé doit rester identique au centime après chaque réécriture.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latence mesure le temps d’une opération. Le débit compte les opérations terminées par unité de temps. La concurrence représente les opérations simultanément en cours. Ces grandeurs décrivent des phénomènes différents.</a:t>
            </a:r>
          </a:p>
          <a:p>
            <a:r>
              <a:t>Une API peut traiter 500 requêtes/s mais répondre très lentement aux dernières requêtes en attente. Augmenter la concurrence finit souvent par allonger les files et multiplier les erreurs. Le test doit présenter les durées et les opérations réellement terminées.</a:t>
            </a:r>
          </a:p>
          <a:p>
            <a:endParaRP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Après tri des durées, la médiane partage l’échantillon en deux. Le p95 décrit une valeur sous laquelle se situent environ 95 % des observations, selon la convention de calcul retenue. Il révèle les requêtes lentes que la moyenne peut masquer.</a:t>
            </a:r>
          </a:p>
          <a:p>
            <a:r>
              <a:t>Sur 100 durées ordonnées, un p95 proche de la 95e valeur laisse environ cinq observations dans la queue. Un petit échantillon rend ce repère instable. On conserve la série brute, la convention et plusieurs répétitions.</a:t>
            </a:r>
          </a:p>
          <a:p>
            <a:r>
              <a:t>Ces valeurs illustrent une distribution, elles ne proviennent pas de ShopFlow.</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On décompose la durée d’un appel séquentiel pour établir une hypothèse de diagnostic. Ici, 20 ms de réseau, 70 ms d’attente au pool, 90 ms de SQL et 20 ms de sérialisation donnent 200 ms.</a:t>
            </a:r>
          </a:p>
          <a:p>
            <a:r>
              <a:t>Si le SQL tombe à 30 ms, la durée totale reste 140 ms. Le gain maximal d’une optimisation locale dépend de la part qu’elle occupe. Pour des opérations parallèles, les durées ne s’additionnent pas simplement.</a:t>
            </a:r>
          </a:p>
          <a:p>
            <a:r>
              <a:t>Calcul pédagogique sur un appel séquentiel fictif.</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benchmark décrit un scénario précis : mêmes données, même requête, même résultat attendu et même charge. On fixe la machine, les versions, la durée, l’échauffement, la concurrence et la politique de cache.</a:t>
            </a:r>
          </a:p>
          <a:p>
            <a:r>
              <a:t>On change un facteur à la fois, puis on répète. Tester avant sur une machine occupée et après sur une machine libre ne permet pas d’attribuer le gain à l’index. La preuve conserve les résultats bruts, les paramètres et la procédure de remise à zéro.</a:t>
            </a:r>
          </a:p>
          <a:p>
            <a:r>
              <a:t>Le p95, le taux d’erreur et le débit complètent la durée moyenne.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première lecture peut charger des pages depuis le stockage. Les lectures suivantes peuvent réutiliser les buffers PostgreSQL et le cache du système. Le même SQL peut alors afficher des durées très différentes.</a:t>
            </a:r>
          </a:p>
          <a:p>
            <a:r>
              <a:t>Un test à chaud représente un trafic récurrent. Un test à froid représente un redémarrage ou un jeu de données peu revisité. On documente l’état choisi. Relancer le serveur ne suffit pas à garantir que le cache du système soit froid.</a:t>
            </a:r>
          </a:p>
          <a:p>
            <a:r>
              <a:t>L’échauffement stabilise le scénario choisi. Il ne doit pas effacer une difficulté importante du cas métier.</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Chaque commande appartient à un client. Ses lignes référencent des produits. Les clés identifient les objets, les clés étrangères contrôlent leurs relations et les contraintes évitent des états impossibles.</a:t>
            </a:r>
          </a:p>
          <a:p>
            <a:r>
              <a:t>Un historique porte sur les commandes d’un client. Une facture exige les lignes de chaque commande. Un classement produit agrège les lignes de toutes les commandes. Ces chemins d’accès donnent des besoins différents en jointures et en index.</a:t>
            </a:r>
          </a:p>
          <a:p>
            <a:endParaRP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normalisation évite de répéter un même fait à plusieurs endroits. Le nom actuel du client appartient à clients. Une correction de nom ne doit pas demander la modification de toutes ses commandes.</a:t>
            </a:r>
          </a:p>
          <a:p>
            <a:r>
              <a:t>La ligne de commande conserve cependant prix_unitaire au moment de l’achat. Ce prix représente un fait historique distinct du prix actuel du catalogue. Une duplication pertinente part d’une définition métier et d’une règle de maintenance.</a:t>
            </a:r>
          </a:p>
          <a:p>
            <a:r>
              <a:t>La performance ne justifie pas une donnée dont personne ne sait garantir la validité.</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montant monétaire exige une représentation exacte, par exemple numeric(12,2). Une date d’événement peut utiliser timestamptz. Les types rendent les opérations et les comparaisons explicites.</a:t>
            </a:r>
          </a:p>
          <a:p>
            <a:r>
              <a:t>Des lignes larges augmentent le transfert et le travail de lecture. La projection sélectionne les colonnes utiles. NOT NULL, CHECK et les clés étrangères protègent l’intégrité avant que l’API ne construise des réponses incohérentes.</a:t>
            </a:r>
          </a:p>
          <a:p>
            <a:endParaRPr/>
          </a:p>
          <a:p>
            <a:endParaRPr/>
          </a:p>
          <a:p>
            <a:r>
              <a:t>Descriptif DEV - RNCP 40166 - M2 - OPTIMISATION BDD - M2.pdf fourni, p. 1-2. Séquence conçue pour 35 heures.</a:t>
            </a:r>
          </a:p>
          <a:p>
            <a:r>
              <a:t>Sources techniques : https://www.postgresql.org/docs/18/sql-select.html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SQL exprime un résultat. Le planificateur choisit une manière de l’obtenir à partir des statistiques, des index et des paramètres de coût. L’exécuteur réalise ensuite les opérations choisies.</a:t>
            </a:r>
          </a:p>
          <a:p>
            <a:r>
              <a:t>Deux syntaxes différentes peuvent produire le même plan. Une requête identique peut recevoir un autre plan après un changement de volume ou de distribution. L’analyse doit donc partir du plan observé et des données concernées.</a:t>
            </a:r>
          </a:p>
          <a:p>
            <a:endParaRPr/>
          </a:p>
          <a:p>
            <a:endParaRPr/>
          </a:p>
          <a:p>
            <a:r>
              <a:t>Descriptif DEV - RNCP 40166 - M2 - OPTIMISATION BDD - M2.pdf fourni, p. 1-2. Séquence conçue pour 35 heures.</a:t>
            </a:r>
          </a:p>
          <a:p>
            <a:r>
              <a:t>Sources techniques : https://www.postgresql.org/docs/18/planner-stats.html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EXPLAIN décrit le plan estimé. EXPLAIN ANALYZE exécute la requête et ajoute des observations. BUFFERS renseigne l’activité des buffers. Le plan permet de comparer une estimation au travail réellement effectué.</a:t>
            </a:r>
          </a:p>
          <a:p>
            <a:r>
              <a:t>Sur un SELECT, on vérifie les filtres et le résultat. Sur une écriture, ANALYZE réalise réellement la modification. Un laboratoire isolé et une transaction annulée limitent les changements, sans annuler tous les effets externes possibles.</a:t>
            </a:r>
          </a:p>
          <a:p>
            <a:r>
              <a:t>Le code ci-contre est un SELECT sur les commandes du client 42.</a:t>
            </a:r>
          </a:p>
          <a:p>
            <a:endParaRPr/>
          </a:p>
          <a:p>
            <a:r>
              <a:t>Descriptif DEV - RNCP 40166 - M2 - OPTIMISATION BDD - M2.pdf fourni, p. 1-2. Séquence conçue pour 35 heures.</a:t>
            </a:r>
          </a:p>
          <a:p>
            <a:r>
              <a:t>Sources techniques : https://www.postgresql.org/docs/18/using-explain.html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nœud présente une estimation de coût et de cardinalité. Avec ANALYZE, il présente aussi des temps et des lignes observées. Quand loops dépasse 1, les temps et les lignes affichés correspondent généralement à une moyenne par exécution du nœud.</a:t>
            </a:r>
          </a:p>
          <a:p>
            <a:r>
              <a:t>On lit le plan du travail des enfants vers leurs parents. Les durées des parents incluent une part du travail des enfants. Les additionner comme des durées indépendantes surestime le temps global.</a:t>
            </a:r>
          </a:p>
          <a:p>
            <a:r>
              <a:t>Extrait fictif, volontairement raccourci pour apprendre la lecture.</a:t>
            </a:r>
          </a:p>
          <a:p>
            <a:endParaRPr/>
          </a:p>
          <a:p>
            <a:r>
              <a:t>Descriptif DEV - RNCP 40166 - M2 - OPTIMISATION BDD - M2.pdf fourni, p. 1-2. Séquence conçue pour 35 heures.</a:t>
            </a:r>
          </a:p>
          <a:p>
            <a:r>
              <a:t>Sources techniques : https://www.postgresql.org/docs/18/using-explain.html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estimation trop faible peut pousser le moteur vers une boucle imbriquée qui répète beaucoup de recherches. L’hypothèse devient : le moteur sous-estime la taille de l’ensemble intermédiaire.</a:t>
            </a:r>
          </a:p>
          <a:p>
            <a:r>
              <a:t>On cherche alors une statistique ancienne, une distribution très asymétrique ou des colonnes corrélées. Ajouter un index sans examiner la cardinalité ne résout pas nécessairement la cause.</a:t>
            </a:r>
          </a:p>
          <a:p>
            <a:r>
              <a:t>Les chiffres sont fictifs. Un facteur 100 n’est pas un seuil universel de décision.</a:t>
            </a:r>
          </a:p>
          <a:p>
            <a:endParaRPr/>
          </a:p>
          <a:p>
            <a:r>
              <a:t>Descriptif DEV - RNCP 40166 - M2 - OPTIMISATION BDD - M2.pdf fourni, p. 1-2. Séquence conçue pour 35 heures.</a:t>
            </a:r>
          </a:p>
          <a:p>
            <a:r>
              <a:t>Sources techniques : https://www.postgresql.org/docs/18/planner-stats.html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parcours séquentiel lit la table puis applique les filtres. Il peut être adapté lorsque la table est petite ou lorsque la requête retourne une grande part des lignes. Un index impose son propre parcours et des accès supplémentaires.</a:t>
            </a:r>
          </a:p>
          <a:p>
            <a:r>
              <a:t>Une recherche très sélective peut bénéficier d’un Index Scan. Un Bitmap Scan rassemble des emplacements avant de visiter les pages. Le choix dépend de la distribution et du coût estimé des lectures.</a:t>
            </a:r>
          </a:p>
          <a:p>
            <a:r>
              <a:t>Le nom du nœud ne suffit pas à conclure. On examine le volume traité et la durée.</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Les buffers shared hit représentent des blocs trouvés dans les buffers PostgreSQL. Les shared read représentent des blocs chargés dans ces buffers, éventuellement depuis le cache du système. Ils ne prouvent pas à eux seuls une lecture physique du disque.</a:t>
            </a:r>
          </a:p>
          <a:p>
            <a:r>
              <a:t>Rows Removed by Filter signale des lignes visitées puis écartées. Un tri qui déborde peut produire des lectures ou écritures temporaires. Ces observations orientent l’enquête vers le chemin d’accès ou la mémoire de l’opération.</a:t>
            </a:r>
          </a:p>
          <a:p>
            <a:r>
              <a:t>Les compteurs d’un parent peuvent inclure ceux de ses enfants. Éviter les additions naïves.</a:t>
            </a:r>
          </a:p>
          <a:p>
            <a:endParaRPr/>
          </a:p>
          <a:p>
            <a:r>
              <a:t>Descriptif DEV - RNCP 40166 - M2 - OPTIMISATION BDD - M2.pdf fourni, p. 1-2. Séquence conçue pour 35 heures.</a:t>
            </a:r>
          </a:p>
          <a:p>
            <a:r>
              <a:t>Sources techniques : https://www.postgresql.org/docs/18/using-explain.html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moteur échantillonne les valeurs pour estimer leurs fréquences et la sélectivité des filtres. Un chargement important peut modifier la distribution et rendre les estimations antérieures peu représentatives.</a:t>
            </a:r>
          </a:p>
          <a:p>
            <a:r>
              <a:t>Dans le laboratoire, ANALYZE après le chargement donne au planificateur une image actualisée. Les statistiques étendues peuvent décrire certaines dépendances entre colonnes. Elles ne remplacent ni le modèle ni un index utile.</a:t>
            </a:r>
          </a:p>
          <a:p>
            <a:r>
              <a:t>Exemple de corrélation : certains statuts appartiennent surtout à des périodes récentes.</a:t>
            </a:r>
          </a:p>
          <a:p>
            <a:endParaRPr/>
          </a:p>
          <a:p>
            <a:r>
              <a:t>Descriptif DEV - RNCP 40166 - M2 - OPTIMISATION BDD - M2.pdf fourni, p. 1-2. Séquence conçue pour 35 heures.</a:t>
            </a:r>
          </a:p>
          <a:p>
            <a:r>
              <a:t>Sources techniques : https://www.postgresql.org/docs/18/planner-stats.html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condition directe sur une colonne permet souvent de borner un parcours B-tree. Une fonction appliquée à cette colonne peut nécessiter un index sur l’expression ou une réécriture équivalente.</a:t>
            </a:r>
          </a:p>
          <a:p>
            <a:r>
              <a:t>Pour un intervalle de dates, une borne inférieure inclusive et une borne supérieure exclusive évitent d’oublier les heures de la dernière journée. On choisit le fuseau et les bornes métier explicitement.</a:t>
            </a:r>
          </a:p>
          <a:p>
            <a:r>
              <a:t>Exemple : commandes créées en octobre 2026 en UTC.</a:t>
            </a:r>
          </a:p>
          <a:p>
            <a:endParaRPr/>
          </a:p>
          <a:p>
            <a:r>
              <a:t>Descriptif DEV - RNCP 40166 - M2 - OPTIMISATION BDD - M2.pdf fourni, p. 1-2. Séquence conçue pour 35 heures.</a:t>
            </a:r>
          </a:p>
          <a:p>
            <a:r>
              <a:t>Sources techniques : https://www.postgresql.org/docs/18/sql-createindex.html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Exécuter 01_schema.sql et 02_donnees.sql dans une base de laboratoire. Lancer l’historique du client 42 et une requête d’agrégation. Vérifier le nombre de lignes et le total avant de relever les durées.</a:t>
            </a:r>
          </a:p>
          <a:p>
            <a:r>
              <a:t>Conserver le SQL, le plan complet avec BUFFERS, la version PostgreSQL et cinq répétitions après échauffement. Identifier un nœud coûteux et formuler une hypothèse qui explique son coût. Aucun index supplémentaire à ce stade.</a:t>
            </a:r>
          </a:p>
          <a:p>
            <a:r>
              <a:t>Livrable : une page de diagnostic, les plans et les mesures brutes. Temps prévu : 1 h 30.</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jointure relie les lignes selon une condition. La cardinalité de sortie dépend du nombre de correspondances. Une relation un-à-plusieurs peut multiplier les lignes du parent et fausser une somme si l’on oublie ce changement de granularité.</a:t>
            </a:r>
          </a:p>
          <a:p>
            <a:r>
              <a:t>Joindre commandes à lignes renvoie une ligne par article, pas une ligne par commande. Additionner commandes.total dans ce résultat compte plusieurs fois certaines commandes. Une optimisation doit préserver la granularité attendue.</a:t>
            </a:r>
          </a:p>
          <a:p>
            <a:r>
              <a:t>Question de contrôle : qu’identifie une ligne du résultat ?</a:t>
            </a:r>
          </a:p>
          <a:p>
            <a:endParaRPr/>
          </a:p>
          <a:p>
            <a:r>
              <a:t>Descriptif DEV - RNCP 40166 - M2 - OPTIMISATION BDD - M2.pdf fourni, p. 1-2. Séquence conçue pour 35 heures.</a:t>
            </a:r>
          </a:p>
          <a:p>
            <a:r>
              <a:t>Sources techniques : https://www.postgresql.org/docs/18/sql-select.html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boucle imbriquée recherche des correspondances pour chaque ligne de l’entrée externe. Elle peut être efficace avec peu de lignes et un bon accès interne. Une jointure par hachage construit une structure sur une entrée.</a:t>
            </a:r>
          </a:p>
          <a:p>
            <a:r>
              <a:t>Une jointure par fusion rapproche des entrées ordonnées. Ces stratégies ont des coûts de préparation et de mémoire différents. Les volumes estimés, le tri disponible et la sélectivité expliquent le choix.</a:t>
            </a:r>
          </a:p>
          <a:p>
            <a:r>
              <a:t>Le moteur décide selon le contexte. Il n’existe pas d’algorithme gagnant pour toutes les requêtes.</a:t>
            </a:r>
          </a:p>
          <a:p>
            <a:endParaRPr/>
          </a:p>
          <a:p>
            <a:r>
              <a:t>Descriptif DEV - RNCP 40166 - M2 - OPTIMISATION BDD - M2.pdf fourni, p. 1-2. Séquence conçue pour 35 heures.</a:t>
            </a:r>
          </a:p>
          <a:p>
            <a:r>
              <a:t>Sources techniques : https://www.postgresql.org/docs/18/using-explain.html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INNER JOIN conserve les lignes qui trouvent une correspondance. LEFT JOIN conserve aussi les lignes de gauche sans correspondance, avec des valeurs NULL du côté droit. Ce choix exprime le résultat métier.</a:t>
            </a:r>
          </a:p>
          <a:p>
            <a:r>
              <a:t>Un filtre sur la table de droite placé dans WHERE peut retirer les lignes sans correspondance. Le déplacer dans ON change le résultat. Réécrire une requête uniquement pour sa durée peut donc transformer silencieusement une jointure externe.</a:t>
            </a:r>
          </a:p>
          <a:p>
            <a:r>
              <a:t>Exemple : clients sans commande récente. Ils doivent rester visibles si le besoin le demande.</a:t>
            </a:r>
          </a:p>
          <a:p>
            <a:endParaRPr/>
          </a:p>
          <a:p>
            <a:r>
              <a:t>Descriptif DEV - RNCP 40166 - M2 - OPTIMISATION BDD - M2.pdf fourni, p. 1-2. Séquence conçue pour 35 heures.</a:t>
            </a:r>
          </a:p>
          <a:p>
            <a:r>
              <a:t>Sources techniques : https://www.postgresql.org/docs/18/sql-select.html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EXISTS répond à une question de présence : existe-t-il au moins une commande pour ce client ? Il évite de multiplier les clients par leur nombre de commandes dans le résultat logique.</a:t>
            </a:r>
          </a:p>
          <a:p>
            <a:r>
              <a:t>Une sous-requête corrélée utilise une valeur de la ligne externe. Le moteur peut transformer certaines formes en jointure ou en autre plan. Dire que toute sous-requête est lente serait incorrect. On compare le plan et la granularité.</a:t>
            </a:r>
          </a:p>
          <a:p>
            <a:r>
              <a:t>L’exemple cherche des clients qui possèdent au moins une commande payée.</a:t>
            </a:r>
          </a:p>
          <a:p>
            <a:endParaRPr/>
          </a:p>
          <a:p>
            <a:r>
              <a:t>Descriptif DEV - RNCP 40166 - M2 - OPTIMISATION BDD - M2.pdf fourni, p. 1-2. Séquence conçue pour 35 heures.</a:t>
            </a:r>
          </a:p>
          <a:p>
            <a:r>
              <a:t>Sources techniques : https://www.postgresql.org/docs/18/sql-select.html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Pour afficher un total par commande, une sous-requête peut d’abord agréger les lignes par commande_id. La jointure suivante reçoit un ensemble qui contient au plus une ligne par commande.</a:t>
            </a:r>
          </a:p>
          <a:p>
            <a:r>
              <a:t>Cette organisation explicite la granularité. Elle n’est pas toujours plus rapide : agréger toutes les lignes alors que l’on demande une seule commande peut créer du travail inutile. Le filtre et le plan révèlent ce compromis.</a:t>
            </a:r>
          </a:p>
          <a:p>
            <a:r>
              <a:t>Le prix des lignes est le prix historique stocké lors de la vente.</a:t>
            </a:r>
          </a:p>
          <a:p>
            <a:endParaRPr/>
          </a:p>
          <a:p>
            <a:r>
              <a:t>Descriptif DEV - RNCP 40166 - M2 - OPTIMISATION BDD - M2.pdf fourni, p. 1-2. Séquence conçue pour 35 heures.</a:t>
            </a:r>
          </a:p>
          <a:p>
            <a:r>
              <a:t>Sources techniques : https://www.postgresql.org/docs/18/sql-select.html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CTE nomme une étape d’une requête. Selon sa forme et son usage, PostgreSQL peut l’intégrer au plan ou la matérialiser. Une vue ordinaire mémorise une définition SQL plutôt que son résultat.</a:t>
            </a:r>
          </a:p>
          <a:p>
            <a:r>
              <a:t>Une vue matérialisée conserve un résultat à rafraîchir. Elle peut accélérer un tableau de bord au prix d’un décalage de fraîcheur. La décision doit préciser qui rafraîchit, quand et ce que l’API promet aux utilisateurs.</a:t>
            </a:r>
          </a:p>
          <a:p>
            <a:r>
              <a:t>Une vue matérialisée de ventes quotidiennes convient à un bilan tolérant un retard, moins à un stock disponible immédiat.</a:t>
            </a:r>
          </a:p>
          <a:p>
            <a:endParaRPr/>
          </a:p>
          <a:p>
            <a:r>
              <a:t>Descriptif DEV - RNCP 40166 - M2 - OPTIMISATION BDD - M2.pdf fourni, p. 1-2. Séquence conçue pour 35 heures.</a:t>
            </a:r>
          </a:p>
          <a:p>
            <a:r>
              <a:t>Sources techniques : https://www.postgresql.org/docs/18/sql-select.html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SELECT * expose toutes les colonnes, y compris des valeurs volumineuses et des données inutiles à l’écran. La projection limite le résultat au contrat de l’API et réduit le travail de transfert et de sérialisation.</a:t>
            </a:r>
          </a:p>
          <a:p>
            <a:r>
              <a:t>Le gain dépend du volume retourné. Une projection ne remplace pas un filtre ou une limite. L’API fixe une taille de page, une liste de champs et un accès autorisé avant de déclencher la requête.</a:t>
            </a:r>
          </a:p>
          <a:p>
            <a:r>
              <a:t>Pour l’historique : id, created_at, statut et total suffisent souvent. Le détail charge les lignes à la demande.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Comparer une jointure qui duplique les clients avec une version EXISTS. Construire ensuite un total par commande sans multiplier commandes.total. Utiliser un client avec plusieurs commandes et une commande avec plusieurs lignes.</a:t>
            </a:r>
          </a:p>
          <a:p>
            <a:r>
              <a:t>Prouver l’équivalence du résultat pertinent, puis mesurer les variantes avec le même protocole. Si les plans deviennent identiques, l’expliquer. Si la réécriture perd des lignes, la rejeter même lorsque sa durée diminue.</a:t>
            </a:r>
          </a:p>
          <a:p>
            <a:r>
              <a:t>Livrable : SQL avant/après, contrôle du contenu, plans et interprétation. Temps prévu : 1 h.</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diagnostic convaincant relie une observation à une cause possible. « Seq Scan lent » reste insuffisant. « 100 000 lignes visitées pour 100 lignes utiles dans l’historique d’un client » décrit un problème plus précis.</a:t>
            </a:r>
          </a:p>
          <a:p>
            <a:r>
              <a:t>La correction propose ensuite une expérience : créer un index adapté, actualiser les statistiques ou modifier le chemin applicatif. Un résultat qui contredit l’hypothèse doit apparaître dans le dossier. Il aide à choisir la suite.</a:t>
            </a:r>
          </a:p>
          <a:p>
            <a:r>
              <a:t>La journée 2 testera l’hypothèse d’un index composé sur l’historique.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1. Pourquoi ne faut-il pas additionner les durées de tous les nœuds ?</a:t>
            </a:r>
          </a:p>
          <a:p>
            <a:r>
              <a:t>2. Quand un parcours séquentiel peut-il être raisonnable ?</a:t>
            </a:r>
          </a:p>
          <a:p>
            <a:r>
              <a:t>3. Pourquoi une moyenne faible peut-elle masquer un problème ?</a:t>
            </a:r>
          </a:p>
          <a:p>
            <a:r>
              <a:t>4. Qu’est-ce qui rend deux benchmarks comparables ?</a:t>
            </a:r>
          </a:p>
          <a:p>
            <a:r>
              <a:t>5. Pourquoi la jointure commandes/lignes change-t-elle la granularité ?</a:t>
            </a:r>
          </a:p>
          <a:p>
            <a:r>
              <a:t>6. Une sous-requête corrélée produit-elle toujours une exécution par ligne ?</a:t>
            </a:r>
          </a:p>
          <a:p>
            <a:r>
              <a:t>Répondre avec un exemple et une condition d’application, pas uniquement une définition.</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Les nœuds imbriqués partagent du travail. Une grande part de table ou une petite table peut favoriser un Seq Scan. Les percentiles rendent visible une queue de latence. La comparaison exige un scénario et un environnement stables.</a:t>
            </a:r>
          </a:p>
          <a:p>
            <a:r>
              <a:t>La jointure aux lignes produit une ligne par article. Le planificateur peut transformer une sous-requête. La preuve du jour est un endpoint correct accompagné d’un diagnostic reproductible. Elle établit le besoin d’optimisation et prépare l’intervention.</a:t>
            </a:r>
          </a:p>
          <a:p>
            <a:r>
              <a:t>Sources : documentation PostgreSQL 18, EXPLAIN, statistiques et SELECT. Liens détaillés dans les notes.</a:t>
            </a:r>
          </a:p>
          <a:p>
            <a:endParaRPr/>
          </a:p>
          <a:p>
            <a:r>
              <a:t>Descriptif DEV - RNCP 40166 - M2 - OPTIMISATION BDD - M2.pdf fourni, p. 1-2. Séquence conçue pour 35 heures.</a:t>
            </a:r>
          </a:p>
          <a:p>
            <a:r>
              <a:t>Sources techniques : https://www.postgresql.org/docs/18/using-explain.html</a:t>
            </a:r>
          </a:p>
          <a:p>
            <a:r>
              <a:t>https://www.postgresql.org/docs/18/planner-stats.html</a:t>
            </a:r>
          </a:p>
          <a:p>
            <a:r>
              <a:t>https://www.postgresql.org/docs/18/sql-select.html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00320D9-69D4-40C3-B7CD-58F1BB4C07D1}"/>
              </a:ext>
            </a:extLst>
          </p:cNvPr>
          <p:cNvSpPr>
            <a:spLocks noGrp="1"/>
          </p:cNvSpPr>
          <p:nvPr/>
        </p:nvSpPr>
        <p:spPr>
          <a:xfrm>
            <a:off x="666750" y="571500"/>
            <a:ext cx="10477500" cy="381000"/>
          </a:xfrm>
          <a:prstGeom prst="rect">
            <a:avLst/>
          </a:prstGeom>
          <a:noFill/>
          <a:ln w="0">
            <a:noFill/>
          </a:ln>
        </p:spPr>
        <p:txBody>
          <a:bodyPr>
            <a:noAutofit/>
          </a:bodyPr>
          <a:lstStyle/>
          <a:p>
            <a:pPr>
              <a:defRPr sz="1875" b="1">
                <a:solidFill>
                  <a:srgbClr val="69E0E3"/>
                </a:solidFill>
                <a:latin typeface="Aptos"/>
                <a:ea typeface="Aptos"/>
                <a:cs typeface="Aptos"/>
              </a:defRPr>
            </a:pPr>
            <a:r>
              <a:rPr sz="1875" b="1">
                <a:solidFill>
                  <a:srgbClr val="69E0E3"/>
                </a:solidFill>
                <a:latin typeface="Aptos"/>
                <a:ea typeface="Aptos"/>
                <a:cs typeface="Aptos"/>
              </a:rPr>
              <a:t>OPTIMISATION BDD</a:t>
            </a:r>
          </a:p>
        </p:txBody>
      </p:sp>
      <p:sp>
        <p:nvSpPr>
          <p:cNvPr id="3" name="Rectangle 2">
            <a:extLst>
              <a:ext uri="{FF2B5EF4-FFF2-40B4-BE49-F238E27FC236}">
                <a16:creationId xmlns:a16="http://schemas.microsoft.com/office/drawing/2014/main" id="{0F1B2C3C-0173-45DC-A54C-357AAD50D552}"/>
              </a:ext>
            </a:extLst>
          </p:cNvPr>
          <p:cNvSpPr>
            <a:spLocks noGrp="1"/>
          </p:cNvSpPr>
          <p:nvPr/>
        </p:nvSpPr>
        <p:spPr>
          <a:xfrm>
            <a:off x="666750" y="2266950"/>
            <a:ext cx="9144000" cy="2238375"/>
          </a:xfrm>
          <a:prstGeom prst="rect">
            <a:avLst/>
          </a:prstGeom>
          <a:noFill/>
          <a:ln w="0">
            <a:noFill/>
          </a:ln>
        </p:spPr>
        <p:txBody>
          <a:bodyPr>
            <a:noAutofit/>
          </a:bodyPr>
          <a:lstStyle/>
          <a:p>
            <a:pPr>
              <a:defRPr sz="4875" b="1">
                <a:solidFill>
                  <a:srgbClr val="FFFFFF"/>
                </a:solidFill>
                <a:latin typeface="Aptos"/>
                <a:ea typeface="Aptos"/>
                <a:cs typeface="Aptos"/>
              </a:defRPr>
            </a:pPr>
            <a:r>
              <a:rPr sz="4875" b="1">
                <a:solidFill>
                  <a:srgbClr val="FFFFFF"/>
                </a:solidFill>
                <a:latin typeface="Aptos"/>
                <a:ea typeface="Aptos"/>
                <a:cs typeface="Aptos"/>
              </a:rPr>
              <a:t>Diagnostiquer les requêtes SQL</a:t>
            </a:r>
          </a:p>
        </p:txBody>
      </p:sp>
      <p:sp>
        <p:nvSpPr>
          <p:cNvPr id="4" name="Rectangle 3">
            <a:extLst>
              <a:ext uri="{FF2B5EF4-FFF2-40B4-BE49-F238E27FC236}">
                <a16:creationId xmlns:a16="http://schemas.microsoft.com/office/drawing/2014/main" id="{2A94462E-195B-46C3-83EB-8B04414EF566}"/>
              </a:ext>
            </a:extLst>
          </p:cNvPr>
          <p:cNvSpPr>
            <a:spLocks noGrp="1"/>
          </p:cNvSpPr>
          <p:nvPr/>
        </p:nvSpPr>
        <p:spPr>
          <a:xfrm>
            <a:off x="666750" y="5286375"/>
            <a:ext cx="10191750" cy="933450"/>
          </a:xfrm>
          <a:prstGeom prst="rect">
            <a:avLst/>
          </a:prstGeom>
          <a:noFill/>
          <a:ln w="0">
            <a:noFill/>
          </a:ln>
        </p:spPr>
        <p:txBody>
          <a:bodyPr>
            <a:noAutofit/>
          </a:bodyPr>
          <a:lstStyle/>
          <a:p>
            <a:pPr>
              <a:defRPr sz="2325" b="0">
                <a:solidFill>
                  <a:srgbClr val="FFFFFF"/>
                </a:solidFill>
                <a:latin typeface="Aptos"/>
                <a:ea typeface="Aptos"/>
                <a:cs typeface="Aptos"/>
              </a:defRPr>
            </a:pPr>
            <a:r>
              <a:rPr sz="2325" b="0">
                <a:solidFill>
                  <a:srgbClr val="FFFFFF"/>
                </a:solidFill>
                <a:latin typeface="Aptos"/>
                <a:ea typeface="Aptos"/>
                <a:cs typeface="Aptos"/>
              </a:rPr>
              <a:t>Jour 1</a:t>
            </a:r>
          </a:p>
          <a:p>
            <a:pPr>
              <a:defRPr sz="2325" b="0">
                <a:solidFill>
                  <a:srgbClr val="FFFFFF"/>
                </a:solidFill>
                <a:latin typeface="Aptos"/>
                <a:ea typeface="Aptos"/>
                <a:cs typeface="Aptos"/>
              </a:defRPr>
            </a:pPr>
            <a:r>
              <a:rPr sz="2325" b="0">
                <a:solidFill>
                  <a:srgbClr val="FFFFFF"/>
                </a:solidFill>
                <a:latin typeface="Aptos"/>
                <a:ea typeface="Aptos"/>
                <a:cs typeface="Aptos"/>
              </a:rPr>
              <a:t>Mesures, plans d’exécution et jointures</a:t>
            </a:r>
          </a:p>
        </p:txBody>
      </p:sp>
      <p:sp>
        <p:nvSpPr>
          <p:cNvPr id="5" name="Rectangle 4">
            <a:extLst>
              <a:ext uri="{FF2B5EF4-FFF2-40B4-BE49-F238E27FC236}">
                <a16:creationId xmlns:a16="http://schemas.microsoft.com/office/drawing/2014/main" id="{47E56C86-F77C-48C9-865D-38377A836448}"/>
              </a:ext>
            </a:extLst>
          </p:cNvPr>
          <p:cNvSpPr>
            <a:spLocks noGrp="1"/>
          </p:cNvSpPr>
          <p:nvPr/>
        </p:nvSpPr>
        <p:spPr>
          <a:xfrm>
            <a:off x="666750" y="7048500"/>
            <a:ext cx="13335000" cy="476250"/>
          </a:xfrm>
          <a:prstGeom prst="rect">
            <a:avLst/>
          </a:prstGeom>
          <a:noFill/>
          <a:ln w="0">
            <a:noFill/>
          </a:ln>
        </p:spPr>
        <p:txBody>
          <a:bodyPr>
            <a:noAutofit/>
          </a:bodyPr>
          <a:lstStyle/>
          <a:p>
            <a:pPr>
              <a:defRPr sz="1800" b="0">
                <a:solidFill>
                  <a:srgbClr val="BFD8E0"/>
                </a:solidFill>
                <a:latin typeface="Aptos"/>
                <a:ea typeface="Aptos"/>
                <a:cs typeface="Aptos"/>
              </a:defRPr>
            </a:pPr>
            <a:r>
              <a:rPr lang="fr-FR" sz="1800" b="0" dirty="0">
                <a:solidFill>
                  <a:srgbClr val="BFD8E0"/>
                </a:solidFill>
                <a:latin typeface="Aptos"/>
                <a:ea typeface="Aptos"/>
                <a:cs typeface="Aptos"/>
              </a:rPr>
              <a:t>Bruno DERNIER</a:t>
            </a:r>
          </a:p>
          <a:p>
            <a:pPr>
              <a:defRPr sz="1800" b="0">
                <a:solidFill>
                  <a:srgbClr val="BFD8E0"/>
                </a:solidFill>
                <a:latin typeface="Aptos"/>
                <a:ea typeface="Aptos"/>
                <a:cs typeface="Aptos"/>
              </a:defRPr>
            </a:pPr>
            <a:r>
              <a:rPr lang="fr-FR" dirty="0">
                <a:solidFill>
                  <a:srgbClr val="BFD8E0"/>
                </a:solidFill>
                <a:latin typeface="Aptos"/>
                <a:ea typeface="Aptos"/>
                <a:cs typeface="Aptos"/>
              </a:rPr>
              <a:t>Mise à Jour : 01/10/2026</a:t>
            </a:r>
            <a:endParaRPr sz="1800" b="0" dirty="0">
              <a:solidFill>
                <a:srgbClr val="BFD8E0"/>
              </a:solidFill>
              <a:latin typeface="Aptos"/>
              <a:ea typeface="Aptos"/>
              <a:cs typeface="Aptos"/>
            </a:endParaRPr>
          </a:p>
        </p:txBody>
      </p:sp>
      <p:sp>
        <p:nvSpPr>
          <p:cNvPr id="6" name="Rectangle 5">
            <a:extLst>
              <a:ext uri="{FF2B5EF4-FFF2-40B4-BE49-F238E27FC236}">
                <a16:creationId xmlns:a16="http://schemas.microsoft.com/office/drawing/2014/main" id="{6861B00E-2CC5-4AA8-A9E4-59410E6FA5B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782C7E61-534B-4AB1-B8B6-2BAC45330ED3}"/>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01 / 34</a:t>
            </a:r>
          </a:p>
        </p:txBody>
      </p:sp>
    </p:spTree>
    <p:extLst>
      <p:ext uri="{BB962C8B-B14F-4D97-AF65-F5344CB8AC3E}">
        <p14:creationId xmlns:p14="http://schemas.microsoft.com/office/powerpoint/2010/main" val="1137530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7CBA47E-3034-4912-A915-35A5374E053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C7B2E1DC-2965-4793-B767-D0A55133532F}"/>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Une compétence back-end à démontrer</a:t>
            </a:r>
          </a:p>
        </p:txBody>
      </p:sp>
      <p:sp>
        <p:nvSpPr>
          <p:cNvPr id="4" name="Rectangle 3">
            <a:extLst>
              <a:ext uri="{FF2B5EF4-FFF2-40B4-BE49-F238E27FC236}">
                <a16:creationId xmlns:a16="http://schemas.microsoft.com/office/drawing/2014/main" id="{775156BE-CE9B-4FAE-A3A1-05499A341738}"/>
              </a:ext>
            </a:extLst>
          </p:cNvPr>
          <p:cNvSpPr>
            <a:spLocks noGrp="1"/>
          </p:cNvSpPr>
          <p:nvPr/>
        </p:nvSpPr>
        <p:spPr>
          <a:xfrm>
            <a:off x="666750" y="2209800"/>
            <a:ext cx="13525500" cy="1762125"/>
          </a:xfrm>
          <a:prstGeom prst="rect">
            <a:avLst/>
          </a:prstGeom>
          <a:noFill/>
          <a:ln w="0">
            <a:noFill/>
          </a:ln>
        </p:spPr>
        <p:txBody>
          <a:bodyPr>
            <a:noAutofit/>
          </a:bodyPr>
          <a:lstStyle/>
          <a:p>
            <a:pPr>
              <a:defRPr sz="2550" b="0">
                <a:solidFill>
                  <a:srgbClr val="173044"/>
                </a:solidFill>
                <a:latin typeface="Aptos"/>
                <a:ea typeface="Aptos"/>
                <a:cs typeface="Aptos"/>
              </a:defRPr>
            </a:pPr>
            <a:r>
              <a:rPr sz="2550" b="0" dirty="0">
                <a:solidFill>
                  <a:srgbClr val="173044"/>
                </a:solidFill>
                <a:latin typeface="Aptos"/>
                <a:ea typeface="Aptos"/>
                <a:cs typeface="Aptos"/>
              </a:rPr>
              <a:t>Le </a:t>
            </a:r>
            <a:r>
              <a:rPr sz="2550" b="0" dirty="0" err="1">
                <a:solidFill>
                  <a:srgbClr val="173044"/>
                </a:solidFill>
                <a:latin typeface="Aptos"/>
                <a:ea typeface="Aptos"/>
                <a:cs typeface="Aptos"/>
              </a:rPr>
              <a:t>descriptif</a:t>
            </a:r>
            <a:r>
              <a:rPr sz="2550" b="0" dirty="0">
                <a:solidFill>
                  <a:srgbClr val="173044"/>
                </a:solidFill>
                <a:latin typeface="Aptos"/>
                <a:ea typeface="Aptos"/>
                <a:cs typeface="Aptos"/>
              </a:rPr>
              <a:t> </a:t>
            </a:r>
            <a:r>
              <a:rPr sz="2550" b="0" dirty="0" err="1">
                <a:solidFill>
                  <a:srgbClr val="173044"/>
                </a:solidFill>
                <a:latin typeface="Aptos"/>
                <a:ea typeface="Aptos"/>
                <a:cs typeface="Aptos"/>
              </a:rPr>
              <a:t>rattache</a:t>
            </a:r>
            <a:r>
              <a:rPr sz="2550" b="0" dirty="0">
                <a:solidFill>
                  <a:srgbClr val="173044"/>
                </a:solidFill>
                <a:latin typeface="Aptos"/>
                <a:ea typeface="Aptos"/>
                <a:cs typeface="Aptos"/>
              </a:rPr>
              <a:t> </a:t>
            </a:r>
            <a:r>
              <a:rPr sz="2550" b="0" dirty="0" err="1">
                <a:solidFill>
                  <a:srgbClr val="173044"/>
                </a:solidFill>
                <a:latin typeface="Aptos"/>
                <a:ea typeface="Aptos"/>
                <a:cs typeface="Aptos"/>
              </a:rPr>
              <a:t>ce</a:t>
            </a:r>
            <a:r>
              <a:rPr sz="2550" b="0" dirty="0">
                <a:solidFill>
                  <a:srgbClr val="173044"/>
                </a:solidFill>
                <a:latin typeface="Aptos"/>
                <a:ea typeface="Aptos"/>
                <a:cs typeface="Aptos"/>
              </a:rPr>
              <a:t> module à B4C8 : </a:t>
            </a:r>
            <a:r>
              <a:rPr sz="2550" b="0" dirty="0" err="1">
                <a:solidFill>
                  <a:srgbClr val="173044"/>
                </a:solidFill>
                <a:latin typeface="Aptos"/>
                <a:ea typeface="Aptos"/>
                <a:cs typeface="Aptos"/>
              </a:rPr>
              <a:t>intégrer</a:t>
            </a:r>
            <a:r>
              <a:rPr sz="2550" b="0" dirty="0">
                <a:solidFill>
                  <a:srgbClr val="173044"/>
                </a:solidFill>
                <a:latin typeface="Aptos"/>
                <a:ea typeface="Aptos"/>
                <a:cs typeface="Aptos"/>
              </a:rPr>
              <a:t> les données aux services et aux API. </a:t>
            </a:r>
            <a:br>
              <a:rPr lang="fr-FR" sz="2550" dirty="0">
                <a:solidFill>
                  <a:srgbClr val="173044"/>
                </a:solidFill>
                <a:latin typeface="Aptos"/>
                <a:ea typeface="Aptos"/>
                <a:cs typeface="Aptos"/>
              </a:rPr>
            </a:br>
            <a:endParaRPr lang="fr-FR" sz="2550" dirty="0">
              <a:solidFill>
                <a:srgbClr val="173044"/>
              </a:solidFill>
              <a:latin typeface="Aptos"/>
              <a:ea typeface="Aptos"/>
              <a:cs typeface="Aptos"/>
            </a:endParaRPr>
          </a:p>
          <a:p>
            <a:pPr>
              <a:defRPr sz="2550" b="0">
                <a:solidFill>
                  <a:srgbClr val="173044"/>
                </a:solidFill>
                <a:latin typeface="Aptos"/>
                <a:ea typeface="Aptos"/>
                <a:cs typeface="Aptos"/>
              </a:defRPr>
            </a:pPr>
            <a:r>
              <a:rPr lang="fr-FR" sz="2550" b="1" i="1" dirty="0">
                <a:solidFill>
                  <a:srgbClr val="173044"/>
                </a:solidFill>
                <a:latin typeface="Aptos"/>
                <a:ea typeface="Aptos"/>
                <a:cs typeface="Aptos"/>
              </a:rPr>
              <a:t>Objectif : </a:t>
            </a:r>
          </a:p>
          <a:p>
            <a:pPr>
              <a:defRPr sz="2550" b="0">
                <a:solidFill>
                  <a:srgbClr val="173044"/>
                </a:solidFill>
                <a:latin typeface="Aptos"/>
                <a:ea typeface="Aptos"/>
                <a:cs typeface="Aptos"/>
              </a:defRPr>
            </a:pPr>
            <a:r>
              <a:rPr lang="fr-FR" sz="2550" b="0" dirty="0">
                <a:solidFill>
                  <a:srgbClr val="173044"/>
                </a:solidFill>
                <a:latin typeface="Aptos"/>
                <a:ea typeface="Aptos"/>
                <a:cs typeface="Aptos"/>
              </a:rPr>
              <a:t>r</a:t>
            </a:r>
            <a:r>
              <a:rPr sz="2550" b="0" dirty="0" err="1">
                <a:solidFill>
                  <a:srgbClr val="173044"/>
                </a:solidFill>
                <a:latin typeface="Aptos"/>
                <a:ea typeface="Aptos"/>
                <a:cs typeface="Aptos"/>
              </a:rPr>
              <a:t>elier</a:t>
            </a:r>
            <a:r>
              <a:rPr sz="2550" b="0" dirty="0">
                <a:solidFill>
                  <a:srgbClr val="173044"/>
                </a:solidFill>
                <a:latin typeface="Aptos"/>
                <a:ea typeface="Aptos"/>
                <a:cs typeface="Aptos"/>
              </a:rPr>
              <a:t> un </a:t>
            </a:r>
            <a:r>
              <a:rPr sz="2550" b="0" dirty="0" err="1">
                <a:solidFill>
                  <a:srgbClr val="173044"/>
                </a:solidFill>
                <a:latin typeface="Aptos"/>
                <a:ea typeface="Aptos"/>
                <a:cs typeface="Aptos"/>
              </a:rPr>
              <a:t>besoin</a:t>
            </a:r>
            <a:r>
              <a:rPr sz="2550" b="0" dirty="0">
                <a:solidFill>
                  <a:srgbClr val="173044"/>
                </a:solidFill>
                <a:latin typeface="Aptos"/>
                <a:ea typeface="Aptos"/>
                <a:cs typeface="Aptos"/>
              </a:rPr>
              <a:t> </a:t>
            </a:r>
            <a:r>
              <a:rPr sz="2550" b="0" dirty="0" err="1">
                <a:solidFill>
                  <a:srgbClr val="173044"/>
                </a:solidFill>
                <a:latin typeface="Aptos"/>
                <a:ea typeface="Aptos"/>
                <a:cs typeface="Aptos"/>
              </a:rPr>
              <a:t>applicatif</a:t>
            </a:r>
            <a:r>
              <a:rPr sz="2550" b="0" dirty="0">
                <a:solidFill>
                  <a:srgbClr val="173044"/>
                </a:solidFill>
                <a:latin typeface="Aptos"/>
                <a:ea typeface="Aptos"/>
                <a:cs typeface="Aptos"/>
              </a:rPr>
              <a:t> à un </a:t>
            </a:r>
            <a:r>
              <a:rPr sz="2550" b="0" dirty="0" err="1">
                <a:solidFill>
                  <a:srgbClr val="173044"/>
                </a:solidFill>
                <a:latin typeface="Aptos"/>
                <a:ea typeface="Aptos"/>
                <a:cs typeface="Aptos"/>
              </a:rPr>
              <a:t>schéma</a:t>
            </a:r>
            <a:r>
              <a:rPr sz="2550" b="0" dirty="0">
                <a:solidFill>
                  <a:srgbClr val="173044"/>
                </a:solidFill>
                <a:latin typeface="Aptos"/>
                <a:ea typeface="Aptos"/>
                <a:cs typeface="Aptos"/>
              </a:rPr>
              <a:t>, à </a:t>
            </a:r>
            <a:r>
              <a:rPr sz="2550" b="0" dirty="0" err="1">
                <a:solidFill>
                  <a:srgbClr val="173044"/>
                </a:solidFill>
                <a:latin typeface="Aptos"/>
                <a:ea typeface="Aptos"/>
                <a:cs typeface="Aptos"/>
              </a:rPr>
              <a:t>une</a:t>
            </a:r>
            <a:r>
              <a:rPr sz="2550" b="0" dirty="0">
                <a:solidFill>
                  <a:srgbClr val="173044"/>
                </a:solidFill>
                <a:latin typeface="Aptos"/>
                <a:ea typeface="Aptos"/>
                <a:cs typeface="Aptos"/>
              </a:rPr>
              <a:t> </a:t>
            </a:r>
            <a:r>
              <a:rPr sz="2550" b="0" dirty="0" err="1">
                <a:solidFill>
                  <a:srgbClr val="173044"/>
                </a:solidFill>
                <a:latin typeface="Aptos"/>
                <a:ea typeface="Aptos"/>
                <a:cs typeface="Aptos"/>
              </a:rPr>
              <a:t>requête</a:t>
            </a:r>
            <a:r>
              <a:rPr sz="2550" b="0" dirty="0">
                <a:solidFill>
                  <a:srgbClr val="173044"/>
                </a:solidFill>
                <a:latin typeface="Aptos"/>
                <a:ea typeface="Aptos"/>
                <a:cs typeface="Aptos"/>
              </a:rPr>
              <a:t> </a:t>
            </a:r>
            <a:r>
              <a:rPr sz="2550" b="0" dirty="0" err="1">
                <a:solidFill>
                  <a:srgbClr val="173044"/>
                </a:solidFill>
                <a:latin typeface="Aptos"/>
                <a:ea typeface="Aptos"/>
                <a:cs typeface="Aptos"/>
              </a:rPr>
              <a:t>correcte</a:t>
            </a:r>
            <a:r>
              <a:rPr sz="2550" b="0" dirty="0">
                <a:solidFill>
                  <a:srgbClr val="173044"/>
                </a:solidFill>
                <a:latin typeface="Aptos"/>
                <a:ea typeface="Aptos"/>
                <a:cs typeface="Aptos"/>
              </a:rPr>
              <a:t> et à un </a:t>
            </a:r>
            <a:r>
              <a:rPr sz="2550" b="0" dirty="0" err="1">
                <a:solidFill>
                  <a:srgbClr val="173044"/>
                </a:solidFill>
                <a:latin typeface="Aptos"/>
                <a:ea typeface="Aptos"/>
                <a:cs typeface="Aptos"/>
              </a:rPr>
              <a:t>comportement</a:t>
            </a:r>
            <a:r>
              <a:rPr sz="2550" b="0" dirty="0">
                <a:solidFill>
                  <a:srgbClr val="173044"/>
                </a:solidFill>
                <a:latin typeface="Aptos"/>
                <a:ea typeface="Aptos"/>
                <a:cs typeface="Aptos"/>
              </a:rPr>
              <a:t> </a:t>
            </a:r>
            <a:r>
              <a:rPr sz="2550" b="0" dirty="0" err="1">
                <a:solidFill>
                  <a:srgbClr val="173044"/>
                </a:solidFill>
                <a:latin typeface="Aptos"/>
                <a:ea typeface="Aptos"/>
                <a:cs typeface="Aptos"/>
              </a:rPr>
              <a:t>mesuré</a:t>
            </a:r>
            <a:r>
              <a:rPr sz="2550" b="0" dirty="0">
                <a:solidFill>
                  <a:srgbClr val="173044"/>
                </a:solidFill>
                <a:latin typeface="Aptos"/>
                <a:ea typeface="Aptos"/>
                <a:cs typeface="Aptos"/>
              </a:rPr>
              <a:t>.</a:t>
            </a:r>
          </a:p>
        </p:txBody>
      </p:sp>
      <p:sp>
        <p:nvSpPr>
          <p:cNvPr id="5" name="Rectangle 4">
            <a:extLst>
              <a:ext uri="{FF2B5EF4-FFF2-40B4-BE49-F238E27FC236}">
                <a16:creationId xmlns:a16="http://schemas.microsoft.com/office/drawing/2014/main" id="{29B7A2DD-E7B1-4316-9137-C51D5BA71BF7}"/>
              </a:ext>
            </a:extLst>
          </p:cNvPr>
          <p:cNvSpPr>
            <a:spLocks noGrp="1"/>
          </p:cNvSpPr>
          <p:nvPr/>
        </p:nvSpPr>
        <p:spPr>
          <a:xfrm>
            <a:off x="3714750" y="4343400"/>
            <a:ext cx="10715625" cy="1981200"/>
          </a:xfrm>
          <a:prstGeom prst="rect">
            <a:avLst/>
          </a:prstGeom>
          <a:noFill/>
          <a:ln w="0">
            <a:noFill/>
          </a:ln>
        </p:spPr>
        <p:txBody>
          <a:bodyPr>
            <a:noAutofit/>
          </a:bodyPr>
          <a:lstStyle/>
          <a:p>
            <a:pPr>
              <a:defRPr sz="2250" b="0">
                <a:solidFill>
                  <a:srgbClr val="173044"/>
                </a:solidFill>
                <a:latin typeface="Aptos"/>
                <a:ea typeface="Aptos"/>
                <a:cs typeface="Aptos"/>
              </a:defRPr>
            </a:pPr>
            <a:r>
              <a:rPr sz="2250" b="0">
                <a:solidFill>
                  <a:srgbClr val="173044"/>
                </a:solidFill>
                <a:latin typeface="Aptos"/>
                <a:ea typeface="Aptos"/>
                <a:cs typeface="Aptos"/>
              </a:rPr>
              <a:t>Le dossier collectif MSPR 4.1 reçoit des preuves : état initial, modification expliquée, résultats comparables et limites. Chaque journée ajoute une pièce à ce dossier. Le cours contribue au Bloc 4 sans couvrir tout le titre.</a:t>
            </a:r>
          </a:p>
        </p:txBody>
      </p:sp>
      <p:sp>
        <p:nvSpPr>
          <p:cNvPr id="6" name="Rectangle 5">
            <a:extLst>
              <a:ext uri="{FF2B5EF4-FFF2-40B4-BE49-F238E27FC236}">
                <a16:creationId xmlns:a16="http://schemas.microsoft.com/office/drawing/2014/main" id="{D5429F5B-049B-4D46-9B11-10ECD5D69420}"/>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86C62879-9C6A-4194-B8F8-5A5A83C4310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Aujourd’hui : produire un diagnostic argumenté avant de modifier le système.</a:t>
            </a:r>
          </a:p>
        </p:txBody>
      </p:sp>
      <p:sp>
        <p:nvSpPr>
          <p:cNvPr id="8" name="Rectangle 7">
            <a:extLst>
              <a:ext uri="{FF2B5EF4-FFF2-40B4-BE49-F238E27FC236}">
                <a16:creationId xmlns:a16="http://schemas.microsoft.com/office/drawing/2014/main" id="{5D8DA727-CCD5-42A6-BBEA-0458B1633E6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978AF5BF-653C-475B-A5DD-AB1CF7AAE33F}"/>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02 / 34</a:t>
            </a:r>
          </a:p>
        </p:txBody>
      </p:sp>
    </p:spTree>
    <p:extLst>
      <p:ext uri="{BB962C8B-B14F-4D97-AF65-F5344CB8AC3E}">
        <p14:creationId xmlns:p14="http://schemas.microsoft.com/office/powerpoint/2010/main" val="254715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762D1A4-ACAA-42D4-BB4C-C56BF2E4AC9D}"/>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82E8053F-D000-48EF-B141-7AF8514572A4}"/>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Organisation de la journée</a:t>
            </a:r>
          </a:p>
        </p:txBody>
      </p:sp>
      <p:sp>
        <p:nvSpPr>
          <p:cNvPr id="4" name="Rectangle 3">
            <a:extLst>
              <a:ext uri="{FF2B5EF4-FFF2-40B4-BE49-F238E27FC236}">
                <a16:creationId xmlns:a16="http://schemas.microsoft.com/office/drawing/2014/main" id="{ED745E3F-D0D8-41B0-9173-5F32ED7F10AD}"/>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dirty="0">
                <a:solidFill>
                  <a:srgbClr val="173044"/>
                </a:solidFill>
                <a:latin typeface="Aptos"/>
                <a:ea typeface="Aptos"/>
                <a:cs typeface="Aptos"/>
              </a:rPr>
              <a:t>Le matin pose la </a:t>
            </a:r>
            <a:r>
              <a:rPr sz="2025" b="0" dirty="0" err="1">
                <a:solidFill>
                  <a:srgbClr val="173044"/>
                </a:solidFill>
                <a:latin typeface="Aptos"/>
                <a:ea typeface="Aptos"/>
                <a:cs typeface="Aptos"/>
              </a:rPr>
              <a:t>méthode</a:t>
            </a:r>
            <a:r>
              <a:rPr sz="2025" b="0" dirty="0">
                <a:solidFill>
                  <a:srgbClr val="173044"/>
                </a:solidFill>
                <a:latin typeface="Aptos"/>
                <a:ea typeface="Aptos"/>
                <a:cs typeface="Aptos"/>
              </a:rPr>
              <a:t> de </a:t>
            </a:r>
            <a:r>
              <a:rPr sz="2025" b="0" dirty="0" err="1">
                <a:solidFill>
                  <a:srgbClr val="173044"/>
                </a:solidFill>
                <a:latin typeface="Aptos"/>
                <a:ea typeface="Aptos"/>
                <a:cs typeface="Aptos"/>
              </a:rPr>
              <a:t>mesure</a:t>
            </a:r>
            <a:r>
              <a:rPr sz="2025" b="0" dirty="0">
                <a:solidFill>
                  <a:srgbClr val="173044"/>
                </a:solidFill>
                <a:latin typeface="Aptos"/>
                <a:ea typeface="Aptos"/>
                <a:cs typeface="Aptos"/>
              </a:rPr>
              <a:t> et la lecture d’un plan. </a:t>
            </a:r>
            <a:r>
              <a:rPr sz="2025" b="0" dirty="0" err="1">
                <a:solidFill>
                  <a:srgbClr val="173044"/>
                </a:solidFill>
                <a:latin typeface="Aptos"/>
                <a:ea typeface="Aptos"/>
                <a:cs typeface="Aptos"/>
              </a:rPr>
              <a:t>L’après</a:t>
            </a:r>
            <a:r>
              <a:rPr sz="2025" b="0" dirty="0">
                <a:solidFill>
                  <a:srgbClr val="173044"/>
                </a:solidFill>
                <a:latin typeface="Aptos"/>
                <a:ea typeface="Aptos"/>
                <a:cs typeface="Aptos"/>
              </a:rPr>
              <a:t>-midi applique </a:t>
            </a:r>
            <a:r>
              <a:rPr sz="2025" b="0" dirty="0" err="1">
                <a:solidFill>
                  <a:srgbClr val="173044"/>
                </a:solidFill>
                <a:latin typeface="Aptos"/>
                <a:ea typeface="Aptos"/>
                <a:cs typeface="Aptos"/>
              </a:rPr>
              <a:t>cette</a:t>
            </a:r>
            <a:r>
              <a:rPr sz="2025" b="0" dirty="0">
                <a:solidFill>
                  <a:srgbClr val="173044"/>
                </a:solidFill>
                <a:latin typeface="Aptos"/>
                <a:ea typeface="Aptos"/>
                <a:cs typeface="Aptos"/>
              </a:rPr>
              <a:t> </a:t>
            </a:r>
            <a:r>
              <a:rPr sz="2025" b="0" dirty="0" err="1">
                <a:solidFill>
                  <a:srgbClr val="173044"/>
                </a:solidFill>
                <a:latin typeface="Aptos"/>
                <a:ea typeface="Aptos"/>
                <a:cs typeface="Aptos"/>
              </a:rPr>
              <a:t>méthode</a:t>
            </a:r>
            <a:r>
              <a:rPr sz="2025" b="0" dirty="0">
                <a:solidFill>
                  <a:srgbClr val="173044"/>
                </a:solidFill>
                <a:latin typeface="Aptos"/>
                <a:ea typeface="Aptos"/>
                <a:cs typeface="Aptos"/>
              </a:rPr>
              <a:t> à des jointures et à un endpoint</a:t>
            </a:r>
            <a:r>
              <a:rPr lang="fr-FR" sz="2025" b="0" dirty="0">
                <a:solidFill>
                  <a:srgbClr val="173044"/>
                </a:solidFill>
                <a:latin typeface="Aptos"/>
                <a:ea typeface="Aptos"/>
                <a:cs typeface="Aptos"/>
              </a:rPr>
              <a:t> (API)</a:t>
            </a:r>
            <a:r>
              <a:rPr sz="2025" b="0" dirty="0">
                <a:solidFill>
                  <a:srgbClr val="173044"/>
                </a:solidFill>
                <a:latin typeface="Aptos"/>
                <a:ea typeface="Aptos"/>
                <a:cs typeface="Aptos"/>
              </a:rPr>
              <a:t> de consultation de </a:t>
            </a:r>
            <a:r>
              <a:rPr sz="2025" b="0" dirty="0" err="1">
                <a:solidFill>
                  <a:srgbClr val="173044"/>
                </a:solidFill>
                <a:latin typeface="Aptos"/>
                <a:ea typeface="Aptos"/>
                <a:cs typeface="Aptos"/>
              </a:rPr>
              <a:t>commandes</a:t>
            </a:r>
            <a:r>
              <a:rPr sz="2025" b="0" dirty="0">
                <a:solidFill>
                  <a:srgbClr val="173044"/>
                </a:solidFill>
                <a:latin typeface="Aptos"/>
                <a:ea typeface="Aptos"/>
                <a:cs typeface="Aptos"/>
              </a:rPr>
              <a:t>.</a:t>
            </a:r>
          </a:p>
          <a:p>
            <a:endParaRPr sz="2025" b="0" dirty="0">
              <a:solidFill>
                <a:srgbClr val="173044"/>
              </a:solidFill>
              <a:latin typeface="Aptos"/>
              <a:ea typeface="Aptos"/>
              <a:cs typeface="Aptos"/>
            </a:endParaRPr>
          </a:p>
          <a:p>
            <a:pPr>
              <a:defRPr sz="2025" b="0">
                <a:solidFill>
                  <a:srgbClr val="173044"/>
                </a:solidFill>
                <a:latin typeface="Aptos"/>
                <a:ea typeface="Aptos"/>
                <a:cs typeface="Aptos"/>
              </a:defRPr>
            </a:pPr>
            <a:r>
              <a:rPr sz="2025" b="0" dirty="0">
                <a:solidFill>
                  <a:srgbClr val="173044"/>
                </a:solidFill>
                <a:latin typeface="Aptos"/>
                <a:ea typeface="Aptos"/>
                <a:cs typeface="Aptos"/>
              </a:rPr>
              <a:t>Le support </a:t>
            </a:r>
            <a:r>
              <a:rPr sz="2025" b="0" dirty="0" err="1">
                <a:solidFill>
                  <a:srgbClr val="173044"/>
                </a:solidFill>
                <a:latin typeface="Aptos"/>
                <a:ea typeface="Aptos"/>
                <a:cs typeface="Aptos"/>
              </a:rPr>
              <a:t>sert</a:t>
            </a:r>
            <a:r>
              <a:rPr sz="2025" b="0" dirty="0">
                <a:solidFill>
                  <a:srgbClr val="173044"/>
                </a:solidFill>
                <a:latin typeface="Aptos"/>
                <a:ea typeface="Aptos"/>
                <a:cs typeface="Aptos"/>
              </a:rPr>
              <a:t> de </a:t>
            </a:r>
            <a:r>
              <a:rPr sz="2025" b="0" dirty="0" err="1">
                <a:solidFill>
                  <a:srgbClr val="173044"/>
                </a:solidFill>
                <a:latin typeface="Aptos"/>
                <a:ea typeface="Aptos"/>
                <a:cs typeface="Aptos"/>
              </a:rPr>
              <a:t>référence</a:t>
            </a:r>
            <a:r>
              <a:rPr sz="2025" b="0" dirty="0">
                <a:solidFill>
                  <a:srgbClr val="173044"/>
                </a:solidFill>
                <a:latin typeface="Aptos"/>
                <a:ea typeface="Aptos"/>
                <a:cs typeface="Aptos"/>
              </a:rPr>
              <a:t> pendant </a:t>
            </a:r>
            <a:r>
              <a:rPr sz="2025" b="0" dirty="0" err="1">
                <a:solidFill>
                  <a:srgbClr val="173044"/>
                </a:solidFill>
                <a:latin typeface="Aptos"/>
                <a:ea typeface="Aptos"/>
                <a:cs typeface="Aptos"/>
              </a:rPr>
              <a:t>l’atelier</a:t>
            </a:r>
            <a:r>
              <a:rPr sz="2025" b="0" dirty="0">
                <a:solidFill>
                  <a:srgbClr val="173044"/>
                </a:solidFill>
                <a:latin typeface="Aptos"/>
                <a:ea typeface="Aptos"/>
                <a:cs typeface="Aptos"/>
              </a:rPr>
              <a:t> et après le </a:t>
            </a:r>
            <a:r>
              <a:rPr sz="2025" b="0" dirty="0" err="1">
                <a:solidFill>
                  <a:srgbClr val="173044"/>
                </a:solidFill>
                <a:latin typeface="Aptos"/>
                <a:ea typeface="Aptos"/>
                <a:cs typeface="Aptos"/>
              </a:rPr>
              <a:t>cours</a:t>
            </a:r>
            <a:r>
              <a:rPr sz="2025" b="0" dirty="0">
                <a:solidFill>
                  <a:srgbClr val="173044"/>
                </a:solidFill>
                <a:latin typeface="Aptos"/>
                <a:ea typeface="Aptos"/>
                <a:cs typeface="Aptos"/>
              </a:rPr>
              <a:t>. Les </a:t>
            </a:r>
            <a:r>
              <a:rPr sz="2025" b="0" dirty="0" err="1">
                <a:solidFill>
                  <a:srgbClr val="173044"/>
                </a:solidFill>
                <a:latin typeface="Aptos"/>
                <a:ea typeface="Aptos"/>
                <a:cs typeface="Aptos"/>
              </a:rPr>
              <a:t>commandes</a:t>
            </a:r>
            <a:r>
              <a:rPr sz="2025" b="0" dirty="0">
                <a:solidFill>
                  <a:srgbClr val="173044"/>
                </a:solidFill>
                <a:latin typeface="Aptos"/>
                <a:ea typeface="Aptos"/>
                <a:cs typeface="Aptos"/>
              </a:rPr>
              <a:t> </a:t>
            </a:r>
            <a:r>
              <a:rPr sz="2025" b="0" dirty="0" err="1">
                <a:solidFill>
                  <a:srgbClr val="173044"/>
                </a:solidFill>
                <a:latin typeface="Aptos"/>
                <a:ea typeface="Aptos"/>
                <a:cs typeface="Aptos"/>
              </a:rPr>
              <a:t>ciblent</a:t>
            </a:r>
            <a:r>
              <a:rPr sz="2025" b="0" dirty="0">
                <a:solidFill>
                  <a:srgbClr val="173044"/>
                </a:solidFill>
                <a:latin typeface="Aptos"/>
                <a:ea typeface="Aptos"/>
                <a:cs typeface="Aptos"/>
              </a:rPr>
              <a:t> PostgreSQL 18, avec un </a:t>
            </a:r>
            <a:r>
              <a:rPr sz="2025" b="0" dirty="0" err="1">
                <a:solidFill>
                  <a:srgbClr val="173044"/>
                </a:solidFill>
                <a:latin typeface="Aptos"/>
                <a:ea typeface="Aptos"/>
                <a:cs typeface="Aptos"/>
              </a:rPr>
              <a:t>schéma</a:t>
            </a:r>
            <a:r>
              <a:rPr sz="2025" b="0" dirty="0">
                <a:solidFill>
                  <a:srgbClr val="173044"/>
                </a:solidFill>
                <a:latin typeface="Aptos"/>
                <a:ea typeface="Aptos"/>
                <a:cs typeface="Aptos"/>
              </a:rPr>
              <a:t> de </a:t>
            </a:r>
            <a:r>
              <a:rPr sz="2025" b="0" dirty="0" err="1">
                <a:solidFill>
                  <a:srgbClr val="173044"/>
                </a:solidFill>
                <a:latin typeface="Aptos"/>
                <a:ea typeface="Aptos"/>
                <a:cs typeface="Aptos"/>
              </a:rPr>
              <a:t>laboratoire</a:t>
            </a:r>
            <a:r>
              <a:rPr sz="2025" b="0" dirty="0">
                <a:solidFill>
                  <a:srgbClr val="173044"/>
                </a:solidFill>
                <a:latin typeface="Aptos"/>
                <a:ea typeface="Aptos"/>
                <a:cs typeface="Aptos"/>
              </a:rPr>
              <a:t> </a:t>
            </a:r>
            <a:r>
              <a:rPr sz="2025" b="0" dirty="0" err="1">
                <a:solidFill>
                  <a:srgbClr val="173044"/>
                </a:solidFill>
                <a:latin typeface="Aptos"/>
                <a:ea typeface="Aptos"/>
                <a:cs typeface="Aptos"/>
              </a:rPr>
              <a:t>fourni</a:t>
            </a:r>
            <a:r>
              <a:rPr sz="2025" b="0" dirty="0">
                <a:solidFill>
                  <a:srgbClr val="173044"/>
                </a:solidFill>
                <a:latin typeface="Aptos"/>
                <a:ea typeface="Aptos"/>
                <a:cs typeface="Aptos"/>
              </a:rPr>
              <a:t>.</a:t>
            </a:r>
          </a:p>
        </p:txBody>
      </p:sp>
      <p:graphicFrame>
        <p:nvGraphicFramePr>
          <p:cNvPr id="12" name="Tableau 11"/>
          <p:cNvGraphicFramePr/>
          <p:nvPr/>
        </p:nvGraphicFramePr>
        <p:xfrm>
          <a:off x="7334250" y="2381250"/>
          <a:ext cx="7239000" cy="3905250"/>
        </p:xfrm>
        <a:graphic>
          <a:graphicData uri="http://schemas.openxmlformats.org/drawingml/2006/table">
            <a:tb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650875">
                <a:tc>
                  <a:txBody>
                    <a:bodyPr/>
                    <a:lstStyle/>
                    <a:p>
                      <a:r>
                        <a:rPr sz="1800" b="1">
                          <a:solidFill>
                            <a:srgbClr val="FFFFFF"/>
                          </a:solidFill>
                          <a:latin typeface="Aptos"/>
                          <a:ea typeface="Aptos"/>
                          <a:cs typeface="Aptos"/>
                        </a:rPr>
                        <a:t>Séquence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Durée</a:t>
                      </a:r>
                    </a:p>
                  </a:txBody>
                  <a:tcPr marL="142875" marR="142875" marT="114300" marB="114300" anchor="ctr">
                    <a:solidFill>
                      <a:srgbClr val="173C4C"/>
                    </a:solidFill>
                  </a:tcPr>
                </a:tc>
                <a:extLst>
                  <a:ext uri="{0D108BD9-81ED-4DB2-BD59-A6C34878D82A}">
                    <a16:rowId xmlns:a16="http://schemas.microsoft.com/office/drawing/2014/main" val="10000"/>
                  </a:ext>
                </a:extLst>
              </a:tr>
              <a:tr h="650875">
                <a:tc>
                  <a:txBody>
                    <a:bodyPr/>
                    <a:lstStyle/>
                    <a:p>
                      <a:r>
                        <a:rPr sz="1800">
                          <a:solidFill>
                            <a:srgbClr val="173044"/>
                          </a:solidFill>
                          <a:latin typeface="Aptos"/>
                          <a:ea typeface="Aptos"/>
                          <a:cs typeface="Aptos"/>
                        </a:rPr>
                        <a:t>Mesures et cas commun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a:t>
                      </a:r>
                    </a:p>
                  </a:txBody>
                  <a:tcPr marL="142875" marR="142875" marT="114300" marB="114300" anchor="ctr">
                    <a:solidFill>
                      <a:srgbClr val="F2DEC6"/>
                    </a:solidFill>
                  </a:tcPr>
                </a:tc>
                <a:extLst>
                  <a:ext uri="{0D108BD9-81ED-4DB2-BD59-A6C34878D82A}">
                    <a16:rowId xmlns:a16="http://schemas.microsoft.com/office/drawing/2014/main" val="10001"/>
                  </a:ext>
                </a:extLst>
              </a:tr>
              <a:tr h="650875">
                <a:tc>
                  <a:txBody>
                    <a:bodyPr/>
                    <a:lstStyle/>
                    <a:p>
                      <a:r>
                        <a:rPr sz="1800">
                          <a:solidFill>
                            <a:srgbClr val="173044"/>
                          </a:solidFill>
                          <a:latin typeface="Aptos"/>
                          <a:ea typeface="Aptos"/>
                          <a:cs typeface="Aptos"/>
                        </a:rPr>
                        <a:t>EXPLAIN et statistiques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45</a:t>
                      </a:r>
                    </a:p>
                  </a:txBody>
                  <a:tcPr marL="142875" marR="142875" marT="114300" marB="114300" anchor="ctr">
                    <a:solidFill>
                      <a:srgbClr val="F2DEC6"/>
                    </a:solidFill>
                  </a:tcPr>
                </a:tc>
                <a:extLst>
                  <a:ext uri="{0D108BD9-81ED-4DB2-BD59-A6C34878D82A}">
                    <a16:rowId xmlns:a16="http://schemas.microsoft.com/office/drawing/2014/main" val="10002"/>
                  </a:ext>
                </a:extLst>
              </a:tr>
              <a:tr h="650875">
                <a:tc>
                  <a:txBody>
                    <a:bodyPr/>
                    <a:lstStyle/>
                    <a:p>
                      <a:r>
                        <a:rPr sz="1800">
                          <a:solidFill>
                            <a:srgbClr val="173044"/>
                          </a:solidFill>
                          <a:latin typeface="Aptos"/>
                          <a:ea typeface="Aptos"/>
                          <a:cs typeface="Aptos"/>
                        </a:rPr>
                        <a:t>Atelier diagnostic</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30</a:t>
                      </a:r>
                    </a:p>
                  </a:txBody>
                  <a:tcPr marL="142875" marR="142875" marT="114300" marB="114300" anchor="ctr">
                    <a:solidFill>
                      <a:srgbClr val="F2DEC6"/>
                    </a:solidFill>
                  </a:tcPr>
                </a:tc>
                <a:extLst>
                  <a:ext uri="{0D108BD9-81ED-4DB2-BD59-A6C34878D82A}">
                    <a16:rowId xmlns:a16="http://schemas.microsoft.com/office/drawing/2014/main" val="10003"/>
                  </a:ext>
                </a:extLst>
              </a:tr>
              <a:tr h="650875">
                <a:tc>
                  <a:txBody>
                    <a:bodyPr/>
                    <a:lstStyle/>
                    <a:p>
                      <a:r>
                        <a:rPr sz="1800">
                          <a:solidFill>
                            <a:srgbClr val="173044"/>
                          </a:solidFill>
                          <a:latin typeface="Aptos"/>
                          <a:ea typeface="Aptos"/>
                          <a:cs typeface="Aptos"/>
                        </a:rPr>
                        <a:t>Jointures et réécriture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30</a:t>
                      </a:r>
                    </a:p>
                  </a:txBody>
                  <a:tcPr marL="142875" marR="142875" marT="114300" marB="114300" anchor="ctr">
                    <a:solidFill>
                      <a:srgbClr val="F2DEC6"/>
                    </a:solidFill>
                  </a:tcPr>
                </a:tc>
                <a:extLst>
                  <a:ext uri="{0D108BD9-81ED-4DB2-BD59-A6C34878D82A}">
                    <a16:rowId xmlns:a16="http://schemas.microsoft.com/office/drawing/2014/main" val="10004"/>
                  </a:ext>
                </a:extLst>
              </a:tr>
              <a:tr h="650875">
                <a:tc>
                  <a:txBody>
                    <a:bodyPr/>
                    <a:lstStyle/>
                    <a:p>
                      <a:r>
                        <a:rPr sz="1800">
                          <a:solidFill>
                            <a:srgbClr val="173044"/>
                          </a:solidFill>
                          <a:latin typeface="Aptos"/>
                          <a:ea typeface="Aptos"/>
                          <a:cs typeface="Aptos"/>
                        </a:rPr>
                        <a:t>Dossier et correction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15</a:t>
                      </a:r>
                    </a:p>
                  </a:txBody>
                  <a:tcPr marL="142875" marR="142875" marT="114300" marB="114300" anchor="ctr">
                    <a:solidFill>
                      <a:srgbClr val="F2DEC6"/>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148B13F7-A365-42DD-8FC2-18E151E3F81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59D7A850-D88B-4E34-97E6-0BCE8CE0B71F}"/>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03 / 34</a:t>
            </a:r>
          </a:p>
        </p:txBody>
      </p:sp>
    </p:spTree>
    <p:extLst>
      <p:ext uri="{BB962C8B-B14F-4D97-AF65-F5344CB8AC3E}">
        <p14:creationId xmlns:p14="http://schemas.microsoft.com/office/powerpoint/2010/main" val="1210628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A87E5A8D-C4B2-429A-AE01-B15010B2E06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1   /   OPTIMISATION BDD</a:t>
            </a:r>
          </a:p>
        </p:txBody>
      </p:sp>
      <p:sp>
        <p:nvSpPr>
          <p:cNvPr id="3" name="Rectangle 2">
            <a:extLst>
              <a:ext uri="{FF2B5EF4-FFF2-40B4-BE49-F238E27FC236}">
                <a16:creationId xmlns:a16="http://schemas.microsoft.com/office/drawing/2014/main" id="{1C7E4291-767B-4358-B6A5-601A1414CFFD}"/>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Le cas fil rouge : ShopFlow</a:t>
            </a:r>
          </a:p>
        </p:txBody>
      </p:sp>
      <p:sp>
        <p:nvSpPr>
          <p:cNvPr id="4" name="Rectangle 3">
            <a:extLst>
              <a:ext uri="{FF2B5EF4-FFF2-40B4-BE49-F238E27FC236}">
                <a16:creationId xmlns:a16="http://schemas.microsoft.com/office/drawing/2014/main" id="{283B35D8-9D24-4F20-85EC-49AEC7574CF2}"/>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5A860382-327C-46C2-BBAB-C4AFBCDBA09E}"/>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ShopFlow vend des produits à des clients et conserve leurs commandes. Une API affiche l’historique d’un client, le détail d’une commande et un catalogue filtré. Une seconde activité produit des indicateurs mensuels.</a:t>
            </a:r>
          </a:p>
        </p:txBody>
      </p:sp>
      <p:sp>
        <p:nvSpPr>
          <p:cNvPr id="6" name="Rectangle 5">
            <a:extLst>
              <a:ext uri="{FF2B5EF4-FFF2-40B4-BE49-F238E27FC236}">
                <a16:creationId xmlns:a16="http://schemas.microsoft.com/office/drawing/2014/main" id="{D2111514-7C58-446B-9786-C4B67C6715BD}"/>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Le jeu pédagogique contient des clients, des produits, des commandes et leurs lignes. Les volumes et les objectifs sont des hypothèses de laboratoire, à distinguer des mesures réellement obtenues. Les mêmes résultats fonctionnels doivent subsister après optimisation.</a:t>
            </a:r>
          </a:p>
        </p:txBody>
      </p:sp>
      <p:sp>
        <p:nvSpPr>
          <p:cNvPr id="7" name="Rectangle 6">
            <a:extLst>
              <a:ext uri="{FF2B5EF4-FFF2-40B4-BE49-F238E27FC236}">
                <a16:creationId xmlns:a16="http://schemas.microsoft.com/office/drawing/2014/main" id="{A8D316FA-0622-46AA-8B84-87D8D2C5B19C}"/>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84214CEF-5FEA-408A-BC83-95258E154C68}"/>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 laboratoire fourni utilise 1 000 clients, 200 produits et 100 000 commandes synthétiques.</a:t>
            </a:r>
          </a:p>
        </p:txBody>
      </p:sp>
      <p:sp>
        <p:nvSpPr>
          <p:cNvPr id="9" name="Rectangle 8">
            <a:extLst>
              <a:ext uri="{FF2B5EF4-FFF2-40B4-BE49-F238E27FC236}">
                <a16:creationId xmlns:a16="http://schemas.microsoft.com/office/drawing/2014/main" id="{4C282985-1452-446E-A602-C0C14D86E02F}"/>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A7DA61D3-BD42-4172-8431-C62D3FFA1326}"/>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04 / 34</a:t>
            </a:r>
          </a:p>
        </p:txBody>
      </p:sp>
    </p:spTree>
    <p:extLst>
      <p:ext uri="{BB962C8B-B14F-4D97-AF65-F5344CB8AC3E}">
        <p14:creationId xmlns:p14="http://schemas.microsoft.com/office/powerpoint/2010/main" val="1635260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8" name="Image 1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BF02E33-456F-4958-9676-5E1565C51CD4}"/>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1B423567-4032-4BBC-97C6-B4DC8887E474}"/>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Architecture d’une requête applicative</a:t>
            </a:r>
          </a:p>
        </p:txBody>
      </p:sp>
      <p:sp>
        <p:nvSpPr>
          <p:cNvPr id="4" name="Rectangle 3">
            <a:extLst>
              <a:ext uri="{FF2B5EF4-FFF2-40B4-BE49-F238E27FC236}">
                <a16:creationId xmlns:a16="http://schemas.microsoft.com/office/drawing/2014/main" id="{2DD8A3E7-EFF8-4E6C-B8DF-8592AD226A0A}"/>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Une requête HTTP traverse des couches qui peuvent toutes ajouter de la latence. La base exécute seulement une partie du travail. Un SQL rapide peut accompagner une API lente si elle attend une connexion ou sérialise un résultat énorme.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Une trace associe les durées d’attente et d’exécution au même identifiant. Elle permet de choisir une action au bon endroit : requête, accès ORM, pool, réseau ou taille de réponse.</a:t>
            </a:r>
          </a:p>
        </p:txBody>
      </p:sp>
      <p:sp>
        <p:nvSpPr>
          <p:cNvPr id="5" name="Rectangle : coins arrondis 4">
            <a:extLst>
              <a:ext uri="{FF2B5EF4-FFF2-40B4-BE49-F238E27FC236}">
                <a16:creationId xmlns:a16="http://schemas.microsoft.com/office/drawing/2014/main" id="{11116A42-CE0C-4975-8F4D-7B0D4ADEB314}"/>
              </a:ext>
            </a:extLst>
          </p:cNvPr>
          <p:cNvSpPr>
            <a:spLocks noGrp="1"/>
          </p:cNvSpPr>
          <p:nvPr/>
        </p:nvSpPr>
        <p:spPr>
          <a:xfrm>
            <a:off x="7524750" y="2238375"/>
            <a:ext cx="2920365"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Client</a:t>
            </a:r>
          </a:p>
          <a:p>
            <a:pPr algn="ctr">
              <a:defRPr sz="1875" b="1">
                <a:solidFill>
                  <a:srgbClr val="FFFFFF"/>
                </a:solidFill>
                <a:latin typeface="Aptos"/>
                <a:ea typeface="Aptos"/>
                <a:cs typeface="Aptos"/>
              </a:defRPr>
            </a:pPr>
            <a:r>
              <a:rPr sz="1875" b="1">
                <a:solidFill>
                  <a:srgbClr val="FFFFFF"/>
                </a:solidFill>
                <a:latin typeface="Aptos"/>
                <a:ea typeface="Aptos"/>
                <a:cs typeface="Aptos"/>
              </a:rPr>
              <a:t>HTTP</a:t>
            </a:r>
          </a:p>
        </p:txBody>
      </p:sp>
      <p:sp>
        <p:nvSpPr>
          <p:cNvPr id="6" name="Rectangle : coins arrondis 5">
            <a:extLst>
              <a:ext uri="{FF2B5EF4-FFF2-40B4-BE49-F238E27FC236}">
                <a16:creationId xmlns:a16="http://schemas.microsoft.com/office/drawing/2014/main" id="{ED4F1F80-85EB-4A77-B780-C31311B3DDC0}"/>
              </a:ext>
            </a:extLst>
          </p:cNvPr>
          <p:cNvSpPr>
            <a:spLocks noGrp="1"/>
          </p:cNvSpPr>
          <p:nvPr/>
        </p:nvSpPr>
        <p:spPr>
          <a:xfrm>
            <a:off x="11557635" y="2238375"/>
            <a:ext cx="2920365"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Service</a:t>
            </a:r>
          </a:p>
          <a:p>
            <a:pPr algn="ctr">
              <a:defRPr sz="1875" b="1">
                <a:solidFill>
                  <a:srgbClr val="FFFFFF"/>
                </a:solidFill>
                <a:latin typeface="Aptos"/>
                <a:ea typeface="Aptos"/>
                <a:cs typeface="Aptos"/>
              </a:defRPr>
            </a:pPr>
            <a:r>
              <a:rPr sz="1875" b="1">
                <a:solidFill>
                  <a:srgbClr val="FFFFFF"/>
                </a:solidFill>
                <a:latin typeface="Aptos"/>
                <a:ea typeface="Aptos"/>
                <a:cs typeface="Aptos"/>
              </a:rPr>
              <a:t>API</a:t>
            </a:r>
          </a:p>
        </p:txBody>
      </p:sp>
      <p:sp>
        <p:nvSpPr>
          <p:cNvPr id="7" name="Rectangle : coins arrondis 6">
            <a:extLst>
              <a:ext uri="{FF2B5EF4-FFF2-40B4-BE49-F238E27FC236}">
                <a16:creationId xmlns:a16="http://schemas.microsoft.com/office/drawing/2014/main" id="{13D6A454-0D25-4DCB-ADAF-464E8D5C32FE}"/>
              </a:ext>
            </a:extLst>
          </p:cNvPr>
          <p:cNvSpPr>
            <a:spLocks noGrp="1"/>
          </p:cNvSpPr>
          <p:nvPr/>
        </p:nvSpPr>
        <p:spPr>
          <a:xfrm>
            <a:off x="11557635" y="3924300"/>
            <a:ext cx="2920365"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Pool de</a:t>
            </a:r>
          </a:p>
          <a:p>
            <a:pPr algn="ctr">
              <a:defRPr sz="1875" b="1">
                <a:solidFill>
                  <a:srgbClr val="FFFFFF"/>
                </a:solidFill>
                <a:latin typeface="Aptos"/>
                <a:ea typeface="Aptos"/>
                <a:cs typeface="Aptos"/>
              </a:defRPr>
            </a:pPr>
            <a:r>
              <a:rPr sz="1875" b="1">
                <a:solidFill>
                  <a:srgbClr val="FFFFFF"/>
                </a:solidFill>
                <a:latin typeface="Aptos"/>
                <a:ea typeface="Aptos"/>
                <a:cs typeface="Aptos"/>
              </a:rPr>
              <a:t>connexions</a:t>
            </a:r>
          </a:p>
        </p:txBody>
      </p:sp>
      <p:sp>
        <p:nvSpPr>
          <p:cNvPr id="8" name="Rectangle : coins arrondis 7">
            <a:extLst>
              <a:ext uri="{FF2B5EF4-FFF2-40B4-BE49-F238E27FC236}">
                <a16:creationId xmlns:a16="http://schemas.microsoft.com/office/drawing/2014/main" id="{FEDFF339-AB5B-4D1C-9D51-2E4D7D78036E}"/>
              </a:ext>
            </a:extLst>
          </p:cNvPr>
          <p:cNvSpPr>
            <a:spLocks noGrp="1"/>
          </p:cNvSpPr>
          <p:nvPr/>
        </p:nvSpPr>
        <p:spPr>
          <a:xfrm>
            <a:off x="7524750" y="3924300"/>
            <a:ext cx="2920365"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PostgreSQL</a:t>
            </a:r>
          </a:p>
          <a:p>
            <a:pPr algn="ctr">
              <a:defRPr sz="1875" b="1">
                <a:solidFill>
                  <a:srgbClr val="FFFFFF"/>
                </a:solidFill>
                <a:latin typeface="Aptos"/>
                <a:ea typeface="Aptos"/>
                <a:cs typeface="Aptos"/>
              </a:defRPr>
            </a:pPr>
            <a:r>
              <a:rPr sz="1875" b="1">
                <a:solidFill>
                  <a:srgbClr val="FFFFFF"/>
                </a:solidFill>
                <a:latin typeface="Aptos"/>
                <a:ea typeface="Aptos"/>
                <a:cs typeface="Aptos"/>
              </a:rPr>
              <a:t>SQL</a:t>
            </a:r>
          </a:p>
        </p:txBody>
      </p:sp>
      <p:sp>
        <p:nvSpPr>
          <p:cNvPr id="9" name="Flèche : droite 8">
            <a:extLst>
              <a:ext uri="{FF2B5EF4-FFF2-40B4-BE49-F238E27FC236}">
                <a16:creationId xmlns:a16="http://schemas.microsoft.com/office/drawing/2014/main" id="{50585C60-65C4-416A-8AF8-FAFF59826FD3}"/>
              </a:ext>
            </a:extLst>
          </p:cNvPr>
          <p:cNvSpPr>
            <a:spLocks noGrp="1"/>
          </p:cNvSpPr>
          <p:nvPr/>
        </p:nvSpPr>
        <p:spPr>
          <a:xfrm>
            <a:off x="10502265" y="2657475"/>
            <a:ext cx="998220" cy="114300"/>
          </a:xfrm>
          <a:prstGeom prst="rightArrow">
            <a:avLst/>
          </a:prstGeom>
          <a:solidFill>
            <a:srgbClr val="AD4C21"/>
          </a:solidFill>
          <a:ln w="0">
            <a:noFill/>
          </a:ln>
        </p:spPr>
        <p:txBody>
          <a:bodyPr/>
          <a:lstStyle/>
          <a:p>
            <a:endParaRPr lang="fr-FR"/>
          </a:p>
        </p:txBody>
      </p:sp>
      <p:sp>
        <p:nvSpPr>
          <p:cNvPr id="10" name="Rectangle 9">
            <a:extLst>
              <a:ext uri="{FF2B5EF4-FFF2-40B4-BE49-F238E27FC236}">
                <a16:creationId xmlns:a16="http://schemas.microsoft.com/office/drawing/2014/main" id="{CF430F3D-AF41-4526-AB69-C3B0DB9A624D}"/>
              </a:ext>
            </a:extLst>
          </p:cNvPr>
          <p:cNvSpPr>
            <a:spLocks noGrp="1"/>
          </p:cNvSpPr>
          <p:nvPr/>
        </p:nvSpPr>
        <p:spPr>
          <a:xfrm>
            <a:off x="10429875" y="2343150"/>
            <a:ext cx="1143000" cy="361950"/>
          </a:xfrm>
          <a:prstGeom prst="rect">
            <a:avLst/>
          </a:prstGeom>
          <a:noFill/>
          <a:ln w="0">
            <a:noFill/>
          </a:ln>
        </p:spPr>
        <p:txBody>
          <a:bodyPr>
            <a:noAutofit/>
          </a:bodyPr>
          <a:lstStyle/>
          <a:p>
            <a:pPr algn="ctr">
              <a:defRPr sz="1275" b="1">
                <a:solidFill>
                  <a:srgbClr val="AD4C21"/>
                </a:solidFill>
                <a:latin typeface="Aptos"/>
                <a:ea typeface="Aptos"/>
                <a:cs typeface="Aptos"/>
              </a:defRPr>
            </a:pPr>
            <a:r>
              <a:rPr sz="1275" b="1">
                <a:solidFill>
                  <a:srgbClr val="AD4C21"/>
                </a:solidFill>
                <a:latin typeface="Aptos"/>
                <a:ea typeface="Aptos"/>
                <a:cs typeface="Aptos"/>
              </a:rPr>
              <a:t>requête</a:t>
            </a:r>
          </a:p>
        </p:txBody>
      </p:sp>
      <p:sp>
        <p:nvSpPr>
          <p:cNvPr id="11" name="Flèche : droite 10">
            <a:extLst>
              <a:ext uri="{FF2B5EF4-FFF2-40B4-BE49-F238E27FC236}">
                <a16:creationId xmlns:a16="http://schemas.microsoft.com/office/drawing/2014/main" id="{041108F8-9E97-4B8B-BBB2-9D0356DF58C1}"/>
              </a:ext>
            </a:extLst>
          </p:cNvPr>
          <p:cNvSpPr>
            <a:spLocks noGrp="1"/>
          </p:cNvSpPr>
          <p:nvPr/>
        </p:nvSpPr>
        <p:spPr>
          <a:xfrm rot="5400000">
            <a:off x="12708255" y="3500438"/>
            <a:ext cx="619125" cy="114300"/>
          </a:xfrm>
          <a:prstGeom prst="rightArrow">
            <a:avLst/>
          </a:prstGeom>
          <a:solidFill>
            <a:srgbClr val="AD4C21"/>
          </a:solidFill>
          <a:ln w="0">
            <a:noFill/>
          </a:ln>
        </p:spPr>
        <p:txBody>
          <a:bodyPr/>
          <a:lstStyle/>
          <a:p>
            <a:endParaRPr lang="fr-FR"/>
          </a:p>
        </p:txBody>
      </p:sp>
      <p:sp>
        <p:nvSpPr>
          <p:cNvPr id="12" name="Rectangle 11">
            <a:extLst>
              <a:ext uri="{FF2B5EF4-FFF2-40B4-BE49-F238E27FC236}">
                <a16:creationId xmlns:a16="http://schemas.microsoft.com/office/drawing/2014/main" id="{DDFF26DA-A642-4F81-85AD-D5EB5E42529A}"/>
              </a:ext>
            </a:extLst>
          </p:cNvPr>
          <p:cNvSpPr>
            <a:spLocks noGrp="1"/>
          </p:cNvSpPr>
          <p:nvPr/>
        </p:nvSpPr>
        <p:spPr>
          <a:xfrm>
            <a:off x="13132118" y="3414713"/>
            <a:ext cx="1143000" cy="361950"/>
          </a:xfrm>
          <a:prstGeom prst="rect">
            <a:avLst/>
          </a:prstGeom>
          <a:noFill/>
          <a:ln w="0">
            <a:noFill/>
          </a:ln>
        </p:spPr>
        <p:txBody>
          <a:bodyPr>
            <a:noAutofit/>
          </a:bodyPr>
          <a:lstStyle/>
          <a:p>
            <a:pPr algn="ctr">
              <a:defRPr sz="1275" b="1">
                <a:solidFill>
                  <a:srgbClr val="AD4C21"/>
                </a:solidFill>
                <a:latin typeface="Aptos"/>
                <a:ea typeface="Aptos"/>
                <a:cs typeface="Aptos"/>
              </a:defRPr>
            </a:pPr>
            <a:r>
              <a:rPr sz="1275" b="1">
                <a:solidFill>
                  <a:srgbClr val="AD4C21"/>
                </a:solidFill>
                <a:latin typeface="Aptos"/>
                <a:ea typeface="Aptos"/>
                <a:cs typeface="Aptos"/>
              </a:rPr>
              <a:t>acquisition</a:t>
            </a:r>
          </a:p>
        </p:txBody>
      </p:sp>
      <p:sp>
        <p:nvSpPr>
          <p:cNvPr id="13" name="Flèche : droite 12">
            <a:extLst>
              <a:ext uri="{FF2B5EF4-FFF2-40B4-BE49-F238E27FC236}">
                <a16:creationId xmlns:a16="http://schemas.microsoft.com/office/drawing/2014/main" id="{F619BBD7-BEE1-43C0-B57E-E2AF3D9E4637}"/>
              </a:ext>
            </a:extLst>
          </p:cNvPr>
          <p:cNvSpPr>
            <a:spLocks noGrp="1"/>
          </p:cNvSpPr>
          <p:nvPr/>
        </p:nvSpPr>
        <p:spPr>
          <a:xfrm rot="10800000">
            <a:off x="10502265" y="4343400"/>
            <a:ext cx="998220" cy="114300"/>
          </a:xfrm>
          <a:prstGeom prst="rightArrow">
            <a:avLst/>
          </a:prstGeom>
          <a:solidFill>
            <a:srgbClr val="AD4C21"/>
          </a:solidFill>
          <a:ln w="0">
            <a:noFill/>
          </a:ln>
        </p:spPr>
        <p:txBody>
          <a:bodyPr/>
          <a:lstStyle/>
          <a:p>
            <a:endParaRPr lang="fr-FR"/>
          </a:p>
        </p:txBody>
      </p:sp>
      <p:sp>
        <p:nvSpPr>
          <p:cNvPr id="14" name="Rectangle 13">
            <a:extLst>
              <a:ext uri="{FF2B5EF4-FFF2-40B4-BE49-F238E27FC236}">
                <a16:creationId xmlns:a16="http://schemas.microsoft.com/office/drawing/2014/main" id="{5916D26A-2AE2-49DE-A9FC-428D09C34678}"/>
              </a:ext>
            </a:extLst>
          </p:cNvPr>
          <p:cNvSpPr>
            <a:spLocks noGrp="1"/>
          </p:cNvSpPr>
          <p:nvPr/>
        </p:nvSpPr>
        <p:spPr>
          <a:xfrm>
            <a:off x="10429875" y="4029075"/>
            <a:ext cx="1143000" cy="361950"/>
          </a:xfrm>
          <a:prstGeom prst="rect">
            <a:avLst/>
          </a:prstGeom>
          <a:noFill/>
          <a:ln w="0">
            <a:noFill/>
          </a:ln>
        </p:spPr>
        <p:txBody>
          <a:bodyPr>
            <a:noAutofit/>
          </a:bodyPr>
          <a:lstStyle/>
          <a:p>
            <a:pPr algn="ctr">
              <a:defRPr sz="1275" b="1">
                <a:solidFill>
                  <a:srgbClr val="AD4C21"/>
                </a:solidFill>
                <a:latin typeface="Aptos"/>
                <a:ea typeface="Aptos"/>
                <a:cs typeface="Aptos"/>
              </a:defRPr>
            </a:pPr>
            <a:r>
              <a:rPr sz="1275" b="1">
                <a:solidFill>
                  <a:srgbClr val="AD4C21"/>
                </a:solidFill>
                <a:latin typeface="Aptos"/>
                <a:ea typeface="Aptos"/>
                <a:cs typeface="Aptos"/>
              </a:rPr>
              <a:t>exécution</a:t>
            </a:r>
          </a:p>
        </p:txBody>
      </p:sp>
      <p:sp>
        <p:nvSpPr>
          <p:cNvPr id="15" name="Rectangle 14">
            <a:extLst>
              <a:ext uri="{FF2B5EF4-FFF2-40B4-BE49-F238E27FC236}">
                <a16:creationId xmlns:a16="http://schemas.microsoft.com/office/drawing/2014/main" id="{F737D6FB-E7E6-412D-A65B-AB27D8F9926B}"/>
              </a:ext>
            </a:extLst>
          </p:cNvPr>
          <p:cNvSpPr>
            <a:spLocks noGrp="1"/>
          </p:cNvSpPr>
          <p:nvPr/>
        </p:nvSpPr>
        <p:spPr>
          <a:xfrm>
            <a:off x="7524750" y="5924550"/>
            <a:ext cx="6953250" cy="609600"/>
          </a:xfrm>
          <a:prstGeom prst="rect">
            <a:avLst/>
          </a:prstGeom>
          <a:noFill/>
          <a:ln w="0">
            <a:noFill/>
          </a:ln>
        </p:spPr>
        <p:txBody>
          <a:bodyPr>
            <a:noAutofit/>
          </a:bodyPr>
          <a:lstStyle/>
          <a:p>
            <a:pPr>
              <a:defRPr sz="1575" b="0">
                <a:solidFill>
                  <a:srgbClr val="3F5B66"/>
                </a:solidFill>
                <a:latin typeface="Aptos"/>
                <a:ea typeface="Aptos"/>
                <a:cs typeface="Aptos"/>
              </a:defRPr>
            </a:pPr>
            <a:r>
              <a:rPr sz="1575" b="0">
                <a:solidFill>
                  <a:srgbClr val="3F5B66"/>
                </a:solidFill>
                <a:latin typeface="Aptos"/>
                <a:ea typeface="Aptos"/>
                <a:cs typeface="Aptos"/>
              </a:rPr>
              <a:t>Chemin simplifié. La réponse revient au client.</a:t>
            </a:r>
          </a:p>
        </p:txBody>
      </p:sp>
      <p:sp>
        <p:nvSpPr>
          <p:cNvPr id="16" name="Rectangle 15">
            <a:extLst>
              <a:ext uri="{FF2B5EF4-FFF2-40B4-BE49-F238E27FC236}">
                <a16:creationId xmlns:a16="http://schemas.microsoft.com/office/drawing/2014/main" id="{A1411AD9-20E1-4C30-BAFD-D6D537E8DAE5}"/>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7" name="Rectangle 16">
            <a:extLst>
              <a:ext uri="{FF2B5EF4-FFF2-40B4-BE49-F238E27FC236}">
                <a16:creationId xmlns:a16="http://schemas.microsoft.com/office/drawing/2014/main" id="{447E8D49-B903-4FA8-8B8E-8BD285C4F05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05 / 34</a:t>
            </a:r>
          </a:p>
        </p:txBody>
      </p:sp>
    </p:spTree>
    <p:extLst>
      <p:ext uri="{BB962C8B-B14F-4D97-AF65-F5344CB8AC3E}">
        <p14:creationId xmlns:p14="http://schemas.microsoft.com/office/powerpoint/2010/main" val="142393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ABDE6FFC-C9E4-4344-AA63-6965645A9E18}"/>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1BF51E94-725E-4FCF-BF94-B1F3043E3094}"/>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Performance et exactitude</a:t>
            </a:r>
          </a:p>
        </p:txBody>
      </p:sp>
      <p:sp>
        <p:nvSpPr>
          <p:cNvPr id="4" name="Rectangle 3">
            <a:extLst>
              <a:ext uri="{FF2B5EF4-FFF2-40B4-BE49-F238E27FC236}">
                <a16:creationId xmlns:a16="http://schemas.microsoft.com/office/drawing/2014/main" id="{311AB25C-BE11-410C-8C8B-19D018D51925}"/>
              </a:ext>
            </a:extLst>
          </p:cNvPr>
          <p:cNvSpPr>
            <a:spLocks noGrp="1"/>
          </p:cNvSpPr>
          <p:nvPr/>
        </p:nvSpPr>
        <p:spPr>
          <a:xfrm>
            <a:off x="666750" y="2209800"/>
            <a:ext cx="13525500" cy="2133600"/>
          </a:xfrm>
          <a:prstGeom prst="rect">
            <a:avLst/>
          </a:prstGeom>
          <a:noFill/>
          <a:ln w="0">
            <a:noFill/>
          </a:ln>
        </p:spPr>
        <p:txBody>
          <a:bodyPr>
            <a:noAutofit/>
          </a:bodyPr>
          <a:lstStyle/>
          <a:p>
            <a:pPr>
              <a:defRPr sz="2550" b="0">
                <a:solidFill>
                  <a:srgbClr val="173044"/>
                </a:solidFill>
                <a:latin typeface="Aptos"/>
                <a:ea typeface="Aptos"/>
                <a:cs typeface="Aptos"/>
              </a:defRPr>
            </a:pPr>
            <a:r>
              <a:rPr sz="2550" b="1" i="1" dirty="0">
                <a:solidFill>
                  <a:srgbClr val="173044"/>
                </a:solidFill>
                <a:latin typeface="Aptos"/>
                <a:ea typeface="Aptos"/>
                <a:cs typeface="Aptos"/>
              </a:rPr>
              <a:t>La performance </a:t>
            </a:r>
            <a:r>
              <a:rPr sz="2550" b="0" dirty="0" err="1">
                <a:solidFill>
                  <a:srgbClr val="173044"/>
                </a:solidFill>
                <a:latin typeface="Aptos"/>
                <a:ea typeface="Aptos"/>
                <a:cs typeface="Aptos"/>
              </a:rPr>
              <a:t>décrit</a:t>
            </a:r>
            <a:r>
              <a:rPr sz="2550" b="0" dirty="0">
                <a:solidFill>
                  <a:srgbClr val="173044"/>
                </a:solidFill>
                <a:latin typeface="Aptos"/>
                <a:ea typeface="Aptos"/>
                <a:cs typeface="Aptos"/>
              </a:rPr>
              <a:t> le temps de </a:t>
            </a:r>
            <a:r>
              <a:rPr sz="2550" b="0" dirty="0" err="1">
                <a:solidFill>
                  <a:srgbClr val="173044"/>
                </a:solidFill>
                <a:latin typeface="Aptos"/>
                <a:ea typeface="Aptos"/>
                <a:cs typeface="Aptos"/>
              </a:rPr>
              <a:t>réponse</a:t>
            </a:r>
            <a:r>
              <a:rPr sz="2550" b="0" dirty="0">
                <a:solidFill>
                  <a:srgbClr val="173044"/>
                </a:solidFill>
                <a:latin typeface="Aptos"/>
                <a:ea typeface="Aptos"/>
                <a:cs typeface="Aptos"/>
              </a:rPr>
              <a:t>, le </a:t>
            </a:r>
            <a:r>
              <a:rPr sz="2550" b="0" dirty="0" err="1">
                <a:solidFill>
                  <a:srgbClr val="173044"/>
                </a:solidFill>
                <a:latin typeface="Aptos"/>
                <a:ea typeface="Aptos"/>
                <a:cs typeface="Aptos"/>
              </a:rPr>
              <a:t>débit</a:t>
            </a:r>
            <a:r>
              <a:rPr sz="2550" b="0" dirty="0">
                <a:solidFill>
                  <a:srgbClr val="173044"/>
                </a:solidFill>
                <a:latin typeface="Aptos"/>
                <a:ea typeface="Aptos"/>
                <a:cs typeface="Aptos"/>
              </a:rPr>
              <a:t> et les </a:t>
            </a:r>
            <a:r>
              <a:rPr sz="2550" b="0" dirty="0" err="1">
                <a:solidFill>
                  <a:srgbClr val="173044"/>
                </a:solidFill>
                <a:latin typeface="Aptos"/>
                <a:ea typeface="Aptos"/>
                <a:cs typeface="Aptos"/>
              </a:rPr>
              <a:t>ressources</a:t>
            </a:r>
            <a:r>
              <a:rPr sz="2550" b="0" dirty="0">
                <a:solidFill>
                  <a:srgbClr val="173044"/>
                </a:solidFill>
                <a:latin typeface="Aptos"/>
                <a:ea typeface="Aptos"/>
                <a:cs typeface="Aptos"/>
              </a:rPr>
              <a:t> </a:t>
            </a:r>
            <a:r>
              <a:rPr sz="2550" b="0" dirty="0" err="1">
                <a:solidFill>
                  <a:srgbClr val="173044"/>
                </a:solidFill>
                <a:latin typeface="Aptos"/>
                <a:ea typeface="Aptos"/>
                <a:cs typeface="Aptos"/>
              </a:rPr>
              <a:t>nécessaires</a:t>
            </a:r>
            <a:r>
              <a:rPr sz="2550" b="0" dirty="0">
                <a:solidFill>
                  <a:srgbClr val="173044"/>
                </a:solidFill>
                <a:latin typeface="Aptos"/>
                <a:ea typeface="Aptos"/>
                <a:cs typeface="Aptos"/>
              </a:rPr>
              <a:t> pour un travail </a:t>
            </a:r>
            <a:r>
              <a:rPr sz="2550" b="0" dirty="0" err="1">
                <a:solidFill>
                  <a:srgbClr val="173044"/>
                </a:solidFill>
                <a:latin typeface="Aptos"/>
                <a:ea typeface="Aptos"/>
                <a:cs typeface="Aptos"/>
              </a:rPr>
              <a:t>donné</a:t>
            </a:r>
            <a:r>
              <a:rPr sz="2550" b="0" dirty="0">
                <a:solidFill>
                  <a:srgbClr val="173044"/>
                </a:solidFill>
                <a:latin typeface="Aptos"/>
                <a:ea typeface="Aptos"/>
                <a:cs typeface="Aptos"/>
              </a:rPr>
              <a:t>. </a:t>
            </a:r>
            <a:endParaRPr lang="fr-FR" sz="2550" b="0" dirty="0">
              <a:solidFill>
                <a:srgbClr val="173044"/>
              </a:solidFill>
              <a:latin typeface="Aptos"/>
              <a:ea typeface="Aptos"/>
              <a:cs typeface="Aptos"/>
            </a:endParaRPr>
          </a:p>
          <a:p>
            <a:pPr>
              <a:defRPr sz="2550" b="0">
                <a:solidFill>
                  <a:srgbClr val="173044"/>
                </a:solidFill>
                <a:latin typeface="Aptos"/>
                <a:ea typeface="Aptos"/>
                <a:cs typeface="Aptos"/>
              </a:defRPr>
            </a:pPr>
            <a:r>
              <a:rPr sz="2550" b="1" i="1" dirty="0" err="1">
                <a:solidFill>
                  <a:srgbClr val="173044"/>
                </a:solidFill>
                <a:latin typeface="Aptos"/>
                <a:ea typeface="Aptos"/>
                <a:cs typeface="Aptos"/>
              </a:rPr>
              <a:t>L’exactitude</a:t>
            </a:r>
            <a:r>
              <a:rPr sz="2550" b="0" dirty="0">
                <a:solidFill>
                  <a:srgbClr val="173044"/>
                </a:solidFill>
                <a:latin typeface="Aptos"/>
                <a:ea typeface="Aptos"/>
                <a:cs typeface="Aptos"/>
              </a:rPr>
              <a:t> </a:t>
            </a:r>
            <a:r>
              <a:rPr sz="2550" b="0" dirty="0" err="1">
                <a:solidFill>
                  <a:srgbClr val="173044"/>
                </a:solidFill>
                <a:latin typeface="Aptos"/>
                <a:ea typeface="Aptos"/>
                <a:cs typeface="Aptos"/>
              </a:rPr>
              <a:t>décrit</a:t>
            </a:r>
            <a:r>
              <a:rPr sz="2550" b="0" dirty="0">
                <a:solidFill>
                  <a:srgbClr val="173044"/>
                </a:solidFill>
                <a:latin typeface="Aptos"/>
                <a:ea typeface="Aptos"/>
                <a:cs typeface="Aptos"/>
              </a:rPr>
              <a:t> le </a:t>
            </a:r>
            <a:r>
              <a:rPr sz="2550" b="0" dirty="0" err="1">
                <a:solidFill>
                  <a:srgbClr val="173044"/>
                </a:solidFill>
                <a:latin typeface="Aptos"/>
                <a:ea typeface="Aptos"/>
                <a:cs typeface="Aptos"/>
              </a:rPr>
              <a:t>résultat</a:t>
            </a:r>
            <a:r>
              <a:rPr sz="2550" b="0" dirty="0">
                <a:solidFill>
                  <a:srgbClr val="173044"/>
                </a:solidFill>
                <a:latin typeface="Aptos"/>
                <a:ea typeface="Aptos"/>
                <a:cs typeface="Aptos"/>
              </a:rPr>
              <a:t> </a:t>
            </a:r>
            <a:r>
              <a:rPr sz="2550" b="0" dirty="0" err="1">
                <a:solidFill>
                  <a:srgbClr val="173044"/>
                </a:solidFill>
                <a:latin typeface="Aptos"/>
                <a:ea typeface="Aptos"/>
                <a:cs typeface="Aptos"/>
              </a:rPr>
              <a:t>attendu</a:t>
            </a:r>
            <a:r>
              <a:rPr sz="2550" b="0" dirty="0">
                <a:solidFill>
                  <a:srgbClr val="173044"/>
                </a:solidFill>
                <a:latin typeface="Aptos"/>
                <a:ea typeface="Aptos"/>
                <a:cs typeface="Aptos"/>
              </a:rPr>
              <a:t> et les invariants métier. </a:t>
            </a:r>
            <a:endParaRPr lang="fr-FR" sz="2550" b="0" dirty="0">
              <a:solidFill>
                <a:srgbClr val="173044"/>
              </a:solidFill>
              <a:latin typeface="Aptos"/>
              <a:ea typeface="Aptos"/>
              <a:cs typeface="Aptos"/>
            </a:endParaRPr>
          </a:p>
          <a:p>
            <a:pPr>
              <a:defRPr sz="2550" b="0">
                <a:solidFill>
                  <a:srgbClr val="173044"/>
                </a:solidFill>
                <a:latin typeface="Aptos"/>
                <a:ea typeface="Aptos"/>
                <a:cs typeface="Aptos"/>
              </a:defRPr>
            </a:pPr>
            <a:endParaRPr lang="fr-FR" sz="2550" b="0" dirty="0">
              <a:solidFill>
                <a:srgbClr val="173044"/>
              </a:solidFill>
              <a:latin typeface="Aptos"/>
              <a:ea typeface="Aptos"/>
              <a:cs typeface="Aptos"/>
            </a:endParaRPr>
          </a:p>
          <a:p>
            <a:pPr algn="ctr">
              <a:defRPr sz="2550" b="0">
                <a:solidFill>
                  <a:srgbClr val="173044"/>
                </a:solidFill>
                <a:latin typeface="Aptos"/>
                <a:ea typeface="Aptos"/>
                <a:cs typeface="Aptos"/>
              </a:defRPr>
            </a:pPr>
            <a:r>
              <a:rPr sz="2550" b="1" i="1" dirty="0">
                <a:solidFill>
                  <a:srgbClr val="173044"/>
                </a:solidFill>
                <a:latin typeface="Aptos"/>
                <a:ea typeface="Aptos"/>
                <a:cs typeface="Aptos"/>
              </a:rPr>
              <a:t>Une </a:t>
            </a:r>
            <a:r>
              <a:rPr sz="2550" b="1" i="1" dirty="0" err="1">
                <a:solidFill>
                  <a:srgbClr val="173044"/>
                </a:solidFill>
                <a:latin typeface="Aptos"/>
                <a:ea typeface="Aptos"/>
                <a:cs typeface="Aptos"/>
              </a:rPr>
              <a:t>optimisation</a:t>
            </a:r>
            <a:r>
              <a:rPr sz="2550" b="1" i="1" dirty="0">
                <a:solidFill>
                  <a:srgbClr val="173044"/>
                </a:solidFill>
                <a:latin typeface="Aptos"/>
                <a:ea typeface="Aptos"/>
                <a:cs typeface="Aptos"/>
              </a:rPr>
              <a:t> doit conserver les deux </a:t>
            </a:r>
            <a:r>
              <a:rPr sz="2550" b="1" i="1" dirty="0" err="1">
                <a:solidFill>
                  <a:srgbClr val="173044"/>
                </a:solidFill>
                <a:latin typeface="Aptos"/>
                <a:ea typeface="Aptos"/>
                <a:cs typeface="Aptos"/>
              </a:rPr>
              <a:t>objectifs</a:t>
            </a:r>
            <a:r>
              <a:rPr sz="2550" b="1" i="1" dirty="0">
                <a:solidFill>
                  <a:srgbClr val="173044"/>
                </a:solidFill>
                <a:latin typeface="Aptos"/>
                <a:ea typeface="Aptos"/>
                <a:cs typeface="Aptos"/>
              </a:rPr>
              <a:t>.</a:t>
            </a:r>
          </a:p>
        </p:txBody>
      </p:sp>
      <p:sp>
        <p:nvSpPr>
          <p:cNvPr id="5" name="Rectangle 4">
            <a:extLst>
              <a:ext uri="{FF2B5EF4-FFF2-40B4-BE49-F238E27FC236}">
                <a16:creationId xmlns:a16="http://schemas.microsoft.com/office/drawing/2014/main" id="{594D4947-987C-4A35-A445-8B853463B86F}"/>
              </a:ext>
            </a:extLst>
          </p:cNvPr>
          <p:cNvSpPr>
            <a:spLocks noGrp="1"/>
          </p:cNvSpPr>
          <p:nvPr/>
        </p:nvSpPr>
        <p:spPr>
          <a:xfrm>
            <a:off x="3564977" y="4438650"/>
            <a:ext cx="10715625" cy="1981200"/>
          </a:xfrm>
          <a:prstGeom prst="rect">
            <a:avLst/>
          </a:prstGeom>
          <a:noFill/>
          <a:ln w="0">
            <a:noFill/>
          </a:ln>
        </p:spPr>
        <p:txBody>
          <a:bodyPr>
            <a:noAutofit/>
          </a:bodyPr>
          <a:lstStyle/>
          <a:p>
            <a:pPr>
              <a:defRPr sz="2250" b="0">
                <a:solidFill>
                  <a:srgbClr val="173044"/>
                </a:solidFill>
                <a:latin typeface="Aptos"/>
                <a:ea typeface="Aptos"/>
                <a:cs typeface="Aptos"/>
              </a:defRPr>
            </a:pPr>
            <a:r>
              <a:rPr b="0" dirty="0" err="1">
                <a:solidFill>
                  <a:srgbClr val="173044"/>
                </a:solidFill>
                <a:latin typeface="Aptos"/>
                <a:ea typeface="Aptos"/>
                <a:cs typeface="Aptos"/>
              </a:rPr>
              <a:t>Supprimer</a:t>
            </a:r>
            <a:r>
              <a:rPr b="0" dirty="0">
                <a:solidFill>
                  <a:srgbClr val="173044"/>
                </a:solidFill>
                <a:latin typeface="Aptos"/>
                <a:ea typeface="Aptos"/>
                <a:cs typeface="Aptos"/>
              </a:rPr>
              <a:t> </a:t>
            </a:r>
            <a:r>
              <a:rPr b="0" dirty="0" err="1">
                <a:solidFill>
                  <a:srgbClr val="173044"/>
                </a:solidFill>
                <a:latin typeface="Aptos"/>
                <a:ea typeface="Aptos"/>
                <a:cs typeface="Aptos"/>
              </a:rPr>
              <a:t>une</a:t>
            </a:r>
            <a:r>
              <a:rPr b="0" dirty="0">
                <a:solidFill>
                  <a:srgbClr val="173044"/>
                </a:solidFill>
                <a:latin typeface="Aptos"/>
                <a:ea typeface="Aptos"/>
                <a:cs typeface="Aptos"/>
              </a:rPr>
              <a:t> jointure </a:t>
            </a:r>
            <a:r>
              <a:rPr b="0" dirty="0" err="1">
                <a:solidFill>
                  <a:srgbClr val="173044"/>
                </a:solidFill>
                <a:latin typeface="Aptos"/>
                <a:ea typeface="Aptos"/>
                <a:cs typeface="Aptos"/>
              </a:rPr>
              <a:t>peut</a:t>
            </a:r>
            <a:r>
              <a:rPr b="0" dirty="0">
                <a:solidFill>
                  <a:srgbClr val="173044"/>
                </a:solidFill>
                <a:latin typeface="Aptos"/>
                <a:ea typeface="Aptos"/>
                <a:cs typeface="Aptos"/>
              </a:rPr>
              <a:t> </a:t>
            </a:r>
            <a:r>
              <a:rPr b="0" dirty="0" err="1">
                <a:solidFill>
                  <a:srgbClr val="173044"/>
                </a:solidFill>
                <a:latin typeface="Aptos"/>
                <a:ea typeface="Aptos"/>
                <a:cs typeface="Aptos"/>
              </a:rPr>
              <a:t>accélérer</a:t>
            </a:r>
            <a:r>
              <a:rPr b="0" dirty="0">
                <a:solidFill>
                  <a:srgbClr val="173044"/>
                </a:solidFill>
                <a:latin typeface="Aptos"/>
                <a:ea typeface="Aptos"/>
                <a:cs typeface="Aptos"/>
              </a:rPr>
              <a:t> </a:t>
            </a:r>
            <a:r>
              <a:rPr b="0" dirty="0" err="1">
                <a:solidFill>
                  <a:srgbClr val="173044"/>
                </a:solidFill>
                <a:latin typeface="Aptos"/>
                <a:ea typeface="Aptos"/>
                <a:cs typeface="Aptos"/>
              </a:rPr>
              <a:t>une</a:t>
            </a:r>
            <a:r>
              <a:rPr b="0" dirty="0">
                <a:solidFill>
                  <a:srgbClr val="173044"/>
                </a:solidFill>
                <a:latin typeface="Aptos"/>
                <a:ea typeface="Aptos"/>
                <a:cs typeface="Aptos"/>
              </a:rPr>
              <a:t> </a:t>
            </a:r>
            <a:r>
              <a:rPr b="0" dirty="0" err="1">
                <a:solidFill>
                  <a:srgbClr val="173044"/>
                </a:solidFill>
                <a:latin typeface="Aptos"/>
                <a:ea typeface="Aptos"/>
                <a:cs typeface="Aptos"/>
              </a:rPr>
              <a:t>requête</a:t>
            </a:r>
            <a:r>
              <a:rPr b="0" dirty="0">
                <a:solidFill>
                  <a:srgbClr val="173044"/>
                </a:solidFill>
                <a:latin typeface="Aptos"/>
                <a:ea typeface="Aptos"/>
                <a:cs typeface="Aptos"/>
              </a:rPr>
              <a:t> tout </a:t>
            </a:r>
            <a:r>
              <a:rPr b="0" dirty="0" err="1">
                <a:solidFill>
                  <a:srgbClr val="173044"/>
                </a:solidFill>
                <a:latin typeface="Aptos"/>
                <a:ea typeface="Aptos"/>
                <a:cs typeface="Aptos"/>
              </a:rPr>
              <a:t>en</a:t>
            </a:r>
            <a:r>
              <a:rPr b="0" dirty="0">
                <a:solidFill>
                  <a:srgbClr val="173044"/>
                </a:solidFill>
                <a:latin typeface="Aptos"/>
                <a:ea typeface="Aptos"/>
                <a:cs typeface="Aptos"/>
              </a:rPr>
              <a:t> retirant des </a:t>
            </a:r>
            <a:r>
              <a:rPr b="0" dirty="0" err="1">
                <a:solidFill>
                  <a:srgbClr val="173044"/>
                </a:solidFill>
                <a:latin typeface="Aptos"/>
                <a:ea typeface="Aptos"/>
                <a:cs typeface="Aptos"/>
              </a:rPr>
              <a:t>commandes</a:t>
            </a:r>
            <a:r>
              <a:rPr b="0" dirty="0">
                <a:solidFill>
                  <a:srgbClr val="173044"/>
                </a:solidFill>
                <a:latin typeface="Aptos"/>
                <a:ea typeface="Aptos"/>
                <a:cs typeface="Aptos"/>
              </a:rPr>
              <a:t>. Une pagination </a:t>
            </a:r>
            <a:r>
              <a:rPr b="0" dirty="0" err="1">
                <a:solidFill>
                  <a:srgbClr val="173044"/>
                </a:solidFill>
                <a:latin typeface="Aptos"/>
                <a:ea typeface="Aptos"/>
                <a:cs typeface="Aptos"/>
              </a:rPr>
              <a:t>peut</a:t>
            </a:r>
            <a:r>
              <a:rPr b="0" dirty="0">
                <a:solidFill>
                  <a:srgbClr val="173044"/>
                </a:solidFill>
                <a:latin typeface="Aptos"/>
                <a:ea typeface="Aptos"/>
                <a:cs typeface="Aptos"/>
              </a:rPr>
              <a:t> </a:t>
            </a:r>
            <a:r>
              <a:rPr b="0" dirty="0" err="1">
                <a:solidFill>
                  <a:srgbClr val="173044"/>
                </a:solidFill>
                <a:latin typeface="Aptos"/>
                <a:ea typeface="Aptos"/>
                <a:cs typeface="Aptos"/>
              </a:rPr>
              <a:t>afficher</a:t>
            </a:r>
            <a:r>
              <a:rPr b="0" dirty="0">
                <a:solidFill>
                  <a:srgbClr val="173044"/>
                </a:solidFill>
                <a:latin typeface="Aptos"/>
                <a:ea typeface="Aptos"/>
                <a:cs typeface="Aptos"/>
              </a:rPr>
              <a:t> des </a:t>
            </a:r>
            <a:r>
              <a:rPr b="0" dirty="0" err="1">
                <a:solidFill>
                  <a:srgbClr val="173044"/>
                </a:solidFill>
                <a:latin typeface="Aptos"/>
                <a:ea typeface="Aptos"/>
                <a:cs typeface="Aptos"/>
              </a:rPr>
              <a:t>doublons</a:t>
            </a:r>
            <a:r>
              <a:rPr b="0" dirty="0">
                <a:solidFill>
                  <a:srgbClr val="173044"/>
                </a:solidFill>
                <a:latin typeface="Aptos"/>
                <a:ea typeface="Aptos"/>
                <a:cs typeface="Aptos"/>
              </a:rPr>
              <a:t>. Un cache </a:t>
            </a:r>
            <a:r>
              <a:rPr b="0" dirty="0" err="1">
                <a:solidFill>
                  <a:srgbClr val="173044"/>
                </a:solidFill>
                <a:latin typeface="Aptos"/>
                <a:ea typeface="Aptos"/>
                <a:cs typeface="Aptos"/>
              </a:rPr>
              <a:t>peut</a:t>
            </a:r>
            <a:r>
              <a:rPr b="0" dirty="0">
                <a:solidFill>
                  <a:srgbClr val="173044"/>
                </a:solidFill>
                <a:latin typeface="Aptos"/>
                <a:ea typeface="Aptos"/>
                <a:cs typeface="Aptos"/>
              </a:rPr>
              <a:t> exposer </a:t>
            </a:r>
            <a:r>
              <a:rPr b="0" dirty="0" err="1">
                <a:solidFill>
                  <a:srgbClr val="173044"/>
                </a:solidFill>
                <a:latin typeface="Aptos"/>
                <a:ea typeface="Aptos"/>
                <a:cs typeface="Aptos"/>
              </a:rPr>
              <a:t>une</a:t>
            </a:r>
            <a:r>
              <a:rPr b="0" dirty="0">
                <a:solidFill>
                  <a:srgbClr val="173044"/>
                </a:solidFill>
                <a:latin typeface="Aptos"/>
                <a:ea typeface="Aptos"/>
                <a:cs typeface="Aptos"/>
              </a:rPr>
              <a:t> </a:t>
            </a:r>
            <a:r>
              <a:rPr b="0" dirty="0" err="1">
                <a:solidFill>
                  <a:srgbClr val="173044"/>
                </a:solidFill>
                <a:latin typeface="Aptos"/>
                <a:ea typeface="Aptos"/>
                <a:cs typeface="Aptos"/>
              </a:rPr>
              <a:t>valeur</a:t>
            </a:r>
            <a:r>
              <a:rPr b="0" dirty="0">
                <a:solidFill>
                  <a:srgbClr val="173044"/>
                </a:solidFill>
                <a:latin typeface="Aptos"/>
                <a:ea typeface="Aptos"/>
                <a:cs typeface="Aptos"/>
              </a:rPr>
              <a:t> </a:t>
            </a:r>
            <a:r>
              <a:rPr b="0" dirty="0" err="1">
                <a:solidFill>
                  <a:srgbClr val="173044"/>
                </a:solidFill>
                <a:latin typeface="Aptos"/>
                <a:ea typeface="Aptos"/>
                <a:cs typeface="Aptos"/>
              </a:rPr>
              <a:t>ancienne</a:t>
            </a:r>
            <a:r>
              <a:rPr b="0" dirty="0">
                <a:solidFill>
                  <a:srgbClr val="173044"/>
                </a:solidFill>
                <a:latin typeface="Aptos"/>
                <a:ea typeface="Aptos"/>
                <a:cs typeface="Aptos"/>
              </a:rPr>
              <a:t>. On </a:t>
            </a:r>
            <a:r>
              <a:rPr b="0" dirty="0" err="1">
                <a:solidFill>
                  <a:srgbClr val="173044"/>
                </a:solidFill>
                <a:latin typeface="Aptos"/>
                <a:ea typeface="Aptos"/>
                <a:cs typeface="Aptos"/>
              </a:rPr>
              <a:t>valide</a:t>
            </a:r>
            <a:r>
              <a:rPr b="0" dirty="0">
                <a:solidFill>
                  <a:srgbClr val="173044"/>
                </a:solidFill>
                <a:latin typeface="Aptos"/>
                <a:ea typeface="Aptos"/>
                <a:cs typeface="Aptos"/>
              </a:rPr>
              <a:t> </a:t>
            </a:r>
            <a:r>
              <a:rPr b="0" dirty="0" err="1">
                <a:solidFill>
                  <a:srgbClr val="173044"/>
                </a:solidFill>
                <a:latin typeface="Aptos"/>
                <a:ea typeface="Aptos"/>
                <a:cs typeface="Aptos"/>
              </a:rPr>
              <a:t>donc</a:t>
            </a:r>
            <a:r>
              <a:rPr b="0" dirty="0">
                <a:solidFill>
                  <a:srgbClr val="173044"/>
                </a:solidFill>
                <a:latin typeface="Aptos"/>
                <a:ea typeface="Aptos"/>
                <a:cs typeface="Aptos"/>
              </a:rPr>
              <a:t> le </a:t>
            </a:r>
            <a:r>
              <a:rPr b="0" dirty="0" err="1">
                <a:solidFill>
                  <a:srgbClr val="173044"/>
                </a:solidFill>
                <a:latin typeface="Aptos"/>
                <a:ea typeface="Aptos"/>
                <a:cs typeface="Aptos"/>
              </a:rPr>
              <a:t>contenu</a:t>
            </a:r>
            <a:r>
              <a:rPr b="0" dirty="0">
                <a:solidFill>
                  <a:srgbClr val="173044"/>
                </a:solidFill>
                <a:latin typeface="Aptos"/>
                <a:ea typeface="Aptos"/>
                <a:cs typeface="Aptos"/>
              </a:rPr>
              <a:t> et les droits </a:t>
            </a:r>
            <a:r>
              <a:rPr b="0" dirty="0" err="1">
                <a:solidFill>
                  <a:srgbClr val="173044"/>
                </a:solidFill>
                <a:latin typeface="Aptos"/>
                <a:ea typeface="Aptos"/>
                <a:cs typeface="Aptos"/>
              </a:rPr>
              <a:t>d’accès</a:t>
            </a:r>
            <a:r>
              <a:rPr b="0" dirty="0">
                <a:solidFill>
                  <a:srgbClr val="173044"/>
                </a:solidFill>
                <a:latin typeface="Aptos"/>
                <a:ea typeface="Aptos"/>
                <a:cs typeface="Aptos"/>
              </a:rPr>
              <a:t> </a:t>
            </a:r>
            <a:r>
              <a:rPr b="0" dirty="0" err="1">
                <a:solidFill>
                  <a:srgbClr val="173044"/>
                </a:solidFill>
                <a:latin typeface="Aptos"/>
                <a:ea typeface="Aptos"/>
                <a:cs typeface="Aptos"/>
              </a:rPr>
              <a:t>en</a:t>
            </a:r>
            <a:r>
              <a:rPr b="0" dirty="0">
                <a:solidFill>
                  <a:srgbClr val="173044"/>
                </a:solidFill>
                <a:latin typeface="Aptos"/>
                <a:ea typeface="Aptos"/>
                <a:cs typeface="Aptos"/>
              </a:rPr>
              <a:t> </a:t>
            </a:r>
            <a:r>
              <a:rPr b="0" dirty="0" err="1">
                <a:solidFill>
                  <a:srgbClr val="173044"/>
                </a:solidFill>
                <a:latin typeface="Aptos"/>
                <a:ea typeface="Aptos"/>
                <a:cs typeface="Aptos"/>
              </a:rPr>
              <a:t>même</a:t>
            </a:r>
            <a:r>
              <a:rPr b="0" dirty="0">
                <a:solidFill>
                  <a:srgbClr val="173044"/>
                </a:solidFill>
                <a:latin typeface="Aptos"/>
                <a:ea typeface="Aptos"/>
                <a:cs typeface="Aptos"/>
              </a:rPr>
              <a:t> temps </a:t>
            </a:r>
            <a:r>
              <a:rPr b="0" dirty="0" err="1">
                <a:solidFill>
                  <a:srgbClr val="173044"/>
                </a:solidFill>
                <a:latin typeface="Aptos"/>
                <a:ea typeface="Aptos"/>
                <a:cs typeface="Aptos"/>
              </a:rPr>
              <a:t>que</a:t>
            </a:r>
            <a:r>
              <a:rPr b="0" dirty="0">
                <a:solidFill>
                  <a:srgbClr val="173044"/>
                </a:solidFill>
                <a:latin typeface="Aptos"/>
                <a:ea typeface="Aptos"/>
                <a:cs typeface="Aptos"/>
              </a:rPr>
              <a:t> la durée.</a:t>
            </a:r>
          </a:p>
        </p:txBody>
      </p:sp>
      <p:sp>
        <p:nvSpPr>
          <p:cNvPr id="6" name="Rectangle 5">
            <a:extLst>
              <a:ext uri="{FF2B5EF4-FFF2-40B4-BE49-F238E27FC236}">
                <a16:creationId xmlns:a16="http://schemas.microsoft.com/office/drawing/2014/main" id="{BCD96964-EA34-456C-AF48-E0027B343B88}"/>
              </a:ext>
            </a:extLst>
          </p:cNvPr>
          <p:cNvSpPr>
            <a:spLocks noGrp="1"/>
          </p:cNvSpPr>
          <p:nvPr/>
        </p:nvSpPr>
        <p:spPr>
          <a:xfrm>
            <a:off x="666750" y="5962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dirty="0">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B9844BE6-D12A-44E5-BBA8-06F18237D4ED}"/>
              </a:ext>
            </a:extLst>
          </p:cNvPr>
          <p:cNvSpPr>
            <a:spLocks noGrp="1"/>
          </p:cNvSpPr>
          <p:nvPr/>
        </p:nvSpPr>
        <p:spPr>
          <a:xfrm>
            <a:off x="666750" y="6286500"/>
            <a:ext cx="13525500" cy="914400"/>
          </a:xfrm>
          <a:prstGeom prst="rect">
            <a:avLst/>
          </a:prstGeom>
          <a:noFill/>
          <a:ln w="0">
            <a:noFill/>
          </a:ln>
        </p:spPr>
        <p:txBody>
          <a:bodyPr>
            <a:noAutofit/>
          </a:bodyPr>
          <a:lstStyle/>
          <a:p>
            <a:r>
              <a:rPr sz="1875" b="0" dirty="0" err="1">
                <a:solidFill>
                  <a:srgbClr val="173044"/>
                </a:solidFill>
                <a:latin typeface="Aptos"/>
                <a:ea typeface="Aptos"/>
                <a:cs typeface="Aptos"/>
              </a:rPr>
              <a:t>Exemple</a:t>
            </a:r>
            <a:r>
              <a:rPr sz="1875" b="0" dirty="0">
                <a:solidFill>
                  <a:srgbClr val="173044"/>
                </a:solidFill>
                <a:latin typeface="Aptos"/>
                <a:ea typeface="Aptos"/>
                <a:cs typeface="Aptos"/>
              </a:rPr>
              <a:t> : le total </a:t>
            </a:r>
            <a:r>
              <a:rPr sz="1875" b="0" dirty="0" err="1">
                <a:solidFill>
                  <a:srgbClr val="173044"/>
                </a:solidFill>
                <a:latin typeface="Aptos"/>
                <a:ea typeface="Aptos"/>
                <a:cs typeface="Aptos"/>
              </a:rPr>
              <a:t>facturé</a:t>
            </a:r>
            <a:r>
              <a:rPr sz="1875" b="0" dirty="0">
                <a:solidFill>
                  <a:srgbClr val="173044"/>
                </a:solidFill>
                <a:latin typeface="Aptos"/>
                <a:ea typeface="Aptos"/>
                <a:cs typeface="Aptos"/>
              </a:rPr>
              <a:t> doit </a:t>
            </a:r>
            <a:r>
              <a:rPr sz="1875" b="0" dirty="0" err="1">
                <a:solidFill>
                  <a:srgbClr val="173044"/>
                </a:solidFill>
                <a:latin typeface="Aptos"/>
                <a:ea typeface="Aptos"/>
                <a:cs typeface="Aptos"/>
              </a:rPr>
              <a:t>rester</a:t>
            </a:r>
            <a:r>
              <a:rPr sz="1875" b="0" dirty="0">
                <a:solidFill>
                  <a:srgbClr val="173044"/>
                </a:solidFill>
                <a:latin typeface="Aptos"/>
                <a:ea typeface="Aptos"/>
                <a:cs typeface="Aptos"/>
              </a:rPr>
              <a:t> </a:t>
            </a:r>
            <a:r>
              <a:rPr sz="1875" b="0" dirty="0" err="1">
                <a:solidFill>
                  <a:srgbClr val="173044"/>
                </a:solidFill>
                <a:latin typeface="Aptos"/>
                <a:ea typeface="Aptos"/>
                <a:cs typeface="Aptos"/>
              </a:rPr>
              <a:t>identique</a:t>
            </a:r>
            <a:r>
              <a:rPr sz="1875" b="0" dirty="0">
                <a:solidFill>
                  <a:srgbClr val="173044"/>
                </a:solidFill>
                <a:latin typeface="Aptos"/>
                <a:ea typeface="Aptos"/>
                <a:cs typeface="Aptos"/>
              </a:rPr>
              <a:t> au centime après </a:t>
            </a:r>
            <a:r>
              <a:rPr sz="1875" b="0" dirty="0" err="1">
                <a:solidFill>
                  <a:srgbClr val="173044"/>
                </a:solidFill>
                <a:latin typeface="Aptos"/>
                <a:ea typeface="Aptos"/>
                <a:cs typeface="Aptos"/>
              </a:rPr>
              <a:t>chaque</a:t>
            </a:r>
            <a:r>
              <a:rPr sz="1875" b="0" dirty="0">
                <a:solidFill>
                  <a:srgbClr val="173044"/>
                </a:solidFill>
                <a:latin typeface="Aptos"/>
                <a:ea typeface="Aptos"/>
                <a:cs typeface="Aptos"/>
              </a:rPr>
              <a:t> </a:t>
            </a:r>
            <a:r>
              <a:rPr sz="1875" b="0" dirty="0" err="1">
                <a:solidFill>
                  <a:srgbClr val="173044"/>
                </a:solidFill>
                <a:latin typeface="Aptos"/>
                <a:ea typeface="Aptos"/>
                <a:cs typeface="Aptos"/>
              </a:rPr>
              <a:t>réécriture</a:t>
            </a:r>
            <a:r>
              <a:rPr sz="1875" b="0" dirty="0">
                <a:solidFill>
                  <a:srgbClr val="173044"/>
                </a:solidFill>
                <a:latin typeface="Aptos"/>
                <a:ea typeface="Aptos"/>
                <a:cs typeface="Aptos"/>
              </a:rPr>
              <a:t>.</a:t>
            </a:r>
            <a:r>
              <a:rPr lang="fr-FR" sz="1875" b="0" dirty="0">
                <a:solidFill>
                  <a:srgbClr val="173044"/>
                </a:solidFill>
                <a:latin typeface="Aptos"/>
                <a:ea typeface="Aptos"/>
                <a:cs typeface="Aptos"/>
              </a:rPr>
              <a:t> </a:t>
            </a:r>
          </a:p>
          <a:p>
            <a:endParaRPr lang="fr-FR" sz="1875" dirty="0">
              <a:solidFill>
                <a:srgbClr val="173044"/>
              </a:solidFill>
              <a:latin typeface="Aptos"/>
            </a:endParaRPr>
          </a:p>
          <a:p>
            <a:r>
              <a:rPr lang="fr-FR" dirty="0"/>
              <a:t>Une facture contient trois lignes : </a:t>
            </a:r>
            <a:r>
              <a:rPr lang="fr-FR" b="1" dirty="0"/>
              <a:t>50,00 € + 30,00 € + 20,00 € = 100,00 €</a:t>
            </a:r>
            <a:r>
              <a:rPr lang="fr-FR" dirty="0"/>
              <a:t>.</a:t>
            </a:r>
          </a:p>
          <a:p>
            <a:r>
              <a:rPr lang="fr-FR" dirty="0"/>
              <a:t>Après réécriture, les lignes sont regroupées autrement : </a:t>
            </a:r>
            <a:r>
              <a:rPr lang="fr-FR" b="1" dirty="0"/>
              <a:t>60,00 € + 40,00 € = 100,00 €</a:t>
            </a:r>
            <a:r>
              <a:rPr lang="fr-FR" dirty="0"/>
              <a:t>.</a:t>
            </a:r>
          </a:p>
          <a:p>
            <a:r>
              <a:rPr lang="fr-FR" dirty="0"/>
              <a:t>La structure change, mais l’invariant est respecté : </a:t>
            </a:r>
            <a:r>
              <a:rPr lang="fr-FR" b="1" dirty="0"/>
              <a:t>le total facturé reste égal à 100,00 €</a:t>
            </a:r>
            <a:r>
              <a:rPr lang="fr-FR" dirty="0"/>
              <a:t>.</a:t>
            </a:r>
          </a:p>
          <a:p>
            <a:pPr>
              <a:defRPr sz="1875" b="0">
                <a:solidFill>
                  <a:srgbClr val="173044"/>
                </a:solidFill>
                <a:latin typeface="Aptos"/>
                <a:ea typeface="Aptos"/>
                <a:cs typeface="Aptos"/>
              </a:defRPr>
            </a:pPr>
            <a:endParaRPr sz="1875" b="0" dirty="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227FC786-772E-4851-90A4-8D121E68F32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1FC08FFB-95BF-47CC-BAC4-E774E089550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06 / 34</a:t>
            </a:r>
          </a:p>
        </p:txBody>
      </p:sp>
    </p:spTree>
    <p:extLst>
      <p:ext uri="{BB962C8B-B14F-4D97-AF65-F5344CB8AC3E}">
        <p14:creationId xmlns:p14="http://schemas.microsoft.com/office/powerpoint/2010/main" val="147023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CCD9D832-9D0F-4F9B-A533-C754597C7BB7}"/>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FD43A135-76EA-4FEF-A606-C3C34317BE4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Latence, débit et concurrence</a:t>
            </a:r>
          </a:p>
        </p:txBody>
      </p:sp>
      <p:sp>
        <p:nvSpPr>
          <p:cNvPr id="4" name="Rectangle 3">
            <a:extLst>
              <a:ext uri="{FF2B5EF4-FFF2-40B4-BE49-F238E27FC236}">
                <a16:creationId xmlns:a16="http://schemas.microsoft.com/office/drawing/2014/main" id="{D5B05BA1-47CC-41DE-B424-A3A7406A5D94}"/>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La latence mesure le temps d’une opération. Le débit compte les opérations terminées par unité de temps. La concurrence représente les opérations simultanément en cours. Ces grandeurs décrivent des phénomènes différents.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Une API peut traiter 500 requêtes/s mais répondre très lentement aux dernières requêtes en attente. Augmenter la concurrence finit souvent par allonger les files et multiplier les erreurs. Le test doit présenter les durées et les opérations réellement terminées.</a:t>
            </a:r>
          </a:p>
        </p:txBody>
      </p:sp>
      <p:graphicFrame>
        <p:nvGraphicFramePr>
          <p:cNvPr id="12" name="Tableau 11"/>
          <p:cNvGraphicFramePr/>
          <p:nvPr/>
        </p:nvGraphicFramePr>
        <p:xfrm>
          <a:off x="7334250" y="2381250"/>
          <a:ext cx="7239000" cy="3905250"/>
        </p:xfrm>
        <a:graphic>
          <a:graphicData uri="http://schemas.openxmlformats.org/drawingml/2006/table">
            <a:tb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650875">
                <a:tc>
                  <a:txBody>
                    <a:bodyPr/>
                    <a:lstStyle/>
                    <a:p>
                      <a:r>
                        <a:rPr sz="1800" b="1">
                          <a:solidFill>
                            <a:srgbClr val="FFFFFF"/>
                          </a:solidFill>
                          <a:latin typeface="Aptos"/>
                          <a:ea typeface="Aptos"/>
                          <a:cs typeface="Aptos"/>
                        </a:rPr>
                        <a:t>Mesure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Exemple fictif</a:t>
                      </a:r>
                    </a:p>
                  </a:txBody>
                  <a:tcPr marL="142875" marR="142875" marT="114300" marB="114300" anchor="ctr">
                    <a:solidFill>
                      <a:srgbClr val="173C4C"/>
                    </a:solidFill>
                  </a:tcPr>
                </a:tc>
                <a:extLst>
                  <a:ext uri="{0D108BD9-81ED-4DB2-BD59-A6C34878D82A}">
                    <a16:rowId xmlns:a16="http://schemas.microsoft.com/office/drawing/2014/main" val="10000"/>
                  </a:ext>
                </a:extLst>
              </a:tr>
              <a:tr h="650875">
                <a:tc>
                  <a:txBody>
                    <a:bodyPr/>
                    <a:lstStyle/>
                    <a:p>
                      <a:r>
                        <a:rPr sz="1800">
                          <a:solidFill>
                            <a:srgbClr val="173044"/>
                          </a:solidFill>
                          <a:latin typeface="Aptos"/>
                          <a:ea typeface="Aptos"/>
                          <a:cs typeface="Aptos"/>
                        </a:rPr>
                        <a:t>Latence médiane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80 ms</a:t>
                      </a:r>
                    </a:p>
                  </a:txBody>
                  <a:tcPr marL="142875" marR="142875" marT="114300" marB="114300" anchor="ctr">
                    <a:solidFill>
                      <a:srgbClr val="F2DEC6"/>
                    </a:solidFill>
                  </a:tcPr>
                </a:tc>
                <a:extLst>
                  <a:ext uri="{0D108BD9-81ED-4DB2-BD59-A6C34878D82A}">
                    <a16:rowId xmlns:a16="http://schemas.microsoft.com/office/drawing/2014/main" val="10001"/>
                  </a:ext>
                </a:extLst>
              </a:tr>
              <a:tr h="650875">
                <a:tc>
                  <a:txBody>
                    <a:bodyPr/>
                    <a:lstStyle/>
                    <a:p>
                      <a:r>
                        <a:rPr sz="1800">
                          <a:solidFill>
                            <a:srgbClr val="173044"/>
                          </a:solidFill>
                          <a:latin typeface="Aptos"/>
                          <a:ea typeface="Aptos"/>
                          <a:cs typeface="Aptos"/>
                        </a:rPr>
                        <a:t>Latence p95</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220 ms</a:t>
                      </a:r>
                    </a:p>
                  </a:txBody>
                  <a:tcPr marL="142875" marR="142875" marT="114300" marB="114300" anchor="ctr">
                    <a:solidFill>
                      <a:srgbClr val="F2DEC6"/>
                    </a:solidFill>
                  </a:tcPr>
                </a:tc>
                <a:extLst>
                  <a:ext uri="{0D108BD9-81ED-4DB2-BD59-A6C34878D82A}">
                    <a16:rowId xmlns:a16="http://schemas.microsoft.com/office/drawing/2014/main" val="10002"/>
                  </a:ext>
                </a:extLst>
              </a:tr>
              <a:tr h="650875">
                <a:tc>
                  <a:txBody>
                    <a:bodyPr/>
                    <a:lstStyle/>
                    <a:p>
                      <a:r>
                        <a:rPr sz="1800">
                          <a:solidFill>
                            <a:srgbClr val="173044"/>
                          </a:solidFill>
                          <a:latin typeface="Aptos"/>
                          <a:ea typeface="Aptos"/>
                          <a:cs typeface="Aptos"/>
                        </a:rPr>
                        <a:t>Débit terminé</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120 requêtes/s</a:t>
                      </a:r>
                    </a:p>
                  </a:txBody>
                  <a:tcPr marL="142875" marR="142875" marT="114300" marB="114300" anchor="ctr">
                    <a:solidFill>
                      <a:srgbClr val="F2DEC6"/>
                    </a:solidFill>
                  </a:tcPr>
                </a:tc>
                <a:extLst>
                  <a:ext uri="{0D108BD9-81ED-4DB2-BD59-A6C34878D82A}">
                    <a16:rowId xmlns:a16="http://schemas.microsoft.com/office/drawing/2014/main" val="10003"/>
                  </a:ext>
                </a:extLst>
              </a:tr>
              <a:tr h="650875">
                <a:tc>
                  <a:txBody>
                    <a:bodyPr/>
                    <a:lstStyle/>
                    <a:p>
                      <a:r>
                        <a:rPr sz="1800">
                          <a:solidFill>
                            <a:srgbClr val="173044"/>
                          </a:solidFill>
                          <a:latin typeface="Aptos"/>
                          <a:ea typeface="Aptos"/>
                          <a:cs typeface="Aptos"/>
                        </a:rPr>
                        <a:t>Concurrence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20 clients</a:t>
                      </a:r>
                    </a:p>
                  </a:txBody>
                  <a:tcPr marL="142875" marR="142875" marT="114300" marB="114300" anchor="ctr">
                    <a:solidFill>
                      <a:srgbClr val="F2DEC6"/>
                    </a:solidFill>
                  </a:tcPr>
                </a:tc>
                <a:extLst>
                  <a:ext uri="{0D108BD9-81ED-4DB2-BD59-A6C34878D82A}">
                    <a16:rowId xmlns:a16="http://schemas.microsoft.com/office/drawing/2014/main" val="10004"/>
                  </a:ext>
                </a:extLst>
              </a:tr>
              <a:tr h="650875">
                <a:tc>
                  <a:txBody>
                    <a:bodyPr/>
                    <a:lstStyle/>
                    <a:p>
                      <a:r>
                        <a:rPr sz="1800">
                          <a:solidFill>
                            <a:srgbClr val="173044"/>
                          </a:solidFill>
                          <a:latin typeface="Aptos"/>
                          <a:ea typeface="Aptos"/>
                          <a:cs typeface="Aptos"/>
                        </a:rPr>
                        <a:t>Erreurs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0,4 %</a:t>
                      </a:r>
                    </a:p>
                  </a:txBody>
                  <a:tcPr marL="142875" marR="142875" marT="114300" marB="114300" anchor="ctr">
                    <a:solidFill>
                      <a:srgbClr val="F2DEC6"/>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F227396A-5BA0-45F5-8536-0C8EDD8E53A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545539FF-36BD-4158-A417-C522CD3571E8}"/>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07 / 34</a:t>
            </a:r>
          </a:p>
        </p:txBody>
      </p:sp>
    </p:spTree>
    <p:extLst>
      <p:ext uri="{BB962C8B-B14F-4D97-AF65-F5344CB8AC3E}">
        <p14:creationId xmlns:p14="http://schemas.microsoft.com/office/powerpoint/2010/main" val="1494106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7F3C6A4-5A5E-4124-9CC0-6AE7AC69C3BF}"/>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44027A1F-12C1-48B3-A082-F25F2B15F60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La médiane et les percentiles</a:t>
            </a:r>
          </a:p>
        </p:txBody>
      </p:sp>
      <p:sp>
        <p:nvSpPr>
          <p:cNvPr id="4" name="Rectangle 3">
            <a:extLst>
              <a:ext uri="{FF2B5EF4-FFF2-40B4-BE49-F238E27FC236}">
                <a16:creationId xmlns:a16="http://schemas.microsoft.com/office/drawing/2014/main" id="{DB841630-B7E9-4AFA-B4A5-BD082B39A84A}"/>
              </a:ext>
            </a:extLst>
          </p:cNvPr>
          <p:cNvSpPr>
            <a:spLocks noGrp="1"/>
          </p:cNvSpPr>
          <p:nvPr/>
        </p:nvSpPr>
        <p:spPr>
          <a:xfrm>
            <a:off x="666750" y="2105025"/>
            <a:ext cx="5762625"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Après tri des durées, la médiane partage l’échantillon en deux. Le p95 décrit une valeur sous laquelle se situent environ 95 % des observations, selon la convention de calcul retenue. Il révèle les requêtes lentes que la moyenne peut masquer.</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Sur 100 durées ordonnées, un p95 proche de la 95e valeur laisse environ cinq observations dans la queue. Un petit échantillon rend ce repère instable. On conserve la série brute, la convention et plusieurs répétitions.</a:t>
            </a:r>
          </a:p>
        </p:txBody>
      </p:sp>
      <p:sp>
        <p:nvSpPr>
          <p:cNvPr id="5" name="Rectangle 4">
            <a:extLst>
              <a:ext uri="{FF2B5EF4-FFF2-40B4-BE49-F238E27FC236}">
                <a16:creationId xmlns:a16="http://schemas.microsoft.com/office/drawing/2014/main" id="{5439CDF5-2867-4ADA-89C1-A5562F1F6F40}"/>
              </a:ext>
            </a:extLst>
          </p:cNvPr>
          <p:cNvSpPr>
            <a:spLocks noGrp="1"/>
          </p:cNvSpPr>
          <p:nvPr/>
        </p:nvSpPr>
        <p:spPr>
          <a:xfrm>
            <a:off x="7000875" y="1943100"/>
            <a:ext cx="7429500" cy="285750"/>
          </a:xfrm>
          <a:prstGeom prst="rect">
            <a:avLst/>
          </a:prstGeom>
          <a:noFill/>
          <a:ln w="0">
            <a:noFill/>
          </a:ln>
        </p:spPr>
        <p:txBody>
          <a:bodyPr>
            <a:noAutofit/>
          </a:bodyPr>
          <a:lstStyle/>
          <a:p>
            <a:pPr>
              <a:defRPr sz="1575" b="1">
                <a:solidFill>
                  <a:srgbClr val="173044"/>
                </a:solidFill>
                <a:latin typeface="Aptos"/>
                <a:ea typeface="Aptos"/>
                <a:cs typeface="Aptos"/>
              </a:defRPr>
            </a:pPr>
            <a:r>
              <a:rPr sz="1575" b="1">
                <a:solidFill>
                  <a:srgbClr val="173044"/>
                </a:solidFill>
                <a:latin typeface="Aptos"/>
                <a:ea typeface="Aptos"/>
                <a:cs typeface="Aptos"/>
              </a:rPr>
              <a:t>Durée en ms</a:t>
            </a:r>
          </a:p>
        </p:txBody>
      </p:sp>
      <p:graphicFrame>
        <p:nvGraphicFramePr>
          <p:cNvPr id="17" name="Chart"/>
          <p:cNvGraphicFramePr/>
          <p:nvPr/>
        </p:nvGraphicFramePr>
        <p:xfrm>
          <a:off x="6953250" y="2371725"/>
          <a:ext cx="7572375" cy="348615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2E7AF739-B166-45BF-A021-B7A65B8AB4E1}"/>
              </a:ext>
            </a:extLst>
          </p:cNvPr>
          <p:cNvSpPr>
            <a:spLocks noGrp="1"/>
          </p:cNvSpPr>
          <p:nvPr/>
        </p:nvSpPr>
        <p:spPr>
          <a:xfrm>
            <a:off x="7096125" y="6019800"/>
            <a:ext cx="7239000" cy="619125"/>
          </a:xfrm>
          <a:prstGeom prst="rect">
            <a:avLst/>
          </a:prstGeom>
          <a:noFill/>
          <a:ln w="0">
            <a:noFill/>
          </a:ln>
        </p:spPr>
        <p:txBody>
          <a:bodyPr>
            <a:noAutofit/>
          </a:bodyPr>
          <a:lstStyle/>
          <a:p>
            <a:pPr>
              <a:defRPr sz="1500" b="0">
                <a:solidFill>
                  <a:srgbClr val="3F5B66"/>
                </a:solidFill>
                <a:latin typeface="Aptos"/>
                <a:ea typeface="Aptos"/>
                <a:cs typeface="Aptos"/>
              </a:defRPr>
            </a:pPr>
            <a:r>
              <a:rPr sz="1500" b="0">
                <a:solidFill>
                  <a:srgbClr val="3F5B66"/>
                </a:solidFill>
                <a:latin typeface="Aptos"/>
                <a:ea typeface="Aptos"/>
                <a:cs typeface="Aptos"/>
              </a:rPr>
              <a:t>Valeurs fictives de démonstration. Aucune mesure exécutée.</a:t>
            </a:r>
          </a:p>
        </p:txBody>
      </p:sp>
      <p:sp>
        <p:nvSpPr>
          <p:cNvPr id="8" name="Rectangle 7">
            <a:extLst>
              <a:ext uri="{FF2B5EF4-FFF2-40B4-BE49-F238E27FC236}">
                <a16:creationId xmlns:a16="http://schemas.microsoft.com/office/drawing/2014/main" id="{3FD40A7B-B7BE-448B-A11D-640813D1513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983E6850-32A2-458B-B7FF-895CDF7B3C98}"/>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Ces valeurs illustrent une distribution, elles ne proviennent pas de ShopFlow.</a:t>
            </a:r>
          </a:p>
        </p:txBody>
      </p:sp>
      <p:sp>
        <p:nvSpPr>
          <p:cNvPr id="10" name="Rectangle 9">
            <a:extLst>
              <a:ext uri="{FF2B5EF4-FFF2-40B4-BE49-F238E27FC236}">
                <a16:creationId xmlns:a16="http://schemas.microsoft.com/office/drawing/2014/main" id="{937E24DB-925E-4A00-8498-1B2777A361E7}"/>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5969E25B-65CB-40BD-9B79-36585997C4E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08 / 34</a:t>
            </a:r>
          </a:p>
        </p:txBody>
      </p:sp>
    </p:spTree>
    <p:extLst>
      <p:ext uri="{BB962C8B-B14F-4D97-AF65-F5344CB8AC3E}">
        <p14:creationId xmlns:p14="http://schemas.microsoft.com/office/powerpoint/2010/main" val="517245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2B23BFE5-999D-4944-84B6-6C9458597E7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BEA042F7-C0E3-4183-87F3-3EB94007CEB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 budget de latence</a:t>
            </a:r>
          </a:p>
        </p:txBody>
      </p:sp>
      <p:sp>
        <p:nvSpPr>
          <p:cNvPr id="4" name="Rectangle 3">
            <a:extLst>
              <a:ext uri="{FF2B5EF4-FFF2-40B4-BE49-F238E27FC236}">
                <a16:creationId xmlns:a16="http://schemas.microsoft.com/office/drawing/2014/main" id="{E2B1B4FA-3585-4906-8F08-8E47BC1E0833}"/>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On décompose la durée d’un appel séquentiel pour établir une hypothèse de diagnostic. Ici, 20 ms de réseau, 70 ms d’attente au pool, 90 ms de SQL et 20 ms de sérialisation donnent 200 ms.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Si le SQL tombe à 30 ms, la durée totale reste 140 ms. Le gain maximal d’une optimisation locale dépend de la part qu’elle occupe. Pour des opérations parallèles, les durées ne s’additionnent pas simplement.</a:t>
            </a:r>
          </a:p>
        </p:txBody>
      </p:sp>
      <p:graphicFrame>
        <p:nvGraphicFramePr>
          <p:cNvPr id="14" name="Tableau 13"/>
          <p:cNvGraphicFramePr/>
          <p:nvPr/>
        </p:nvGraphicFramePr>
        <p:xfrm>
          <a:off x="7334250" y="2381250"/>
          <a:ext cx="7239000" cy="3905250"/>
        </p:xfrm>
        <a:graphic>
          <a:graphicData uri="http://schemas.openxmlformats.org/drawingml/2006/table">
            <a:tbl>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650875">
                <a:tc>
                  <a:txBody>
                    <a:bodyPr/>
                    <a:lstStyle/>
                    <a:p>
                      <a:r>
                        <a:rPr sz="1800" b="1">
                          <a:solidFill>
                            <a:srgbClr val="FFFFFF"/>
                          </a:solidFill>
                          <a:latin typeface="Aptos"/>
                          <a:ea typeface="Aptos"/>
                          <a:cs typeface="Aptos"/>
                        </a:rPr>
                        <a:t>Étape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Avant</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Après</a:t>
                      </a:r>
                    </a:p>
                  </a:txBody>
                  <a:tcPr marL="142875" marR="142875" marT="114300" marB="114300" anchor="ctr">
                    <a:solidFill>
                      <a:srgbClr val="173C4C"/>
                    </a:solidFill>
                  </a:tcPr>
                </a:tc>
                <a:extLst>
                  <a:ext uri="{0D108BD9-81ED-4DB2-BD59-A6C34878D82A}">
                    <a16:rowId xmlns:a16="http://schemas.microsoft.com/office/drawing/2014/main" val="10000"/>
                  </a:ext>
                </a:extLst>
              </a:tr>
              <a:tr h="650875">
                <a:tc>
                  <a:txBody>
                    <a:bodyPr/>
                    <a:lstStyle/>
                    <a:p>
                      <a:r>
                        <a:rPr sz="1800">
                          <a:solidFill>
                            <a:srgbClr val="173044"/>
                          </a:solidFill>
                          <a:latin typeface="Aptos"/>
                          <a:ea typeface="Aptos"/>
                          <a:cs typeface="Aptos"/>
                        </a:rPr>
                        <a:t>Réseau</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20 ms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20 ms</a:t>
                      </a:r>
                    </a:p>
                  </a:txBody>
                  <a:tcPr marL="142875" marR="142875" marT="114300" marB="114300" anchor="ctr">
                    <a:solidFill>
                      <a:srgbClr val="F2DEC6"/>
                    </a:solidFill>
                  </a:tcPr>
                </a:tc>
                <a:extLst>
                  <a:ext uri="{0D108BD9-81ED-4DB2-BD59-A6C34878D82A}">
                    <a16:rowId xmlns:a16="http://schemas.microsoft.com/office/drawing/2014/main" val="10001"/>
                  </a:ext>
                </a:extLst>
              </a:tr>
              <a:tr h="650875">
                <a:tc>
                  <a:txBody>
                    <a:bodyPr/>
                    <a:lstStyle/>
                    <a:p>
                      <a:r>
                        <a:rPr sz="1800">
                          <a:solidFill>
                            <a:srgbClr val="173044"/>
                          </a:solidFill>
                          <a:latin typeface="Aptos"/>
                          <a:ea typeface="Aptos"/>
                          <a:cs typeface="Aptos"/>
                        </a:rPr>
                        <a:t>Pool</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70 ms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70 ms</a:t>
                      </a:r>
                    </a:p>
                  </a:txBody>
                  <a:tcPr marL="142875" marR="142875" marT="114300" marB="114300" anchor="ctr">
                    <a:solidFill>
                      <a:srgbClr val="F2DEC6"/>
                    </a:solidFill>
                  </a:tcPr>
                </a:tc>
                <a:extLst>
                  <a:ext uri="{0D108BD9-81ED-4DB2-BD59-A6C34878D82A}">
                    <a16:rowId xmlns:a16="http://schemas.microsoft.com/office/drawing/2014/main" val="10002"/>
                  </a:ext>
                </a:extLst>
              </a:tr>
              <a:tr h="650875">
                <a:tc>
                  <a:txBody>
                    <a:bodyPr/>
                    <a:lstStyle/>
                    <a:p>
                      <a:r>
                        <a:rPr sz="1800">
                          <a:solidFill>
                            <a:srgbClr val="173044"/>
                          </a:solidFill>
                          <a:latin typeface="Aptos"/>
                          <a:ea typeface="Aptos"/>
                          <a:cs typeface="Aptos"/>
                        </a:rPr>
                        <a:t>SQL</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90 ms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30 ms</a:t>
                      </a:r>
                    </a:p>
                  </a:txBody>
                  <a:tcPr marL="142875" marR="142875" marT="114300" marB="114300" anchor="ctr">
                    <a:solidFill>
                      <a:srgbClr val="F2DEC6"/>
                    </a:solidFill>
                  </a:tcPr>
                </a:tc>
                <a:extLst>
                  <a:ext uri="{0D108BD9-81ED-4DB2-BD59-A6C34878D82A}">
                    <a16:rowId xmlns:a16="http://schemas.microsoft.com/office/drawing/2014/main" val="10003"/>
                  </a:ext>
                </a:extLst>
              </a:tr>
              <a:tr h="650875">
                <a:tc>
                  <a:txBody>
                    <a:bodyPr/>
                    <a:lstStyle/>
                    <a:p>
                      <a:r>
                        <a:rPr sz="1800">
                          <a:solidFill>
                            <a:srgbClr val="173044"/>
                          </a:solidFill>
                          <a:latin typeface="Aptos"/>
                          <a:ea typeface="Aptos"/>
                          <a:cs typeface="Aptos"/>
                        </a:rPr>
                        <a:t>Sérialisation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20 ms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20 ms</a:t>
                      </a:r>
                    </a:p>
                  </a:txBody>
                  <a:tcPr marL="142875" marR="142875" marT="114300" marB="114300" anchor="ctr">
                    <a:solidFill>
                      <a:srgbClr val="F2DEC6"/>
                    </a:solidFill>
                  </a:tcPr>
                </a:tc>
                <a:extLst>
                  <a:ext uri="{0D108BD9-81ED-4DB2-BD59-A6C34878D82A}">
                    <a16:rowId xmlns:a16="http://schemas.microsoft.com/office/drawing/2014/main" val="10004"/>
                  </a:ext>
                </a:extLst>
              </a:tr>
              <a:tr h="650875">
                <a:tc>
                  <a:txBody>
                    <a:bodyPr/>
                    <a:lstStyle/>
                    <a:p>
                      <a:r>
                        <a:rPr sz="1800">
                          <a:solidFill>
                            <a:srgbClr val="173044"/>
                          </a:solidFill>
                          <a:latin typeface="Aptos"/>
                          <a:ea typeface="Aptos"/>
                          <a:cs typeface="Aptos"/>
                        </a:rPr>
                        <a:t>Total</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200 ms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140 ms</a:t>
                      </a:r>
                    </a:p>
                  </a:txBody>
                  <a:tcPr marL="142875" marR="142875" marT="114300" marB="114300" anchor="ctr">
                    <a:solidFill>
                      <a:srgbClr val="F2DEC6"/>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906D5566-F3B5-4169-8E5B-35FF4C75BAE3}"/>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C72D27AE-7553-4FE9-BF20-64596EFD914E}"/>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Calcul pédagogique sur un appel séquentiel fictif.</a:t>
            </a:r>
          </a:p>
        </p:txBody>
      </p:sp>
      <p:sp>
        <p:nvSpPr>
          <p:cNvPr id="8" name="Rectangle 7">
            <a:extLst>
              <a:ext uri="{FF2B5EF4-FFF2-40B4-BE49-F238E27FC236}">
                <a16:creationId xmlns:a16="http://schemas.microsoft.com/office/drawing/2014/main" id="{1266DCA1-8291-4013-A82C-C84290209F92}"/>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D99AB17D-5EDC-4234-9C3D-5189F2213C33}"/>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09 / 34</a:t>
            </a:r>
          </a:p>
        </p:txBody>
      </p:sp>
    </p:spTree>
    <p:extLst>
      <p:ext uri="{BB962C8B-B14F-4D97-AF65-F5344CB8AC3E}">
        <p14:creationId xmlns:p14="http://schemas.microsoft.com/office/powerpoint/2010/main" val="1732749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5712DBD-CA45-436B-AA82-844180C8C1E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1   /   OPTIMISATION BDD</a:t>
            </a:r>
          </a:p>
        </p:txBody>
      </p:sp>
      <p:sp>
        <p:nvSpPr>
          <p:cNvPr id="3" name="Rectangle 2">
            <a:extLst>
              <a:ext uri="{FF2B5EF4-FFF2-40B4-BE49-F238E27FC236}">
                <a16:creationId xmlns:a16="http://schemas.microsoft.com/office/drawing/2014/main" id="{D99949E0-BFE4-4AAC-8CFC-B5B22CCE7F9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Un benchmark comparable</a:t>
            </a:r>
          </a:p>
        </p:txBody>
      </p:sp>
      <p:sp>
        <p:nvSpPr>
          <p:cNvPr id="4" name="Rectangle 3">
            <a:extLst>
              <a:ext uri="{FF2B5EF4-FFF2-40B4-BE49-F238E27FC236}">
                <a16:creationId xmlns:a16="http://schemas.microsoft.com/office/drawing/2014/main" id="{A9305F3F-045A-4381-ABEE-222E6E6F2011}"/>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58687000-A2FA-41C8-AE7E-18ACE9BA4DA3}"/>
              </a:ext>
            </a:extLst>
          </p:cNvPr>
          <p:cNvSpPr>
            <a:spLocks noGrp="1"/>
          </p:cNvSpPr>
          <p:nvPr/>
        </p:nvSpPr>
        <p:spPr>
          <a:xfrm>
            <a:off x="666750" y="2667000"/>
            <a:ext cx="6334125"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Un benchmark décrit un scénario précis : mêmes données, même requête, même résultat attendu et même charge. On fixe la machine, les versions, la durée, l’échauffement, la concurrence et la politique de cache.</a:t>
            </a:r>
          </a:p>
        </p:txBody>
      </p:sp>
      <p:sp>
        <p:nvSpPr>
          <p:cNvPr id="6" name="Rectangle 5">
            <a:extLst>
              <a:ext uri="{FF2B5EF4-FFF2-40B4-BE49-F238E27FC236}">
                <a16:creationId xmlns:a16="http://schemas.microsoft.com/office/drawing/2014/main" id="{9C9521A5-6A9E-472D-A47F-A58E9A9208E5}"/>
              </a:ext>
            </a:extLst>
          </p:cNvPr>
          <p:cNvSpPr>
            <a:spLocks noGrp="1"/>
          </p:cNvSpPr>
          <p:nvPr/>
        </p:nvSpPr>
        <p:spPr>
          <a:xfrm>
            <a:off x="80962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PREUVES À CONSERVER</a:t>
            </a:r>
          </a:p>
        </p:txBody>
      </p:sp>
      <p:sp>
        <p:nvSpPr>
          <p:cNvPr id="7" name="Rectangle 6">
            <a:extLst>
              <a:ext uri="{FF2B5EF4-FFF2-40B4-BE49-F238E27FC236}">
                <a16:creationId xmlns:a16="http://schemas.microsoft.com/office/drawing/2014/main" id="{0C241D3A-6C8E-4C41-AC92-30C8044B0927}"/>
              </a:ext>
            </a:extLst>
          </p:cNvPr>
          <p:cNvSpPr>
            <a:spLocks noGrp="1"/>
          </p:cNvSpPr>
          <p:nvPr/>
        </p:nvSpPr>
        <p:spPr>
          <a:xfrm>
            <a:off x="8096250" y="2667000"/>
            <a:ext cx="6381750"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On change un facteur à la fois, puis on répète. Tester avant sur une machine occupée et après sur une machine libre ne permet pas d’attribuer le gain à l’index. La preuve conserve les résultats bruts, les paramètres et la procédure de remise à zéro.</a:t>
            </a:r>
          </a:p>
        </p:txBody>
      </p:sp>
      <p:sp>
        <p:nvSpPr>
          <p:cNvPr id="8" name="Rectangle 7">
            <a:extLst>
              <a:ext uri="{FF2B5EF4-FFF2-40B4-BE49-F238E27FC236}">
                <a16:creationId xmlns:a16="http://schemas.microsoft.com/office/drawing/2014/main" id="{7F8BE6E9-636B-4D48-A807-23A11782FE2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0549CA32-3CA1-436A-A7B6-9F778235F445}"/>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 p95, le taux d’erreur et le débit complètent la durée moyenne.</a:t>
            </a:r>
          </a:p>
        </p:txBody>
      </p:sp>
      <p:sp>
        <p:nvSpPr>
          <p:cNvPr id="10" name="Rectangle 9">
            <a:extLst>
              <a:ext uri="{FF2B5EF4-FFF2-40B4-BE49-F238E27FC236}">
                <a16:creationId xmlns:a16="http://schemas.microsoft.com/office/drawing/2014/main" id="{EE99FB60-3904-42AB-B460-AC7FB18F08D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46FC1989-A672-4E95-B9DF-8A58659EAB5F}"/>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10 / 34</a:t>
            </a:r>
          </a:p>
        </p:txBody>
      </p:sp>
    </p:spTree>
    <p:extLst>
      <p:ext uri="{BB962C8B-B14F-4D97-AF65-F5344CB8AC3E}">
        <p14:creationId xmlns:p14="http://schemas.microsoft.com/office/powerpoint/2010/main" val="2090831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F3D8084C-6ABC-4A13-A5A4-072F193EB0B1}"/>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204F74D5-E58B-429D-A7CD-D184E16AA039}"/>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Caches chauds et caches froids</a:t>
            </a:r>
          </a:p>
        </p:txBody>
      </p:sp>
      <p:sp>
        <p:nvSpPr>
          <p:cNvPr id="4" name="Rectangle 3">
            <a:extLst>
              <a:ext uri="{FF2B5EF4-FFF2-40B4-BE49-F238E27FC236}">
                <a16:creationId xmlns:a16="http://schemas.microsoft.com/office/drawing/2014/main" id="{D560D50E-D6BA-46C2-A63C-3A26CFB98B5A}"/>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5AED934F-265C-4FC9-A2DC-0C488ED5ECF6}"/>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Une première lecture peut charger des pages depuis le stockage. Les lectures suivantes peuvent réutiliser les buffers PostgreSQL et le cache du système. Le même SQL peut alors afficher des durées très différentes.</a:t>
            </a:r>
          </a:p>
        </p:txBody>
      </p:sp>
      <p:sp>
        <p:nvSpPr>
          <p:cNvPr id="6" name="Rectangle 5">
            <a:extLst>
              <a:ext uri="{FF2B5EF4-FFF2-40B4-BE49-F238E27FC236}">
                <a16:creationId xmlns:a16="http://schemas.microsoft.com/office/drawing/2014/main" id="{5731206E-3925-4AAD-B991-CC777B66B926}"/>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CCCC1866-6C71-4772-ADDB-52F2333E9729}"/>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 test à chaud représente un trafic récurrent. Un test à froid représente un redémarrage ou un jeu de données peu revisité. On documente l’état choisi. Relancer le serveur ne suffit pas à garantir que le cache du système soit froid.</a:t>
            </a:r>
          </a:p>
        </p:txBody>
      </p:sp>
      <p:sp>
        <p:nvSpPr>
          <p:cNvPr id="8" name="Rectangle 7">
            <a:extLst>
              <a:ext uri="{FF2B5EF4-FFF2-40B4-BE49-F238E27FC236}">
                <a16:creationId xmlns:a16="http://schemas.microsoft.com/office/drawing/2014/main" id="{44EF6808-FAA1-4328-9CD5-AF4E8E56F349}"/>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389E3335-3AA8-46B7-8079-6DDF2012FAA9}"/>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L’échauffement stabilise le scénario choisi. Il ne doit pas effacer une difficulté importante du cas métier.</a:t>
            </a:r>
          </a:p>
        </p:txBody>
      </p:sp>
      <p:sp>
        <p:nvSpPr>
          <p:cNvPr id="10" name="Rectangle 9">
            <a:extLst>
              <a:ext uri="{FF2B5EF4-FFF2-40B4-BE49-F238E27FC236}">
                <a16:creationId xmlns:a16="http://schemas.microsoft.com/office/drawing/2014/main" id="{27676DAF-0D81-48D2-BDD9-6433AFC00E82}"/>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69725647-616E-4633-B7C0-96D54CBA916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11 / 34</a:t>
            </a:r>
          </a:p>
        </p:txBody>
      </p:sp>
    </p:spTree>
    <p:extLst>
      <p:ext uri="{BB962C8B-B14F-4D97-AF65-F5344CB8AC3E}">
        <p14:creationId xmlns:p14="http://schemas.microsoft.com/office/powerpoint/2010/main" val="1419773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8" name="Image 1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4A51D7AF-E43F-4755-A998-D17F086A4128}"/>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1   /   OPTIMISATION BDD</a:t>
            </a:r>
          </a:p>
        </p:txBody>
      </p:sp>
      <p:sp>
        <p:nvSpPr>
          <p:cNvPr id="3" name="Rectangle 2">
            <a:extLst>
              <a:ext uri="{FF2B5EF4-FFF2-40B4-BE49-F238E27FC236}">
                <a16:creationId xmlns:a16="http://schemas.microsoft.com/office/drawing/2014/main" id="{BDF72BDE-9EF2-4DBF-9964-34D45466B6F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Le modèle relationnel du laboratoire</a:t>
            </a:r>
          </a:p>
        </p:txBody>
      </p:sp>
      <p:sp>
        <p:nvSpPr>
          <p:cNvPr id="4" name="Rectangle 3">
            <a:extLst>
              <a:ext uri="{FF2B5EF4-FFF2-40B4-BE49-F238E27FC236}">
                <a16:creationId xmlns:a16="http://schemas.microsoft.com/office/drawing/2014/main" id="{55EDD7FE-20F1-4456-A662-4223B25BF782}"/>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Chaque commande appartient à un client. Ses lignes référencent des produits. Les clés identifient les objets, les clés étrangères contrôlent leurs relations et les contraintes évitent des états impossibles.</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Un historique porte sur les commandes d’un client. Une facture exige les lignes de chaque commande. Un classement produit agrège les lignes de toutes les commandes. Ces chemins d’accès donnent des besoins différents en jointures et en index.</a:t>
            </a:r>
          </a:p>
        </p:txBody>
      </p:sp>
      <p:sp>
        <p:nvSpPr>
          <p:cNvPr id="5" name="Rectangle : coins arrondis 4">
            <a:extLst>
              <a:ext uri="{FF2B5EF4-FFF2-40B4-BE49-F238E27FC236}">
                <a16:creationId xmlns:a16="http://schemas.microsoft.com/office/drawing/2014/main" id="{3189AD0B-86AE-4207-A4C6-B3004A0DC6AA}"/>
              </a:ext>
            </a:extLst>
          </p:cNvPr>
          <p:cNvSpPr>
            <a:spLocks noGrp="1"/>
          </p:cNvSpPr>
          <p:nvPr/>
        </p:nvSpPr>
        <p:spPr>
          <a:xfrm>
            <a:off x="7524750"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clients</a:t>
            </a:r>
          </a:p>
          <a:p>
            <a:pPr algn="ctr">
              <a:defRPr sz="1875" b="1">
                <a:solidFill>
                  <a:srgbClr val="FFFFFF"/>
                </a:solidFill>
                <a:latin typeface="Aptos"/>
                <a:ea typeface="Aptos"/>
                <a:cs typeface="Aptos"/>
              </a:defRPr>
            </a:pPr>
            <a:r>
              <a:rPr sz="1875" b="1">
                <a:solidFill>
                  <a:srgbClr val="FFFFFF"/>
                </a:solidFill>
                <a:latin typeface="Aptos"/>
                <a:ea typeface="Aptos"/>
                <a:cs typeface="Aptos"/>
              </a:rPr>
              <a:t>id, email</a:t>
            </a:r>
          </a:p>
        </p:txBody>
      </p:sp>
      <p:sp>
        <p:nvSpPr>
          <p:cNvPr id="6" name="Rectangle : coins arrondis 5">
            <a:extLst>
              <a:ext uri="{FF2B5EF4-FFF2-40B4-BE49-F238E27FC236}">
                <a16:creationId xmlns:a16="http://schemas.microsoft.com/office/drawing/2014/main" id="{C441E508-333C-40F7-A871-29E7C935E8A2}"/>
              </a:ext>
            </a:extLst>
          </p:cNvPr>
          <p:cNvSpPr>
            <a:spLocks noGrp="1"/>
          </p:cNvSpPr>
          <p:nvPr/>
        </p:nvSpPr>
        <p:spPr>
          <a:xfrm>
            <a:off x="11557635"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commandes</a:t>
            </a:r>
          </a:p>
          <a:p>
            <a:pPr algn="ctr">
              <a:defRPr sz="1875" b="1">
                <a:solidFill>
                  <a:srgbClr val="FFFFFF"/>
                </a:solidFill>
                <a:latin typeface="Aptos"/>
                <a:ea typeface="Aptos"/>
                <a:cs typeface="Aptos"/>
              </a:defRPr>
            </a:pPr>
            <a:r>
              <a:rPr sz="1875" b="1">
                <a:solidFill>
                  <a:srgbClr val="FFFFFF"/>
                </a:solidFill>
                <a:latin typeface="Aptos"/>
                <a:ea typeface="Aptos"/>
                <a:cs typeface="Aptos"/>
              </a:rPr>
              <a:t>id, client_id</a:t>
            </a:r>
          </a:p>
        </p:txBody>
      </p:sp>
      <p:sp>
        <p:nvSpPr>
          <p:cNvPr id="7" name="Rectangle : coins arrondis 6">
            <a:extLst>
              <a:ext uri="{FF2B5EF4-FFF2-40B4-BE49-F238E27FC236}">
                <a16:creationId xmlns:a16="http://schemas.microsoft.com/office/drawing/2014/main" id="{89030B04-CE4A-4A8A-9990-4FBBCA5FCC5A}"/>
              </a:ext>
            </a:extLst>
          </p:cNvPr>
          <p:cNvSpPr>
            <a:spLocks noGrp="1"/>
          </p:cNvSpPr>
          <p:nvPr/>
        </p:nvSpPr>
        <p:spPr>
          <a:xfrm>
            <a:off x="11557635"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lignes</a:t>
            </a:r>
          </a:p>
          <a:p>
            <a:pPr algn="ctr">
              <a:defRPr sz="1875" b="1">
                <a:solidFill>
                  <a:srgbClr val="FFFFFF"/>
                </a:solidFill>
                <a:latin typeface="Aptos"/>
                <a:ea typeface="Aptos"/>
                <a:cs typeface="Aptos"/>
              </a:defRPr>
            </a:pPr>
            <a:r>
              <a:rPr sz="1875" b="1">
                <a:solidFill>
                  <a:srgbClr val="FFFFFF"/>
                </a:solidFill>
                <a:latin typeface="Aptos"/>
                <a:ea typeface="Aptos"/>
                <a:cs typeface="Aptos"/>
              </a:rPr>
              <a:t>commande_id, produit_id</a:t>
            </a:r>
          </a:p>
        </p:txBody>
      </p:sp>
      <p:sp>
        <p:nvSpPr>
          <p:cNvPr id="8" name="Rectangle : coins arrondis 7">
            <a:extLst>
              <a:ext uri="{FF2B5EF4-FFF2-40B4-BE49-F238E27FC236}">
                <a16:creationId xmlns:a16="http://schemas.microsoft.com/office/drawing/2014/main" id="{F414ECA9-3589-4BCB-85DF-13FFE4A2FB28}"/>
              </a:ext>
            </a:extLst>
          </p:cNvPr>
          <p:cNvSpPr>
            <a:spLocks noGrp="1"/>
          </p:cNvSpPr>
          <p:nvPr/>
        </p:nvSpPr>
        <p:spPr>
          <a:xfrm>
            <a:off x="7524750"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produits</a:t>
            </a:r>
          </a:p>
          <a:p>
            <a:pPr algn="ctr">
              <a:defRPr sz="1875" b="1">
                <a:solidFill>
                  <a:srgbClr val="FFFFFF"/>
                </a:solidFill>
                <a:latin typeface="Aptos"/>
                <a:ea typeface="Aptos"/>
                <a:cs typeface="Aptos"/>
              </a:defRPr>
            </a:pPr>
            <a:r>
              <a:rPr sz="1875" b="1">
                <a:solidFill>
                  <a:srgbClr val="FFFFFF"/>
                </a:solidFill>
                <a:latin typeface="Aptos"/>
                <a:ea typeface="Aptos"/>
                <a:cs typeface="Aptos"/>
              </a:rPr>
              <a:t>id, prix</a:t>
            </a:r>
          </a:p>
        </p:txBody>
      </p:sp>
      <p:sp>
        <p:nvSpPr>
          <p:cNvPr id="9" name="Flèche : droite 8">
            <a:extLst>
              <a:ext uri="{FF2B5EF4-FFF2-40B4-BE49-F238E27FC236}">
                <a16:creationId xmlns:a16="http://schemas.microsoft.com/office/drawing/2014/main" id="{FE41C139-EE4F-43D3-A3BE-5B2B782FD551}"/>
              </a:ext>
            </a:extLst>
          </p:cNvPr>
          <p:cNvSpPr>
            <a:spLocks noGrp="1"/>
          </p:cNvSpPr>
          <p:nvPr/>
        </p:nvSpPr>
        <p:spPr>
          <a:xfrm>
            <a:off x="10502265" y="2657475"/>
            <a:ext cx="998220" cy="114300"/>
          </a:xfrm>
          <a:prstGeom prst="rightArrow">
            <a:avLst/>
          </a:prstGeom>
          <a:solidFill>
            <a:srgbClr val="69E0E3"/>
          </a:solidFill>
          <a:ln w="0">
            <a:noFill/>
          </a:ln>
        </p:spPr>
        <p:txBody>
          <a:bodyPr/>
          <a:lstStyle/>
          <a:p>
            <a:endParaRPr lang="fr-FR"/>
          </a:p>
        </p:txBody>
      </p:sp>
      <p:sp>
        <p:nvSpPr>
          <p:cNvPr id="10" name="Rectangle 9">
            <a:extLst>
              <a:ext uri="{FF2B5EF4-FFF2-40B4-BE49-F238E27FC236}">
                <a16:creationId xmlns:a16="http://schemas.microsoft.com/office/drawing/2014/main" id="{CC2B6BA5-1C01-43F0-97A6-DF384D209DC0}"/>
              </a:ext>
            </a:extLst>
          </p:cNvPr>
          <p:cNvSpPr>
            <a:spLocks noGrp="1"/>
          </p:cNvSpPr>
          <p:nvPr/>
        </p:nvSpPr>
        <p:spPr>
          <a:xfrm>
            <a:off x="10429875" y="2343150"/>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1 à N</a:t>
            </a:r>
          </a:p>
        </p:txBody>
      </p:sp>
      <p:sp>
        <p:nvSpPr>
          <p:cNvPr id="11" name="Flèche : droite 10">
            <a:extLst>
              <a:ext uri="{FF2B5EF4-FFF2-40B4-BE49-F238E27FC236}">
                <a16:creationId xmlns:a16="http://schemas.microsoft.com/office/drawing/2014/main" id="{E6607C59-4ACB-4E11-8961-5F3884569106}"/>
              </a:ext>
            </a:extLst>
          </p:cNvPr>
          <p:cNvSpPr>
            <a:spLocks noGrp="1"/>
          </p:cNvSpPr>
          <p:nvPr/>
        </p:nvSpPr>
        <p:spPr>
          <a:xfrm rot="5400000">
            <a:off x="12708255" y="3500438"/>
            <a:ext cx="619125" cy="114300"/>
          </a:xfrm>
          <a:prstGeom prst="rightArrow">
            <a:avLst/>
          </a:prstGeom>
          <a:solidFill>
            <a:srgbClr val="69E0E3"/>
          </a:solidFill>
          <a:ln w="0">
            <a:noFill/>
          </a:ln>
        </p:spPr>
        <p:txBody>
          <a:bodyPr/>
          <a:lstStyle/>
          <a:p>
            <a:endParaRPr lang="fr-FR"/>
          </a:p>
        </p:txBody>
      </p:sp>
      <p:sp>
        <p:nvSpPr>
          <p:cNvPr id="12" name="Rectangle 11">
            <a:extLst>
              <a:ext uri="{FF2B5EF4-FFF2-40B4-BE49-F238E27FC236}">
                <a16:creationId xmlns:a16="http://schemas.microsoft.com/office/drawing/2014/main" id="{D6E85F75-A13B-4EA1-970E-81A585A05275}"/>
              </a:ext>
            </a:extLst>
          </p:cNvPr>
          <p:cNvSpPr>
            <a:spLocks noGrp="1"/>
          </p:cNvSpPr>
          <p:nvPr/>
        </p:nvSpPr>
        <p:spPr>
          <a:xfrm>
            <a:off x="13132118" y="3414713"/>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1 à N</a:t>
            </a:r>
          </a:p>
        </p:txBody>
      </p:sp>
      <p:sp>
        <p:nvSpPr>
          <p:cNvPr id="13" name="Flèche : droite 12">
            <a:extLst>
              <a:ext uri="{FF2B5EF4-FFF2-40B4-BE49-F238E27FC236}">
                <a16:creationId xmlns:a16="http://schemas.microsoft.com/office/drawing/2014/main" id="{9117049C-55DA-45BD-A64D-0A6AAC0576E4}"/>
              </a:ext>
            </a:extLst>
          </p:cNvPr>
          <p:cNvSpPr>
            <a:spLocks noGrp="1"/>
          </p:cNvSpPr>
          <p:nvPr/>
        </p:nvSpPr>
        <p:spPr>
          <a:xfrm rot="10800000">
            <a:off x="10502265" y="4343400"/>
            <a:ext cx="998220" cy="114300"/>
          </a:xfrm>
          <a:prstGeom prst="rightArrow">
            <a:avLst/>
          </a:prstGeom>
          <a:solidFill>
            <a:srgbClr val="69E0E3"/>
          </a:solidFill>
          <a:ln w="0">
            <a:noFill/>
          </a:ln>
        </p:spPr>
        <p:txBody>
          <a:bodyPr/>
          <a:lstStyle/>
          <a:p>
            <a:endParaRPr lang="fr-FR"/>
          </a:p>
        </p:txBody>
      </p:sp>
      <p:sp>
        <p:nvSpPr>
          <p:cNvPr id="14" name="Rectangle 13">
            <a:extLst>
              <a:ext uri="{FF2B5EF4-FFF2-40B4-BE49-F238E27FC236}">
                <a16:creationId xmlns:a16="http://schemas.microsoft.com/office/drawing/2014/main" id="{12FE5C9E-42D4-4109-A027-9A817BC3654B}"/>
              </a:ext>
            </a:extLst>
          </p:cNvPr>
          <p:cNvSpPr>
            <a:spLocks noGrp="1"/>
          </p:cNvSpPr>
          <p:nvPr/>
        </p:nvSpPr>
        <p:spPr>
          <a:xfrm>
            <a:off x="10429875" y="402907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N à 1</a:t>
            </a:r>
          </a:p>
        </p:txBody>
      </p:sp>
      <p:sp>
        <p:nvSpPr>
          <p:cNvPr id="15" name="Rectangle 14">
            <a:extLst>
              <a:ext uri="{FF2B5EF4-FFF2-40B4-BE49-F238E27FC236}">
                <a16:creationId xmlns:a16="http://schemas.microsoft.com/office/drawing/2014/main" id="{F8626114-9528-44B6-A430-C893324F6611}"/>
              </a:ext>
            </a:extLst>
          </p:cNvPr>
          <p:cNvSpPr>
            <a:spLocks noGrp="1"/>
          </p:cNvSpPr>
          <p:nvPr/>
        </p:nvSpPr>
        <p:spPr>
          <a:xfrm>
            <a:off x="7524750" y="5924550"/>
            <a:ext cx="6953250" cy="609600"/>
          </a:xfrm>
          <a:prstGeom prst="rect">
            <a:avLst/>
          </a:prstGeom>
          <a:noFill/>
          <a:ln w="0">
            <a:noFill/>
          </a:ln>
        </p:spPr>
        <p:txBody>
          <a:bodyPr>
            <a:noAutofit/>
          </a:bodyPr>
          <a:lstStyle/>
          <a:p>
            <a:pPr>
              <a:defRPr sz="1575" b="0">
                <a:solidFill>
                  <a:srgbClr val="BBD5DB"/>
                </a:solidFill>
                <a:latin typeface="Aptos"/>
                <a:ea typeface="Aptos"/>
                <a:cs typeface="Aptos"/>
              </a:defRPr>
            </a:pPr>
            <a:r>
              <a:rPr sz="1575" b="0">
                <a:solidFill>
                  <a:srgbClr val="BBD5DB"/>
                </a:solidFill>
                <a:latin typeface="Aptos"/>
                <a:ea typeface="Aptos"/>
                <a:cs typeface="Aptos"/>
              </a:rPr>
              <a:t>Schéma pédagogique. Les détails figurent dans 01_schema.sql.</a:t>
            </a:r>
          </a:p>
        </p:txBody>
      </p:sp>
      <p:sp>
        <p:nvSpPr>
          <p:cNvPr id="16" name="Rectangle 15">
            <a:extLst>
              <a:ext uri="{FF2B5EF4-FFF2-40B4-BE49-F238E27FC236}">
                <a16:creationId xmlns:a16="http://schemas.microsoft.com/office/drawing/2014/main" id="{36A40955-935C-43EA-8AD8-D7DAFB5F4B83}"/>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7" name="Rectangle 16">
            <a:extLst>
              <a:ext uri="{FF2B5EF4-FFF2-40B4-BE49-F238E27FC236}">
                <a16:creationId xmlns:a16="http://schemas.microsoft.com/office/drawing/2014/main" id="{520F94CC-5F59-408D-9904-FA2DD78D26B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12 / 34</a:t>
            </a:r>
          </a:p>
        </p:txBody>
      </p:sp>
    </p:spTree>
    <p:extLst>
      <p:ext uri="{BB962C8B-B14F-4D97-AF65-F5344CB8AC3E}">
        <p14:creationId xmlns:p14="http://schemas.microsoft.com/office/powerpoint/2010/main" val="1591101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FD75AAD-3FF2-405A-B66C-068E88117B9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DE323840-A19F-4888-AA3C-E80725DEBE0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Normalisation et duplication contrôlée</a:t>
            </a:r>
          </a:p>
        </p:txBody>
      </p:sp>
      <p:sp>
        <p:nvSpPr>
          <p:cNvPr id="4" name="Rectangle 3">
            <a:extLst>
              <a:ext uri="{FF2B5EF4-FFF2-40B4-BE49-F238E27FC236}">
                <a16:creationId xmlns:a16="http://schemas.microsoft.com/office/drawing/2014/main" id="{14FE4AE6-6D35-42E8-9F2E-815C6660E1E6}"/>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8731CE84-28AD-4751-99E4-5899D86BA60C}"/>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La normalisation évite de répéter un même fait à plusieurs endroits. Le nom actuel du client appartient à clients. Une correction de nom ne doit pas demander la modification de toutes ses commandes.</a:t>
            </a:r>
          </a:p>
        </p:txBody>
      </p:sp>
      <p:sp>
        <p:nvSpPr>
          <p:cNvPr id="6" name="Rectangle 5">
            <a:extLst>
              <a:ext uri="{FF2B5EF4-FFF2-40B4-BE49-F238E27FC236}">
                <a16:creationId xmlns:a16="http://schemas.microsoft.com/office/drawing/2014/main" id="{D0716E4C-4A8E-4879-A65C-D1F2C72B6824}"/>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AA41BCDB-6850-4F18-BB46-50210D51A569}"/>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La ligne de commande conserve cependant prix_unitaire au moment de l’achat. Ce prix représente un fait historique distinct du prix actuel du catalogue. Une duplication pertinente part d’une définition métier et d’une règle de maintenance.</a:t>
            </a:r>
          </a:p>
        </p:txBody>
      </p:sp>
      <p:sp>
        <p:nvSpPr>
          <p:cNvPr id="8" name="Rectangle 7">
            <a:extLst>
              <a:ext uri="{FF2B5EF4-FFF2-40B4-BE49-F238E27FC236}">
                <a16:creationId xmlns:a16="http://schemas.microsoft.com/office/drawing/2014/main" id="{DEF7F3F0-8992-40C7-ACB2-116FAD90462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EC2F8685-674C-455F-996C-C20D76F6448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 performance ne justifie pas une donnée dont personne ne sait garantir la validité.</a:t>
            </a:r>
          </a:p>
        </p:txBody>
      </p:sp>
      <p:sp>
        <p:nvSpPr>
          <p:cNvPr id="10" name="Rectangle 9">
            <a:extLst>
              <a:ext uri="{FF2B5EF4-FFF2-40B4-BE49-F238E27FC236}">
                <a16:creationId xmlns:a16="http://schemas.microsoft.com/office/drawing/2014/main" id="{24AF54F2-39E7-4FE6-B501-9227F512818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73B31A29-E847-49FE-A4A6-062C3F4FFB68}"/>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13 / 34</a:t>
            </a:r>
          </a:p>
        </p:txBody>
      </p:sp>
    </p:spTree>
    <p:extLst>
      <p:ext uri="{BB962C8B-B14F-4D97-AF65-F5344CB8AC3E}">
        <p14:creationId xmlns:p14="http://schemas.microsoft.com/office/powerpoint/2010/main" val="124104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9" name="Image 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FD878D7E-9DBE-48DD-9B3D-1124250FD34E}"/>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F897E944-37CA-4B10-9607-BE10CBDE13FB}"/>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Types, contraintes et taille des lignes</a:t>
            </a:r>
          </a:p>
        </p:txBody>
      </p:sp>
      <p:sp>
        <p:nvSpPr>
          <p:cNvPr id="4" name="Rectangle 3">
            <a:extLst>
              <a:ext uri="{FF2B5EF4-FFF2-40B4-BE49-F238E27FC236}">
                <a16:creationId xmlns:a16="http://schemas.microsoft.com/office/drawing/2014/main" id="{A70016FC-089F-4B8F-B522-669595F8BE18}"/>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 montant monétaire exige une représentation exacte, par exemple numeric(12,2). Une date d’événement peut utiliser timestamptz. Les types rendent les opérations et les comparaisons explicites.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Des lignes larges augmentent le transfert et le travail de lecture. La projection sélectionne les colonnes utiles. NOT NULL, CHECK et les clés étrangères protègent l’intégrité avant que l’API ne construise des réponses incohérentes.</a:t>
            </a:r>
          </a:p>
        </p:txBody>
      </p:sp>
      <p:sp>
        <p:nvSpPr>
          <p:cNvPr id="5" name="Rectangle 4">
            <a:extLst>
              <a:ext uri="{FF2B5EF4-FFF2-40B4-BE49-F238E27FC236}">
                <a16:creationId xmlns:a16="http://schemas.microsoft.com/office/drawing/2014/main" id="{11A72C25-1983-49D6-BC1E-4B7632064F0E}"/>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A98ABAE2-DF0C-4D7B-AFD6-E149329CC1B0}"/>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TABLE produits (</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id bigint PRIMARY KEY,</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nom text NOT NULL,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prix numeric(12,2) NOT NULL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CHECK (prix &gt;= 0),</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attributs jsonb NOT NULL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DEFAULT '{}'::jsonb</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t>
            </a:r>
          </a:p>
        </p:txBody>
      </p:sp>
      <p:sp>
        <p:nvSpPr>
          <p:cNvPr id="7" name="Rectangle 6">
            <a:extLst>
              <a:ext uri="{FF2B5EF4-FFF2-40B4-BE49-F238E27FC236}">
                <a16:creationId xmlns:a16="http://schemas.microsoft.com/office/drawing/2014/main" id="{811DA31B-3397-4F0F-B609-36A820959917}"/>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8" name="Rectangle 7">
            <a:extLst>
              <a:ext uri="{FF2B5EF4-FFF2-40B4-BE49-F238E27FC236}">
                <a16:creationId xmlns:a16="http://schemas.microsoft.com/office/drawing/2014/main" id="{87C45F3C-1AF4-43C1-BBAC-EDFAC022425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14 / 34</a:t>
            </a:r>
          </a:p>
        </p:txBody>
      </p:sp>
    </p:spTree>
    <p:extLst>
      <p:ext uri="{BB962C8B-B14F-4D97-AF65-F5344CB8AC3E}">
        <p14:creationId xmlns:p14="http://schemas.microsoft.com/office/powerpoint/2010/main" val="1563568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7" name="Image 16"/>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9D063986-BD4A-46B1-B953-8198756D804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1D23BD72-F1FD-4D5C-903A-8464ED053559}"/>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La planification d’une requête</a:t>
            </a:r>
          </a:p>
        </p:txBody>
      </p:sp>
      <p:sp>
        <p:nvSpPr>
          <p:cNvPr id="4" name="Rectangle 3">
            <a:extLst>
              <a:ext uri="{FF2B5EF4-FFF2-40B4-BE49-F238E27FC236}">
                <a16:creationId xmlns:a16="http://schemas.microsoft.com/office/drawing/2014/main" id="{5EE2E05C-80F3-45A7-8BAD-62D54B079138}"/>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 SQL exprime un résultat. Le planificateur choisit une manière de l’obtenir à partir des statistiques, des index et des paramètres de coût. L’exécuteur réalise ensuite les opérations choisies.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Deux syntaxes différentes peuvent produire le même plan. Une requête identique peut recevoir un autre plan après un changement de volume ou de distribution. L’analyse doit donc partir du plan observé et des données concernées.</a:t>
            </a:r>
          </a:p>
        </p:txBody>
      </p:sp>
      <p:sp>
        <p:nvSpPr>
          <p:cNvPr id="5" name="Rectangle : coins arrondis 4">
            <a:extLst>
              <a:ext uri="{FF2B5EF4-FFF2-40B4-BE49-F238E27FC236}">
                <a16:creationId xmlns:a16="http://schemas.microsoft.com/office/drawing/2014/main" id="{DC672366-DC1D-4D22-9F76-E60A4EA92580}"/>
              </a:ext>
            </a:extLst>
          </p:cNvPr>
          <p:cNvSpPr>
            <a:spLocks noGrp="1"/>
          </p:cNvSpPr>
          <p:nvPr/>
        </p:nvSpPr>
        <p:spPr>
          <a:xfrm>
            <a:off x="7524750" y="2238375"/>
            <a:ext cx="2920365"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SQL</a:t>
            </a:r>
          </a:p>
          <a:p>
            <a:pPr algn="ctr">
              <a:defRPr sz="1875" b="1">
                <a:solidFill>
                  <a:srgbClr val="FFFFFF"/>
                </a:solidFill>
                <a:latin typeface="Aptos"/>
                <a:ea typeface="Aptos"/>
                <a:cs typeface="Aptos"/>
              </a:defRPr>
            </a:pPr>
            <a:r>
              <a:rPr sz="1875" b="1">
                <a:solidFill>
                  <a:srgbClr val="FFFFFF"/>
                </a:solidFill>
                <a:latin typeface="Aptos"/>
                <a:ea typeface="Aptos"/>
                <a:cs typeface="Aptos"/>
              </a:rPr>
              <a:t>logique</a:t>
            </a:r>
          </a:p>
        </p:txBody>
      </p:sp>
      <p:sp>
        <p:nvSpPr>
          <p:cNvPr id="6" name="Rectangle : coins arrondis 5">
            <a:extLst>
              <a:ext uri="{FF2B5EF4-FFF2-40B4-BE49-F238E27FC236}">
                <a16:creationId xmlns:a16="http://schemas.microsoft.com/office/drawing/2014/main" id="{396A5BC1-7D82-44CA-821E-84A0ABC933E8}"/>
              </a:ext>
            </a:extLst>
          </p:cNvPr>
          <p:cNvSpPr>
            <a:spLocks noGrp="1"/>
          </p:cNvSpPr>
          <p:nvPr/>
        </p:nvSpPr>
        <p:spPr>
          <a:xfrm>
            <a:off x="11557635" y="2238375"/>
            <a:ext cx="2920365"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Statistiques</a:t>
            </a:r>
          </a:p>
          <a:p>
            <a:pPr algn="ctr">
              <a:defRPr sz="1875" b="1">
                <a:solidFill>
                  <a:srgbClr val="FFFFFF"/>
                </a:solidFill>
                <a:latin typeface="Aptos"/>
                <a:ea typeface="Aptos"/>
                <a:cs typeface="Aptos"/>
              </a:defRPr>
            </a:pPr>
            <a:r>
              <a:rPr sz="1875" b="1">
                <a:solidFill>
                  <a:srgbClr val="FFFFFF"/>
                </a:solidFill>
                <a:latin typeface="Aptos"/>
                <a:ea typeface="Aptos"/>
                <a:cs typeface="Aptos"/>
              </a:rPr>
              <a:t>et coûts</a:t>
            </a:r>
          </a:p>
        </p:txBody>
      </p:sp>
      <p:sp>
        <p:nvSpPr>
          <p:cNvPr id="7" name="Rectangle : coins arrondis 6">
            <a:extLst>
              <a:ext uri="{FF2B5EF4-FFF2-40B4-BE49-F238E27FC236}">
                <a16:creationId xmlns:a16="http://schemas.microsoft.com/office/drawing/2014/main" id="{6F591741-B1C2-4175-8769-2336A4E8A2C0}"/>
              </a:ext>
            </a:extLst>
          </p:cNvPr>
          <p:cNvSpPr>
            <a:spLocks noGrp="1"/>
          </p:cNvSpPr>
          <p:nvPr/>
        </p:nvSpPr>
        <p:spPr>
          <a:xfrm>
            <a:off x="11557635" y="3924300"/>
            <a:ext cx="2920365"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Plan</a:t>
            </a:r>
          </a:p>
          <a:p>
            <a:pPr algn="ctr">
              <a:defRPr sz="1875" b="1">
                <a:solidFill>
                  <a:srgbClr val="FFFFFF"/>
                </a:solidFill>
                <a:latin typeface="Aptos"/>
                <a:ea typeface="Aptos"/>
                <a:cs typeface="Aptos"/>
              </a:defRPr>
            </a:pPr>
            <a:r>
              <a:rPr sz="1875" b="1">
                <a:solidFill>
                  <a:srgbClr val="FFFFFF"/>
                </a:solidFill>
                <a:latin typeface="Aptos"/>
                <a:ea typeface="Aptos"/>
                <a:cs typeface="Aptos"/>
              </a:rPr>
              <a:t>choisi</a:t>
            </a:r>
          </a:p>
        </p:txBody>
      </p:sp>
      <p:sp>
        <p:nvSpPr>
          <p:cNvPr id="8" name="Rectangle : coins arrondis 7">
            <a:extLst>
              <a:ext uri="{FF2B5EF4-FFF2-40B4-BE49-F238E27FC236}">
                <a16:creationId xmlns:a16="http://schemas.microsoft.com/office/drawing/2014/main" id="{04BD6BF1-B56B-444D-B703-CDA8A76CD128}"/>
              </a:ext>
            </a:extLst>
          </p:cNvPr>
          <p:cNvSpPr>
            <a:spLocks noGrp="1"/>
          </p:cNvSpPr>
          <p:nvPr/>
        </p:nvSpPr>
        <p:spPr>
          <a:xfrm>
            <a:off x="7524750" y="3924300"/>
            <a:ext cx="2920365"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Exécution</a:t>
            </a:r>
          </a:p>
          <a:p>
            <a:pPr algn="ctr">
              <a:defRPr sz="1875" b="1">
                <a:solidFill>
                  <a:srgbClr val="FFFFFF"/>
                </a:solidFill>
                <a:latin typeface="Aptos"/>
                <a:ea typeface="Aptos"/>
                <a:cs typeface="Aptos"/>
              </a:defRPr>
            </a:pPr>
            <a:r>
              <a:rPr sz="1875" b="1">
                <a:solidFill>
                  <a:srgbClr val="FFFFFF"/>
                </a:solidFill>
                <a:latin typeface="Aptos"/>
                <a:ea typeface="Aptos"/>
                <a:cs typeface="Aptos"/>
              </a:rPr>
              <a:t>réelle</a:t>
            </a:r>
          </a:p>
        </p:txBody>
      </p:sp>
      <p:sp>
        <p:nvSpPr>
          <p:cNvPr id="9" name="Flèche : droite 8">
            <a:extLst>
              <a:ext uri="{FF2B5EF4-FFF2-40B4-BE49-F238E27FC236}">
                <a16:creationId xmlns:a16="http://schemas.microsoft.com/office/drawing/2014/main" id="{B1B4D9B5-8B61-4ED0-9AC0-249BA14C9747}"/>
              </a:ext>
            </a:extLst>
          </p:cNvPr>
          <p:cNvSpPr>
            <a:spLocks noGrp="1"/>
          </p:cNvSpPr>
          <p:nvPr/>
        </p:nvSpPr>
        <p:spPr>
          <a:xfrm>
            <a:off x="10502265" y="2657475"/>
            <a:ext cx="998220" cy="114300"/>
          </a:xfrm>
          <a:prstGeom prst="rightArrow">
            <a:avLst/>
          </a:prstGeom>
          <a:solidFill>
            <a:srgbClr val="AD4C21"/>
          </a:solidFill>
          <a:ln w="0">
            <a:noFill/>
          </a:ln>
        </p:spPr>
        <p:txBody>
          <a:bodyPr/>
          <a:lstStyle/>
          <a:p>
            <a:endParaRPr lang="fr-FR"/>
          </a:p>
        </p:txBody>
      </p:sp>
      <p:sp>
        <p:nvSpPr>
          <p:cNvPr id="10" name="Rectangle 9">
            <a:extLst>
              <a:ext uri="{FF2B5EF4-FFF2-40B4-BE49-F238E27FC236}">
                <a16:creationId xmlns:a16="http://schemas.microsoft.com/office/drawing/2014/main" id="{9FE15EF7-3195-43A2-95E0-603CFD4E5E7D}"/>
              </a:ext>
            </a:extLst>
          </p:cNvPr>
          <p:cNvSpPr>
            <a:spLocks noGrp="1"/>
          </p:cNvSpPr>
          <p:nvPr/>
        </p:nvSpPr>
        <p:spPr>
          <a:xfrm>
            <a:off x="10429875" y="2343150"/>
            <a:ext cx="1143000" cy="361950"/>
          </a:xfrm>
          <a:prstGeom prst="rect">
            <a:avLst/>
          </a:prstGeom>
          <a:noFill/>
          <a:ln w="0">
            <a:noFill/>
          </a:ln>
        </p:spPr>
        <p:txBody>
          <a:bodyPr>
            <a:noAutofit/>
          </a:bodyPr>
          <a:lstStyle/>
          <a:p>
            <a:pPr algn="ctr">
              <a:defRPr sz="1275" b="1">
                <a:solidFill>
                  <a:srgbClr val="AD4C21"/>
                </a:solidFill>
                <a:latin typeface="Aptos"/>
                <a:ea typeface="Aptos"/>
                <a:cs typeface="Aptos"/>
              </a:defRPr>
            </a:pPr>
            <a:r>
              <a:rPr sz="1275" b="1">
                <a:solidFill>
                  <a:srgbClr val="AD4C21"/>
                </a:solidFill>
                <a:latin typeface="Aptos"/>
                <a:ea typeface="Aptos"/>
                <a:cs typeface="Aptos"/>
              </a:rPr>
              <a:t>analyse</a:t>
            </a:r>
          </a:p>
        </p:txBody>
      </p:sp>
      <p:sp>
        <p:nvSpPr>
          <p:cNvPr id="11" name="Flèche : droite 10">
            <a:extLst>
              <a:ext uri="{FF2B5EF4-FFF2-40B4-BE49-F238E27FC236}">
                <a16:creationId xmlns:a16="http://schemas.microsoft.com/office/drawing/2014/main" id="{15BE22D0-7192-4A84-8F55-739D9A675488}"/>
              </a:ext>
            </a:extLst>
          </p:cNvPr>
          <p:cNvSpPr>
            <a:spLocks noGrp="1"/>
          </p:cNvSpPr>
          <p:nvPr/>
        </p:nvSpPr>
        <p:spPr>
          <a:xfrm rot="5400000">
            <a:off x="12708255" y="3500438"/>
            <a:ext cx="619125" cy="114300"/>
          </a:xfrm>
          <a:prstGeom prst="rightArrow">
            <a:avLst/>
          </a:prstGeom>
          <a:solidFill>
            <a:srgbClr val="AD4C21"/>
          </a:solidFill>
          <a:ln w="0">
            <a:noFill/>
          </a:ln>
        </p:spPr>
        <p:txBody>
          <a:bodyPr/>
          <a:lstStyle/>
          <a:p>
            <a:endParaRPr lang="fr-FR"/>
          </a:p>
        </p:txBody>
      </p:sp>
      <p:sp>
        <p:nvSpPr>
          <p:cNvPr id="12" name="Rectangle 11">
            <a:extLst>
              <a:ext uri="{FF2B5EF4-FFF2-40B4-BE49-F238E27FC236}">
                <a16:creationId xmlns:a16="http://schemas.microsoft.com/office/drawing/2014/main" id="{58FA7DE7-C4BB-4961-9987-AE8BBF757F08}"/>
              </a:ext>
            </a:extLst>
          </p:cNvPr>
          <p:cNvSpPr>
            <a:spLocks noGrp="1"/>
          </p:cNvSpPr>
          <p:nvPr/>
        </p:nvSpPr>
        <p:spPr>
          <a:xfrm>
            <a:off x="13132118" y="3414713"/>
            <a:ext cx="1143000" cy="361950"/>
          </a:xfrm>
          <a:prstGeom prst="rect">
            <a:avLst/>
          </a:prstGeom>
          <a:noFill/>
          <a:ln w="0">
            <a:noFill/>
          </a:ln>
        </p:spPr>
        <p:txBody>
          <a:bodyPr>
            <a:noAutofit/>
          </a:bodyPr>
          <a:lstStyle/>
          <a:p>
            <a:pPr algn="ctr">
              <a:defRPr sz="1275" b="1">
                <a:solidFill>
                  <a:srgbClr val="AD4C21"/>
                </a:solidFill>
                <a:latin typeface="Aptos"/>
                <a:ea typeface="Aptos"/>
                <a:cs typeface="Aptos"/>
              </a:defRPr>
            </a:pPr>
            <a:r>
              <a:rPr sz="1275" b="1">
                <a:solidFill>
                  <a:srgbClr val="AD4C21"/>
                </a:solidFill>
                <a:latin typeface="Aptos"/>
                <a:ea typeface="Aptos"/>
                <a:cs typeface="Aptos"/>
              </a:rPr>
              <a:t>estimation</a:t>
            </a:r>
          </a:p>
        </p:txBody>
      </p:sp>
      <p:sp>
        <p:nvSpPr>
          <p:cNvPr id="13" name="Flèche : droite 12">
            <a:extLst>
              <a:ext uri="{FF2B5EF4-FFF2-40B4-BE49-F238E27FC236}">
                <a16:creationId xmlns:a16="http://schemas.microsoft.com/office/drawing/2014/main" id="{3F4646F6-1B08-47D8-A1EC-53EDD005E14F}"/>
              </a:ext>
            </a:extLst>
          </p:cNvPr>
          <p:cNvSpPr>
            <a:spLocks noGrp="1"/>
          </p:cNvSpPr>
          <p:nvPr/>
        </p:nvSpPr>
        <p:spPr>
          <a:xfrm rot="10800000">
            <a:off x="10502265" y="4343400"/>
            <a:ext cx="998220" cy="114300"/>
          </a:xfrm>
          <a:prstGeom prst="rightArrow">
            <a:avLst/>
          </a:prstGeom>
          <a:solidFill>
            <a:srgbClr val="AD4C21"/>
          </a:solidFill>
          <a:ln w="0">
            <a:noFill/>
          </a:ln>
        </p:spPr>
        <p:txBody>
          <a:bodyPr/>
          <a:lstStyle/>
          <a:p>
            <a:endParaRPr lang="fr-FR"/>
          </a:p>
        </p:txBody>
      </p:sp>
      <p:sp>
        <p:nvSpPr>
          <p:cNvPr id="14" name="Rectangle 13">
            <a:extLst>
              <a:ext uri="{FF2B5EF4-FFF2-40B4-BE49-F238E27FC236}">
                <a16:creationId xmlns:a16="http://schemas.microsoft.com/office/drawing/2014/main" id="{8D495555-A32F-4610-BF66-343FB87D84CB}"/>
              </a:ext>
            </a:extLst>
          </p:cNvPr>
          <p:cNvSpPr>
            <a:spLocks noGrp="1"/>
          </p:cNvSpPr>
          <p:nvPr/>
        </p:nvSpPr>
        <p:spPr>
          <a:xfrm>
            <a:off x="10429875" y="4029075"/>
            <a:ext cx="1143000" cy="361950"/>
          </a:xfrm>
          <a:prstGeom prst="rect">
            <a:avLst/>
          </a:prstGeom>
          <a:noFill/>
          <a:ln w="0">
            <a:noFill/>
          </a:ln>
        </p:spPr>
        <p:txBody>
          <a:bodyPr>
            <a:noAutofit/>
          </a:bodyPr>
          <a:lstStyle/>
          <a:p>
            <a:pPr algn="ctr">
              <a:defRPr sz="1275" b="1">
                <a:solidFill>
                  <a:srgbClr val="AD4C21"/>
                </a:solidFill>
                <a:latin typeface="Aptos"/>
                <a:ea typeface="Aptos"/>
                <a:cs typeface="Aptos"/>
              </a:defRPr>
            </a:pPr>
            <a:r>
              <a:rPr sz="1275" b="1">
                <a:solidFill>
                  <a:srgbClr val="AD4C21"/>
                </a:solidFill>
                <a:latin typeface="Aptos"/>
                <a:ea typeface="Aptos"/>
                <a:cs typeface="Aptos"/>
              </a:rPr>
              <a:t>opérateurs</a:t>
            </a:r>
          </a:p>
        </p:txBody>
      </p:sp>
      <p:sp>
        <p:nvSpPr>
          <p:cNvPr id="15" name="Rectangle 14">
            <a:extLst>
              <a:ext uri="{FF2B5EF4-FFF2-40B4-BE49-F238E27FC236}">
                <a16:creationId xmlns:a16="http://schemas.microsoft.com/office/drawing/2014/main" id="{C102D364-E61A-44A0-A959-5A0F6F6C1E13}"/>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6" name="Rectangle 15">
            <a:extLst>
              <a:ext uri="{FF2B5EF4-FFF2-40B4-BE49-F238E27FC236}">
                <a16:creationId xmlns:a16="http://schemas.microsoft.com/office/drawing/2014/main" id="{5869D1D3-00E6-4333-93B3-85E2DB62AB0F}"/>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15 / 34</a:t>
            </a:r>
          </a:p>
        </p:txBody>
      </p:sp>
    </p:spTree>
    <p:extLst>
      <p:ext uri="{BB962C8B-B14F-4D97-AF65-F5344CB8AC3E}">
        <p14:creationId xmlns:p14="http://schemas.microsoft.com/office/powerpoint/2010/main" val="454329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99AEB6E-680D-4B35-B37A-7B7A0961E8CB}"/>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B6DD4CAD-90C3-4367-A5D2-5A515F3A5FAE}"/>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EXPLAIN et EXPLAIN ANALYZE</a:t>
            </a:r>
          </a:p>
        </p:txBody>
      </p:sp>
      <p:sp>
        <p:nvSpPr>
          <p:cNvPr id="4" name="Rectangle 3">
            <a:extLst>
              <a:ext uri="{FF2B5EF4-FFF2-40B4-BE49-F238E27FC236}">
                <a16:creationId xmlns:a16="http://schemas.microsoft.com/office/drawing/2014/main" id="{F8CA7E0A-93FB-4363-9F30-EA975EDFFE36}"/>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dirty="0">
                <a:solidFill>
                  <a:srgbClr val="173044"/>
                </a:solidFill>
                <a:latin typeface="Aptos"/>
                <a:ea typeface="Aptos"/>
                <a:cs typeface="Aptos"/>
              </a:rPr>
              <a:t>EXPLAIN </a:t>
            </a:r>
            <a:r>
              <a:rPr sz="2025" b="0" dirty="0" err="1">
                <a:solidFill>
                  <a:srgbClr val="173044"/>
                </a:solidFill>
                <a:latin typeface="Aptos"/>
                <a:ea typeface="Aptos"/>
                <a:cs typeface="Aptos"/>
              </a:rPr>
              <a:t>décrit</a:t>
            </a:r>
            <a:r>
              <a:rPr sz="2025" b="0" dirty="0">
                <a:solidFill>
                  <a:srgbClr val="173044"/>
                </a:solidFill>
                <a:latin typeface="Aptos"/>
                <a:ea typeface="Aptos"/>
                <a:cs typeface="Aptos"/>
              </a:rPr>
              <a:t> le plan </a:t>
            </a:r>
            <a:r>
              <a:rPr sz="2025" b="0" dirty="0" err="1">
                <a:solidFill>
                  <a:srgbClr val="173044"/>
                </a:solidFill>
                <a:latin typeface="Aptos"/>
                <a:ea typeface="Aptos"/>
                <a:cs typeface="Aptos"/>
              </a:rPr>
              <a:t>estimé</a:t>
            </a:r>
            <a:r>
              <a:rPr sz="2025" b="0" dirty="0">
                <a:solidFill>
                  <a:srgbClr val="173044"/>
                </a:solidFill>
                <a:latin typeface="Aptos"/>
                <a:ea typeface="Aptos"/>
                <a:cs typeface="Aptos"/>
              </a:rPr>
              <a:t>. EXPLAIN ANALYZE </a:t>
            </a:r>
            <a:r>
              <a:rPr sz="2025" b="0" dirty="0" err="1">
                <a:solidFill>
                  <a:srgbClr val="173044"/>
                </a:solidFill>
                <a:latin typeface="Aptos"/>
                <a:ea typeface="Aptos"/>
                <a:cs typeface="Aptos"/>
              </a:rPr>
              <a:t>exécute</a:t>
            </a:r>
            <a:r>
              <a:rPr sz="2025" b="0" dirty="0">
                <a:solidFill>
                  <a:srgbClr val="173044"/>
                </a:solidFill>
                <a:latin typeface="Aptos"/>
                <a:ea typeface="Aptos"/>
                <a:cs typeface="Aptos"/>
              </a:rPr>
              <a:t> la </a:t>
            </a:r>
            <a:r>
              <a:rPr sz="2025" b="0" dirty="0" err="1">
                <a:solidFill>
                  <a:srgbClr val="173044"/>
                </a:solidFill>
                <a:latin typeface="Aptos"/>
                <a:ea typeface="Aptos"/>
                <a:cs typeface="Aptos"/>
              </a:rPr>
              <a:t>requête</a:t>
            </a:r>
            <a:r>
              <a:rPr sz="2025" b="0" dirty="0">
                <a:solidFill>
                  <a:srgbClr val="173044"/>
                </a:solidFill>
                <a:latin typeface="Aptos"/>
                <a:ea typeface="Aptos"/>
                <a:cs typeface="Aptos"/>
              </a:rPr>
              <a:t> et </a:t>
            </a:r>
            <a:r>
              <a:rPr sz="2025" b="0" dirty="0" err="1">
                <a:solidFill>
                  <a:srgbClr val="173044"/>
                </a:solidFill>
                <a:latin typeface="Aptos"/>
                <a:ea typeface="Aptos"/>
                <a:cs typeface="Aptos"/>
              </a:rPr>
              <a:t>ajoute</a:t>
            </a:r>
            <a:r>
              <a:rPr sz="2025" b="0" dirty="0">
                <a:solidFill>
                  <a:srgbClr val="173044"/>
                </a:solidFill>
                <a:latin typeface="Aptos"/>
                <a:ea typeface="Aptos"/>
                <a:cs typeface="Aptos"/>
              </a:rPr>
              <a:t> des observations. BUFFERS </a:t>
            </a:r>
            <a:r>
              <a:rPr sz="2025" b="0" dirty="0" err="1">
                <a:solidFill>
                  <a:srgbClr val="173044"/>
                </a:solidFill>
                <a:latin typeface="Aptos"/>
                <a:ea typeface="Aptos"/>
                <a:cs typeface="Aptos"/>
              </a:rPr>
              <a:t>renseigne</a:t>
            </a:r>
            <a:r>
              <a:rPr sz="2025" b="0" dirty="0">
                <a:solidFill>
                  <a:srgbClr val="173044"/>
                </a:solidFill>
                <a:latin typeface="Aptos"/>
                <a:ea typeface="Aptos"/>
                <a:cs typeface="Aptos"/>
              </a:rPr>
              <a:t> </a:t>
            </a:r>
            <a:r>
              <a:rPr sz="2025" b="0" dirty="0" err="1">
                <a:solidFill>
                  <a:srgbClr val="173044"/>
                </a:solidFill>
                <a:latin typeface="Aptos"/>
                <a:ea typeface="Aptos"/>
                <a:cs typeface="Aptos"/>
              </a:rPr>
              <a:t>l’activité</a:t>
            </a:r>
            <a:r>
              <a:rPr sz="2025" b="0" dirty="0">
                <a:solidFill>
                  <a:srgbClr val="173044"/>
                </a:solidFill>
                <a:latin typeface="Aptos"/>
                <a:ea typeface="Aptos"/>
                <a:cs typeface="Aptos"/>
              </a:rPr>
              <a:t> des buffers. Le plan </a:t>
            </a:r>
            <a:r>
              <a:rPr sz="2025" b="0" dirty="0" err="1">
                <a:solidFill>
                  <a:srgbClr val="173044"/>
                </a:solidFill>
                <a:latin typeface="Aptos"/>
                <a:ea typeface="Aptos"/>
                <a:cs typeface="Aptos"/>
              </a:rPr>
              <a:t>permet</a:t>
            </a:r>
            <a:r>
              <a:rPr sz="2025" b="0" dirty="0">
                <a:solidFill>
                  <a:srgbClr val="173044"/>
                </a:solidFill>
                <a:latin typeface="Aptos"/>
                <a:ea typeface="Aptos"/>
                <a:cs typeface="Aptos"/>
              </a:rPr>
              <a:t> de comparer </a:t>
            </a:r>
            <a:r>
              <a:rPr sz="2025" b="0" dirty="0" err="1">
                <a:solidFill>
                  <a:srgbClr val="173044"/>
                </a:solidFill>
                <a:latin typeface="Aptos"/>
                <a:ea typeface="Aptos"/>
                <a:cs typeface="Aptos"/>
              </a:rPr>
              <a:t>une</a:t>
            </a:r>
            <a:r>
              <a:rPr sz="2025" b="0" dirty="0">
                <a:solidFill>
                  <a:srgbClr val="173044"/>
                </a:solidFill>
                <a:latin typeface="Aptos"/>
                <a:ea typeface="Aptos"/>
                <a:cs typeface="Aptos"/>
              </a:rPr>
              <a:t> estimation au travail </a:t>
            </a:r>
            <a:r>
              <a:rPr sz="2025" b="0" dirty="0" err="1">
                <a:solidFill>
                  <a:srgbClr val="173044"/>
                </a:solidFill>
                <a:latin typeface="Aptos"/>
                <a:ea typeface="Aptos"/>
                <a:cs typeface="Aptos"/>
              </a:rPr>
              <a:t>réellement</a:t>
            </a:r>
            <a:r>
              <a:rPr sz="2025" b="0" dirty="0">
                <a:solidFill>
                  <a:srgbClr val="173044"/>
                </a:solidFill>
                <a:latin typeface="Aptos"/>
                <a:ea typeface="Aptos"/>
                <a:cs typeface="Aptos"/>
              </a:rPr>
              <a:t> </a:t>
            </a:r>
            <a:r>
              <a:rPr sz="2025" b="0" dirty="0" err="1">
                <a:solidFill>
                  <a:srgbClr val="173044"/>
                </a:solidFill>
                <a:latin typeface="Aptos"/>
                <a:ea typeface="Aptos"/>
                <a:cs typeface="Aptos"/>
              </a:rPr>
              <a:t>effectué</a:t>
            </a:r>
            <a:r>
              <a:rPr sz="2025" b="0" dirty="0">
                <a:solidFill>
                  <a:srgbClr val="173044"/>
                </a:solidFill>
                <a:latin typeface="Aptos"/>
                <a:ea typeface="Aptos"/>
                <a:cs typeface="Aptos"/>
              </a:rPr>
              <a:t>.</a:t>
            </a:r>
          </a:p>
          <a:p>
            <a:endParaRPr sz="2025" b="0" dirty="0">
              <a:solidFill>
                <a:srgbClr val="173044"/>
              </a:solidFill>
              <a:latin typeface="Aptos"/>
              <a:ea typeface="Aptos"/>
              <a:cs typeface="Aptos"/>
            </a:endParaRPr>
          </a:p>
          <a:p>
            <a:pPr>
              <a:defRPr sz="2025" b="0">
                <a:solidFill>
                  <a:srgbClr val="173044"/>
                </a:solidFill>
                <a:latin typeface="Aptos"/>
                <a:ea typeface="Aptos"/>
                <a:cs typeface="Aptos"/>
              </a:defRPr>
            </a:pPr>
            <a:r>
              <a:rPr sz="2025" b="0" dirty="0">
                <a:solidFill>
                  <a:srgbClr val="173044"/>
                </a:solidFill>
                <a:latin typeface="Aptos"/>
                <a:ea typeface="Aptos"/>
                <a:cs typeface="Aptos"/>
              </a:rPr>
              <a:t>Sur un SELECT, on </a:t>
            </a:r>
            <a:r>
              <a:rPr sz="2025" b="0" dirty="0" err="1">
                <a:solidFill>
                  <a:srgbClr val="173044"/>
                </a:solidFill>
                <a:latin typeface="Aptos"/>
                <a:ea typeface="Aptos"/>
                <a:cs typeface="Aptos"/>
              </a:rPr>
              <a:t>vérifie</a:t>
            </a:r>
            <a:r>
              <a:rPr sz="2025" b="0" dirty="0">
                <a:solidFill>
                  <a:srgbClr val="173044"/>
                </a:solidFill>
                <a:latin typeface="Aptos"/>
                <a:ea typeface="Aptos"/>
                <a:cs typeface="Aptos"/>
              </a:rPr>
              <a:t> les </a:t>
            </a:r>
            <a:r>
              <a:rPr sz="2025" b="0" dirty="0" err="1">
                <a:solidFill>
                  <a:srgbClr val="173044"/>
                </a:solidFill>
                <a:latin typeface="Aptos"/>
                <a:ea typeface="Aptos"/>
                <a:cs typeface="Aptos"/>
              </a:rPr>
              <a:t>filtres</a:t>
            </a:r>
            <a:r>
              <a:rPr sz="2025" b="0" dirty="0">
                <a:solidFill>
                  <a:srgbClr val="173044"/>
                </a:solidFill>
                <a:latin typeface="Aptos"/>
                <a:ea typeface="Aptos"/>
                <a:cs typeface="Aptos"/>
              </a:rPr>
              <a:t> et le </a:t>
            </a:r>
            <a:r>
              <a:rPr sz="2025" b="0" dirty="0" err="1">
                <a:solidFill>
                  <a:srgbClr val="173044"/>
                </a:solidFill>
                <a:latin typeface="Aptos"/>
                <a:ea typeface="Aptos"/>
                <a:cs typeface="Aptos"/>
              </a:rPr>
              <a:t>résultat</a:t>
            </a:r>
            <a:r>
              <a:rPr sz="2025" b="0" dirty="0">
                <a:solidFill>
                  <a:srgbClr val="173044"/>
                </a:solidFill>
                <a:latin typeface="Aptos"/>
                <a:ea typeface="Aptos"/>
                <a:cs typeface="Aptos"/>
              </a:rPr>
              <a:t>. Sur </a:t>
            </a:r>
            <a:r>
              <a:rPr sz="2025" b="0" dirty="0" err="1">
                <a:solidFill>
                  <a:srgbClr val="173044"/>
                </a:solidFill>
                <a:latin typeface="Aptos"/>
                <a:ea typeface="Aptos"/>
                <a:cs typeface="Aptos"/>
              </a:rPr>
              <a:t>une</a:t>
            </a:r>
            <a:r>
              <a:rPr sz="2025" b="0" dirty="0">
                <a:solidFill>
                  <a:srgbClr val="173044"/>
                </a:solidFill>
                <a:latin typeface="Aptos"/>
                <a:ea typeface="Aptos"/>
                <a:cs typeface="Aptos"/>
              </a:rPr>
              <a:t> </a:t>
            </a:r>
            <a:r>
              <a:rPr sz="2025" b="0" dirty="0" err="1">
                <a:solidFill>
                  <a:srgbClr val="173044"/>
                </a:solidFill>
                <a:latin typeface="Aptos"/>
                <a:ea typeface="Aptos"/>
                <a:cs typeface="Aptos"/>
              </a:rPr>
              <a:t>écriture</a:t>
            </a:r>
            <a:r>
              <a:rPr sz="2025" b="0" dirty="0">
                <a:solidFill>
                  <a:srgbClr val="173044"/>
                </a:solidFill>
                <a:latin typeface="Aptos"/>
                <a:ea typeface="Aptos"/>
                <a:cs typeface="Aptos"/>
              </a:rPr>
              <a:t>, ANALYZE </a:t>
            </a:r>
            <a:r>
              <a:rPr sz="2025" b="0" dirty="0" err="1">
                <a:solidFill>
                  <a:srgbClr val="173044"/>
                </a:solidFill>
                <a:latin typeface="Aptos"/>
                <a:ea typeface="Aptos"/>
                <a:cs typeface="Aptos"/>
              </a:rPr>
              <a:t>réalise</a:t>
            </a:r>
            <a:r>
              <a:rPr sz="2025" b="0" dirty="0">
                <a:solidFill>
                  <a:srgbClr val="173044"/>
                </a:solidFill>
                <a:latin typeface="Aptos"/>
                <a:ea typeface="Aptos"/>
                <a:cs typeface="Aptos"/>
              </a:rPr>
              <a:t> </a:t>
            </a:r>
            <a:r>
              <a:rPr sz="2025" b="0" dirty="0" err="1">
                <a:solidFill>
                  <a:srgbClr val="173044"/>
                </a:solidFill>
                <a:latin typeface="Aptos"/>
                <a:ea typeface="Aptos"/>
                <a:cs typeface="Aptos"/>
              </a:rPr>
              <a:t>réellement</a:t>
            </a:r>
            <a:r>
              <a:rPr sz="2025" b="0" dirty="0">
                <a:solidFill>
                  <a:srgbClr val="173044"/>
                </a:solidFill>
                <a:latin typeface="Aptos"/>
                <a:ea typeface="Aptos"/>
                <a:cs typeface="Aptos"/>
              </a:rPr>
              <a:t> la modification. </a:t>
            </a:r>
          </a:p>
        </p:txBody>
      </p:sp>
      <p:sp>
        <p:nvSpPr>
          <p:cNvPr id="5" name="Rectangle 4">
            <a:extLst>
              <a:ext uri="{FF2B5EF4-FFF2-40B4-BE49-F238E27FC236}">
                <a16:creationId xmlns:a16="http://schemas.microsoft.com/office/drawing/2014/main" id="{764629BA-9276-4ED4-8DC3-709B23EC44B8}"/>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CD998C64-4094-4DC2-B324-9FD36A912625}"/>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EXPLAIN (ANALYZE, BUFFERS)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 created_at, total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client_id = 42</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ORDER BY created_at DESC, id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LIMIT 20;</a:t>
            </a:r>
          </a:p>
        </p:txBody>
      </p:sp>
      <p:sp>
        <p:nvSpPr>
          <p:cNvPr id="7" name="Rectangle 6">
            <a:extLst>
              <a:ext uri="{FF2B5EF4-FFF2-40B4-BE49-F238E27FC236}">
                <a16:creationId xmlns:a16="http://schemas.microsoft.com/office/drawing/2014/main" id="{7AA31647-2ED1-49C3-8286-7D08BA7AC06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01FF6770-AF20-42D6-9E2B-1C20479C6239}"/>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code ci-contre est un SELECT sur les commandes du client 42.</a:t>
            </a:r>
          </a:p>
        </p:txBody>
      </p:sp>
      <p:sp>
        <p:nvSpPr>
          <p:cNvPr id="9" name="Rectangle 8">
            <a:extLst>
              <a:ext uri="{FF2B5EF4-FFF2-40B4-BE49-F238E27FC236}">
                <a16:creationId xmlns:a16="http://schemas.microsoft.com/office/drawing/2014/main" id="{8789CF2A-120C-4956-AEA7-BCD634010A90}"/>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973B5163-57CF-4F0D-99A4-F6B5F40BDE9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16 / 34</a:t>
            </a:r>
          </a:p>
        </p:txBody>
      </p:sp>
    </p:spTree>
    <p:extLst>
      <p:ext uri="{BB962C8B-B14F-4D97-AF65-F5344CB8AC3E}">
        <p14:creationId xmlns:p14="http://schemas.microsoft.com/office/powerpoint/2010/main" val="2029406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9F793A29-D809-4E5F-8495-89BD4B8E7AF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AB0DF703-2C87-4AB7-8E80-BEE6A5C8D3A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Lecture d’un nœud du plan</a:t>
            </a:r>
          </a:p>
        </p:txBody>
      </p:sp>
      <p:sp>
        <p:nvSpPr>
          <p:cNvPr id="4" name="Rectangle 3">
            <a:extLst>
              <a:ext uri="{FF2B5EF4-FFF2-40B4-BE49-F238E27FC236}">
                <a16:creationId xmlns:a16="http://schemas.microsoft.com/office/drawing/2014/main" id="{4D1038E5-33F1-4E0C-825A-B42453A9B118}"/>
              </a:ext>
            </a:extLst>
          </p:cNvPr>
          <p:cNvSpPr>
            <a:spLocks noGrp="1"/>
          </p:cNvSpPr>
          <p:nvPr/>
        </p:nvSpPr>
        <p:spPr>
          <a:xfrm>
            <a:off x="666750" y="2095500"/>
            <a:ext cx="13620750" cy="2286000"/>
          </a:xfrm>
          <a:prstGeom prst="rect">
            <a:avLst/>
          </a:prstGeom>
          <a:noFill/>
          <a:ln w="0">
            <a:noFill/>
          </a:ln>
        </p:spPr>
        <p:txBody>
          <a:bodyPr>
            <a:noAutofit/>
          </a:bodyPr>
          <a:lstStyle/>
          <a:p>
            <a:pPr>
              <a:defRPr sz="2100" b="0">
                <a:solidFill>
                  <a:srgbClr val="173044"/>
                </a:solidFill>
                <a:latin typeface="Aptos"/>
                <a:ea typeface="Aptos"/>
                <a:cs typeface="Aptos"/>
              </a:defRPr>
            </a:pPr>
            <a:r>
              <a:rPr sz="2100" b="0">
                <a:solidFill>
                  <a:srgbClr val="173044"/>
                </a:solidFill>
                <a:latin typeface="Aptos"/>
                <a:ea typeface="Aptos"/>
                <a:cs typeface="Aptos"/>
              </a:rPr>
              <a:t>Un nœud présente une estimation de coût et de cardinalité. Avec ANALYZE, il présente aussi des temps et des lignes observées. Quand loops dépasse 1, les temps et les lignes affichés correspondent généralement à une moyenne par exécution du nœud.</a:t>
            </a:r>
          </a:p>
          <a:p>
            <a:endParaRPr sz="2100" b="0">
              <a:solidFill>
                <a:srgbClr val="173044"/>
              </a:solidFill>
              <a:latin typeface="Aptos"/>
              <a:ea typeface="Aptos"/>
              <a:cs typeface="Aptos"/>
            </a:endParaRPr>
          </a:p>
          <a:p>
            <a:pPr>
              <a:defRPr sz="2100" b="0">
                <a:solidFill>
                  <a:srgbClr val="173044"/>
                </a:solidFill>
                <a:latin typeface="Aptos"/>
                <a:ea typeface="Aptos"/>
                <a:cs typeface="Aptos"/>
              </a:defRPr>
            </a:pPr>
            <a:r>
              <a:rPr sz="2100" b="0">
                <a:solidFill>
                  <a:srgbClr val="173044"/>
                </a:solidFill>
                <a:latin typeface="Aptos"/>
                <a:ea typeface="Aptos"/>
                <a:cs typeface="Aptos"/>
              </a:rPr>
              <a:t>On lit le plan du travail des enfants vers leurs parents. Les durées des parents incluent une part du travail des enfants. Les additionner comme des durées indépendantes surestime le temps global.</a:t>
            </a:r>
          </a:p>
        </p:txBody>
      </p:sp>
      <p:sp>
        <p:nvSpPr>
          <p:cNvPr id="5" name="Rectangle 4">
            <a:extLst>
              <a:ext uri="{FF2B5EF4-FFF2-40B4-BE49-F238E27FC236}">
                <a16:creationId xmlns:a16="http://schemas.microsoft.com/office/drawing/2014/main" id="{0FC6F5E9-4964-48A6-B20F-C13707BE7EBC}"/>
              </a:ext>
            </a:extLst>
          </p:cNvPr>
          <p:cNvSpPr>
            <a:spLocks noGrp="1"/>
          </p:cNvSpPr>
          <p:nvPr/>
        </p:nvSpPr>
        <p:spPr>
          <a:xfrm>
            <a:off x="666750" y="4572000"/>
            <a:ext cx="13716000" cy="1924050"/>
          </a:xfrm>
          <a:prstGeom prst="rect">
            <a:avLst/>
          </a:prstGeom>
          <a:noFill/>
          <a:ln w="0">
            <a:noFill/>
          </a:ln>
        </p:spPr>
        <p:txBody>
          <a:bodyPr>
            <a:noAutofit/>
          </a:bodyPr>
          <a:lstStyle/>
          <a:p>
            <a:pPr>
              <a:defRPr sz="1950" b="0">
                <a:solidFill>
                  <a:srgbClr val="173044"/>
                </a:solidFill>
                <a:latin typeface="Consolas"/>
                <a:ea typeface="Consolas"/>
                <a:cs typeface="Consolas"/>
              </a:defRPr>
            </a:pPr>
            <a:r>
              <a:rPr sz="1950" b="0" dirty="0">
                <a:solidFill>
                  <a:srgbClr val="173044"/>
                </a:solidFill>
                <a:latin typeface="Consolas"/>
                <a:ea typeface="Consolas"/>
                <a:cs typeface="Consolas"/>
              </a:rPr>
              <a:t>Nested Loop  (cost=... rows=100) (actual time=... rows=100 loops=1)</a:t>
            </a:r>
          </a:p>
          <a:p>
            <a:pPr>
              <a:defRPr sz="1950" b="0">
                <a:solidFill>
                  <a:srgbClr val="173044"/>
                </a:solidFill>
                <a:latin typeface="Consolas"/>
                <a:ea typeface="Consolas"/>
                <a:cs typeface="Consolas"/>
              </a:defRPr>
            </a:pPr>
            <a:r>
              <a:rPr sz="1950" b="0" dirty="0">
                <a:solidFill>
                  <a:srgbClr val="173044"/>
                </a:solidFill>
                <a:latin typeface="Consolas"/>
                <a:ea typeface="Consolas"/>
                <a:cs typeface="Consolas"/>
              </a:rPr>
              <a:t>  -&gt; Seq Scan on </a:t>
            </a:r>
            <a:r>
              <a:rPr sz="1950" b="0" dirty="0" err="1">
                <a:solidFill>
                  <a:srgbClr val="173044"/>
                </a:solidFill>
                <a:latin typeface="Consolas"/>
                <a:ea typeface="Consolas"/>
                <a:cs typeface="Consolas"/>
              </a:rPr>
              <a:t>commandes</a:t>
            </a:r>
            <a:r>
              <a:rPr sz="1950" b="0" dirty="0">
                <a:solidFill>
                  <a:srgbClr val="173044"/>
                </a:solidFill>
                <a:latin typeface="Consolas"/>
                <a:ea typeface="Consolas"/>
                <a:cs typeface="Consolas"/>
              </a:rPr>
              <a:t> c  (actual rows=100 loops=1)</a:t>
            </a:r>
          </a:p>
          <a:p>
            <a:pPr>
              <a:defRPr sz="1950" b="0">
                <a:solidFill>
                  <a:srgbClr val="173044"/>
                </a:solidFill>
                <a:latin typeface="Consolas"/>
                <a:ea typeface="Consolas"/>
                <a:cs typeface="Consolas"/>
              </a:defRPr>
            </a:pPr>
            <a:r>
              <a:rPr sz="1950" b="0" dirty="0">
                <a:solidFill>
                  <a:srgbClr val="173044"/>
                </a:solidFill>
                <a:latin typeface="Consolas"/>
                <a:ea typeface="Consolas"/>
                <a:cs typeface="Consolas"/>
              </a:rPr>
              <a:t>       Filter: (</a:t>
            </a:r>
            <a:r>
              <a:rPr sz="1950" b="0" dirty="0" err="1">
                <a:solidFill>
                  <a:srgbClr val="173044"/>
                </a:solidFill>
                <a:latin typeface="Consolas"/>
                <a:ea typeface="Consolas"/>
                <a:cs typeface="Consolas"/>
              </a:rPr>
              <a:t>client_id</a:t>
            </a:r>
            <a:r>
              <a:rPr sz="1950" b="0" dirty="0">
                <a:solidFill>
                  <a:srgbClr val="173044"/>
                </a:solidFill>
                <a:latin typeface="Consolas"/>
                <a:ea typeface="Consolas"/>
                <a:cs typeface="Consolas"/>
              </a:rPr>
              <a:t> = 42)</a:t>
            </a:r>
          </a:p>
          <a:p>
            <a:pPr>
              <a:defRPr sz="1950" b="0">
                <a:solidFill>
                  <a:srgbClr val="173044"/>
                </a:solidFill>
                <a:latin typeface="Consolas"/>
                <a:ea typeface="Consolas"/>
                <a:cs typeface="Consolas"/>
              </a:defRPr>
            </a:pPr>
            <a:r>
              <a:rPr sz="1950" b="0" dirty="0">
                <a:solidFill>
                  <a:srgbClr val="173044"/>
                </a:solidFill>
                <a:latin typeface="Consolas"/>
                <a:ea typeface="Consolas"/>
                <a:cs typeface="Consolas"/>
              </a:rPr>
              <a:t>  -&gt; Index Scan on clients p  (actual rows=1 loops=100)</a:t>
            </a:r>
          </a:p>
          <a:p>
            <a:pPr>
              <a:defRPr sz="1950" b="0">
                <a:solidFill>
                  <a:srgbClr val="173044"/>
                </a:solidFill>
                <a:latin typeface="Consolas"/>
                <a:ea typeface="Consolas"/>
                <a:cs typeface="Consolas"/>
              </a:defRPr>
            </a:pPr>
            <a:r>
              <a:rPr sz="1950" b="0" dirty="0">
                <a:solidFill>
                  <a:srgbClr val="173044"/>
                </a:solidFill>
                <a:latin typeface="Consolas"/>
                <a:ea typeface="Consolas"/>
                <a:cs typeface="Consolas"/>
              </a:rPr>
              <a:t>       Index Cond: (id = </a:t>
            </a:r>
            <a:r>
              <a:rPr sz="1950" b="0" dirty="0" err="1">
                <a:solidFill>
                  <a:srgbClr val="173044"/>
                </a:solidFill>
                <a:latin typeface="Consolas"/>
                <a:ea typeface="Consolas"/>
                <a:cs typeface="Consolas"/>
              </a:rPr>
              <a:t>c.client_id</a:t>
            </a:r>
            <a:r>
              <a:rPr sz="1950" b="0" dirty="0">
                <a:solidFill>
                  <a:srgbClr val="173044"/>
                </a:solidFill>
                <a:latin typeface="Consolas"/>
                <a:ea typeface="Consolas"/>
                <a:cs typeface="Consolas"/>
              </a:rPr>
              <a:t>)</a:t>
            </a:r>
          </a:p>
        </p:txBody>
      </p:sp>
      <p:sp>
        <p:nvSpPr>
          <p:cNvPr id="6" name="Rectangle 5">
            <a:extLst>
              <a:ext uri="{FF2B5EF4-FFF2-40B4-BE49-F238E27FC236}">
                <a16:creationId xmlns:a16="http://schemas.microsoft.com/office/drawing/2014/main" id="{9E3C8AD7-EEAC-4B0E-BAD8-A3B993F27BAE}"/>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776D63BC-F5F3-4475-8A4A-5B627644604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Extrait fictif, volontairement raccourci pour apprendre la lecture.</a:t>
            </a:r>
          </a:p>
        </p:txBody>
      </p:sp>
      <p:sp>
        <p:nvSpPr>
          <p:cNvPr id="8" name="Rectangle 7">
            <a:extLst>
              <a:ext uri="{FF2B5EF4-FFF2-40B4-BE49-F238E27FC236}">
                <a16:creationId xmlns:a16="http://schemas.microsoft.com/office/drawing/2014/main" id="{3056F2DD-9043-4D50-A1F2-FE9C54CD3C7E}"/>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29DB98B7-95CB-444D-8C5D-B30BFC98AA3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17 / 34</a:t>
            </a:r>
          </a:p>
        </p:txBody>
      </p:sp>
    </p:spTree>
    <p:extLst>
      <p:ext uri="{BB962C8B-B14F-4D97-AF65-F5344CB8AC3E}">
        <p14:creationId xmlns:p14="http://schemas.microsoft.com/office/powerpoint/2010/main" val="621410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A953B05-57BE-4A43-BD1A-DDFF5FAFC94B}"/>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7A4741F0-5024-4396-A3D8-BAF6403CB9D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Écart entre lignes estimées et observées</a:t>
            </a:r>
          </a:p>
        </p:txBody>
      </p:sp>
      <p:sp>
        <p:nvSpPr>
          <p:cNvPr id="4" name="Rectangle 3">
            <a:extLst>
              <a:ext uri="{FF2B5EF4-FFF2-40B4-BE49-F238E27FC236}">
                <a16:creationId xmlns:a16="http://schemas.microsoft.com/office/drawing/2014/main" id="{C088D21A-B2ED-4401-9D5D-8A59C5FC5815}"/>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Une estimation trop faible peut pousser le moteur vers une boucle imbriquée qui répète beaucoup de recherches. L’hypothèse devient : le moteur sous-estime la taille de l’ensemble intermédiaire.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On cherche alors une statistique ancienne, une distribution très asymétrique ou des colonnes corrélées. Ajouter un index sans examiner la cardinalité ne résout pas nécessairement la cause.</a:t>
            </a:r>
          </a:p>
        </p:txBody>
      </p:sp>
      <p:graphicFrame>
        <p:nvGraphicFramePr>
          <p:cNvPr id="14" name="Tableau 13"/>
          <p:cNvGraphicFramePr/>
          <p:nvPr/>
        </p:nvGraphicFramePr>
        <p:xfrm>
          <a:off x="7334250" y="2381250"/>
          <a:ext cx="7239000" cy="2228850"/>
        </p:xfrm>
        <a:graphic>
          <a:graphicData uri="http://schemas.openxmlformats.org/drawingml/2006/table">
            <a:tbl>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742950">
                <a:tc>
                  <a:txBody>
                    <a:bodyPr/>
                    <a:lstStyle/>
                    <a:p>
                      <a:r>
                        <a:rPr sz="1800" b="1">
                          <a:solidFill>
                            <a:srgbClr val="FFFFFF"/>
                          </a:solidFill>
                          <a:latin typeface="Aptos"/>
                          <a:ea typeface="Aptos"/>
                          <a:cs typeface="Aptos"/>
                        </a:rPr>
                        <a:t>Nœud</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Estimé</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Observé</a:t>
                      </a:r>
                    </a:p>
                  </a:txBody>
                  <a:tcPr marL="142875" marR="142875" marT="114300" marB="114300" anchor="ctr">
                    <a:solidFill>
                      <a:srgbClr val="173C4C"/>
                    </a:solidFill>
                  </a:tcPr>
                </a:tc>
                <a:extLst>
                  <a:ext uri="{0D108BD9-81ED-4DB2-BD59-A6C34878D82A}">
                    <a16:rowId xmlns:a16="http://schemas.microsoft.com/office/drawing/2014/main" val="10000"/>
                  </a:ext>
                </a:extLst>
              </a:tr>
              <a:tr h="742950">
                <a:tc>
                  <a:txBody>
                    <a:bodyPr/>
                    <a:lstStyle/>
                    <a:p>
                      <a:r>
                        <a:rPr sz="1800">
                          <a:solidFill>
                            <a:srgbClr val="173044"/>
                          </a:solidFill>
                          <a:latin typeface="Aptos"/>
                          <a:ea typeface="Aptos"/>
                          <a:cs typeface="Aptos"/>
                        </a:rPr>
                        <a:t>Commandes filtrées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100</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10 000</a:t>
                      </a:r>
                    </a:p>
                  </a:txBody>
                  <a:tcPr marL="142875" marR="142875" marT="114300" marB="114300" anchor="ctr">
                    <a:solidFill>
                      <a:srgbClr val="F2DEC6"/>
                    </a:solidFill>
                  </a:tcPr>
                </a:tc>
                <a:extLst>
                  <a:ext uri="{0D108BD9-81ED-4DB2-BD59-A6C34878D82A}">
                    <a16:rowId xmlns:a16="http://schemas.microsoft.com/office/drawing/2014/main" val="10001"/>
                  </a:ext>
                </a:extLst>
              </a:tr>
              <a:tr h="742950">
                <a:tc>
                  <a:txBody>
                    <a:bodyPr/>
                    <a:lstStyle/>
                    <a:p>
                      <a:r>
                        <a:rPr sz="1800">
                          <a:solidFill>
                            <a:srgbClr val="173044"/>
                          </a:solidFill>
                          <a:latin typeface="Aptos"/>
                          <a:ea typeface="Aptos"/>
                          <a:cs typeface="Aptos"/>
                        </a:rPr>
                        <a:t>Lignes après jointure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300</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30 000</a:t>
                      </a:r>
                    </a:p>
                  </a:txBody>
                  <a:tcPr marL="142875" marR="142875" marT="114300" marB="114300" anchor="ctr">
                    <a:solidFill>
                      <a:srgbClr val="F2DEC6"/>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A512CF0F-4711-4DF6-98CD-C8D3F59ADDD5}"/>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AD89BC16-42BE-42A3-8B91-66A9742C976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Les chiffres sont fictifs. Un facteur 100 n’est pas un seuil universel de décision.</a:t>
            </a:r>
          </a:p>
        </p:txBody>
      </p:sp>
      <p:sp>
        <p:nvSpPr>
          <p:cNvPr id="8" name="Rectangle 7">
            <a:extLst>
              <a:ext uri="{FF2B5EF4-FFF2-40B4-BE49-F238E27FC236}">
                <a16:creationId xmlns:a16="http://schemas.microsoft.com/office/drawing/2014/main" id="{480EB1D5-D668-433F-B145-2F194E11B290}"/>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3F60E62C-3C40-4396-A171-CF8CAA41696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18 / 34</a:t>
            </a:r>
          </a:p>
        </p:txBody>
      </p:sp>
    </p:spTree>
    <p:extLst>
      <p:ext uri="{BB962C8B-B14F-4D97-AF65-F5344CB8AC3E}">
        <p14:creationId xmlns:p14="http://schemas.microsoft.com/office/powerpoint/2010/main" val="175036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974B97F7-D804-47FB-8482-298E72B8491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2404A071-9DFA-4AF4-BDB2-FF6E0785237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Seq Scan et accès indexé</a:t>
            </a:r>
          </a:p>
        </p:txBody>
      </p:sp>
      <p:sp>
        <p:nvSpPr>
          <p:cNvPr id="4" name="Rectangle 3">
            <a:extLst>
              <a:ext uri="{FF2B5EF4-FFF2-40B4-BE49-F238E27FC236}">
                <a16:creationId xmlns:a16="http://schemas.microsoft.com/office/drawing/2014/main" id="{7B65E9EF-973C-4FA9-BF76-213627A072DE}"/>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FFAAC181-C9D8-4E97-952F-10CA306A7C12}"/>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 parcours séquentiel lit la table puis applique les filtres. Il peut être adapté lorsque la table est petite ou lorsque la requête retourne une grande part des lignes. Un index impose son propre parcours et des accès supplémentaires.</a:t>
            </a:r>
          </a:p>
        </p:txBody>
      </p:sp>
      <p:sp>
        <p:nvSpPr>
          <p:cNvPr id="6" name="Rectangle 5">
            <a:extLst>
              <a:ext uri="{FF2B5EF4-FFF2-40B4-BE49-F238E27FC236}">
                <a16:creationId xmlns:a16="http://schemas.microsoft.com/office/drawing/2014/main" id="{B438F47B-DFDA-49F3-893D-447A06791C9B}"/>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75B6AB89-6540-40A7-8EE0-F14609540FF1}"/>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Une recherche très sélective peut bénéficier d’un Index Scan. Un Bitmap Scan rassemble des emplacements avant de visiter les pages. Le choix dépend de la distribution et du coût estimé des lectures.</a:t>
            </a:r>
          </a:p>
        </p:txBody>
      </p:sp>
      <p:sp>
        <p:nvSpPr>
          <p:cNvPr id="8" name="Rectangle 7">
            <a:extLst>
              <a:ext uri="{FF2B5EF4-FFF2-40B4-BE49-F238E27FC236}">
                <a16:creationId xmlns:a16="http://schemas.microsoft.com/office/drawing/2014/main" id="{B72EDAF2-70DD-49AA-AFA9-59CC64865334}"/>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20DFE5BD-5AE3-4C01-B862-D171524B7E2B}"/>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nom du nœud ne suffit pas à conclure. On examine le volume traité et la durée.</a:t>
            </a:r>
          </a:p>
        </p:txBody>
      </p:sp>
      <p:sp>
        <p:nvSpPr>
          <p:cNvPr id="10" name="Rectangle 9">
            <a:extLst>
              <a:ext uri="{FF2B5EF4-FFF2-40B4-BE49-F238E27FC236}">
                <a16:creationId xmlns:a16="http://schemas.microsoft.com/office/drawing/2014/main" id="{FA4FD2B5-73C5-44AC-8D9E-EC1C09A1E9C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BFE36343-1AF3-486A-9FE5-B823AD46759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19 / 34</a:t>
            </a:r>
          </a:p>
        </p:txBody>
      </p:sp>
    </p:spTree>
    <p:extLst>
      <p:ext uri="{BB962C8B-B14F-4D97-AF65-F5344CB8AC3E}">
        <p14:creationId xmlns:p14="http://schemas.microsoft.com/office/powerpoint/2010/main" val="1608242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034096A-D8A3-4573-BEDF-760A4C00887F}"/>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B2CE32B6-FAC3-4771-BB46-2CF54AF1B51E}"/>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BUFFERS, filtres et tris</a:t>
            </a:r>
          </a:p>
        </p:txBody>
      </p:sp>
      <p:sp>
        <p:nvSpPr>
          <p:cNvPr id="4" name="Rectangle 3">
            <a:extLst>
              <a:ext uri="{FF2B5EF4-FFF2-40B4-BE49-F238E27FC236}">
                <a16:creationId xmlns:a16="http://schemas.microsoft.com/office/drawing/2014/main" id="{2C6CBCD5-FC78-46CF-BC7D-B8552439C118}"/>
              </a:ext>
            </a:extLst>
          </p:cNvPr>
          <p:cNvSpPr>
            <a:spLocks noGrp="1"/>
          </p:cNvSpPr>
          <p:nvPr/>
        </p:nvSpPr>
        <p:spPr>
          <a:xfrm>
            <a:off x="666750" y="1924050"/>
            <a:ext cx="9320705" cy="2641709"/>
          </a:xfrm>
          <a:prstGeom prst="rect">
            <a:avLst/>
          </a:prstGeom>
          <a:noFill/>
          <a:ln w="0">
            <a:noFill/>
          </a:ln>
        </p:spPr>
        <p:txBody>
          <a:bodyPr>
            <a:noAutofit/>
          </a:bodyPr>
          <a:lstStyle/>
          <a:p>
            <a:pPr>
              <a:defRPr sz="2550" b="0">
                <a:solidFill>
                  <a:srgbClr val="173044"/>
                </a:solidFill>
                <a:latin typeface="Aptos"/>
                <a:ea typeface="Aptos"/>
                <a:cs typeface="Aptos"/>
              </a:defRPr>
            </a:pPr>
            <a:r>
              <a:rPr sz="2000" b="0" dirty="0">
                <a:solidFill>
                  <a:srgbClr val="173044"/>
                </a:solidFill>
                <a:latin typeface="Aptos"/>
                <a:ea typeface="Aptos"/>
                <a:cs typeface="Aptos"/>
              </a:rPr>
              <a:t>Les </a:t>
            </a:r>
            <a:r>
              <a:rPr sz="2000" b="1" i="1" dirty="0">
                <a:solidFill>
                  <a:srgbClr val="173044"/>
                </a:solidFill>
                <a:latin typeface="Aptos"/>
                <a:ea typeface="Aptos"/>
                <a:cs typeface="Aptos"/>
              </a:rPr>
              <a:t>buffers shared hit</a:t>
            </a:r>
            <a:r>
              <a:rPr sz="2000" b="0" dirty="0">
                <a:solidFill>
                  <a:srgbClr val="173044"/>
                </a:solidFill>
                <a:latin typeface="Aptos"/>
                <a:ea typeface="Aptos"/>
                <a:cs typeface="Aptos"/>
              </a:rPr>
              <a:t> </a:t>
            </a:r>
            <a:r>
              <a:rPr sz="2000" b="0" dirty="0" err="1">
                <a:solidFill>
                  <a:srgbClr val="173044"/>
                </a:solidFill>
                <a:latin typeface="Aptos"/>
                <a:ea typeface="Aptos"/>
                <a:cs typeface="Aptos"/>
              </a:rPr>
              <a:t>représentent</a:t>
            </a:r>
            <a:r>
              <a:rPr sz="2000" b="0" dirty="0">
                <a:solidFill>
                  <a:srgbClr val="173044"/>
                </a:solidFill>
                <a:latin typeface="Aptos"/>
                <a:ea typeface="Aptos"/>
                <a:cs typeface="Aptos"/>
              </a:rPr>
              <a:t> des blocs </a:t>
            </a:r>
            <a:r>
              <a:rPr sz="2000" b="0" dirty="0" err="1">
                <a:solidFill>
                  <a:srgbClr val="173044"/>
                </a:solidFill>
                <a:latin typeface="Aptos"/>
                <a:ea typeface="Aptos"/>
                <a:cs typeface="Aptos"/>
              </a:rPr>
              <a:t>trouvés</a:t>
            </a:r>
            <a:r>
              <a:rPr sz="2000" b="0" dirty="0">
                <a:solidFill>
                  <a:srgbClr val="173044"/>
                </a:solidFill>
                <a:latin typeface="Aptos"/>
                <a:ea typeface="Aptos"/>
                <a:cs typeface="Aptos"/>
              </a:rPr>
              <a:t> dans les buffers PostgreSQL. </a:t>
            </a:r>
            <a:r>
              <a:rPr lang="fr-FR" sz="2000" dirty="0">
                <a:solidFill>
                  <a:srgbClr val="173044"/>
                </a:solidFill>
                <a:latin typeface="Aptos"/>
              </a:rPr>
              <a:t>un nombre très élevé de </a:t>
            </a:r>
            <a:r>
              <a:rPr lang="fr-FR" sz="2000" dirty="0" err="1">
                <a:solidFill>
                  <a:srgbClr val="173044"/>
                </a:solidFill>
                <a:latin typeface="Aptos"/>
              </a:rPr>
              <a:t>shared</a:t>
            </a:r>
            <a:r>
              <a:rPr lang="fr-FR" sz="2000" dirty="0">
                <a:solidFill>
                  <a:srgbClr val="173044"/>
                </a:solidFill>
                <a:latin typeface="Aptos"/>
              </a:rPr>
              <a:t> hit peut donc révéler qu’une requête examine beaucoup de données, même si elles sont en mémoire.</a:t>
            </a:r>
          </a:p>
          <a:p>
            <a:pPr>
              <a:defRPr sz="2550" b="0">
                <a:solidFill>
                  <a:srgbClr val="173044"/>
                </a:solidFill>
                <a:latin typeface="Aptos"/>
                <a:ea typeface="Aptos"/>
                <a:cs typeface="Aptos"/>
              </a:defRPr>
            </a:pPr>
            <a:endParaRPr lang="fr-FR" sz="2000" b="0" dirty="0">
              <a:solidFill>
                <a:srgbClr val="173044"/>
              </a:solidFill>
              <a:latin typeface="Aptos"/>
              <a:ea typeface="Aptos"/>
              <a:cs typeface="Aptos"/>
            </a:endParaRPr>
          </a:p>
          <a:p>
            <a:pPr>
              <a:defRPr sz="2550" b="0">
                <a:solidFill>
                  <a:srgbClr val="173044"/>
                </a:solidFill>
                <a:latin typeface="Aptos"/>
                <a:ea typeface="Aptos"/>
                <a:cs typeface="Aptos"/>
              </a:defRPr>
            </a:pPr>
            <a:r>
              <a:rPr sz="2000" b="0" dirty="0">
                <a:solidFill>
                  <a:srgbClr val="173044"/>
                </a:solidFill>
                <a:latin typeface="Aptos"/>
                <a:ea typeface="Aptos"/>
                <a:cs typeface="Aptos"/>
              </a:rPr>
              <a:t>Les </a:t>
            </a:r>
            <a:r>
              <a:rPr sz="2000" b="1" i="1" dirty="0">
                <a:solidFill>
                  <a:srgbClr val="173044"/>
                </a:solidFill>
                <a:latin typeface="Aptos"/>
                <a:ea typeface="Aptos"/>
                <a:cs typeface="Aptos"/>
              </a:rPr>
              <a:t>shared read </a:t>
            </a:r>
            <a:r>
              <a:rPr sz="2000" b="0" dirty="0" err="1">
                <a:solidFill>
                  <a:srgbClr val="173044"/>
                </a:solidFill>
                <a:latin typeface="Aptos"/>
                <a:ea typeface="Aptos"/>
                <a:cs typeface="Aptos"/>
              </a:rPr>
              <a:t>représentent</a:t>
            </a:r>
            <a:r>
              <a:rPr sz="2000" b="0" dirty="0">
                <a:solidFill>
                  <a:srgbClr val="173044"/>
                </a:solidFill>
                <a:latin typeface="Aptos"/>
                <a:ea typeface="Aptos"/>
                <a:cs typeface="Aptos"/>
              </a:rPr>
              <a:t> des blocs chargés dans </a:t>
            </a:r>
            <a:r>
              <a:rPr sz="2000" b="0" dirty="0" err="1">
                <a:solidFill>
                  <a:srgbClr val="173044"/>
                </a:solidFill>
                <a:latin typeface="Aptos"/>
                <a:ea typeface="Aptos"/>
                <a:cs typeface="Aptos"/>
              </a:rPr>
              <a:t>ces</a:t>
            </a:r>
            <a:r>
              <a:rPr sz="2000" b="0" dirty="0">
                <a:solidFill>
                  <a:srgbClr val="173044"/>
                </a:solidFill>
                <a:latin typeface="Aptos"/>
                <a:ea typeface="Aptos"/>
                <a:cs typeface="Aptos"/>
              </a:rPr>
              <a:t> buffers, </a:t>
            </a:r>
            <a:r>
              <a:rPr sz="2000" b="0" dirty="0" err="1">
                <a:solidFill>
                  <a:srgbClr val="173044"/>
                </a:solidFill>
                <a:latin typeface="Aptos"/>
                <a:ea typeface="Aptos"/>
                <a:cs typeface="Aptos"/>
              </a:rPr>
              <a:t>éventuellement</a:t>
            </a:r>
            <a:r>
              <a:rPr sz="2000" b="0" dirty="0">
                <a:solidFill>
                  <a:srgbClr val="173044"/>
                </a:solidFill>
                <a:latin typeface="Aptos"/>
                <a:ea typeface="Aptos"/>
                <a:cs typeface="Aptos"/>
              </a:rPr>
              <a:t> </a:t>
            </a:r>
            <a:r>
              <a:rPr sz="2000" b="0" dirty="0" err="1">
                <a:solidFill>
                  <a:srgbClr val="173044"/>
                </a:solidFill>
                <a:latin typeface="Aptos"/>
                <a:ea typeface="Aptos"/>
                <a:cs typeface="Aptos"/>
              </a:rPr>
              <a:t>depuis</a:t>
            </a:r>
            <a:r>
              <a:rPr sz="2000" b="0" dirty="0">
                <a:solidFill>
                  <a:srgbClr val="173044"/>
                </a:solidFill>
                <a:latin typeface="Aptos"/>
                <a:ea typeface="Aptos"/>
                <a:cs typeface="Aptos"/>
              </a:rPr>
              <a:t> le cache du </a:t>
            </a:r>
            <a:r>
              <a:rPr sz="2000" b="0" dirty="0" err="1">
                <a:solidFill>
                  <a:srgbClr val="173044"/>
                </a:solidFill>
                <a:latin typeface="Aptos"/>
                <a:ea typeface="Aptos"/>
                <a:cs typeface="Aptos"/>
              </a:rPr>
              <a:t>système</a:t>
            </a:r>
            <a:r>
              <a:rPr sz="2000" b="0" dirty="0">
                <a:solidFill>
                  <a:srgbClr val="173044"/>
                </a:solidFill>
                <a:latin typeface="Aptos"/>
                <a:ea typeface="Aptos"/>
                <a:cs typeface="Aptos"/>
              </a:rPr>
              <a:t>. </a:t>
            </a:r>
            <a:r>
              <a:rPr lang="fr-FR" sz="2000" dirty="0">
                <a:solidFill>
                  <a:srgbClr val="173044"/>
                </a:solidFill>
                <a:latin typeface="Aptos"/>
              </a:rPr>
              <a:t>PostgreSQL a dû charger ces blocs dans son propre cache, mais cette information seule ne permet pas de savoir s’ils venaient réellement du disque. </a:t>
            </a:r>
            <a:endParaRPr sz="2000" b="0" dirty="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69F26699-2A58-46AE-A008-3A6C36DAC7C9}"/>
              </a:ext>
            </a:extLst>
          </p:cNvPr>
          <p:cNvSpPr>
            <a:spLocks noGrp="1"/>
          </p:cNvSpPr>
          <p:nvPr/>
        </p:nvSpPr>
        <p:spPr>
          <a:xfrm>
            <a:off x="666750" y="4737209"/>
            <a:ext cx="10001250" cy="1771650"/>
          </a:xfrm>
          <a:prstGeom prst="rect">
            <a:avLst/>
          </a:prstGeom>
          <a:noFill/>
          <a:ln w="0">
            <a:noFill/>
          </a:ln>
        </p:spPr>
        <p:txBody>
          <a:bodyPr>
            <a:noAutofit/>
          </a:bodyPr>
          <a:lstStyle/>
          <a:p>
            <a:pPr>
              <a:defRPr sz="2175" b="0">
                <a:solidFill>
                  <a:srgbClr val="173044"/>
                </a:solidFill>
                <a:latin typeface="Aptos"/>
                <a:ea typeface="Aptos"/>
                <a:cs typeface="Aptos"/>
              </a:defRPr>
            </a:pPr>
            <a:r>
              <a:rPr sz="2000" b="1" i="1" dirty="0">
                <a:solidFill>
                  <a:srgbClr val="173044"/>
                </a:solidFill>
                <a:latin typeface="Aptos"/>
                <a:ea typeface="Aptos"/>
                <a:cs typeface="Aptos"/>
              </a:rPr>
              <a:t>Rows Removed by Filter </a:t>
            </a:r>
            <a:r>
              <a:rPr sz="2000" b="0" dirty="0" err="1">
                <a:solidFill>
                  <a:srgbClr val="173044"/>
                </a:solidFill>
                <a:latin typeface="Aptos"/>
                <a:ea typeface="Aptos"/>
                <a:cs typeface="Aptos"/>
              </a:rPr>
              <a:t>signale</a:t>
            </a:r>
            <a:r>
              <a:rPr sz="2000" b="0" dirty="0">
                <a:solidFill>
                  <a:srgbClr val="173044"/>
                </a:solidFill>
                <a:latin typeface="Aptos"/>
                <a:ea typeface="Aptos"/>
                <a:cs typeface="Aptos"/>
              </a:rPr>
              <a:t> des </a:t>
            </a:r>
            <a:r>
              <a:rPr sz="2000" b="0" dirty="0" err="1">
                <a:solidFill>
                  <a:srgbClr val="173044"/>
                </a:solidFill>
                <a:latin typeface="Aptos"/>
                <a:ea typeface="Aptos"/>
                <a:cs typeface="Aptos"/>
              </a:rPr>
              <a:t>lignes</a:t>
            </a:r>
            <a:r>
              <a:rPr sz="2000" b="0" dirty="0">
                <a:solidFill>
                  <a:srgbClr val="173044"/>
                </a:solidFill>
                <a:latin typeface="Aptos"/>
                <a:ea typeface="Aptos"/>
                <a:cs typeface="Aptos"/>
              </a:rPr>
              <a:t> </a:t>
            </a:r>
            <a:r>
              <a:rPr sz="2000" b="0" dirty="0" err="1">
                <a:solidFill>
                  <a:srgbClr val="173044"/>
                </a:solidFill>
                <a:latin typeface="Aptos"/>
                <a:ea typeface="Aptos"/>
                <a:cs typeface="Aptos"/>
              </a:rPr>
              <a:t>visitées</a:t>
            </a:r>
            <a:r>
              <a:rPr sz="2000" b="0" dirty="0">
                <a:solidFill>
                  <a:srgbClr val="173044"/>
                </a:solidFill>
                <a:latin typeface="Aptos"/>
                <a:ea typeface="Aptos"/>
                <a:cs typeface="Aptos"/>
              </a:rPr>
              <a:t> </a:t>
            </a:r>
            <a:r>
              <a:rPr sz="2000" b="0" dirty="0" err="1">
                <a:solidFill>
                  <a:srgbClr val="173044"/>
                </a:solidFill>
                <a:latin typeface="Aptos"/>
                <a:ea typeface="Aptos"/>
                <a:cs typeface="Aptos"/>
              </a:rPr>
              <a:t>puis</a:t>
            </a:r>
            <a:r>
              <a:rPr sz="2000" b="0" dirty="0">
                <a:solidFill>
                  <a:srgbClr val="173044"/>
                </a:solidFill>
                <a:latin typeface="Aptos"/>
                <a:ea typeface="Aptos"/>
                <a:cs typeface="Aptos"/>
              </a:rPr>
              <a:t> </a:t>
            </a:r>
            <a:r>
              <a:rPr sz="2000" b="0" dirty="0" err="1">
                <a:solidFill>
                  <a:srgbClr val="173044"/>
                </a:solidFill>
                <a:latin typeface="Aptos"/>
                <a:ea typeface="Aptos"/>
                <a:cs typeface="Aptos"/>
              </a:rPr>
              <a:t>écartées</a:t>
            </a:r>
            <a:r>
              <a:rPr sz="2000" b="0" dirty="0">
                <a:solidFill>
                  <a:srgbClr val="173044"/>
                </a:solidFill>
                <a:latin typeface="Aptos"/>
                <a:ea typeface="Aptos"/>
                <a:cs typeface="Aptos"/>
              </a:rPr>
              <a:t>. Un tri qui </a:t>
            </a:r>
            <a:r>
              <a:rPr sz="2000" b="0" dirty="0" err="1">
                <a:solidFill>
                  <a:srgbClr val="173044"/>
                </a:solidFill>
                <a:latin typeface="Aptos"/>
                <a:ea typeface="Aptos"/>
                <a:cs typeface="Aptos"/>
              </a:rPr>
              <a:t>déborde</a:t>
            </a:r>
            <a:r>
              <a:rPr sz="2000" b="0" dirty="0">
                <a:solidFill>
                  <a:srgbClr val="173044"/>
                </a:solidFill>
                <a:latin typeface="Aptos"/>
                <a:ea typeface="Aptos"/>
                <a:cs typeface="Aptos"/>
              </a:rPr>
              <a:t> </a:t>
            </a:r>
            <a:r>
              <a:rPr sz="2000" b="0" dirty="0" err="1">
                <a:solidFill>
                  <a:srgbClr val="173044"/>
                </a:solidFill>
                <a:latin typeface="Aptos"/>
                <a:ea typeface="Aptos"/>
                <a:cs typeface="Aptos"/>
              </a:rPr>
              <a:t>peut</a:t>
            </a:r>
            <a:r>
              <a:rPr sz="2000" b="0" dirty="0">
                <a:solidFill>
                  <a:srgbClr val="173044"/>
                </a:solidFill>
                <a:latin typeface="Aptos"/>
                <a:ea typeface="Aptos"/>
                <a:cs typeface="Aptos"/>
              </a:rPr>
              <a:t> </a:t>
            </a:r>
            <a:r>
              <a:rPr sz="2000" b="0" dirty="0" err="1">
                <a:solidFill>
                  <a:srgbClr val="173044"/>
                </a:solidFill>
                <a:latin typeface="Aptos"/>
                <a:ea typeface="Aptos"/>
                <a:cs typeface="Aptos"/>
              </a:rPr>
              <a:t>produire</a:t>
            </a:r>
            <a:r>
              <a:rPr sz="2000" b="0" dirty="0">
                <a:solidFill>
                  <a:srgbClr val="173044"/>
                </a:solidFill>
                <a:latin typeface="Aptos"/>
                <a:ea typeface="Aptos"/>
                <a:cs typeface="Aptos"/>
              </a:rPr>
              <a:t> des lectures </a:t>
            </a:r>
            <a:r>
              <a:rPr sz="2000" b="0" dirty="0" err="1">
                <a:solidFill>
                  <a:srgbClr val="173044"/>
                </a:solidFill>
                <a:latin typeface="Aptos"/>
                <a:ea typeface="Aptos"/>
                <a:cs typeface="Aptos"/>
              </a:rPr>
              <a:t>ou</a:t>
            </a:r>
            <a:r>
              <a:rPr sz="2000" b="0" dirty="0">
                <a:solidFill>
                  <a:srgbClr val="173044"/>
                </a:solidFill>
                <a:latin typeface="Aptos"/>
                <a:ea typeface="Aptos"/>
                <a:cs typeface="Aptos"/>
              </a:rPr>
              <a:t> </a:t>
            </a:r>
            <a:r>
              <a:rPr sz="2000" b="0" dirty="0" err="1">
                <a:solidFill>
                  <a:srgbClr val="173044"/>
                </a:solidFill>
                <a:latin typeface="Aptos"/>
                <a:ea typeface="Aptos"/>
                <a:cs typeface="Aptos"/>
              </a:rPr>
              <a:t>écritures</a:t>
            </a:r>
            <a:r>
              <a:rPr sz="2000" b="0" dirty="0">
                <a:solidFill>
                  <a:srgbClr val="173044"/>
                </a:solidFill>
                <a:latin typeface="Aptos"/>
                <a:ea typeface="Aptos"/>
                <a:cs typeface="Aptos"/>
              </a:rPr>
              <a:t> </a:t>
            </a:r>
            <a:r>
              <a:rPr sz="2000" b="0" dirty="0" err="1">
                <a:solidFill>
                  <a:srgbClr val="173044"/>
                </a:solidFill>
                <a:latin typeface="Aptos"/>
                <a:ea typeface="Aptos"/>
                <a:cs typeface="Aptos"/>
              </a:rPr>
              <a:t>temporaires</a:t>
            </a:r>
            <a:r>
              <a:rPr sz="2000" b="0" dirty="0">
                <a:solidFill>
                  <a:srgbClr val="173044"/>
                </a:solidFill>
                <a:latin typeface="Aptos"/>
                <a:ea typeface="Aptos"/>
                <a:cs typeface="Aptos"/>
              </a:rPr>
              <a:t>. </a:t>
            </a:r>
            <a:r>
              <a:rPr lang="fr-FR" sz="2000" dirty="0">
                <a:solidFill>
                  <a:srgbClr val="173044"/>
                </a:solidFill>
                <a:latin typeface="Aptos"/>
              </a:rPr>
              <a:t>Un nombre élevé peut signaler un chemin d’accès peu sélectif, par exemple un Seq Scan qui parcourt une grande table pour ne conserver que quelques lignes.</a:t>
            </a:r>
            <a:r>
              <a:rPr sz="2000" b="0" dirty="0">
                <a:solidFill>
                  <a:srgbClr val="173044"/>
                </a:solidFill>
                <a:latin typeface="Aptos"/>
                <a:ea typeface="Aptos"/>
                <a:cs typeface="Aptos"/>
              </a:rPr>
              <a:t>.</a:t>
            </a:r>
          </a:p>
        </p:txBody>
      </p:sp>
      <p:sp>
        <p:nvSpPr>
          <p:cNvPr id="6" name="Rectangle 5">
            <a:extLst>
              <a:ext uri="{FF2B5EF4-FFF2-40B4-BE49-F238E27FC236}">
                <a16:creationId xmlns:a16="http://schemas.microsoft.com/office/drawing/2014/main" id="{8BBC8BED-B0AC-4F9F-BE77-F3895E1ADBF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9F6D8142-B4C3-4DCB-9875-0CB070CBA9A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Les compteurs d’un parent peuvent inclure ceux de ses enfants. Éviter les additions naïves.</a:t>
            </a:r>
          </a:p>
        </p:txBody>
      </p:sp>
      <p:sp>
        <p:nvSpPr>
          <p:cNvPr id="8" name="Rectangle 7">
            <a:extLst>
              <a:ext uri="{FF2B5EF4-FFF2-40B4-BE49-F238E27FC236}">
                <a16:creationId xmlns:a16="http://schemas.microsoft.com/office/drawing/2014/main" id="{3CB45680-C970-4692-B03B-5BDEADCEC6C0}"/>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BDE449D8-A9D8-459C-8583-23BF9D12ACC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20 / 34</a:t>
            </a:r>
          </a:p>
        </p:txBody>
      </p:sp>
    </p:spTree>
    <p:extLst>
      <p:ext uri="{BB962C8B-B14F-4D97-AF65-F5344CB8AC3E}">
        <p14:creationId xmlns:p14="http://schemas.microsoft.com/office/powerpoint/2010/main" val="1853388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0201DE4-3C6F-42C2-A9B2-FE5B5F8FCE96}"/>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709A1ADC-6028-4FB8-BB0F-F54FB65AAEE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Statistiques et ANALYZE</a:t>
            </a:r>
          </a:p>
        </p:txBody>
      </p:sp>
      <p:sp>
        <p:nvSpPr>
          <p:cNvPr id="4" name="Rectangle 3">
            <a:extLst>
              <a:ext uri="{FF2B5EF4-FFF2-40B4-BE49-F238E27FC236}">
                <a16:creationId xmlns:a16="http://schemas.microsoft.com/office/drawing/2014/main" id="{741EEE4B-5C3D-4A9C-8A5E-9674474478AA}"/>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 moteur échantillonne les valeurs pour estimer leurs fréquences et la sélectivité des filtres. Un chargement important peut modifier la distribution et rendre les estimations antérieures peu représentatives.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Dans le laboratoire, ANALYZE après le chargement donne au planificateur une image actualisée. Les statistiques étendues peuvent décrire certaines dépendances entre colonnes. Elles ne remplacent ni le modèle ni un index utile.</a:t>
            </a:r>
          </a:p>
        </p:txBody>
      </p:sp>
      <p:sp>
        <p:nvSpPr>
          <p:cNvPr id="5" name="Rectangle 4">
            <a:extLst>
              <a:ext uri="{FF2B5EF4-FFF2-40B4-BE49-F238E27FC236}">
                <a16:creationId xmlns:a16="http://schemas.microsoft.com/office/drawing/2014/main" id="{A89D7683-EE78-4993-AA9F-E9E641239321}"/>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67CB4E41-6482-42F3-AF2C-9BBA6621BB7F}"/>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ANALYZE </a:t>
            </a:r>
            <a:r>
              <a:rPr sz="1800" b="0" dirty="0" err="1">
                <a:solidFill>
                  <a:srgbClr val="173044"/>
                </a:solidFill>
                <a:latin typeface="Consolas"/>
                <a:ea typeface="Consolas"/>
                <a:cs typeface="Consolas"/>
              </a:rPr>
              <a:t>commandes</a:t>
            </a:r>
            <a:r>
              <a:rPr sz="1800" b="0" dirty="0">
                <a:solidFill>
                  <a:srgbClr val="173044"/>
                </a:solidFill>
                <a:latin typeface="Consolas"/>
                <a:ea typeface="Consolas"/>
                <a:cs typeface="Consolas"/>
              </a:rPr>
              <a:t>;</a:t>
            </a:r>
          </a:p>
          <a:p>
            <a:endParaRPr sz="1800" b="0" dirty="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CREATE STATISTICS </a:t>
            </a:r>
            <a:r>
              <a:rPr sz="1800" b="0" dirty="0" err="1">
                <a:solidFill>
                  <a:srgbClr val="173044"/>
                </a:solidFill>
                <a:latin typeface="Consolas"/>
                <a:ea typeface="Consolas"/>
                <a:cs typeface="Consolas"/>
              </a:rPr>
              <a:t>commandes_corr</a:t>
            </a:r>
            <a:endParaRPr sz="1800" b="0" dirty="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(dependencies, mcv)</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ON </a:t>
            </a:r>
            <a:r>
              <a:rPr sz="1800" b="0" dirty="0" err="1">
                <a:solidFill>
                  <a:srgbClr val="173044"/>
                </a:solidFill>
                <a:latin typeface="Consolas"/>
                <a:ea typeface="Consolas"/>
                <a:cs typeface="Consolas"/>
              </a:rPr>
              <a:t>statut</a:t>
            </a:r>
            <a:r>
              <a:rPr sz="1800" b="0" dirty="0">
                <a:solidFill>
                  <a:srgbClr val="173044"/>
                </a:solidFill>
                <a:latin typeface="Consolas"/>
                <a:ea typeface="Consolas"/>
                <a:cs typeface="Consolas"/>
              </a:rPr>
              <a:t>, </a:t>
            </a:r>
            <a:r>
              <a:rPr sz="1800" b="0" dirty="0" err="1">
                <a:solidFill>
                  <a:srgbClr val="173044"/>
                </a:solidFill>
                <a:latin typeface="Consolas"/>
                <a:ea typeface="Consolas"/>
                <a:cs typeface="Consolas"/>
              </a:rPr>
              <a:t>client_id</a:t>
            </a:r>
            <a:endParaRPr sz="1800" b="0" dirty="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FROM </a:t>
            </a:r>
            <a:r>
              <a:rPr sz="1800" b="0" dirty="0" err="1">
                <a:solidFill>
                  <a:srgbClr val="173044"/>
                </a:solidFill>
                <a:latin typeface="Consolas"/>
                <a:ea typeface="Consolas"/>
                <a:cs typeface="Consolas"/>
              </a:rPr>
              <a:t>commandes</a:t>
            </a:r>
            <a:r>
              <a:rPr sz="1800" b="0" dirty="0">
                <a:solidFill>
                  <a:srgbClr val="173044"/>
                </a:solidFill>
                <a:latin typeface="Consolas"/>
                <a:ea typeface="Consolas"/>
                <a:cs typeface="Consolas"/>
              </a:rPr>
              <a:t>;</a:t>
            </a:r>
          </a:p>
          <a:p>
            <a:endParaRPr sz="1800" b="0" dirty="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ANALYZE </a:t>
            </a:r>
            <a:r>
              <a:rPr sz="1800" b="0" dirty="0" err="1">
                <a:solidFill>
                  <a:srgbClr val="173044"/>
                </a:solidFill>
                <a:latin typeface="Consolas"/>
                <a:ea typeface="Consolas"/>
                <a:cs typeface="Consolas"/>
              </a:rPr>
              <a:t>commandes</a:t>
            </a:r>
            <a:r>
              <a:rPr sz="1800" b="0" dirty="0">
                <a:solidFill>
                  <a:srgbClr val="173044"/>
                </a:solidFill>
                <a:latin typeface="Consolas"/>
                <a:ea typeface="Consolas"/>
                <a:cs typeface="Consolas"/>
              </a:rPr>
              <a:t>;</a:t>
            </a:r>
          </a:p>
        </p:txBody>
      </p:sp>
      <p:sp>
        <p:nvSpPr>
          <p:cNvPr id="7" name="Rectangle 6">
            <a:extLst>
              <a:ext uri="{FF2B5EF4-FFF2-40B4-BE49-F238E27FC236}">
                <a16:creationId xmlns:a16="http://schemas.microsoft.com/office/drawing/2014/main" id="{525F8651-98EC-4C0F-B2EB-F33B2609926C}"/>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EF7A1B7F-D796-4BFA-B6CD-2AD305E992C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dirty="0" err="1">
                <a:solidFill>
                  <a:srgbClr val="173044"/>
                </a:solidFill>
                <a:latin typeface="Aptos"/>
                <a:ea typeface="Aptos"/>
                <a:cs typeface="Aptos"/>
              </a:rPr>
              <a:t>Exemple</a:t>
            </a:r>
            <a:r>
              <a:rPr sz="1875" b="0" dirty="0">
                <a:solidFill>
                  <a:srgbClr val="173044"/>
                </a:solidFill>
                <a:latin typeface="Aptos"/>
                <a:ea typeface="Aptos"/>
                <a:cs typeface="Aptos"/>
              </a:rPr>
              <a:t> de </a:t>
            </a:r>
            <a:r>
              <a:rPr sz="1875" b="0" dirty="0" err="1">
                <a:solidFill>
                  <a:srgbClr val="173044"/>
                </a:solidFill>
                <a:latin typeface="Aptos"/>
                <a:ea typeface="Aptos"/>
                <a:cs typeface="Aptos"/>
              </a:rPr>
              <a:t>corrélation</a:t>
            </a:r>
            <a:r>
              <a:rPr sz="1875" b="0" dirty="0">
                <a:solidFill>
                  <a:srgbClr val="173044"/>
                </a:solidFill>
                <a:latin typeface="Aptos"/>
                <a:ea typeface="Aptos"/>
                <a:cs typeface="Aptos"/>
              </a:rPr>
              <a:t> : </a:t>
            </a:r>
            <a:r>
              <a:rPr sz="1875" b="0" dirty="0" err="1">
                <a:solidFill>
                  <a:srgbClr val="173044"/>
                </a:solidFill>
                <a:latin typeface="Aptos"/>
                <a:ea typeface="Aptos"/>
                <a:cs typeface="Aptos"/>
              </a:rPr>
              <a:t>certains</a:t>
            </a:r>
            <a:r>
              <a:rPr sz="1875" b="0" dirty="0">
                <a:solidFill>
                  <a:srgbClr val="173044"/>
                </a:solidFill>
                <a:latin typeface="Aptos"/>
                <a:ea typeface="Aptos"/>
                <a:cs typeface="Aptos"/>
              </a:rPr>
              <a:t> </a:t>
            </a:r>
            <a:r>
              <a:rPr sz="1875" b="0" dirty="0" err="1">
                <a:solidFill>
                  <a:srgbClr val="173044"/>
                </a:solidFill>
                <a:latin typeface="Aptos"/>
                <a:ea typeface="Aptos"/>
                <a:cs typeface="Aptos"/>
              </a:rPr>
              <a:t>statuts</a:t>
            </a:r>
            <a:r>
              <a:rPr sz="1875" b="0" dirty="0">
                <a:solidFill>
                  <a:srgbClr val="173044"/>
                </a:solidFill>
                <a:latin typeface="Aptos"/>
                <a:ea typeface="Aptos"/>
                <a:cs typeface="Aptos"/>
              </a:rPr>
              <a:t> </a:t>
            </a:r>
            <a:r>
              <a:rPr sz="1875" b="0" dirty="0" err="1">
                <a:solidFill>
                  <a:srgbClr val="173044"/>
                </a:solidFill>
                <a:latin typeface="Aptos"/>
                <a:ea typeface="Aptos"/>
                <a:cs typeface="Aptos"/>
              </a:rPr>
              <a:t>appartiennent</a:t>
            </a:r>
            <a:r>
              <a:rPr sz="1875" b="0" dirty="0">
                <a:solidFill>
                  <a:srgbClr val="173044"/>
                </a:solidFill>
                <a:latin typeface="Aptos"/>
                <a:ea typeface="Aptos"/>
                <a:cs typeface="Aptos"/>
              </a:rPr>
              <a:t> surtout à des </a:t>
            </a:r>
            <a:r>
              <a:rPr sz="1875" b="0" dirty="0" err="1">
                <a:solidFill>
                  <a:srgbClr val="173044"/>
                </a:solidFill>
                <a:latin typeface="Aptos"/>
                <a:ea typeface="Aptos"/>
                <a:cs typeface="Aptos"/>
              </a:rPr>
              <a:t>périodes</a:t>
            </a:r>
            <a:r>
              <a:rPr sz="1875" b="0" dirty="0">
                <a:solidFill>
                  <a:srgbClr val="173044"/>
                </a:solidFill>
                <a:latin typeface="Aptos"/>
                <a:ea typeface="Aptos"/>
                <a:cs typeface="Aptos"/>
              </a:rPr>
              <a:t> </a:t>
            </a:r>
            <a:r>
              <a:rPr sz="1875" b="0" dirty="0" err="1">
                <a:solidFill>
                  <a:srgbClr val="173044"/>
                </a:solidFill>
                <a:latin typeface="Aptos"/>
                <a:ea typeface="Aptos"/>
                <a:cs typeface="Aptos"/>
              </a:rPr>
              <a:t>récentes</a:t>
            </a:r>
            <a:r>
              <a:rPr sz="1875" b="0" dirty="0">
                <a:solidFill>
                  <a:srgbClr val="173044"/>
                </a:solidFill>
                <a:latin typeface="Aptos"/>
                <a:ea typeface="Aptos"/>
                <a:cs typeface="Aptos"/>
              </a:rPr>
              <a:t>.</a:t>
            </a:r>
          </a:p>
        </p:txBody>
      </p:sp>
      <p:sp>
        <p:nvSpPr>
          <p:cNvPr id="9" name="Rectangle 8">
            <a:extLst>
              <a:ext uri="{FF2B5EF4-FFF2-40B4-BE49-F238E27FC236}">
                <a16:creationId xmlns:a16="http://schemas.microsoft.com/office/drawing/2014/main" id="{DD9B6D7A-5E7A-4B2A-8352-96EC82C9191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2E34C16F-9387-41C5-A37B-A548F6D9AF4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21 / 34</a:t>
            </a:r>
          </a:p>
        </p:txBody>
      </p:sp>
    </p:spTree>
    <p:extLst>
      <p:ext uri="{BB962C8B-B14F-4D97-AF65-F5344CB8AC3E}">
        <p14:creationId xmlns:p14="http://schemas.microsoft.com/office/powerpoint/2010/main" val="967211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F2C1037-FDB6-4629-93CA-792B20DEAA39}"/>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52184A58-B432-49B3-9F81-CC7E48CDEE2F}"/>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 prédicat exploitable par un index</a:t>
            </a:r>
          </a:p>
        </p:txBody>
      </p:sp>
      <p:sp>
        <p:nvSpPr>
          <p:cNvPr id="4" name="Rectangle 3">
            <a:extLst>
              <a:ext uri="{FF2B5EF4-FFF2-40B4-BE49-F238E27FC236}">
                <a16:creationId xmlns:a16="http://schemas.microsoft.com/office/drawing/2014/main" id="{606F00E5-D572-4EE1-BF46-18EB2CD795D0}"/>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Une condition directe sur une colonne permet souvent de borner un parcours B-tree. Une fonction appliquée à cette colonne peut nécessiter un index sur l’expression ou une réécriture équivalente.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Pour un intervalle de dates, une borne inférieure inclusive et une borne supérieure exclusive évitent d’oublier les heures de la dernière journée. On choisit le fuseau et les bornes métier explicitement.</a:t>
            </a:r>
          </a:p>
        </p:txBody>
      </p:sp>
      <p:sp>
        <p:nvSpPr>
          <p:cNvPr id="5" name="Rectangle 4">
            <a:extLst>
              <a:ext uri="{FF2B5EF4-FFF2-40B4-BE49-F238E27FC236}">
                <a16:creationId xmlns:a16="http://schemas.microsoft.com/office/drawing/2014/main" id="{2FED1C2F-6F1B-4FFF-AC8D-5F7246D93D6B}"/>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C255FE4C-C601-414F-89B4-9DD505C3F098}"/>
              </a:ext>
            </a:extLst>
          </p:cNvPr>
          <p:cNvSpPr>
            <a:spLocks noGrp="1"/>
          </p:cNvSpPr>
          <p:nvPr/>
        </p:nvSpPr>
        <p:spPr>
          <a:xfrm>
            <a:off x="7524749" y="2476500"/>
            <a:ext cx="749190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a:t>
            </a:r>
            <a:r>
              <a:rPr sz="1800" b="0" dirty="0" err="1">
                <a:solidFill>
                  <a:srgbClr val="173044"/>
                </a:solidFill>
                <a:latin typeface="Consolas"/>
                <a:ea typeface="Consolas"/>
                <a:cs typeface="Consolas"/>
              </a:rPr>
              <a:t>Intervalle</a:t>
            </a:r>
            <a:r>
              <a:rPr sz="1800" b="0" dirty="0">
                <a:solidFill>
                  <a:srgbClr val="173044"/>
                </a:solidFill>
                <a:latin typeface="Consolas"/>
                <a:ea typeface="Consolas"/>
                <a:cs typeface="Consolas"/>
              </a:rPr>
              <a:t> </a:t>
            </a:r>
            <a:r>
              <a:rPr sz="1800" b="0" dirty="0" err="1">
                <a:solidFill>
                  <a:srgbClr val="173044"/>
                </a:solidFill>
                <a:latin typeface="Consolas"/>
                <a:ea typeface="Consolas"/>
                <a:cs typeface="Consolas"/>
              </a:rPr>
              <a:t>explicite</a:t>
            </a:r>
            <a:endParaRPr sz="1800" b="0" dirty="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WHERE </a:t>
            </a:r>
            <a:r>
              <a:rPr sz="1800" b="0" dirty="0" err="1">
                <a:solidFill>
                  <a:srgbClr val="173044"/>
                </a:solidFill>
                <a:latin typeface="Consolas"/>
                <a:ea typeface="Consolas"/>
                <a:cs typeface="Consolas"/>
              </a:rPr>
              <a:t>created_at</a:t>
            </a:r>
            <a:r>
              <a:rPr sz="1800" b="0" dirty="0">
                <a:solidFill>
                  <a:srgbClr val="173044"/>
                </a:solidFill>
                <a:latin typeface="Consolas"/>
                <a:ea typeface="Consolas"/>
                <a:cs typeface="Consolas"/>
              </a:rPr>
              <a:t> &gt;=</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TIMESTAMPTZ '2026-10-01 00:00+00'</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AND </a:t>
            </a:r>
            <a:r>
              <a:rPr sz="1800" b="0" dirty="0" err="1">
                <a:solidFill>
                  <a:srgbClr val="173044"/>
                </a:solidFill>
                <a:latin typeface="Consolas"/>
                <a:ea typeface="Consolas"/>
                <a:cs typeface="Consolas"/>
              </a:rPr>
              <a:t>created_at</a:t>
            </a:r>
            <a:r>
              <a:rPr sz="1800" b="0" dirty="0">
                <a:solidFill>
                  <a:srgbClr val="173044"/>
                </a:solidFill>
                <a:latin typeface="Consolas"/>
                <a:ea typeface="Consolas"/>
                <a:cs typeface="Consolas"/>
              </a:rPr>
              <a:t> &lt;</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TIMESTAMPTZ '2026-11-01 00:00+00'</a:t>
            </a:r>
          </a:p>
          <a:p>
            <a:endParaRPr sz="1800" b="0" dirty="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Une </a:t>
            </a:r>
            <a:r>
              <a:rPr sz="1800" b="0" dirty="0" err="1">
                <a:solidFill>
                  <a:srgbClr val="173044"/>
                </a:solidFill>
                <a:latin typeface="Consolas"/>
                <a:ea typeface="Consolas"/>
                <a:cs typeface="Consolas"/>
              </a:rPr>
              <a:t>autre</a:t>
            </a:r>
            <a:r>
              <a:rPr sz="1800" b="0" dirty="0">
                <a:solidFill>
                  <a:srgbClr val="173044"/>
                </a:solidFill>
                <a:latin typeface="Consolas"/>
                <a:ea typeface="Consolas"/>
                <a:cs typeface="Consolas"/>
              </a:rPr>
              <a:t> </a:t>
            </a:r>
            <a:r>
              <a:rPr sz="1800" b="0" dirty="0" err="1">
                <a:solidFill>
                  <a:srgbClr val="173044"/>
                </a:solidFill>
                <a:latin typeface="Consolas"/>
                <a:ea typeface="Consolas"/>
                <a:cs typeface="Consolas"/>
              </a:rPr>
              <a:t>stratégie</a:t>
            </a:r>
            <a:r>
              <a:rPr sz="1800" b="0" dirty="0">
                <a:solidFill>
                  <a:srgbClr val="173044"/>
                </a:solidFill>
                <a:latin typeface="Consolas"/>
                <a:ea typeface="Consolas"/>
                <a:cs typeface="Consolas"/>
              </a:rPr>
              <a:t> :</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index sur </a:t>
            </a:r>
            <a:r>
              <a:rPr sz="1800" b="0" dirty="0" err="1">
                <a:solidFill>
                  <a:srgbClr val="173044"/>
                </a:solidFill>
                <a:latin typeface="Consolas"/>
                <a:ea typeface="Consolas"/>
                <a:cs typeface="Consolas"/>
              </a:rPr>
              <a:t>une</a:t>
            </a:r>
            <a:r>
              <a:rPr sz="1800" b="0" dirty="0">
                <a:solidFill>
                  <a:srgbClr val="173044"/>
                </a:solidFill>
                <a:latin typeface="Consolas"/>
                <a:ea typeface="Consolas"/>
                <a:cs typeface="Consolas"/>
              </a:rPr>
              <a:t> expression </a:t>
            </a:r>
            <a:r>
              <a:rPr sz="1800" b="0" dirty="0" err="1">
                <a:solidFill>
                  <a:srgbClr val="173044"/>
                </a:solidFill>
                <a:latin typeface="Consolas"/>
                <a:ea typeface="Consolas"/>
                <a:cs typeface="Consolas"/>
              </a:rPr>
              <a:t>adaptée</a:t>
            </a:r>
            <a:endParaRPr lang="fr-FR" sz="1800" b="0" dirty="0">
              <a:solidFill>
                <a:srgbClr val="173044"/>
              </a:solidFill>
              <a:latin typeface="Consolas"/>
              <a:ea typeface="Consolas"/>
              <a:cs typeface="Consolas"/>
            </a:endParaRPr>
          </a:p>
          <a:p>
            <a:pPr>
              <a:defRPr sz="1800" b="0">
                <a:solidFill>
                  <a:srgbClr val="173044"/>
                </a:solidFill>
                <a:latin typeface="Consolas"/>
                <a:ea typeface="Consolas"/>
                <a:cs typeface="Consolas"/>
              </a:defRPr>
            </a:pPr>
            <a:endParaRPr lang="fr-FR" dirty="0">
              <a:solidFill>
                <a:srgbClr val="173044"/>
              </a:solidFill>
              <a:latin typeface="Consolas"/>
              <a:ea typeface="Consolas"/>
              <a:cs typeface="Consolas"/>
            </a:endParaRPr>
          </a:p>
          <a:p>
            <a:pPr>
              <a:defRPr sz="1800" b="0">
                <a:solidFill>
                  <a:srgbClr val="173044"/>
                </a:solidFill>
                <a:latin typeface="Consolas"/>
                <a:ea typeface="Consolas"/>
                <a:cs typeface="Consolas"/>
              </a:defRPr>
            </a:pPr>
            <a:r>
              <a:rPr lang="fr-FR" sz="1800" b="0" i="1" dirty="0">
                <a:solidFill>
                  <a:srgbClr val="FF0000"/>
                </a:solidFill>
                <a:latin typeface="Consolas"/>
                <a:ea typeface="Consolas"/>
                <a:cs typeface="Consolas"/>
              </a:rPr>
              <a:t>-- </a:t>
            </a:r>
            <a:r>
              <a:rPr lang="fr-FR" sz="1800" b="0" i="1" dirty="0" err="1">
                <a:solidFill>
                  <a:srgbClr val="FF0000"/>
                </a:solidFill>
                <a:latin typeface="Consolas"/>
                <a:ea typeface="Consolas"/>
                <a:cs typeface="Consolas"/>
              </a:rPr>
              <a:t>PostqgreSQL</a:t>
            </a:r>
            <a:r>
              <a:rPr lang="fr-FR" sz="1800" b="0" i="1" dirty="0">
                <a:solidFill>
                  <a:srgbClr val="FF0000"/>
                </a:solidFill>
                <a:latin typeface="Consolas"/>
                <a:ea typeface="Consolas"/>
                <a:cs typeface="Consolas"/>
              </a:rPr>
              <a:t> doit appliquer une fonction à chaque valeur</a:t>
            </a:r>
          </a:p>
          <a:p>
            <a:pPr>
              <a:defRPr sz="1800" b="0">
                <a:solidFill>
                  <a:srgbClr val="173044"/>
                </a:solidFill>
                <a:latin typeface="Consolas"/>
                <a:ea typeface="Consolas"/>
                <a:cs typeface="Consolas"/>
              </a:defRPr>
            </a:pPr>
            <a:r>
              <a:rPr lang="en-US" dirty="0">
                <a:solidFill>
                  <a:srgbClr val="173044"/>
                </a:solidFill>
                <a:latin typeface="Consolas"/>
                <a:ea typeface="Consolas"/>
                <a:cs typeface="Consolas"/>
              </a:rPr>
              <a:t>WHERE </a:t>
            </a:r>
            <a:r>
              <a:rPr lang="en-US" dirty="0" err="1">
                <a:solidFill>
                  <a:srgbClr val="173044"/>
                </a:solidFill>
                <a:latin typeface="Consolas"/>
                <a:ea typeface="Consolas"/>
                <a:cs typeface="Consolas"/>
              </a:rPr>
              <a:t>created_at</a:t>
            </a:r>
            <a:r>
              <a:rPr lang="en-US" dirty="0">
                <a:solidFill>
                  <a:srgbClr val="173044"/>
                </a:solidFill>
                <a:latin typeface="Consolas"/>
                <a:ea typeface="Consolas"/>
                <a:cs typeface="Consolas"/>
              </a:rPr>
              <a:t>::date</a:t>
            </a:r>
          </a:p>
          <a:p>
            <a:pPr>
              <a:defRPr sz="1800" b="0">
                <a:solidFill>
                  <a:srgbClr val="173044"/>
                </a:solidFill>
                <a:latin typeface="Consolas"/>
                <a:ea typeface="Consolas"/>
                <a:cs typeface="Consolas"/>
              </a:defRPr>
            </a:pPr>
            <a:r>
              <a:rPr lang="en-US" dirty="0">
                <a:solidFill>
                  <a:srgbClr val="173044"/>
                </a:solidFill>
                <a:latin typeface="Consolas"/>
                <a:ea typeface="Consolas"/>
                <a:cs typeface="Consolas"/>
              </a:rPr>
              <a:t>      BETWEEN DATE '2026-10-01'</a:t>
            </a:r>
          </a:p>
          <a:p>
            <a:pPr>
              <a:defRPr sz="1800" b="0">
                <a:solidFill>
                  <a:srgbClr val="173044"/>
                </a:solidFill>
                <a:latin typeface="Consolas"/>
                <a:ea typeface="Consolas"/>
                <a:cs typeface="Consolas"/>
              </a:defRPr>
            </a:pPr>
            <a:r>
              <a:rPr lang="en-US" dirty="0">
                <a:solidFill>
                  <a:srgbClr val="173044"/>
                </a:solidFill>
                <a:latin typeface="Consolas"/>
                <a:ea typeface="Consolas"/>
                <a:cs typeface="Consolas"/>
              </a:rPr>
              <a:t>          AND DATE '2026-10-31'</a:t>
            </a:r>
            <a:endParaRPr sz="1800" b="0" dirty="0">
              <a:solidFill>
                <a:srgbClr val="173044"/>
              </a:solidFill>
              <a:latin typeface="Consolas"/>
              <a:ea typeface="Consolas"/>
              <a:cs typeface="Consolas"/>
            </a:endParaRPr>
          </a:p>
        </p:txBody>
      </p:sp>
      <p:sp>
        <p:nvSpPr>
          <p:cNvPr id="7" name="Rectangle 6">
            <a:extLst>
              <a:ext uri="{FF2B5EF4-FFF2-40B4-BE49-F238E27FC236}">
                <a16:creationId xmlns:a16="http://schemas.microsoft.com/office/drawing/2014/main" id="{76E30CAA-71B8-4813-B12A-8530651F8FC4}"/>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71AF0FA6-C8C5-48FD-8E52-72745F837CC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Exemple : commandes créées en octobre 2026 en UTC.</a:t>
            </a:r>
          </a:p>
        </p:txBody>
      </p:sp>
      <p:sp>
        <p:nvSpPr>
          <p:cNvPr id="9" name="Rectangle 8">
            <a:extLst>
              <a:ext uri="{FF2B5EF4-FFF2-40B4-BE49-F238E27FC236}">
                <a16:creationId xmlns:a16="http://schemas.microsoft.com/office/drawing/2014/main" id="{B922257C-7BFE-405B-BF0F-49173AC1D1EF}"/>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33F2D7A4-C522-4C47-B4A1-DA742D17649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22 / 34</a:t>
            </a:r>
          </a:p>
        </p:txBody>
      </p:sp>
    </p:spTree>
    <p:extLst>
      <p:ext uri="{BB962C8B-B14F-4D97-AF65-F5344CB8AC3E}">
        <p14:creationId xmlns:p14="http://schemas.microsoft.com/office/powerpoint/2010/main" val="350452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92DF766-24F5-4BF2-A378-25048685897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1   /   OPTIMISATION BDD</a:t>
            </a:r>
          </a:p>
        </p:txBody>
      </p:sp>
      <p:sp>
        <p:nvSpPr>
          <p:cNvPr id="3" name="Rectangle 2">
            <a:extLst>
              <a:ext uri="{FF2B5EF4-FFF2-40B4-BE49-F238E27FC236}">
                <a16:creationId xmlns:a16="http://schemas.microsoft.com/office/drawing/2014/main" id="{242D5D0B-AA63-4C3C-B648-C1B6EB4684ED}"/>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1 : le diagnostic initial</a:t>
            </a:r>
          </a:p>
        </p:txBody>
      </p:sp>
      <p:sp>
        <p:nvSpPr>
          <p:cNvPr id="4" name="Rectangle 3">
            <a:extLst>
              <a:ext uri="{FF2B5EF4-FFF2-40B4-BE49-F238E27FC236}">
                <a16:creationId xmlns:a16="http://schemas.microsoft.com/office/drawing/2014/main" id="{D59901A1-66BA-4F13-AE6F-FB234AE74DDD}"/>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ECF5B065-DAD1-475E-B546-FAB58A954479}"/>
              </a:ext>
            </a:extLst>
          </p:cNvPr>
          <p:cNvSpPr>
            <a:spLocks noGrp="1"/>
          </p:cNvSpPr>
          <p:nvPr/>
        </p:nvSpPr>
        <p:spPr>
          <a:xfrm>
            <a:off x="666750" y="2667000"/>
            <a:ext cx="6334125" cy="3429000"/>
          </a:xfrm>
          <a:prstGeom prst="rect">
            <a:avLst/>
          </a:prstGeom>
          <a:noFill/>
          <a:ln w="0">
            <a:noFill/>
          </a:ln>
        </p:spPr>
        <p:txBody>
          <a:bodyPr>
            <a:noAutofit/>
          </a:bodyPr>
          <a:lstStyle/>
          <a:p>
            <a:pPr marL="342900" indent="-342900">
              <a:buFont typeface="Arial" panose="020B0604020202020204" pitchFamily="34" charset="0"/>
              <a:buChar char="•"/>
              <a:defRPr sz="2325" b="0">
                <a:solidFill>
                  <a:srgbClr val="F6F3ED"/>
                </a:solidFill>
                <a:latin typeface="Aptos"/>
                <a:ea typeface="Aptos"/>
                <a:cs typeface="Aptos"/>
              </a:defRPr>
            </a:pPr>
            <a:r>
              <a:rPr lang="fr-FR" sz="2000" b="0" dirty="0">
                <a:solidFill>
                  <a:srgbClr val="F6F3ED"/>
                </a:solidFill>
                <a:latin typeface="Aptos"/>
                <a:ea typeface="Aptos"/>
                <a:cs typeface="Aptos"/>
              </a:rPr>
              <a:t>Exécuter 01_schema.sql et 02_donnees.sql dans une base de laboratoire. </a:t>
            </a:r>
          </a:p>
          <a:p>
            <a:pPr marL="342900" indent="-342900">
              <a:buFont typeface="Arial" panose="020B0604020202020204" pitchFamily="34" charset="0"/>
              <a:buChar char="•"/>
              <a:defRPr sz="2325" b="0">
                <a:solidFill>
                  <a:srgbClr val="F6F3ED"/>
                </a:solidFill>
                <a:latin typeface="Aptos"/>
                <a:ea typeface="Aptos"/>
                <a:cs typeface="Aptos"/>
              </a:defRPr>
            </a:pPr>
            <a:r>
              <a:rPr lang="fr-FR" sz="2000" b="0" dirty="0">
                <a:solidFill>
                  <a:srgbClr val="F6F3ED"/>
                </a:solidFill>
                <a:latin typeface="Aptos"/>
                <a:ea typeface="Aptos"/>
                <a:cs typeface="Aptos"/>
              </a:rPr>
              <a:t>Lancer l’historique du client 42 et une requête d’agrégation. </a:t>
            </a:r>
          </a:p>
          <a:p>
            <a:pPr marL="342900" indent="-342900">
              <a:buFont typeface="Arial" panose="020B0604020202020204" pitchFamily="34" charset="0"/>
              <a:buChar char="•"/>
              <a:defRPr sz="2325" b="0">
                <a:solidFill>
                  <a:srgbClr val="F6F3ED"/>
                </a:solidFill>
                <a:latin typeface="Aptos"/>
                <a:ea typeface="Aptos"/>
                <a:cs typeface="Aptos"/>
              </a:defRPr>
            </a:pPr>
            <a:r>
              <a:rPr lang="fr-FR" sz="2000" b="0" dirty="0">
                <a:solidFill>
                  <a:srgbClr val="F6F3ED"/>
                </a:solidFill>
                <a:latin typeface="Aptos"/>
                <a:ea typeface="Aptos"/>
                <a:cs typeface="Aptos"/>
              </a:rPr>
              <a:t>Vérifier le nombre de lignes et le total avant de relever les durées.</a:t>
            </a:r>
            <a:r>
              <a:rPr lang="fr-FR" sz="2000" dirty="0">
                <a:solidFill>
                  <a:srgbClr val="F6F3ED"/>
                </a:solidFill>
                <a:latin typeface="Aptos"/>
                <a:ea typeface="Aptos"/>
                <a:cs typeface="Aptos"/>
              </a:rPr>
              <a:t> </a:t>
            </a:r>
          </a:p>
          <a:p>
            <a:pPr marL="342900" indent="-342900">
              <a:buFont typeface="Arial" panose="020B0604020202020204" pitchFamily="34" charset="0"/>
              <a:buChar char="•"/>
              <a:defRPr sz="2325" b="0">
                <a:solidFill>
                  <a:srgbClr val="F6F3ED"/>
                </a:solidFill>
                <a:latin typeface="Aptos"/>
                <a:ea typeface="Aptos"/>
                <a:cs typeface="Aptos"/>
              </a:defRPr>
            </a:pPr>
            <a:r>
              <a:rPr lang="fr-FR" sz="2000" dirty="0">
                <a:solidFill>
                  <a:srgbClr val="F6F3ED"/>
                </a:solidFill>
                <a:latin typeface="Aptos"/>
                <a:ea typeface="Aptos"/>
                <a:cs typeface="Aptos"/>
              </a:rPr>
              <a:t>Effectuer cinq répétitions après échauffement.</a:t>
            </a:r>
          </a:p>
          <a:p>
            <a:pPr marL="342900" indent="-342900">
              <a:buFont typeface="Arial" panose="020B0604020202020204" pitchFamily="34" charset="0"/>
              <a:buChar char="•"/>
              <a:defRPr sz="2325" b="0">
                <a:solidFill>
                  <a:srgbClr val="F6F3ED"/>
                </a:solidFill>
                <a:latin typeface="Aptos"/>
                <a:ea typeface="Aptos"/>
                <a:cs typeface="Aptos"/>
              </a:defRPr>
            </a:pPr>
            <a:r>
              <a:rPr lang="fr-FR" sz="2000" dirty="0">
                <a:solidFill>
                  <a:srgbClr val="F6F3ED"/>
                </a:solidFill>
                <a:latin typeface="Aptos"/>
                <a:ea typeface="Aptos"/>
                <a:cs typeface="Aptos"/>
              </a:rPr>
              <a:t>Identifier un nœud coûteux et formuler une hypothèse qui explique son coût. </a:t>
            </a:r>
          </a:p>
          <a:p>
            <a:pPr>
              <a:defRPr sz="2325" b="0">
                <a:solidFill>
                  <a:srgbClr val="F6F3ED"/>
                </a:solidFill>
                <a:latin typeface="Aptos"/>
                <a:ea typeface="Aptos"/>
                <a:cs typeface="Aptos"/>
              </a:defRPr>
            </a:pPr>
            <a:endParaRPr lang="fr-FR" sz="2000" dirty="0">
              <a:solidFill>
                <a:srgbClr val="F6F3ED"/>
              </a:solidFill>
              <a:latin typeface="Aptos"/>
              <a:ea typeface="Aptos"/>
              <a:cs typeface="Aptos"/>
            </a:endParaRPr>
          </a:p>
          <a:p>
            <a:pPr>
              <a:defRPr sz="2325" b="0">
                <a:solidFill>
                  <a:srgbClr val="F6F3ED"/>
                </a:solidFill>
                <a:latin typeface="Aptos"/>
                <a:ea typeface="Aptos"/>
                <a:cs typeface="Aptos"/>
              </a:defRPr>
            </a:pPr>
            <a:r>
              <a:rPr lang="fr-FR" sz="2000" dirty="0">
                <a:solidFill>
                  <a:srgbClr val="F6F3ED"/>
                </a:solidFill>
                <a:latin typeface="Aptos"/>
                <a:ea typeface="Aptos"/>
                <a:cs typeface="Aptos"/>
              </a:rPr>
              <a:t>Aucun index supplémentaire à ce stade.</a:t>
            </a:r>
            <a:endParaRPr lang="fr-FR" sz="2000" b="0" dirty="0">
              <a:solidFill>
                <a:srgbClr val="F6F3ED"/>
              </a:solidFill>
              <a:latin typeface="Aptos"/>
              <a:ea typeface="Aptos"/>
              <a:cs typeface="Aptos"/>
            </a:endParaRPr>
          </a:p>
        </p:txBody>
      </p:sp>
      <p:sp>
        <p:nvSpPr>
          <p:cNvPr id="6" name="Rectangle 5">
            <a:extLst>
              <a:ext uri="{FF2B5EF4-FFF2-40B4-BE49-F238E27FC236}">
                <a16:creationId xmlns:a16="http://schemas.microsoft.com/office/drawing/2014/main" id="{99D39DB7-9B6F-4C4E-A78B-8C718A6D9FF4}"/>
              </a:ext>
            </a:extLst>
          </p:cNvPr>
          <p:cNvSpPr>
            <a:spLocks noGrp="1"/>
          </p:cNvSpPr>
          <p:nvPr/>
        </p:nvSpPr>
        <p:spPr>
          <a:xfrm>
            <a:off x="8001000" y="509588"/>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lang="fr-FR" sz="1500" b="1" dirty="0">
                <a:solidFill>
                  <a:srgbClr val="69E0E3"/>
                </a:solidFill>
                <a:latin typeface="Aptos"/>
                <a:ea typeface="Aptos"/>
                <a:cs typeface="Aptos"/>
              </a:rPr>
              <a:t>PREUVES À CONSERVER</a:t>
            </a:r>
            <a:endParaRPr sz="1500" b="1" dirty="0">
              <a:solidFill>
                <a:srgbClr val="69E0E3"/>
              </a:solidFill>
              <a:latin typeface="Aptos"/>
              <a:ea typeface="Aptos"/>
              <a:cs typeface="Aptos"/>
            </a:endParaRPr>
          </a:p>
        </p:txBody>
      </p:sp>
      <p:sp>
        <p:nvSpPr>
          <p:cNvPr id="7" name="Rectangle 6">
            <a:extLst>
              <a:ext uri="{FF2B5EF4-FFF2-40B4-BE49-F238E27FC236}">
                <a16:creationId xmlns:a16="http://schemas.microsoft.com/office/drawing/2014/main" id="{AF811684-FEFC-4817-A7E0-2E9E926D7B2B}"/>
              </a:ext>
            </a:extLst>
          </p:cNvPr>
          <p:cNvSpPr>
            <a:spLocks noGrp="1"/>
          </p:cNvSpPr>
          <p:nvPr/>
        </p:nvSpPr>
        <p:spPr>
          <a:xfrm>
            <a:off x="8001000" y="1033463"/>
            <a:ext cx="6381750" cy="3429000"/>
          </a:xfrm>
          <a:prstGeom prst="rect">
            <a:avLst/>
          </a:prstGeom>
          <a:noFill/>
          <a:ln w="0">
            <a:noFill/>
          </a:ln>
        </p:spPr>
        <p:txBody>
          <a:bodyPr>
            <a:noAutofit/>
          </a:bodyPr>
          <a:lstStyle/>
          <a:p>
            <a:r>
              <a:rPr lang="fr-FR" dirty="0">
                <a:solidFill>
                  <a:schemeClr val="bg1"/>
                </a:solidFill>
              </a:rPr>
              <a:t>Pour chaque requête, conservez :</a:t>
            </a:r>
          </a:p>
          <a:p>
            <a:pPr marL="285750" lvl="0" indent="-285750">
              <a:buFont typeface="Arial" panose="020B0604020202020204" pitchFamily="34" charset="0"/>
              <a:buChar char="•"/>
            </a:pPr>
            <a:r>
              <a:rPr lang="fr-FR" dirty="0">
                <a:solidFill>
                  <a:schemeClr val="bg1"/>
                </a:solidFill>
              </a:rPr>
              <a:t>le SQL complet ;</a:t>
            </a:r>
          </a:p>
          <a:p>
            <a:pPr marL="285750" lvl="0" indent="-285750">
              <a:buFont typeface="Arial" panose="020B0604020202020204" pitchFamily="34" charset="0"/>
              <a:buChar char="•"/>
            </a:pPr>
            <a:r>
              <a:rPr lang="fr-FR" dirty="0">
                <a:solidFill>
                  <a:schemeClr val="bg1"/>
                </a:solidFill>
              </a:rPr>
              <a:t>le plan complet produit par EXPLAIN (ANALYZE, BUFFERS) ;</a:t>
            </a:r>
          </a:p>
          <a:p>
            <a:pPr marL="285750" lvl="0" indent="-285750">
              <a:buFont typeface="Arial" panose="020B0604020202020204" pitchFamily="34" charset="0"/>
              <a:buChar char="•"/>
            </a:pPr>
            <a:r>
              <a:rPr lang="fr-FR" dirty="0">
                <a:solidFill>
                  <a:schemeClr val="bg1"/>
                </a:solidFill>
              </a:rPr>
              <a:t>la version de PostgreSQL ;</a:t>
            </a:r>
          </a:p>
          <a:p>
            <a:pPr marL="285750" lvl="0" indent="-285750">
              <a:buFont typeface="Arial" panose="020B0604020202020204" pitchFamily="34" charset="0"/>
              <a:buChar char="•"/>
            </a:pPr>
            <a:r>
              <a:rPr lang="fr-FR" dirty="0">
                <a:solidFill>
                  <a:schemeClr val="bg1"/>
                </a:solidFill>
              </a:rPr>
              <a:t>les résultats fonctionnels : nombre de lignes et total ;</a:t>
            </a:r>
          </a:p>
          <a:p>
            <a:pPr marL="285750" lvl="0" indent="-285750">
              <a:buFont typeface="Arial" panose="020B0604020202020204" pitchFamily="34" charset="0"/>
              <a:buChar char="•"/>
            </a:pPr>
            <a:r>
              <a:rPr lang="fr-FR" dirty="0">
                <a:solidFill>
                  <a:schemeClr val="bg1"/>
                </a:solidFill>
              </a:rPr>
              <a:t>les temps des cinq répétitions après échauffement ;</a:t>
            </a:r>
          </a:p>
          <a:p>
            <a:pPr marL="285750" lvl="0" indent="-285750">
              <a:buFont typeface="Arial" panose="020B0604020202020204" pitchFamily="34" charset="0"/>
              <a:buChar char="•"/>
            </a:pPr>
            <a:r>
              <a:rPr lang="fr-FR" dirty="0">
                <a:solidFill>
                  <a:schemeClr val="bg1"/>
                </a:solidFill>
              </a:rPr>
              <a:t>les informations BUFFERS.</a:t>
            </a:r>
          </a:p>
        </p:txBody>
      </p:sp>
      <p:sp>
        <p:nvSpPr>
          <p:cNvPr id="8" name="Rectangle 7">
            <a:extLst>
              <a:ext uri="{FF2B5EF4-FFF2-40B4-BE49-F238E27FC236}">
                <a16:creationId xmlns:a16="http://schemas.microsoft.com/office/drawing/2014/main" id="{FFCD8E5E-14F8-45C4-AA79-C15C31D9F45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dirty="0">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021C750F-2AB0-4E48-9AD4-44D95AC5C349}"/>
              </a:ext>
            </a:extLst>
          </p:cNvPr>
          <p:cNvSpPr>
            <a:spLocks noGrp="1"/>
          </p:cNvSpPr>
          <p:nvPr/>
        </p:nvSpPr>
        <p:spPr>
          <a:xfrm>
            <a:off x="666750" y="7086600"/>
            <a:ext cx="13525500" cy="914400"/>
          </a:xfrm>
          <a:prstGeom prst="rect">
            <a:avLst/>
          </a:prstGeom>
          <a:noFill/>
          <a:ln w="0">
            <a:noFill/>
          </a:ln>
        </p:spPr>
        <p:txBody>
          <a:bodyPr>
            <a:noAutofit/>
          </a:bodyPr>
          <a:lstStyle/>
          <a:p>
            <a:r>
              <a:rPr lang="fr-FR" dirty="0">
                <a:solidFill>
                  <a:schemeClr val="bg1"/>
                </a:solidFill>
              </a:rPr>
              <a:t>Pour connaître la version de PostgreSQL : SELECT version();</a:t>
            </a:r>
          </a:p>
          <a:p>
            <a:br>
              <a:rPr lang="fr-FR" sz="2000" dirty="0">
                <a:solidFill>
                  <a:schemeClr val="bg1"/>
                </a:solidFill>
              </a:rPr>
            </a:br>
            <a:endParaRPr sz="1875" b="0" dirty="0">
              <a:solidFill>
                <a:schemeClr val="bg1"/>
              </a:solidFill>
              <a:latin typeface="Aptos"/>
              <a:ea typeface="Aptos"/>
              <a:cs typeface="Aptos"/>
            </a:endParaRPr>
          </a:p>
        </p:txBody>
      </p:sp>
      <p:sp>
        <p:nvSpPr>
          <p:cNvPr id="10" name="Rectangle 9">
            <a:extLst>
              <a:ext uri="{FF2B5EF4-FFF2-40B4-BE49-F238E27FC236}">
                <a16:creationId xmlns:a16="http://schemas.microsoft.com/office/drawing/2014/main" id="{358A428C-40E6-457C-8E68-6E94E4807D2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BF8CE546-CAE5-43D6-AC32-490883B598D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23 / 34</a:t>
            </a:r>
          </a:p>
        </p:txBody>
      </p:sp>
      <p:sp>
        <p:nvSpPr>
          <p:cNvPr id="14" name="Rectangle 13">
            <a:extLst>
              <a:ext uri="{FF2B5EF4-FFF2-40B4-BE49-F238E27FC236}">
                <a16:creationId xmlns:a16="http://schemas.microsoft.com/office/drawing/2014/main" id="{CC65EE38-A622-7F2B-F729-C246F0C601DE}"/>
              </a:ext>
            </a:extLst>
          </p:cNvPr>
          <p:cNvSpPr>
            <a:spLocks noGrp="1"/>
          </p:cNvSpPr>
          <p:nvPr/>
        </p:nvSpPr>
        <p:spPr>
          <a:xfrm>
            <a:off x="8001000" y="3474243"/>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lang="fr-FR" sz="1500" b="1" dirty="0">
                <a:solidFill>
                  <a:srgbClr val="69E0E3"/>
                </a:solidFill>
                <a:latin typeface="Aptos"/>
                <a:ea typeface="Aptos"/>
                <a:cs typeface="Aptos"/>
              </a:rPr>
              <a:t>LIVRABLE ATTENDU</a:t>
            </a:r>
            <a:endParaRPr sz="1500" b="1" dirty="0">
              <a:solidFill>
                <a:srgbClr val="69E0E3"/>
              </a:solidFill>
              <a:latin typeface="Aptos"/>
              <a:ea typeface="Aptos"/>
              <a:cs typeface="Aptos"/>
            </a:endParaRPr>
          </a:p>
        </p:txBody>
      </p:sp>
      <p:sp>
        <p:nvSpPr>
          <p:cNvPr id="16" name="ZoneTexte 15">
            <a:extLst>
              <a:ext uri="{FF2B5EF4-FFF2-40B4-BE49-F238E27FC236}">
                <a16:creationId xmlns:a16="http://schemas.microsoft.com/office/drawing/2014/main" id="{B6312D5F-5A52-5F41-1664-DD7FF9E6D07F}"/>
              </a:ext>
            </a:extLst>
          </p:cNvPr>
          <p:cNvSpPr txBox="1"/>
          <p:nvPr/>
        </p:nvSpPr>
        <p:spPr>
          <a:xfrm>
            <a:off x="8001000" y="4111676"/>
            <a:ext cx="6572250" cy="2585323"/>
          </a:xfrm>
          <a:prstGeom prst="rect">
            <a:avLst/>
          </a:prstGeom>
          <a:noFill/>
        </p:spPr>
        <p:txBody>
          <a:bodyPr wrap="square">
            <a:spAutoFit/>
          </a:bodyPr>
          <a:lstStyle/>
          <a:p>
            <a:pPr marL="0" marR="0" indent="0" algn="l">
              <a:buNone/>
            </a:pPr>
            <a:r>
              <a:rPr lang="fr-FR" sz="1800" b="0" i="0" spc="-11" dirty="0">
                <a:solidFill>
                  <a:schemeClr val="bg1"/>
                </a:solidFill>
                <a:effectLst/>
                <a:latin typeface="+mn-lt"/>
              </a:rPr>
              <a:t>Une page de diagnostic contenant :</a:t>
            </a:r>
          </a:p>
          <a:p>
            <a:pPr marL="0" marR="0" lvl="0" indent="-342900" algn="l">
              <a:buFont typeface="+mj-lt"/>
              <a:buAutoNum type="arabicPeriod"/>
            </a:pPr>
            <a:r>
              <a:rPr lang="fr-FR" sz="1800" b="0" i="0" spc="-11" dirty="0">
                <a:solidFill>
                  <a:schemeClr val="bg1"/>
                </a:solidFill>
                <a:effectLst/>
                <a:latin typeface="+mn-lt"/>
              </a:rPr>
              <a:t>le contexte et la version de PostgreSQL ;</a:t>
            </a:r>
          </a:p>
          <a:p>
            <a:pPr marL="0" marR="0" lvl="0" indent="-342900" algn="l">
              <a:buFont typeface="+mj-lt"/>
              <a:buAutoNum type="arabicPeriod"/>
            </a:pPr>
            <a:r>
              <a:rPr lang="fr-FR" sz="1800" b="0" i="0" spc="-11" dirty="0">
                <a:solidFill>
                  <a:schemeClr val="bg1"/>
                </a:solidFill>
                <a:effectLst/>
                <a:latin typeface="+mn-lt"/>
              </a:rPr>
              <a:t>les deux requêtes SQL ;</a:t>
            </a:r>
          </a:p>
          <a:p>
            <a:pPr marL="0" marR="0" lvl="0" indent="-342900" algn="l">
              <a:buFont typeface="+mj-lt"/>
              <a:buAutoNum type="arabicPeriod"/>
            </a:pPr>
            <a:r>
              <a:rPr lang="fr-FR" sz="1800" b="0" i="0" spc="-11" dirty="0">
                <a:solidFill>
                  <a:schemeClr val="bg1"/>
                </a:solidFill>
                <a:effectLst/>
                <a:latin typeface="+mn-lt"/>
              </a:rPr>
              <a:t>les résultats fonctionnels vérifiés ;</a:t>
            </a:r>
          </a:p>
          <a:p>
            <a:pPr marL="0" marR="0" lvl="0" indent="-342900" algn="l">
              <a:buFont typeface="+mj-lt"/>
              <a:buAutoNum type="arabicPeriod"/>
            </a:pPr>
            <a:r>
              <a:rPr lang="fr-FR" sz="1800" b="0" i="0" spc="-11" dirty="0">
                <a:solidFill>
                  <a:schemeClr val="bg1"/>
                </a:solidFill>
                <a:effectLst/>
                <a:latin typeface="+mn-lt"/>
              </a:rPr>
              <a:t>les cinq mesures de chaque requête ;</a:t>
            </a:r>
          </a:p>
          <a:p>
            <a:pPr marL="0" marR="0" lvl="0" indent="-342900" algn="l">
              <a:buFont typeface="+mj-lt"/>
              <a:buAutoNum type="arabicPeriod"/>
            </a:pPr>
            <a:r>
              <a:rPr lang="fr-FR" sz="1800" b="0" i="0" spc="-11" dirty="0">
                <a:solidFill>
                  <a:schemeClr val="bg1"/>
                </a:solidFill>
                <a:effectLst/>
                <a:latin typeface="+mn-lt"/>
              </a:rPr>
              <a:t>les plans EXPLAIN (ANALYZE, BUFFERS) complets, éventuellement en annexe ;</a:t>
            </a:r>
          </a:p>
          <a:p>
            <a:pPr marL="0" marR="0" lvl="0" indent="-342900" algn="l">
              <a:buFont typeface="+mj-lt"/>
              <a:buAutoNum type="arabicPeriod"/>
            </a:pPr>
            <a:r>
              <a:rPr lang="fr-FR" sz="1800" b="0" i="0" spc="-11" dirty="0">
                <a:solidFill>
                  <a:schemeClr val="bg1"/>
                </a:solidFill>
                <a:effectLst/>
                <a:latin typeface="+mn-lt"/>
              </a:rPr>
              <a:t>le nœud coûteux identifié ;</a:t>
            </a:r>
          </a:p>
          <a:p>
            <a:pPr marL="0" marR="0" lvl="0" indent="-342900" algn="l">
              <a:buFont typeface="+mj-lt"/>
              <a:buAutoNum type="arabicPeriod"/>
            </a:pPr>
            <a:r>
              <a:rPr lang="fr-FR" sz="1800" b="0" i="0" spc="-11" dirty="0">
                <a:solidFill>
                  <a:schemeClr val="bg1"/>
                </a:solidFill>
                <a:effectLst/>
                <a:latin typeface="+mn-lt"/>
              </a:rPr>
              <a:t>une hypothèse expliquant son coût.</a:t>
            </a:r>
            <a:endParaRPr lang="fr-FR" sz="1050" b="0" i="0" spc="-11" dirty="0">
              <a:solidFill>
                <a:schemeClr val="bg1"/>
              </a:solidFill>
              <a:effectLst/>
              <a:latin typeface="OpenAI Sans"/>
            </a:endParaRPr>
          </a:p>
        </p:txBody>
      </p:sp>
    </p:spTree>
    <p:extLst>
      <p:ext uri="{BB962C8B-B14F-4D97-AF65-F5344CB8AC3E}">
        <p14:creationId xmlns:p14="http://schemas.microsoft.com/office/powerpoint/2010/main" val="865160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9CFB16B4-2947-4C9E-9114-972060F819D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1   /   OPTIMISATION BDD</a:t>
            </a:r>
          </a:p>
        </p:txBody>
      </p:sp>
      <p:sp>
        <p:nvSpPr>
          <p:cNvPr id="3" name="Rectangle 2">
            <a:extLst>
              <a:ext uri="{FF2B5EF4-FFF2-40B4-BE49-F238E27FC236}">
                <a16:creationId xmlns:a16="http://schemas.microsoft.com/office/drawing/2014/main" id="{CCF352E3-AF13-451E-A97C-C96F612BEC4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La jointure et sa cardinalité</a:t>
            </a:r>
          </a:p>
        </p:txBody>
      </p:sp>
      <p:sp>
        <p:nvSpPr>
          <p:cNvPr id="4" name="Rectangle 3">
            <a:extLst>
              <a:ext uri="{FF2B5EF4-FFF2-40B4-BE49-F238E27FC236}">
                <a16:creationId xmlns:a16="http://schemas.microsoft.com/office/drawing/2014/main" id="{57152E60-9016-4920-A0C8-B7D9819298CE}"/>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C1D3E49E-309E-4D32-BF7D-E76D769B69D0}"/>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Une jointure relie les lignes selon une condition. La cardinalité de sortie dépend du nombre de correspondances. Une relation un-à-plusieurs peut multiplier les lignes du parent et fausser une somme si l’on oublie ce changement de granularité.</a:t>
            </a:r>
          </a:p>
        </p:txBody>
      </p:sp>
      <p:sp>
        <p:nvSpPr>
          <p:cNvPr id="6" name="Rectangle 5">
            <a:extLst>
              <a:ext uri="{FF2B5EF4-FFF2-40B4-BE49-F238E27FC236}">
                <a16:creationId xmlns:a16="http://schemas.microsoft.com/office/drawing/2014/main" id="{27CA5D6E-6DD5-4D68-8173-90FF86879AAD}"/>
              </a:ext>
            </a:extLst>
          </p:cNvPr>
          <p:cNvSpPr>
            <a:spLocks noGrp="1"/>
          </p:cNvSpPr>
          <p:nvPr/>
        </p:nvSpPr>
        <p:spPr>
          <a:xfrm>
            <a:off x="666750" y="4591050"/>
            <a:ext cx="9144000" cy="1905000"/>
          </a:xfrm>
          <a:prstGeom prst="rect">
            <a:avLst/>
          </a:prstGeom>
          <a:noFill/>
          <a:ln w="0">
            <a:noFill/>
          </a:ln>
        </p:spPr>
        <p:txBody>
          <a:bodyPr>
            <a:normAutofit/>
          </a:bodyPr>
          <a:lstStyle/>
          <a:p>
            <a:pPr>
              <a:defRPr sz="2175" b="0">
                <a:solidFill>
                  <a:srgbClr val="F6F3ED"/>
                </a:solidFill>
                <a:latin typeface="Aptos"/>
                <a:ea typeface="Aptos"/>
                <a:cs typeface="Aptos"/>
              </a:defRPr>
            </a:pPr>
            <a:r>
              <a:rPr lang="fr-FR" sz="2175" b="0">
                <a:solidFill>
                  <a:srgbClr val="F6F3ED"/>
                </a:solidFill>
                <a:latin typeface="Aptos"/>
                <a:ea typeface="Aptos"/>
                <a:cs typeface="Aptos"/>
              </a:rPr>
              <a:t>Joindre incidents à incident_events renvoie une ligne par événement, pas une ligne par incident. Additionner la durée de résolution dans ce résultat peut compter plusieurs fois certains incidents. Une optimisation doit préserver la granularité attendue.</a:t>
            </a:r>
            <a:endParaRPr sz="2175" b="0">
              <a:solidFill>
                <a:srgbClr val="F6F3ED"/>
              </a:solidFill>
              <a:latin typeface="Aptos"/>
              <a:ea typeface="Aptos"/>
              <a:cs typeface="Aptos"/>
            </a:endParaRPr>
          </a:p>
        </p:txBody>
      </p:sp>
      <p:sp>
        <p:nvSpPr>
          <p:cNvPr id="7" name="Rectangle 6">
            <a:extLst>
              <a:ext uri="{FF2B5EF4-FFF2-40B4-BE49-F238E27FC236}">
                <a16:creationId xmlns:a16="http://schemas.microsoft.com/office/drawing/2014/main" id="{746D2188-1E87-4F6A-86FB-83C4D721CF3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F84A406B-67CE-434F-BB73-690324FDD733}"/>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Question de contrôle : qu’identifie une ligne du résultat ?</a:t>
            </a:r>
          </a:p>
        </p:txBody>
      </p:sp>
      <p:sp>
        <p:nvSpPr>
          <p:cNvPr id="9" name="Rectangle 8">
            <a:extLst>
              <a:ext uri="{FF2B5EF4-FFF2-40B4-BE49-F238E27FC236}">
                <a16:creationId xmlns:a16="http://schemas.microsoft.com/office/drawing/2014/main" id="{C2476A77-D4DA-467F-B7B9-B13E868E620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C6B1B064-1E31-4FBE-8227-FD050D5AE4D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24 / 34</a:t>
            </a:r>
          </a:p>
        </p:txBody>
      </p:sp>
      <p:sp>
        <p:nvSpPr>
          <p:cNvPr id="13" name="ZoneTexte 12">
            <a:extLst>
              <a:ext uri="{FF2B5EF4-FFF2-40B4-BE49-F238E27FC236}">
                <a16:creationId xmlns:a16="http://schemas.microsoft.com/office/drawing/2014/main" id="{654D25AB-7AE3-C79D-6C3E-48814BCD5990}"/>
              </a:ext>
            </a:extLst>
          </p:cNvPr>
          <p:cNvSpPr txBox="1"/>
          <p:nvPr/>
        </p:nvSpPr>
        <p:spPr>
          <a:xfrm>
            <a:off x="666750" y="7543800"/>
            <a:ext cx="7618686" cy="369332"/>
          </a:xfrm>
          <a:prstGeom prst="rect">
            <a:avLst/>
          </a:prstGeom>
          <a:noFill/>
        </p:spPr>
        <p:txBody>
          <a:bodyPr wrap="square">
            <a:spAutoFit/>
          </a:bodyPr>
          <a:lstStyle/>
          <a:p>
            <a:r>
              <a:rPr lang="fr-FR" sz="1800" b="1" i="0" spc="-11" dirty="0">
                <a:solidFill>
                  <a:srgbClr val="FFC000"/>
                </a:solidFill>
                <a:effectLst/>
                <a:latin typeface="+mn-lt"/>
              </a:rPr>
              <a:t>Toujours identifier la granularité du résultat avant de faire une agrégation.</a:t>
            </a:r>
            <a:endParaRPr lang="fr-FR" dirty="0">
              <a:solidFill>
                <a:srgbClr val="FFC000"/>
              </a:solidFill>
            </a:endParaRPr>
          </a:p>
        </p:txBody>
      </p:sp>
    </p:spTree>
    <p:extLst>
      <p:ext uri="{BB962C8B-B14F-4D97-AF65-F5344CB8AC3E}">
        <p14:creationId xmlns:p14="http://schemas.microsoft.com/office/powerpoint/2010/main" val="830229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DEC6A32-419A-4151-896D-F379ABBA7B96}"/>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28E599E3-ABC6-4AD2-BE47-D2D839DE721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Nested Loop, Hash Join et Merge Join</a:t>
            </a:r>
          </a:p>
        </p:txBody>
      </p:sp>
      <p:sp>
        <p:nvSpPr>
          <p:cNvPr id="4" name="Rectangle 3">
            <a:extLst>
              <a:ext uri="{FF2B5EF4-FFF2-40B4-BE49-F238E27FC236}">
                <a16:creationId xmlns:a16="http://schemas.microsoft.com/office/drawing/2014/main" id="{1C700A0F-14F2-450A-86D1-6312357A76B4}"/>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Une boucle imbriquée recherche des correspondances pour chaque ligne de l’entrée externe. Elle peut être efficace avec peu de lignes et un bon accès interne. Une jointure par hachage construit une structure sur une entrée.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Une jointure par fusion rapproche des entrées ordonnées. Ces stratégies ont des coûts de préparation et de mémoire différents. Les volumes estimés, le tri disponible et la sélectivité expliquent le choix.</a:t>
            </a:r>
          </a:p>
        </p:txBody>
      </p:sp>
      <p:graphicFrame>
        <p:nvGraphicFramePr>
          <p:cNvPr id="14" name="Tableau 13"/>
          <p:cNvGraphicFramePr/>
          <p:nvPr/>
        </p:nvGraphicFramePr>
        <p:xfrm>
          <a:off x="7334250" y="2381250"/>
          <a:ext cx="7239000" cy="2971800"/>
        </p:xfrm>
        <a:graphic>
          <a:graphicData uri="http://schemas.openxmlformats.org/drawingml/2006/table">
            <a:tb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742950">
                <a:tc>
                  <a:txBody>
                    <a:bodyPr/>
                    <a:lstStyle/>
                    <a:p>
                      <a:r>
                        <a:rPr sz="1800" b="1">
                          <a:solidFill>
                            <a:srgbClr val="FFFFFF"/>
                          </a:solidFill>
                          <a:latin typeface="Aptos"/>
                          <a:ea typeface="Aptos"/>
                          <a:cs typeface="Aptos"/>
                        </a:rPr>
                        <a:t>Stratégie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Situation favorable</a:t>
                      </a:r>
                    </a:p>
                  </a:txBody>
                  <a:tcPr marL="142875" marR="142875" marT="114300" marB="114300" anchor="ctr">
                    <a:solidFill>
                      <a:srgbClr val="173C4C"/>
                    </a:solidFill>
                  </a:tcPr>
                </a:tc>
                <a:extLst>
                  <a:ext uri="{0D108BD9-81ED-4DB2-BD59-A6C34878D82A}">
                    <a16:rowId xmlns:a16="http://schemas.microsoft.com/office/drawing/2014/main" val="10000"/>
                  </a:ext>
                </a:extLst>
              </a:tr>
              <a:tr h="742950">
                <a:tc>
                  <a:txBody>
                    <a:bodyPr/>
                    <a:lstStyle/>
                    <a:p>
                      <a:r>
                        <a:rPr sz="1800">
                          <a:solidFill>
                            <a:srgbClr val="173044"/>
                          </a:solidFill>
                          <a:latin typeface="Aptos"/>
                          <a:ea typeface="Aptos"/>
                          <a:cs typeface="Aptos"/>
                        </a:rPr>
                        <a:t>Nested Loop</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Peu de lignes, recherche ciblée</a:t>
                      </a:r>
                    </a:p>
                  </a:txBody>
                  <a:tcPr marL="142875" marR="142875" marT="114300" marB="114300" anchor="ctr">
                    <a:solidFill>
                      <a:srgbClr val="F2DEC6"/>
                    </a:solidFill>
                  </a:tcPr>
                </a:tc>
                <a:extLst>
                  <a:ext uri="{0D108BD9-81ED-4DB2-BD59-A6C34878D82A}">
                    <a16:rowId xmlns:a16="http://schemas.microsoft.com/office/drawing/2014/main" val="10001"/>
                  </a:ext>
                </a:extLst>
              </a:tr>
              <a:tr h="742950">
                <a:tc>
                  <a:txBody>
                    <a:bodyPr/>
                    <a:lstStyle/>
                    <a:p>
                      <a:r>
                        <a:rPr sz="1800">
                          <a:solidFill>
                            <a:srgbClr val="173044"/>
                          </a:solidFill>
                          <a:latin typeface="Aptos"/>
                          <a:ea typeface="Aptos"/>
                          <a:cs typeface="Aptos"/>
                        </a:rPr>
                        <a:t>Hash Join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Égalité sur ensembles importants</a:t>
                      </a:r>
                    </a:p>
                  </a:txBody>
                  <a:tcPr marL="142875" marR="142875" marT="114300" marB="114300" anchor="ctr">
                    <a:solidFill>
                      <a:srgbClr val="F2DEC6"/>
                    </a:solidFill>
                  </a:tcPr>
                </a:tc>
                <a:extLst>
                  <a:ext uri="{0D108BD9-81ED-4DB2-BD59-A6C34878D82A}">
                    <a16:rowId xmlns:a16="http://schemas.microsoft.com/office/drawing/2014/main" val="10002"/>
                  </a:ext>
                </a:extLst>
              </a:tr>
              <a:tr h="742950">
                <a:tc>
                  <a:txBody>
                    <a:bodyPr/>
                    <a:lstStyle/>
                    <a:p>
                      <a:r>
                        <a:rPr sz="1800">
                          <a:solidFill>
                            <a:srgbClr val="173044"/>
                          </a:solidFill>
                          <a:latin typeface="Aptos"/>
                          <a:ea typeface="Aptos"/>
                          <a:cs typeface="Aptos"/>
                        </a:rPr>
                        <a:t>Merge Join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Entrées ordonnées compatibles</a:t>
                      </a:r>
                    </a:p>
                  </a:txBody>
                  <a:tcPr marL="142875" marR="142875" marT="114300" marB="114300" anchor="ctr">
                    <a:solidFill>
                      <a:srgbClr val="F2DEC6"/>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254838B2-B0AA-4459-AB0A-7A7407811DB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298793E6-F0B8-4666-8B1E-6CC9BDED550B}"/>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moteur décide selon le contexte. Il n’existe pas d’algorithme gagnant pour toutes les requêtes.</a:t>
            </a:r>
          </a:p>
        </p:txBody>
      </p:sp>
      <p:sp>
        <p:nvSpPr>
          <p:cNvPr id="8" name="Rectangle 7">
            <a:extLst>
              <a:ext uri="{FF2B5EF4-FFF2-40B4-BE49-F238E27FC236}">
                <a16:creationId xmlns:a16="http://schemas.microsoft.com/office/drawing/2014/main" id="{435AFC21-187D-4964-B0F4-F8357949F06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7F3D4C70-4DE2-4D67-A117-511DCDE09342}"/>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25 / 34</a:t>
            </a:r>
          </a:p>
        </p:txBody>
      </p:sp>
    </p:spTree>
    <p:extLst>
      <p:ext uri="{BB962C8B-B14F-4D97-AF65-F5344CB8AC3E}">
        <p14:creationId xmlns:p14="http://schemas.microsoft.com/office/powerpoint/2010/main" val="2141725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F6635EC-CF4E-438F-B1A9-1C2E8C64EE8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B7E91088-E77B-4630-8287-D1E73B73D75D}"/>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INNER JOIN et LEFT JOIN</a:t>
            </a:r>
          </a:p>
        </p:txBody>
      </p:sp>
      <p:sp>
        <p:nvSpPr>
          <p:cNvPr id="4" name="Rectangle 3">
            <a:extLst>
              <a:ext uri="{FF2B5EF4-FFF2-40B4-BE49-F238E27FC236}">
                <a16:creationId xmlns:a16="http://schemas.microsoft.com/office/drawing/2014/main" id="{A54717B6-4393-4F12-AE75-BC5F8C10A1F2}"/>
              </a:ext>
            </a:extLst>
          </p:cNvPr>
          <p:cNvSpPr>
            <a:spLocks noGrp="1"/>
          </p:cNvSpPr>
          <p:nvPr/>
        </p:nvSpPr>
        <p:spPr>
          <a:xfrm>
            <a:off x="666750" y="2105025"/>
            <a:ext cx="6191250" cy="4333875"/>
          </a:xfrm>
          <a:prstGeom prst="rect">
            <a:avLst/>
          </a:prstGeom>
          <a:noFill/>
          <a:ln w="0">
            <a:noFill/>
          </a:ln>
        </p:spPr>
        <p:txBody>
          <a:bodyPr>
            <a:normAutofit/>
          </a:bodyPr>
          <a:lstStyle/>
          <a:p>
            <a:pPr>
              <a:defRPr sz="2025" b="0">
                <a:solidFill>
                  <a:srgbClr val="173044"/>
                </a:solidFill>
                <a:latin typeface="Aptos"/>
                <a:ea typeface="Aptos"/>
                <a:cs typeface="Aptos"/>
              </a:defRPr>
            </a:pPr>
            <a:r>
              <a:rPr lang="fr-FR" sz="2025" b="0">
                <a:solidFill>
                  <a:srgbClr val="173044"/>
                </a:solidFill>
                <a:latin typeface="Aptos"/>
                <a:ea typeface="Aptos"/>
                <a:cs typeface="Aptos"/>
              </a:rPr>
              <a:t>INNER JOIN conserve les lignes qui trouvent une correspondance. LEFT JOIN conserve aussi les lignes de gauche sans correspondance, avec des valeurs NULL du côté droit. Ce choix exprime le résultat métier.
Un filtre sur la table de droite placé dans WHERE peut retirer les lignes sans correspondance. Le déplacer dans ON change le résultat. Réécrire une requête uniquement pour sa durée peut donc transformer silencieusement une jointure externe.</a:t>
            </a:r>
            <a:endParaRPr sz="2025"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9230B070-8CFF-4F8F-BFE2-108D5B9D135B}"/>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362F13BC-9473-4C5C-B7C7-FF1CF0357698}"/>
              </a:ext>
            </a:extLst>
          </p:cNvPr>
          <p:cNvSpPr>
            <a:spLocks noGrp="1"/>
          </p:cNvSpPr>
          <p:nvPr/>
        </p:nvSpPr>
        <p:spPr>
          <a:xfrm>
            <a:off x="7524750" y="2476500"/>
            <a:ext cx="7000875" cy="4000500"/>
          </a:xfrm>
          <a:prstGeom prst="rect">
            <a:avLst/>
          </a:prstGeom>
          <a:noFill/>
          <a:ln w="0">
            <a:noFill/>
          </a:ln>
        </p:spPr>
        <p:txBody>
          <a:bodyPr>
            <a:normAutofit lnSpcReduction="10000"/>
          </a:bodyPr>
          <a:lstStyle/>
          <a:p>
            <a:pPr>
              <a:defRPr sz="1800" b="0">
                <a:solidFill>
                  <a:srgbClr val="173044"/>
                </a:solidFill>
                <a:latin typeface="Consolas"/>
                <a:ea typeface="Consolas"/>
                <a:cs typeface="Consolas"/>
              </a:defRPr>
            </a:pPr>
            <a:r>
              <a:rPr lang="fr-FR" sz="1800" b="0">
                <a:solidFill>
                  <a:srgbClr val="173044"/>
                </a:solidFill>
                <a:latin typeface="Consolas"/>
                <a:ea typeface="Consolas"/>
                <a:cs typeface="Consolas"/>
              </a:rPr>
              <a:t>SELECT s.id, s.nom, i.id
FROM services s
LEFT JOIN incidents i
  ON i.service_id = s.id
 AND i.severite = 'P1'
 AND i.opened_at &gt;=
     TIMESTAMPTZ '2026-09-01 00:00+00';
-- Filtre dans WHERE :
-- les services sans incident disparaissent.
LEFT JOIN incidents i
  ON i.service_id = s.id
WHERE i.severite = 'P1'
  AND i.opened_at &gt;= ...</a:t>
            </a:r>
            <a:endParaRPr sz="1800" b="0" dirty="0">
              <a:latin typeface="Consolas"/>
              <a:ea typeface="Consolas"/>
              <a:cs typeface="Consolas"/>
            </a:endParaRPr>
          </a:p>
        </p:txBody>
      </p:sp>
      <p:sp>
        <p:nvSpPr>
          <p:cNvPr id="7" name="Rectangle 6">
            <a:extLst>
              <a:ext uri="{FF2B5EF4-FFF2-40B4-BE49-F238E27FC236}">
                <a16:creationId xmlns:a16="http://schemas.microsoft.com/office/drawing/2014/main" id="{B65EF087-E976-4ACC-90C1-7B8535E8921F}"/>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23100034-6D1B-4D85-96D8-2349E99B4564}"/>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Exemple : tous les services doivent rester visibles, même sans incident critique récent.</a:t>
            </a:r>
            <a:endParaRPr sz="1875" b="0">
              <a:solidFill>
                <a:srgbClr val="173044"/>
              </a:solidFill>
              <a:latin typeface="Aptos"/>
              <a:ea typeface="Aptos"/>
              <a:cs typeface="Aptos"/>
            </a:endParaRPr>
          </a:p>
        </p:txBody>
      </p:sp>
      <p:sp>
        <p:nvSpPr>
          <p:cNvPr id="9" name="Rectangle 8">
            <a:extLst>
              <a:ext uri="{FF2B5EF4-FFF2-40B4-BE49-F238E27FC236}">
                <a16:creationId xmlns:a16="http://schemas.microsoft.com/office/drawing/2014/main" id="{0B49F23B-9CD8-4F79-A5F1-3AB2D0D98C7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47AA0AA8-39D3-47C3-9384-B3C5AA725E8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dirty="0">
                <a:solidFill>
                  <a:srgbClr val="3F5B66"/>
                </a:solidFill>
                <a:latin typeface="Aptos"/>
                <a:ea typeface="Aptos"/>
                <a:cs typeface="Aptos"/>
              </a:rPr>
              <a:t>26 / 34</a:t>
            </a:r>
          </a:p>
        </p:txBody>
      </p:sp>
    </p:spTree>
    <p:extLst>
      <p:ext uri="{BB962C8B-B14F-4D97-AF65-F5344CB8AC3E}">
        <p14:creationId xmlns:p14="http://schemas.microsoft.com/office/powerpoint/2010/main" val="38112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C09C2913-69CB-48E0-B393-2E23CD9F1E1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6F0440AB-B417-4D15-856E-03AA0E07AF7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EXISTS et sous-requête corrélée</a:t>
            </a:r>
          </a:p>
        </p:txBody>
      </p:sp>
      <p:sp>
        <p:nvSpPr>
          <p:cNvPr id="4" name="Rectangle 3">
            <a:extLst>
              <a:ext uri="{FF2B5EF4-FFF2-40B4-BE49-F238E27FC236}">
                <a16:creationId xmlns:a16="http://schemas.microsoft.com/office/drawing/2014/main" id="{1A1CE31A-3B3D-492B-892F-D9C023E62483}"/>
              </a:ext>
            </a:extLst>
          </p:cNvPr>
          <p:cNvSpPr>
            <a:spLocks noGrp="1"/>
          </p:cNvSpPr>
          <p:nvPr/>
        </p:nvSpPr>
        <p:spPr>
          <a:xfrm>
            <a:off x="666750" y="2105025"/>
            <a:ext cx="6191250" cy="4333875"/>
          </a:xfrm>
          <a:prstGeom prst="rect">
            <a:avLst/>
          </a:prstGeom>
          <a:noFill/>
          <a:ln w="0">
            <a:noFill/>
          </a:ln>
        </p:spPr>
        <p:txBody>
          <a:bodyPr>
            <a:normAutofit/>
          </a:bodyPr>
          <a:lstStyle/>
          <a:p>
            <a:pPr>
              <a:defRPr sz="2025" b="0">
                <a:solidFill>
                  <a:srgbClr val="173044"/>
                </a:solidFill>
                <a:latin typeface="Aptos"/>
                <a:ea typeface="Aptos"/>
                <a:cs typeface="Aptos"/>
              </a:defRPr>
            </a:pPr>
            <a:r>
              <a:rPr lang="fr-FR" sz="2025" b="0">
                <a:solidFill>
                  <a:srgbClr val="173044"/>
                </a:solidFill>
                <a:latin typeface="Aptos"/>
                <a:ea typeface="Aptos"/>
                <a:cs typeface="Aptos"/>
              </a:rPr>
              <a:t>EXISTS répond à une question de présence : existe-t-il au moins un incident critique ouvert pour ce service ? Il évite de multiplier les services par leur nombre d’incidents dans le résultat logique.
Une sous-requête corrélée utilise une valeur de la ligne externe. Le moteur peut transformer certaines formes en jointure ou en autre plan. Dire que toute sous-requête est lente serait incorrect. On compare le plan et la granularité.</a:t>
            </a:r>
            <a:endParaRPr sz="2025"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72EFF3AD-8F8A-447C-B356-46FEB7759198}"/>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269FAAF0-50EB-4503-B639-272A24BBFAAE}"/>
              </a:ext>
            </a:extLst>
          </p:cNvPr>
          <p:cNvSpPr>
            <a:spLocks noGrp="1"/>
          </p:cNvSpPr>
          <p:nvPr/>
        </p:nvSpPr>
        <p:spPr>
          <a:xfrm>
            <a:off x="7524750" y="2476500"/>
            <a:ext cx="7000875" cy="4000500"/>
          </a:xfrm>
          <a:prstGeom prst="rect">
            <a:avLst/>
          </a:prstGeom>
          <a:noFill/>
          <a:ln w="0">
            <a:noFill/>
          </a:ln>
        </p:spPr>
        <p:txBody>
          <a:bodyPr>
            <a:normAutofit fontScale="92500" lnSpcReduction="10000"/>
          </a:bodyPr>
          <a:lstStyle/>
          <a:p>
            <a:pPr>
              <a:defRPr sz="1800" b="0">
                <a:solidFill>
                  <a:srgbClr val="173044"/>
                </a:solidFill>
                <a:latin typeface="Consolas"/>
                <a:ea typeface="Consolas"/>
                <a:cs typeface="Consolas"/>
              </a:defRPr>
            </a:pPr>
            <a:r>
              <a:rPr lang="fr-FR" sz="1800" b="0">
                <a:solidFill>
                  <a:srgbClr val="173044"/>
                </a:solidFill>
                <a:latin typeface="Consolas"/>
                <a:ea typeface="Consolas"/>
                <a:cs typeface="Consolas"/>
              </a:rPr>
              <a:t>SELECT s.id, s.nom
FROM services s
WHERE EXISTS (
  SELECT 1 FROM incidents i
  WHERE i.service_id = s.id
    AND i.severite = 'P1'
    AND i.statut = 'ouvert'
);
-- On pourrait écrire :
SELECT s.id, s.nom
FROM services s
JOIN incidents i
  ON i.service_id = s.id
WHERE i.severite = 'P1'
  AND i.statut = 'ouvert';</a:t>
            </a:r>
            <a:endParaRPr sz="1800" b="0" dirty="0">
              <a:solidFill>
                <a:srgbClr val="173044"/>
              </a:solidFill>
              <a:latin typeface="Consolas"/>
              <a:ea typeface="Consolas"/>
              <a:cs typeface="Consolas"/>
            </a:endParaRPr>
          </a:p>
        </p:txBody>
      </p:sp>
      <p:sp>
        <p:nvSpPr>
          <p:cNvPr id="7" name="Rectangle 6">
            <a:extLst>
              <a:ext uri="{FF2B5EF4-FFF2-40B4-BE49-F238E27FC236}">
                <a16:creationId xmlns:a16="http://schemas.microsoft.com/office/drawing/2014/main" id="{CBDE0448-D40F-4D96-AB39-939930955886}"/>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5C570778-4B8C-48E2-89D3-0F7479CB4D01}"/>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L’exemple cherche les services qui possèdent au moins un incident critique encore ouvert.</a:t>
            </a:r>
            <a:endParaRPr sz="1875" b="0">
              <a:solidFill>
                <a:srgbClr val="173044"/>
              </a:solidFill>
              <a:latin typeface="Aptos"/>
              <a:ea typeface="Aptos"/>
              <a:cs typeface="Aptos"/>
            </a:endParaRPr>
          </a:p>
        </p:txBody>
      </p:sp>
      <p:sp>
        <p:nvSpPr>
          <p:cNvPr id="9" name="Rectangle 8">
            <a:extLst>
              <a:ext uri="{FF2B5EF4-FFF2-40B4-BE49-F238E27FC236}">
                <a16:creationId xmlns:a16="http://schemas.microsoft.com/office/drawing/2014/main" id="{52F1E073-4A82-42D5-8088-F7A36422D403}"/>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5373F4D6-9B52-4188-BCDE-F17B45295C97}"/>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27 / 34</a:t>
            </a:r>
          </a:p>
        </p:txBody>
      </p:sp>
    </p:spTree>
    <p:extLst>
      <p:ext uri="{BB962C8B-B14F-4D97-AF65-F5344CB8AC3E}">
        <p14:creationId xmlns:p14="http://schemas.microsoft.com/office/powerpoint/2010/main" val="1697006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CB83E517-1DA9-4A8A-87A1-8983B8215C0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CA123648-98A8-4459-AAA6-A9EE05DCBF6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Agrégation avant la jointure</a:t>
            </a:r>
          </a:p>
        </p:txBody>
      </p:sp>
      <p:sp>
        <p:nvSpPr>
          <p:cNvPr id="4" name="Rectangle 3">
            <a:extLst>
              <a:ext uri="{FF2B5EF4-FFF2-40B4-BE49-F238E27FC236}">
                <a16:creationId xmlns:a16="http://schemas.microsoft.com/office/drawing/2014/main" id="{3E088C13-3EF4-4989-A7BE-38239E889DF8}"/>
              </a:ext>
            </a:extLst>
          </p:cNvPr>
          <p:cNvSpPr>
            <a:spLocks noGrp="1"/>
          </p:cNvSpPr>
          <p:nvPr/>
        </p:nvSpPr>
        <p:spPr>
          <a:xfrm>
            <a:off x="666750" y="2105025"/>
            <a:ext cx="6191250" cy="4333875"/>
          </a:xfrm>
          <a:prstGeom prst="rect">
            <a:avLst/>
          </a:prstGeom>
          <a:noFill/>
          <a:ln w="0">
            <a:noFill/>
          </a:ln>
        </p:spPr>
        <p:txBody>
          <a:bodyPr>
            <a:normAutofit/>
          </a:bodyPr>
          <a:lstStyle/>
          <a:p>
            <a:pPr>
              <a:defRPr sz="2025" b="0">
                <a:solidFill>
                  <a:srgbClr val="173044"/>
                </a:solidFill>
                <a:latin typeface="Aptos"/>
                <a:ea typeface="Aptos"/>
                <a:cs typeface="Aptos"/>
              </a:defRPr>
            </a:pPr>
            <a:r>
              <a:rPr lang="fr-FR" sz="2025" b="0">
                <a:solidFill>
                  <a:srgbClr val="173044"/>
                </a:solidFill>
                <a:latin typeface="Aptos"/>
                <a:ea typeface="Aptos"/>
                <a:cs typeface="Aptos"/>
              </a:rPr>
              <a:t>Pour afficher le nombre d’événements par incident, une sous-requête peut d’abord agréger incident_events par incident_id. La jointure suivante reçoit un ensemble qui contient au plus une ligne par incident.
Cette organisation explicite la granularité. Elle n’est pas toujours plus rapide : agréger tous les événements alors que l’on demande un seul service peut créer du travail inutile.
Le filtre et le plan révèlent ce compromis.</a:t>
            </a:r>
            <a:endParaRPr sz="2025" b="1" i="1" dirty="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8DEFF05E-5E8E-497A-8794-B76EE66D3F37}"/>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624C5564-FA99-4255-87D7-E2A3479E72E0}"/>
              </a:ext>
            </a:extLst>
          </p:cNvPr>
          <p:cNvSpPr>
            <a:spLocks noGrp="1"/>
          </p:cNvSpPr>
          <p:nvPr/>
        </p:nvSpPr>
        <p:spPr>
          <a:xfrm>
            <a:off x="7524750" y="2476500"/>
            <a:ext cx="7000875" cy="4000500"/>
          </a:xfrm>
          <a:prstGeom prst="rect">
            <a:avLst/>
          </a:prstGeom>
          <a:noFill/>
          <a:ln w="0">
            <a:noFill/>
          </a:ln>
        </p:spPr>
        <p:txBody>
          <a:bodyPr>
            <a:normAutofit/>
          </a:bodyPr>
          <a:lstStyle/>
          <a:p>
            <a:pPr>
              <a:defRPr sz="1800" b="0">
                <a:solidFill>
                  <a:srgbClr val="173044"/>
                </a:solidFill>
                <a:latin typeface="Consolas"/>
                <a:ea typeface="Consolas"/>
                <a:cs typeface="Consolas"/>
              </a:defRPr>
            </a:pPr>
            <a:r>
              <a:rPr lang="fr-FR" sz="1300" b="0">
                <a:solidFill>
                  <a:srgbClr val="173044"/>
                </a:solidFill>
                <a:latin typeface="Courier New"/>
                <a:ea typeface="Consolas"/>
                <a:cs typeface="Courier New"/>
              </a:rPr>
              <a:t>SELECT i.id, x.nb_events
FROM incidents i
JOIN (
  SELECT incident_id,
         COUNT(*) AS nb_events
  FROM incident_events
  GROUP BY incident_id
) x ON x.incident_id = i.id
WHERE i.service_id = 42;
-- Variante : filtrer avant de grouper
SELECT i.id, COUNT(e.id) AS nb_events
FROM incidents i
JOIN incident_events e
  ON e.incident_id = i.id
WHERE i.service_id = 42
GROUP BY i.id;</a:t>
            </a:r>
            <a:endParaRPr sz="1300" b="0" dirty="0">
              <a:solidFill>
                <a:srgbClr val="173044"/>
              </a:solidFill>
              <a:latin typeface="Courier New"/>
              <a:ea typeface="Consolas"/>
              <a:cs typeface="Courier New"/>
            </a:endParaRPr>
          </a:p>
        </p:txBody>
      </p:sp>
      <p:sp>
        <p:nvSpPr>
          <p:cNvPr id="7" name="Rectangle 6">
            <a:extLst>
              <a:ext uri="{FF2B5EF4-FFF2-40B4-BE49-F238E27FC236}">
                <a16:creationId xmlns:a16="http://schemas.microsoft.com/office/drawing/2014/main" id="{F4D72D3D-0482-44A3-95E1-8C47FBD63D86}"/>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82A968C0-BC2C-40D0-AC83-EBD8733A4364}"/>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Le résultat attendu contient une ligne par incident, avec son nombre d’événements techniques.</a:t>
            </a:r>
            <a:endParaRPr sz="1875" b="0">
              <a:solidFill>
                <a:srgbClr val="173044"/>
              </a:solidFill>
              <a:latin typeface="Aptos"/>
              <a:ea typeface="Aptos"/>
              <a:cs typeface="Aptos"/>
            </a:endParaRPr>
          </a:p>
        </p:txBody>
      </p:sp>
      <p:sp>
        <p:nvSpPr>
          <p:cNvPr id="9" name="Rectangle 8">
            <a:extLst>
              <a:ext uri="{FF2B5EF4-FFF2-40B4-BE49-F238E27FC236}">
                <a16:creationId xmlns:a16="http://schemas.microsoft.com/office/drawing/2014/main" id="{D5B53520-9AE5-42CC-9BE2-1349C0397D43}"/>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CDE1BF60-95BA-4027-A4E3-6DB453DFFDB6}"/>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28 / 34</a:t>
            </a:r>
          </a:p>
        </p:txBody>
      </p:sp>
    </p:spTree>
    <p:extLst>
      <p:ext uri="{BB962C8B-B14F-4D97-AF65-F5344CB8AC3E}">
        <p14:creationId xmlns:p14="http://schemas.microsoft.com/office/powerpoint/2010/main" val="4604976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ECBFD2D-67FC-4A99-8DED-D91D8358704D}"/>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D8678B48-D061-4584-9BC4-9A13A345D6D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CTE, vues et vues matérialisées</a:t>
            </a:r>
          </a:p>
        </p:txBody>
      </p:sp>
      <p:sp>
        <p:nvSpPr>
          <p:cNvPr id="4" name="Rectangle 3">
            <a:extLst>
              <a:ext uri="{FF2B5EF4-FFF2-40B4-BE49-F238E27FC236}">
                <a16:creationId xmlns:a16="http://schemas.microsoft.com/office/drawing/2014/main" id="{562D186D-59F9-4AAB-B047-D6BEA699F498}"/>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C2F29E62-114C-45C8-A43C-875E37E54709}"/>
              </a:ext>
            </a:extLst>
          </p:cNvPr>
          <p:cNvSpPr>
            <a:spLocks noGrp="1"/>
          </p:cNvSpPr>
          <p:nvPr/>
        </p:nvSpPr>
        <p:spPr>
          <a:xfrm>
            <a:off x="666750" y="2571750"/>
            <a:ext cx="6334125" cy="3524250"/>
          </a:xfrm>
          <a:prstGeom prst="rect">
            <a:avLst/>
          </a:prstGeom>
          <a:noFill/>
          <a:ln w="0">
            <a:noFill/>
          </a:ln>
        </p:spPr>
        <p:txBody>
          <a:bodyPr>
            <a:normAutofit/>
          </a:bodyPr>
          <a:lstStyle/>
          <a:p>
            <a:pPr>
              <a:defRPr sz="2325" b="0">
                <a:solidFill>
                  <a:srgbClr val="173044"/>
                </a:solidFill>
                <a:latin typeface="Aptos"/>
                <a:ea typeface="Aptos"/>
                <a:cs typeface="Aptos"/>
              </a:defRPr>
            </a:pPr>
            <a:r>
              <a:rPr lang="fr-FR" sz="2000" b="0">
                <a:solidFill>
                  <a:srgbClr val="173044"/>
                </a:solidFill>
                <a:latin typeface="Aptos"/>
                <a:ea typeface="Aptos"/>
                <a:cs typeface="Aptos"/>
              </a:rPr>
              <a:t>Une CTE nomme une étape d’une requête. Selon sa forme et son usage, PostgreSQL peut l’intégrer au plan ou la matérialiser. Une vue ordinaire mémorise une définition SQL plutôt que son résultat.
Une CTE (Common Table Expression) est un résultat intermédiaire nommé, défini avec WITH :</a:t>
            </a:r>
            <a:endParaRPr sz="2000" b="0" dirty="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2F14DBE7-C0BE-4B67-B921-F1A525D5A889}"/>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26FD9E1E-E391-4373-9014-AFFCEBBE23F4}"/>
              </a:ext>
            </a:extLst>
          </p:cNvPr>
          <p:cNvSpPr>
            <a:spLocks noGrp="1"/>
          </p:cNvSpPr>
          <p:nvPr/>
        </p:nvSpPr>
        <p:spPr>
          <a:xfrm>
            <a:off x="8096250" y="2571750"/>
            <a:ext cx="6381750" cy="3524250"/>
          </a:xfrm>
          <a:prstGeom prst="rect">
            <a:avLst/>
          </a:prstGeom>
          <a:noFill/>
          <a:ln w="0">
            <a:noFill/>
          </a:ln>
        </p:spPr>
        <p:txBody>
          <a:bodyPr>
            <a:normAutofit/>
          </a:bodyPr>
          <a:lstStyle/>
          <a:p>
            <a:pPr>
              <a:defRPr sz="2325" b="0">
                <a:solidFill>
                  <a:srgbClr val="173044"/>
                </a:solidFill>
                <a:latin typeface="Aptos"/>
                <a:ea typeface="Aptos"/>
                <a:cs typeface="Aptos"/>
              </a:defRPr>
            </a:pPr>
            <a:r>
              <a:rPr lang="fr-FR" sz="2325" dirty="0">
                <a:solidFill>
                  <a:srgbClr val="173044"/>
                </a:solidFill>
                <a:latin typeface="Aptos"/>
                <a:ea typeface="Aptos"/>
                <a:cs typeface="Aptos"/>
              </a:rPr>
              <a:t>Une </a:t>
            </a:r>
            <a:r>
              <a:rPr lang="fr-FR" sz="2325" b="1" i="1" dirty="0">
                <a:solidFill>
                  <a:srgbClr val="173044"/>
                </a:solidFill>
                <a:latin typeface="Aptos"/>
                <a:ea typeface="Aptos"/>
                <a:cs typeface="Aptos"/>
              </a:rPr>
              <a:t>vue matérialisée </a:t>
            </a:r>
            <a:r>
              <a:rPr lang="fr-FR" sz="2325" dirty="0">
                <a:solidFill>
                  <a:srgbClr val="173044"/>
                </a:solidFill>
                <a:latin typeface="Aptos"/>
                <a:ea typeface="Aptos"/>
                <a:cs typeface="Aptos"/>
              </a:rPr>
              <a:t>conserve un résultat à rafraîchir. Elle peut accélérer un tableau de bord au prix d’un décalage de fraîcheur. La décision doit préciser qui rafraîchit, quand et ce que l’API promet aux utilisateurs.</a:t>
            </a:r>
            <a:endParaRPr sz="2325" dirty="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C7275D9B-F0EF-4C87-9A6D-4B683D723B80}"/>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CE2175D7-4868-447F-BF02-AE0706D1BFC4}"/>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Une vue matérialisée convient à un tableau de bord horaire, moins à un écran d’astreinte qui doit afficher immédiatement un incident critique.</a:t>
            </a:r>
            <a:endParaRPr sz="1875" b="0">
              <a:solidFill>
                <a:srgbClr val="173044"/>
              </a:solidFill>
              <a:latin typeface="Aptos"/>
              <a:ea typeface="Aptos"/>
              <a:cs typeface="Aptos"/>
            </a:endParaRPr>
          </a:p>
        </p:txBody>
      </p:sp>
      <p:sp>
        <p:nvSpPr>
          <p:cNvPr id="10" name="Rectangle 9">
            <a:extLst>
              <a:ext uri="{FF2B5EF4-FFF2-40B4-BE49-F238E27FC236}">
                <a16:creationId xmlns:a16="http://schemas.microsoft.com/office/drawing/2014/main" id="{CF720C31-C454-4DB1-B127-5A601F0C7653}"/>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7EA85E7A-7972-4DD3-82FD-C2B8D0DB7C18}"/>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29 / 34</a:t>
            </a:r>
          </a:p>
        </p:txBody>
      </p:sp>
      <p:sp>
        <p:nvSpPr>
          <p:cNvPr id="14" name="ZoneTexte 13">
            <a:extLst>
              <a:ext uri="{FF2B5EF4-FFF2-40B4-BE49-F238E27FC236}">
                <a16:creationId xmlns:a16="http://schemas.microsoft.com/office/drawing/2014/main" id="{704731D3-EFF1-A473-7E9F-3EB1BEDB5C2F}"/>
              </a:ext>
            </a:extLst>
          </p:cNvPr>
          <p:cNvSpPr txBox="1"/>
          <p:nvPr/>
        </p:nvSpPr>
        <p:spPr>
          <a:xfrm>
            <a:off x="2314247" y="4836974"/>
            <a:ext cx="7618686" cy="1754326"/>
          </a:xfrm>
          <a:prstGeom prst="rect">
            <a:avLst/>
          </a:prstGeom>
          <a:noFill/>
        </p:spPr>
        <p:txBody>
          <a:bodyPr wrap="square">
            <a:normAutofit fontScale="85000" lnSpcReduction="10000"/>
          </a:bodyPr>
          <a:lstStyle/>
          <a:p>
            <a:r>
              <a:rPr lang="en-US"/>
              <a:t>WITH incidents_critiques AS (
  SELECT * FROM incidents
  WHERE severite = 'P1'
    AND opened_at &gt;= CURRENT_DATE - INTERVAL '30 days'
)
SELECT service_id, COUNT(*)
FROM incidents_critiques
GROUP BY service_id;</a:t>
            </a:r>
            <a:endParaRPr lang="fr-FR" dirty="0"/>
          </a:p>
        </p:txBody>
      </p:sp>
    </p:spTree>
    <p:extLst>
      <p:ext uri="{BB962C8B-B14F-4D97-AF65-F5344CB8AC3E}">
        <p14:creationId xmlns:p14="http://schemas.microsoft.com/office/powerpoint/2010/main" val="766426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1213BE0-FC03-4B35-9E72-E3E24D3A0C9E}"/>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F25D3694-099B-4F1E-B630-E2BEDF37BD3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Projection et transfert des résultats</a:t>
            </a:r>
          </a:p>
        </p:txBody>
      </p:sp>
      <p:sp>
        <p:nvSpPr>
          <p:cNvPr id="4" name="Rectangle 3">
            <a:extLst>
              <a:ext uri="{FF2B5EF4-FFF2-40B4-BE49-F238E27FC236}">
                <a16:creationId xmlns:a16="http://schemas.microsoft.com/office/drawing/2014/main" id="{BC668847-5FEB-4B46-B448-CFB1CA84F8B8}"/>
              </a:ext>
            </a:extLst>
          </p:cNvPr>
          <p:cNvSpPr>
            <a:spLocks noGrp="1"/>
          </p:cNvSpPr>
          <p:nvPr/>
        </p:nvSpPr>
        <p:spPr>
          <a:xfrm>
            <a:off x="666750" y="2209800"/>
            <a:ext cx="13525500" cy="1762125"/>
          </a:xfrm>
          <a:prstGeom prst="rect">
            <a:avLst/>
          </a:prstGeom>
          <a:noFill/>
          <a:ln w="0">
            <a:noFill/>
          </a:ln>
        </p:spPr>
        <p:txBody>
          <a:bodyPr>
            <a:noAutofit/>
          </a:bodyPr>
          <a:lstStyle/>
          <a:p>
            <a:pPr>
              <a:defRPr sz="2550" b="0">
                <a:solidFill>
                  <a:srgbClr val="173044"/>
                </a:solidFill>
                <a:latin typeface="Aptos"/>
                <a:ea typeface="Aptos"/>
                <a:cs typeface="Aptos"/>
              </a:defRPr>
            </a:pPr>
            <a:r>
              <a:rPr sz="2550" b="0">
                <a:solidFill>
                  <a:srgbClr val="173044"/>
                </a:solidFill>
                <a:latin typeface="Aptos"/>
                <a:ea typeface="Aptos"/>
                <a:cs typeface="Aptos"/>
              </a:rPr>
              <a:t>SELECT * expose toutes les colonnes, y compris des valeurs volumineuses et des données inutiles à l’écran. La projection limite le résultat au contrat de l’API et réduit le travail de transfert et de sérialisation.</a:t>
            </a:r>
          </a:p>
        </p:txBody>
      </p:sp>
      <p:sp>
        <p:nvSpPr>
          <p:cNvPr id="5" name="Rectangle 4">
            <a:extLst>
              <a:ext uri="{FF2B5EF4-FFF2-40B4-BE49-F238E27FC236}">
                <a16:creationId xmlns:a16="http://schemas.microsoft.com/office/drawing/2014/main" id="{BC00F045-BA57-4CB4-BA40-036E762094C3}"/>
              </a:ext>
            </a:extLst>
          </p:cNvPr>
          <p:cNvSpPr>
            <a:spLocks noGrp="1"/>
          </p:cNvSpPr>
          <p:nvPr/>
        </p:nvSpPr>
        <p:spPr>
          <a:xfrm>
            <a:off x="3714750" y="4343400"/>
            <a:ext cx="10715625" cy="1981200"/>
          </a:xfrm>
          <a:prstGeom prst="rect">
            <a:avLst/>
          </a:prstGeom>
          <a:noFill/>
          <a:ln w="0">
            <a:noFill/>
          </a:ln>
        </p:spPr>
        <p:txBody>
          <a:bodyPr>
            <a:noAutofit/>
          </a:bodyPr>
          <a:lstStyle/>
          <a:p>
            <a:pPr>
              <a:defRPr sz="2250" b="0">
                <a:solidFill>
                  <a:srgbClr val="173044"/>
                </a:solidFill>
                <a:latin typeface="Aptos"/>
                <a:ea typeface="Aptos"/>
                <a:cs typeface="Aptos"/>
              </a:defRPr>
            </a:pPr>
            <a:r>
              <a:rPr sz="2250" b="0">
                <a:solidFill>
                  <a:srgbClr val="173044"/>
                </a:solidFill>
                <a:latin typeface="Aptos"/>
                <a:ea typeface="Aptos"/>
                <a:cs typeface="Aptos"/>
              </a:rPr>
              <a:t>Le gain dépend du volume retourné. Une projection ne remplace pas un filtre ou une limite. L’API fixe une taille de page, une liste de champs et un accès autorisé avant de déclencher la requête.</a:t>
            </a:r>
          </a:p>
        </p:txBody>
      </p:sp>
      <p:sp>
        <p:nvSpPr>
          <p:cNvPr id="6" name="Rectangle 5">
            <a:extLst>
              <a:ext uri="{FF2B5EF4-FFF2-40B4-BE49-F238E27FC236}">
                <a16:creationId xmlns:a16="http://schemas.microsoft.com/office/drawing/2014/main" id="{36DF5812-DB1A-4859-8ED1-C95A188E008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9E89579D-F6F9-4C54-B00C-5978E6FE0C97}"/>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Pour la liste des incidents : id, service_id, severite, statut et opened_at suffisent souvent. La description, le diagnostic et les événements sont chargés à la demande.</a:t>
            </a:r>
            <a:endParaRPr sz="187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1730C987-3577-4D66-96C7-3A7DAEEF2F1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8B89B6DE-110E-4074-AF28-C7302FBBA82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30 / 34</a:t>
            </a:r>
          </a:p>
        </p:txBody>
      </p:sp>
    </p:spTree>
    <p:extLst>
      <p:ext uri="{BB962C8B-B14F-4D97-AF65-F5344CB8AC3E}">
        <p14:creationId xmlns:p14="http://schemas.microsoft.com/office/powerpoint/2010/main" val="1264322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EB35FAE5-1212-4C0B-9B38-7E9B4594797F}"/>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1   /   OPTIMISATION BDD</a:t>
            </a:r>
          </a:p>
        </p:txBody>
      </p:sp>
      <p:sp>
        <p:nvSpPr>
          <p:cNvPr id="3" name="Rectangle 2">
            <a:extLst>
              <a:ext uri="{FF2B5EF4-FFF2-40B4-BE49-F238E27FC236}">
                <a16:creationId xmlns:a16="http://schemas.microsoft.com/office/drawing/2014/main" id="{59ED7B0E-6392-4790-9A3F-109AEF1D2CF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2 : une réécriture équivalente</a:t>
            </a:r>
          </a:p>
        </p:txBody>
      </p:sp>
      <p:sp>
        <p:nvSpPr>
          <p:cNvPr id="4" name="Rectangle 3">
            <a:extLst>
              <a:ext uri="{FF2B5EF4-FFF2-40B4-BE49-F238E27FC236}">
                <a16:creationId xmlns:a16="http://schemas.microsoft.com/office/drawing/2014/main" id="{097EB269-3F5A-4B43-A14C-B6511758F6AF}"/>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B0A8F4EF-846D-4D9E-AAAB-4B93420F012D}"/>
              </a:ext>
            </a:extLst>
          </p:cNvPr>
          <p:cNvSpPr>
            <a:spLocks noGrp="1"/>
          </p:cNvSpPr>
          <p:nvPr/>
        </p:nvSpPr>
        <p:spPr>
          <a:xfrm>
            <a:off x="666750" y="2667000"/>
            <a:ext cx="6334125" cy="3429000"/>
          </a:xfrm>
          <a:prstGeom prst="rect">
            <a:avLst/>
          </a:prstGeom>
          <a:noFill/>
          <a:ln w="0">
            <a:noFill/>
          </a:ln>
        </p:spPr>
        <p:txBody>
          <a:bodyPr>
            <a:noAutofit/>
          </a:bodyPr>
          <a:lstStyle/>
          <a:p>
            <a:pPr marL="342900" indent="-342900">
              <a:buFont typeface="Arial" panose="020B0604020202020204" pitchFamily="34" charset="0"/>
              <a:buChar char="•"/>
              <a:defRPr sz="2325" b="0">
                <a:solidFill>
                  <a:srgbClr val="F6F3ED"/>
                </a:solidFill>
                <a:latin typeface="Aptos"/>
                <a:ea typeface="Aptos"/>
                <a:cs typeface="Aptos"/>
              </a:defRPr>
            </a:pPr>
            <a:r>
              <a:rPr sz="2325" b="0" dirty="0">
                <a:solidFill>
                  <a:srgbClr val="F6F3ED"/>
                </a:solidFill>
                <a:latin typeface="Aptos"/>
                <a:ea typeface="Aptos"/>
                <a:cs typeface="Aptos"/>
              </a:rPr>
              <a:t>Comparer </a:t>
            </a:r>
            <a:r>
              <a:rPr sz="2325" b="0" dirty="0" err="1">
                <a:solidFill>
                  <a:srgbClr val="F6F3ED"/>
                </a:solidFill>
                <a:latin typeface="Aptos"/>
                <a:ea typeface="Aptos"/>
                <a:cs typeface="Aptos"/>
              </a:rPr>
              <a:t>une</a:t>
            </a:r>
            <a:r>
              <a:rPr sz="2325" b="0" dirty="0">
                <a:solidFill>
                  <a:srgbClr val="F6F3ED"/>
                </a:solidFill>
                <a:latin typeface="Aptos"/>
                <a:ea typeface="Aptos"/>
                <a:cs typeface="Aptos"/>
              </a:rPr>
              <a:t> jointure qui </a:t>
            </a:r>
            <a:r>
              <a:rPr sz="2325" b="0" dirty="0" err="1">
                <a:solidFill>
                  <a:srgbClr val="F6F3ED"/>
                </a:solidFill>
                <a:latin typeface="Aptos"/>
                <a:ea typeface="Aptos"/>
                <a:cs typeface="Aptos"/>
              </a:rPr>
              <a:t>duplique</a:t>
            </a:r>
            <a:r>
              <a:rPr sz="2325" b="0" dirty="0">
                <a:solidFill>
                  <a:srgbClr val="F6F3ED"/>
                </a:solidFill>
                <a:latin typeface="Aptos"/>
                <a:ea typeface="Aptos"/>
                <a:cs typeface="Aptos"/>
              </a:rPr>
              <a:t> les clients avec </a:t>
            </a:r>
            <a:r>
              <a:rPr sz="2325" b="0" dirty="0" err="1">
                <a:solidFill>
                  <a:srgbClr val="F6F3ED"/>
                </a:solidFill>
                <a:latin typeface="Aptos"/>
                <a:ea typeface="Aptos"/>
                <a:cs typeface="Aptos"/>
              </a:rPr>
              <a:t>une</a:t>
            </a:r>
            <a:r>
              <a:rPr sz="2325" b="0" dirty="0">
                <a:solidFill>
                  <a:srgbClr val="F6F3ED"/>
                </a:solidFill>
                <a:latin typeface="Aptos"/>
                <a:ea typeface="Aptos"/>
                <a:cs typeface="Aptos"/>
              </a:rPr>
              <a:t> version EXISTS. </a:t>
            </a:r>
            <a:endParaRPr lang="fr-FR" sz="2325" b="0" dirty="0">
              <a:solidFill>
                <a:srgbClr val="F6F3ED"/>
              </a:solidFill>
              <a:latin typeface="Aptos"/>
              <a:ea typeface="Aptos"/>
              <a:cs typeface="Aptos"/>
            </a:endParaRPr>
          </a:p>
          <a:p>
            <a:pPr marL="342900" indent="-342900">
              <a:buFont typeface="Arial" panose="020B0604020202020204" pitchFamily="34" charset="0"/>
              <a:buChar char="•"/>
              <a:defRPr sz="2325" b="0">
                <a:solidFill>
                  <a:srgbClr val="F6F3ED"/>
                </a:solidFill>
                <a:latin typeface="Aptos"/>
                <a:ea typeface="Aptos"/>
                <a:cs typeface="Aptos"/>
              </a:defRPr>
            </a:pPr>
            <a:r>
              <a:rPr sz="2325" b="0" dirty="0" err="1">
                <a:solidFill>
                  <a:srgbClr val="F6F3ED"/>
                </a:solidFill>
                <a:latin typeface="Aptos"/>
                <a:ea typeface="Aptos"/>
                <a:cs typeface="Aptos"/>
              </a:rPr>
              <a:t>Construire</a:t>
            </a:r>
            <a:r>
              <a:rPr sz="2325" b="0" dirty="0">
                <a:solidFill>
                  <a:srgbClr val="F6F3ED"/>
                </a:solidFill>
                <a:latin typeface="Aptos"/>
                <a:ea typeface="Aptos"/>
                <a:cs typeface="Aptos"/>
              </a:rPr>
              <a:t> ensuite un total par </a:t>
            </a:r>
            <a:r>
              <a:rPr sz="2325" b="0" dirty="0" err="1">
                <a:solidFill>
                  <a:srgbClr val="F6F3ED"/>
                </a:solidFill>
                <a:latin typeface="Aptos"/>
                <a:ea typeface="Aptos"/>
                <a:cs typeface="Aptos"/>
              </a:rPr>
              <a:t>commande</a:t>
            </a:r>
            <a:r>
              <a:rPr sz="2325" b="0" dirty="0">
                <a:solidFill>
                  <a:srgbClr val="F6F3ED"/>
                </a:solidFill>
                <a:latin typeface="Aptos"/>
                <a:ea typeface="Aptos"/>
                <a:cs typeface="Aptos"/>
              </a:rPr>
              <a:t> sans multiplier </a:t>
            </a:r>
            <a:r>
              <a:rPr sz="2325" b="0" dirty="0" err="1">
                <a:solidFill>
                  <a:srgbClr val="F6F3ED"/>
                </a:solidFill>
                <a:latin typeface="Aptos"/>
                <a:ea typeface="Aptos"/>
                <a:cs typeface="Aptos"/>
              </a:rPr>
              <a:t>commandes.total</a:t>
            </a:r>
            <a:r>
              <a:rPr sz="2325" b="0" dirty="0">
                <a:solidFill>
                  <a:srgbClr val="F6F3ED"/>
                </a:solidFill>
                <a:latin typeface="Aptos"/>
                <a:ea typeface="Aptos"/>
                <a:cs typeface="Aptos"/>
              </a:rPr>
              <a:t>. </a:t>
            </a:r>
            <a:endParaRPr lang="fr-FR" sz="2325" dirty="0">
              <a:solidFill>
                <a:srgbClr val="F6F3ED"/>
              </a:solidFill>
              <a:latin typeface="Aptos"/>
              <a:ea typeface="Aptos"/>
              <a:cs typeface="Aptos"/>
            </a:endParaRPr>
          </a:p>
          <a:p>
            <a:pPr marL="342900" indent="-342900">
              <a:buFont typeface="Arial" panose="020B0604020202020204" pitchFamily="34" charset="0"/>
              <a:buChar char="•"/>
              <a:defRPr sz="2325" b="0">
                <a:solidFill>
                  <a:srgbClr val="F6F3ED"/>
                </a:solidFill>
                <a:latin typeface="Aptos"/>
                <a:ea typeface="Aptos"/>
                <a:cs typeface="Aptos"/>
              </a:defRPr>
            </a:pPr>
            <a:r>
              <a:rPr sz="2325" b="0" dirty="0" err="1">
                <a:solidFill>
                  <a:srgbClr val="F6F3ED"/>
                </a:solidFill>
                <a:latin typeface="Aptos"/>
                <a:ea typeface="Aptos"/>
                <a:cs typeface="Aptos"/>
              </a:rPr>
              <a:t>Utiliser</a:t>
            </a:r>
            <a:r>
              <a:rPr sz="2325" b="0" dirty="0">
                <a:solidFill>
                  <a:srgbClr val="F6F3ED"/>
                </a:solidFill>
                <a:latin typeface="Aptos"/>
                <a:ea typeface="Aptos"/>
                <a:cs typeface="Aptos"/>
              </a:rPr>
              <a:t> un client avec </a:t>
            </a:r>
            <a:r>
              <a:rPr sz="2325" b="0" dirty="0" err="1">
                <a:solidFill>
                  <a:srgbClr val="F6F3ED"/>
                </a:solidFill>
                <a:latin typeface="Aptos"/>
                <a:ea typeface="Aptos"/>
                <a:cs typeface="Aptos"/>
              </a:rPr>
              <a:t>plusieurs</a:t>
            </a:r>
            <a:r>
              <a:rPr sz="2325" b="0" dirty="0">
                <a:solidFill>
                  <a:srgbClr val="F6F3ED"/>
                </a:solidFill>
                <a:latin typeface="Aptos"/>
                <a:ea typeface="Aptos"/>
                <a:cs typeface="Aptos"/>
              </a:rPr>
              <a:t> </a:t>
            </a:r>
            <a:r>
              <a:rPr sz="2325" b="0" dirty="0" err="1">
                <a:solidFill>
                  <a:srgbClr val="F6F3ED"/>
                </a:solidFill>
                <a:latin typeface="Aptos"/>
                <a:ea typeface="Aptos"/>
                <a:cs typeface="Aptos"/>
              </a:rPr>
              <a:t>commandes</a:t>
            </a:r>
            <a:r>
              <a:rPr sz="2325" b="0" dirty="0">
                <a:solidFill>
                  <a:srgbClr val="F6F3ED"/>
                </a:solidFill>
                <a:latin typeface="Aptos"/>
                <a:ea typeface="Aptos"/>
                <a:cs typeface="Aptos"/>
              </a:rPr>
              <a:t> et </a:t>
            </a:r>
            <a:r>
              <a:rPr sz="2325" b="0" dirty="0" err="1">
                <a:solidFill>
                  <a:srgbClr val="F6F3ED"/>
                </a:solidFill>
                <a:latin typeface="Aptos"/>
                <a:ea typeface="Aptos"/>
                <a:cs typeface="Aptos"/>
              </a:rPr>
              <a:t>une</a:t>
            </a:r>
            <a:r>
              <a:rPr sz="2325" b="0" dirty="0">
                <a:solidFill>
                  <a:srgbClr val="F6F3ED"/>
                </a:solidFill>
                <a:latin typeface="Aptos"/>
                <a:ea typeface="Aptos"/>
                <a:cs typeface="Aptos"/>
              </a:rPr>
              <a:t> </a:t>
            </a:r>
            <a:r>
              <a:rPr sz="2325" b="0" dirty="0" err="1">
                <a:solidFill>
                  <a:srgbClr val="F6F3ED"/>
                </a:solidFill>
                <a:latin typeface="Aptos"/>
                <a:ea typeface="Aptos"/>
                <a:cs typeface="Aptos"/>
              </a:rPr>
              <a:t>commande</a:t>
            </a:r>
            <a:r>
              <a:rPr sz="2325" b="0" dirty="0">
                <a:solidFill>
                  <a:srgbClr val="F6F3ED"/>
                </a:solidFill>
                <a:latin typeface="Aptos"/>
                <a:ea typeface="Aptos"/>
                <a:cs typeface="Aptos"/>
              </a:rPr>
              <a:t> avec </a:t>
            </a:r>
            <a:r>
              <a:rPr sz="2325" b="0" dirty="0" err="1">
                <a:solidFill>
                  <a:srgbClr val="F6F3ED"/>
                </a:solidFill>
                <a:latin typeface="Aptos"/>
                <a:ea typeface="Aptos"/>
                <a:cs typeface="Aptos"/>
              </a:rPr>
              <a:t>plusieurs</a:t>
            </a:r>
            <a:r>
              <a:rPr sz="2325" b="0" dirty="0">
                <a:solidFill>
                  <a:srgbClr val="F6F3ED"/>
                </a:solidFill>
                <a:latin typeface="Aptos"/>
                <a:ea typeface="Aptos"/>
                <a:cs typeface="Aptos"/>
              </a:rPr>
              <a:t> </a:t>
            </a:r>
            <a:r>
              <a:rPr sz="2325" b="0" dirty="0" err="1">
                <a:solidFill>
                  <a:srgbClr val="F6F3ED"/>
                </a:solidFill>
                <a:latin typeface="Aptos"/>
                <a:ea typeface="Aptos"/>
                <a:cs typeface="Aptos"/>
              </a:rPr>
              <a:t>lignes</a:t>
            </a:r>
            <a:r>
              <a:rPr sz="2325" b="0" dirty="0">
                <a:solidFill>
                  <a:srgbClr val="F6F3ED"/>
                </a:solidFill>
                <a:latin typeface="Aptos"/>
                <a:ea typeface="Aptos"/>
                <a:cs typeface="Aptos"/>
              </a:rPr>
              <a:t>.</a:t>
            </a:r>
          </a:p>
        </p:txBody>
      </p:sp>
      <p:sp>
        <p:nvSpPr>
          <p:cNvPr id="6" name="Rectangle 5">
            <a:extLst>
              <a:ext uri="{FF2B5EF4-FFF2-40B4-BE49-F238E27FC236}">
                <a16:creationId xmlns:a16="http://schemas.microsoft.com/office/drawing/2014/main" id="{20C76994-44F7-405E-8B42-D80202DAA730}"/>
              </a:ext>
            </a:extLst>
          </p:cNvPr>
          <p:cNvSpPr>
            <a:spLocks noGrp="1"/>
          </p:cNvSpPr>
          <p:nvPr/>
        </p:nvSpPr>
        <p:spPr>
          <a:xfrm>
            <a:off x="80962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PREUVES À CONSERVER</a:t>
            </a:r>
          </a:p>
        </p:txBody>
      </p:sp>
      <p:sp>
        <p:nvSpPr>
          <p:cNvPr id="7" name="Rectangle 6">
            <a:extLst>
              <a:ext uri="{FF2B5EF4-FFF2-40B4-BE49-F238E27FC236}">
                <a16:creationId xmlns:a16="http://schemas.microsoft.com/office/drawing/2014/main" id="{8FF2B723-7E6C-4FEC-AA75-72E7695D60B7}"/>
              </a:ext>
            </a:extLst>
          </p:cNvPr>
          <p:cNvSpPr>
            <a:spLocks noGrp="1"/>
          </p:cNvSpPr>
          <p:nvPr/>
        </p:nvSpPr>
        <p:spPr>
          <a:xfrm>
            <a:off x="8096250" y="2667000"/>
            <a:ext cx="6381750"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dirty="0" err="1">
                <a:solidFill>
                  <a:srgbClr val="F6F3ED"/>
                </a:solidFill>
                <a:latin typeface="Aptos"/>
                <a:ea typeface="Aptos"/>
                <a:cs typeface="Aptos"/>
              </a:rPr>
              <a:t>Prouver</a:t>
            </a:r>
            <a:r>
              <a:rPr sz="2325" b="0" dirty="0">
                <a:solidFill>
                  <a:srgbClr val="F6F3ED"/>
                </a:solidFill>
                <a:latin typeface="Aptos"/>
                <a:ea typeface="Aptos"/>
                <a:cs typeface="Aptos"/>
              </a:rPr>
              <a:t> </a:t>
            </a:r>
            <a:r>
              <a:rPr sz="2325" b="0" dirty="0" err="1">
                <a:solidFill>
                  <a:srgbClr val="F6F3ED"/>
                </a:solidFill>
                <a:latin typeface="Aptos"/>
                <a:ea typeface="Aptos"/>
                <a:cs typeface="Aptos"/>
              </a:rPr>
              <a:t>l’équivalence</a:t>
            </a:r>
            <a:r>
              <a:rPr sz="2325" b="0" dirty="0">
                <a:solidFill>
                  <a:srgbClr val="F6F3ED"/>
                </a:solidFill>
                <a:latin typeface="Aptos"/>
                <a:ea typeface="Aptos"/>
                <a:cs typeface="Aptos"/>
              </a:rPr>
              <a:t> du </a:t>
            </a:r>
            <a:r>
              <a:rPr sz="2325" b="0" dirty="0" err="1">
                <a:solidFill>
                  <a:srgbClr val="F6F3ED"/>
                </a:solidFill>
                <a:latin typeface="Aptos"/>
                <a:ea typeface="Aptos"/>
                <a:cs typeface="Aptos"/>
              </a:rPr>
              <a:t>résultat</a:t>
            </a:r>
            <a:r>
              <a:rPr sz="2325" b="0" dirty="0">
                <a:solidFill>
                  <a:srgbClr val="F6F3ED"/>
                </a:solidFill>
                <a:latin typeface="Aptos"/>
                <a:ea typeface="Aptos"/>
                <a:cs typeface="Aptos"/>
              </a:rPr>
              <a:t> pertinent, </a:t>
            </a:r>
            <a:r>
              <a:rPr sz="2325" b="0" dirty="0" err="1">
                <a:solidFill>
                  <a:srgbClr val="F6F3ED"/>
                </a:solidFill>
                <a:latin typeface="Aptos"/>
                <a:ea typeface="Aptos"/>
                <a:cs typeface="Aptos"/>
              </a:rPr>
              <a:t>puis</a:t>
            </a:r>
            <a:r>
              <a:rPr sz="2325" b="0" dirty="0">
                <a:solidFill>
                  <a:srgbClr val="F6F3ED"/>
                </a:solidFill>
                <a:latin typeface="Aptos"/>
                <a:ea typeface="Aptos"/>
                <a:cs typeface="Aptos"/>
              </a:rPr>
              <a:t> </a:t>
            </a:r>
            <a:r>
              <a:rPr sz="2325" b="0" dirty="0" err="1">
                <a:solidFill>
                  <a:srgbClr val="F6F3ED"/>
                </a:solidFill>
                <a:latin typeface="Aptos"/>
                <a:ea typeface="Aptos"/>
                <a:cs typeface="Aptos"/>
              </a:rPr>
              <a:t>mesurer</a:t>
            </a:r>
            <a:r>
              <a:rPr sz="2325" b="0" dirty="0">
                <a:solidFill>
                  <a:srgbClr val="F6F3ED"/>
                </a:solidFill>
                <a:latin typeface="Aptos"/>
                <a:ea typeface="Aptos"/>
                <a:cs typeface="Aptos"/>
              </a:rPr>
              <a:t> les </a:t>
            </a:r>
            <a:r>
              <a:rPr sz="2325" b="0" dirty="0" err="1">
                <a:solidFill>
                  <a:srgbClr val="F6F3ED"/>
                </a:solidFill>
                <a:latin typeface="Aptos"/>
                <a:ea typeface="Aptos"/>
                <a:cs typeface="Aptos"/>
              </a:rPr>
              <a:t>variantes</a:t>
            </a:r>
            <a:r>
              <a:rPr sz="2325" b="0" dirty="0">
                <a:solidFill>
                  <a:srgbClr val="F6F3ED"/>
                </a:solidFill>
                <a:latin typeface="Aptos"/>
                <a:ea typeface="Aptos"/>
                <a:cs typeface="Aptos"/>
              </a:rPr>
              <a:t> avec le </a:t>
            </a:r>
            <a:r>
              <a:rPr sz="2325" b="0" dirty="0" err="1">
                <a:solidFill>
                  <a:srgbClr val="F6F3ED"/>
                </a:solidFill>
                <a:latin typeface="Aptos"/>
                <a:ea typeface="Aptos"/>
                <a:cs typeface="Aptos"/>
              </a:rPr>
              <a:t>même</a:t>
            </a:r>
            <a:r>
              <a:rPr sz="2325" b="0" dirty="0">
                <a:solidFill>
                  <a:srgbClr val="F6F3ED"/>
                </a:solidFill>
                <a:latin typeface="Aptos"/>
                <a:ea typeface="Aptos"/>
                <a:cs typeface="Aptos"/>
              </a:rPr>
              <a:t> </a:t>
            </a:r>
            <a:r>
              <a:rPr sz="2325" b="0" dirty="0" err="1">
                <a:solidFill>
                  <a:srgbClr val="F6F3ED"/>
                </a:solidFill>
                <a:latin typeface="Aptos"/>
                <a:ea typeface="Aptos"/>
                <a:cs typeface="Aptos"/>
              </a:rPr>
              <a:t>protocole</a:t>
            </a:r>
            <a:r>
              <a:rPr sz="2325" b="0" dirty="0">
                <a:solidFill>
                  <a:srgbClr val="F6F3ED"/>
                </a:solidFill>
                <a:latin typeface="Aptos"/>
                <a:ea typeface="Aptos"/>
                <a:cs typeface="Aptos"/>
              </a:rPr>
              <a:t>. Si les plans </a:t>
            </a:r>
            <a:r>
              <a:rPr sz="2325" b="0" dirty="0" err="1">
                <a:solidFill>
                  <a:srgbClr val="F6F3ED"/>
                </a:solidFill>
                <a:latin typeface="Aptos"/>
                <a:ea typeface="Aptos"/>
                <a:cs typeface="Aptos"/>
              </a:rPr>
              <a:t>deviennent</a:t>
            </a:r>
            <a:r>
              <a:rPr sz="2325" b="0" dirty="0">
                <a:solidFill>
                  <a:srgbClr val="F6F3ED"/>
                </a:solidFill>
                <a:latin typeface="Aptos"/>
                <a:ea typeface="Aptos"/>
                <a:cs typeface="Aptos"/>
              </a:rPr>
              <a:t> </a:t>
            </a:r>
            <a:r>
              <a:rPr sz="2325" b="0" dirty="0" err="1">
                <a:solidFill>
                  <a:srgbClr val="F6F3ED"/>
                </a:solidFill>
                <a:latin typeface="Aptos"/>
                <a:ea typeface="Aptos"/>
                <a:cs typeface="Aptos"/>
              </a:rPr>
              <a:t>identiques</a:t>
            </a:r>
            <a:r>
              <a:rPr sz="2325" b="0" dirty="0">
                <a:solidFill>
                  <a:srgbClr val="F6F3ED"/>
                </a:solidFill>
                <a:latin typeface="Aptos"/>
                <a:ea typeface="Aptos"/>
                <a:cs typeface="Aptos"/>
              </a:rPr>
              <a:t>, </a:t>
            </a:r>
            <a:r>
              <a:rPr sz="2325" b="0" dirty="0" err="1">
                <a:solidFill>
                  <a:srgbClr val="F6F3ED"/>
                </a:solidFill>
                <a:latin typeface="Aptos"/>
                <a:ea typeface="Aptos"/>
                <a:cs typeface="Aptos"/>
              </a:rPr>
              <a:t>l’expliquer</a:t>
            </a:r>
            <a:r>
              <a:rPr sz="2325" b="0" dirty="0">
                <a:solidFill>
                  <a:srgbClr val="F6F3ED"/>
                </a:solidFill>
                <a:latin typeface="Aptos"/>
                <a:ea typeface="Aptos"/>
                <a:cs typeface="Aptos"/>
              </a:rPr>
              <a:t>. Si la </a:t>
            </a:r>
            <a:r>
              <a:rPr sz="2325" b="0" dirty="0" err="1">
                <a:solidFill>
                  <a:srgbClr val="F6F3ED"/>
                </a:solidFill>
                <a:latin typeface="Aptos"/>
                <a:ea typeface="Aptos"/>
                <a:cs typeface="Aptos"/>
              </a:rPr>
              <a:t>réécriture</a:t>
            </a:r>
            <a:r>
              <a:rPr sz="2325" b="0" dirty="0">
                <a:solidFill>
                  <a:srgbClr val="F6F3ED"/>
                </a:solidFill>
                <a:latin typeface="Aptos"/>
                <a:ea typeface="Aptos"/>
                <a:cs typeface="Aptos"/>
              </a:rPr>
              <a:t> </a:t>
            </a:r>
            <a:r>
              <a:rPr sz="2325" b="0" dirty="0" err="1">
                <a:solidFill>
                  <a:srgbClr val="F6F3ED"/>
                </a:solidFill>
                <a:latin typeface="Aptos"/>
                <a:ea typeface="Aptos"/>
                <a:cs typeface="Aptos"/>
              </a:rPr>
              <a:t>perd</a:t>
            </a:r>
            <a:r>
              <a:rPr sz="2325" b="0" dirty="0">
                <a:solidFill>
                  <a:srgbClr val="F6F3ED"/>
                </a:solidFill>
                <a:latin typeface="Aptos"/>
                <a:ea typeface="Aptos"/>
                <a:cs typeface="Aptos"/>
              </a:rPr>
              <a:t> des </a:t>
            </a:r>
            <a:r>
              <a:rPr sz="2325" b="0" dirty="0" err="1">
                <a:solidFill>
                  <a:srgbClr val="F6F3ED"/>
                </a:solidFill>
                <a:latin typeface="Aptos"/>
                <a:ea typeface="Aptos"/>
                <a:cs typeface="Aptos"/>
              </a:rPr>
              <a:t>lignes</a:t>
            </a:r>
            <a:r>
              <a:rPr sz="2325" b="0" dirty="0">
                <a:solidFill>
                  <a:srgbClr val="F6F3ED"/>
                </a:solidFill>
                <a:latin typeface="Aptos"/>
                <a:ea typeface="Aptos"/>
                <a:cs typeface="Aptos"/>
              </a:rPr>
              <a:t>, la </a:t>
            </a:r>
            <a:r>
              <a:rPr sz="2325" b="0" dirty="0" err="1">
                <a:solidFill>
                  <a:srgbClr val="F6F3ED"/>
                </a:solidFill>
                <a:latin typeface="Aptos"/>
                <a:ea typeface="Aptos"/>
                <a:cs typeface="Aptos"/>
              </a:rPr>
              <a:t>rejeter</a:t>
            </a:r>
            <a:r>
              <a:rPr sz="2325" b="0" dirty="0">
                <a:solidFill>
                  <a:srgbClr val="F6F3ED"/>
                </a:solidFill>
                <a:latin typeface="Aptos"/>
                <a:ea typeface="Aptos"/>
                <a:cs typeface="Aptos"/>
              </a:rPr>
              <a:t> </a:t>
            </a:r>
            <a:r>
              <a:rPr sz="2325" b="0" dirty="0" err="1">
                <a:solidFill>
                  <a:srgbClr val="F6F3ED"/>
                </a:solidFill>
                <a:latin typeface="Aptos"/>
                <a:ea typeface="Aptos"/>
                <a:cs typeface="Aptos"/>
              </a:rPr>
              <a:t>même</a:t>
            </a:r>
            <a:r>
              <a:rPr sz="2325" b="0" dirty="0">
                <a:solidFill>
                  <a:srgbClr val="F6F3ED"/>
                </a:solidFill>
                <a:latin typeface="Aptos"/>
                <a:ea typeface="Aptos"/>
                <a:cs typeface="Aptos"/>
              </a:rPr>
              <a:t> </a:t>
            </a:r>
            <a:r>
              <a:rPr sz="2325" b="0" dirty="0" err="1">
                <a:solidFill>
                  <a:srgbClr val="F6F3ED"/>
                </a:solidFill>
                <a:latin typeface="Aptos"/>
                <a:ea typeface="Aptos"/>
                <a:cs typeface="Aptos"/>
              </a:rPr>
              <a:t>lorsque</a:t>
            </a:r>
            <a:r>
              <a:rPr sz="2325" b="0" dirty="0">
                <a:solidFill>
                  <a:srgbClr val="F6F3ED"/>
                </a:solidFill>
                <a:latin typeface="Aptos"/>
                <a:ea typeface="Aptos"/>
                <a:cs typeface="Aptos"/>
              </a:rPr>
              <a:t> </a:t>
            </a:r>
            <a:r>
              <a:rPr sz="2325" b="0" dirty="0" err="1">
                <a:solidFill>
                  <a:srgbClr val="F6F3ED"/>
                </a:solidFill>
                <a:latin typeface="Aptos"/>
                <a:ea typeface="Aptos"/>
                <a:cs typeface="Aptos"/>
              </a:rPr>
              <a:t>sa</a:t>
            </a:r>
            <a:r>
              <a:rPr sz="2325" b="0" dirty="0">
                <a:solidFill>
                  <a:srgbClr val="F6F3ED"/>
                </a:solidFill>
                <a:latin typeface="Aptos"/>
                <a:ea typeface="Aptos"/>
                <a:cs typeface="Aptos"/>
              </a:rPr>
              <a:t> durée </a:t>
            </a:r>
            <a:r>
              <a:rPr sz="2325" b="0" dirty="0" err="1">
                <a:solidFill>
                  <a:srgbClr val="F6F3ED"/>
                </a:solidFill>
                <a:latin typeface="Aptos"/>
                <a:ea typeface="Aptos"/>
                <a:cs typeface="Aptos"/>
              </a:rPr>
              <a:t>diminue</a:t>
            </a:r>
            <a:r>
              <a:rPr sz="2325" b="0" dirty="0">
                <a:solidFill>
                  <a:srgbClr val="F6F3ED"/>
                </a:solidFill>
                <a:latin typeface="Aptos"/>
                <a:ea typeface="Aptos"/>
                <a:cs typeface="Aptos"/>
              </a:rPr>
              <a:t>.</a:t>
            </a:r>
          </a:p>
        </p:txBody>
      </p:sp>
      <p:sp>
        <p:nvSpPr>
          <p:cNvPr id="8" name="Rectangle 7">
            <a:extLst>
              <a:ext uri="{FF2B5EF4-FFF2-40B4-BE49-F238E27FC236}">
                <a16:creationId xmlns:a16="http://schemas.microsoft.com/office/drawing/2014/main" id="{7C5022FE-0C74-4A38-B545-0EAF15D42F59}"/>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0A323A0C-E31B-4F5A-BF5D-202F60CD045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Livrable : SQL avant/après, contrôle du contenu, plans et interprétation. Temps prévu : 1 h.</a:t>
            </a:r>
          </a:p>
        </p:txBody>
      </p:sp>
      <p:sp>
        <p:nvSpPr>
          <p:cNvPr id="10" name="Rectangle 9">
            <a:extLst>
              <a:ext uri="{FF2B5EF4-FFF2-40B4-BE49-F238E27FC236}">
                <a16:creationId xmlns:a16="http://schemas.microsoft.com/office/drawing/2014/main" id="{AEED9429-BF14-497D-BE3E-1D4F3962F8E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D93E41D1-1FBD-46A8-BB39-E6F6E0C0A38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31 / 34</a:t>
            </a:r>
          </a:p>
        </p:txBody>
      </p:sp>
    </p:spTree>
    <p:extLst>
      <p:ext uri="{BB962C8B-B14F-4D97-AF65-F5344CB8AC3E}">
        <p14:creationId xmlns:p14="http://schemas.microsoft.com/office/powerpoint/2010/main" val="797747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47CEAD6D-0C58-4A08-B438-711865CAD9D6}"/>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1   /   OPTIMISATION BDD</a:t>
            </a:r>
          </a:p>
        </p:txBody>
      </p:sp>
      <p:sp>
        <p:nvSpPr>
          <p:cNvPr id="3" name="Rectangle 2">
            <a:extLst>
              <a:ext uri="{FF2B5EF4-FFF2-40B4-BE49-F238E27FC236}">
                <a16:creationId xmlns:a16="http://schemas.microsoft.com/office/drawing/2014/main" id="{8F861823-8F38-4842-A7FA-711B2D5523A9}"/>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Correction raisonnée du diagnostic</a:t>
            </a:r>
          </a:p>
        </p:txBody>
      </p:sp>
      <p:sp>
        <p:nvSpPr>
          <p:cNvPr id="4" name="Rectangle 3">
            <a:extLst>
              <a:ext uri="{FF2B5EF4-FFF2-40B4-BE49-F238E27FC236}">
                <a16:creationId xmlns:a16="http://schemas.microsoft.com/office/drawing/2014/main" id="{647349B3-97A8-4AE7-9542-2DD5C648D0CF}"/>
              </a:ext>
            </a:extLst>
          </p:cNvPr>
          <p:cNvSpPr>
            <a:spLocks noGrp="1"/>
          </p:cNvSpPr>
          <p:nvPr/>
        </p:nvSpPr>
        <p:spPr>
          <a:xfrm>
            <a:off x="666750" y="2238375"/>
            <a:ext cx="13525500" cy="1790700"/>
          </a:xfrm>
          <a:prstGeom prst="rect">
            <a:avLst/>
          </a:prstGeom>
          <a:noFill/>
          <a:ln w="0">
            <a:noFill/>
          </a:ln>
        </p:spPr>
        <p:txBody>
          <a:bodyPr>
            <a:normAutofit/>
          </a:bodyPr>
          <a:lstStyle/>
          <a:p>
            <a:pPr>
              <a:defRPr sz="2550" b="0">
                <a:solidFill>
                  <a:srgbClr val="F6F3ED"/>
                </a:solidFill>
                <a:latin typeface="Aptos"/>
                <a:ea typeface="Aptos"/>
                <a:cs typeface="Aptos"/>
              </a:defRPr>
            </a:pPr>
            <a:r>
              <a:rPr lang="fr-FR" sz="2550" b="0">
                <a:solidFill>
                  <a:srgbClr val="F6F3ED"/>
                </a:solidFill>
                <a:latin typeface="Aptos"/>
                <a:ea typeface="Aptos"/>
                <a:cs typeface="Aptos"/>
              </a:rPr>
              <a:t>Un diagnostic convaincant relie une observation à une cause possible. « Seq Scan lent » reste insuffisant. « 2 millions d’événements visités pour retrouver les 50 événements d’un incident critique » décrit un problème plus précis.</a:t>
            </a:r>
            <a:endParaRPr sz="2550" b="0">
              <a:solidFill>
                <a:srgbClr val="F6F3ED"/>
              </a:solidFill>
              <a:latin typeface="Aptos"/>
              <a:ea typeface="Aptos"/>
              <a:cs typeface="Aptos"/>
            </a:endParaRPr>
          </a:p>
        </p:txBody>
      </p:sp>
      <p:sp>
        <p:nvSpPr>
          <p:cNvPr id="5" name="Rectangle 4">
            <a:extLst>
              <a:ext uri="{FF2B5EF4-FFF2-40B4-BE49-F238E27FC236}">
                <a16:creationId xmlns:a16="http://schemas.microsoft.com/office/drawing/2014/main" id="{6D8FCE2A-9837-443C-BFCA-7CA9B542A5A3}"/>
              </a:ext>
            </a:extLst>
          </p:cNvPr>
          <p:cNvSpPr>
            <a:spLocks noGrp="1"/>
          </p:cNvSpPr>
          <p:nvPr/>
        </p:nvSpPr>
        <p:spPr>
          <a:xfrm>
            <a:off x="666750" y="4438650"/>
            <a:ext cx="10668000" cy="1809750"/>
          </a:xfrm>
          <a:prstGeom prst="rect">
            <a:avLst/>
          </a:prstGeom>
          <a:noFill/>
          <a:ln w="0">
            <a:noFill/>
          </a:ln>
        </p:spPr>
        <p:txBody>
          <a:bodyPr>
            <a:normAutofit/>
          </a:bodyPr>
          <a:lstStyle/>
          <a:p>
            <a:pPr>
              <a:defRPr sz="2325" b="0">
                <a:solidFill>
                  <a:srgbClr val="F6F3ED"/>
                </a:solidFill>
                <a:latin typeface="Aptos"/>
                <a:ea typeface="Aptos"/>
                <a:cs typeface="Aptos"/>
              </a:defRPr>
            </a:pPr>
            <a:r>
              <a:rPr lang="fr-FR" sz="2325" b="0">
                <a:solidFill>
                  <a:srgbClr val="F6F3ED"/>
                </a:solidFill>
                <a:latin typeface="Aptos"/>
                <a:ea typeface="Aptos"/>
                <a:cs typeface="Aptos"/>
              </a:rPr>
              <a:t>La correction propose ensuite une expérience : créer un index adapté, actualiser les statistiques ou limiter la période recherchée. Un résultat qui contredit l’hypothèse doit apparaître dans le dossier. Il aide à choisir la suite.</a:t>
            </a:r>
            <a:endParaRPr sz="2325" b="0">
              <a:solidFill>
                <a:srgbClr val="F6F3ED"/>
              </a:solidFill>
              <a:latin typeface="Aptos"/>
              <a:ea typeface="Aptos"/>
              <a:cs typeface="Aptos"/>
            </a:endParaRPr>
          </a:p>
        </p:txBody>
      </p:sp>
      <p:sp>
        <p:nvSpPr>
          <p:cNvPr id="6" name="Rectangle 5">
            <a:extLst>
              <a:ext uri="{FF2B5EF4-FFF2-40B4-BE49-F238E27FC236}">
                <a16:creationId xmlns:a16="http://schemas.microsoft.com/office/drawing/2014/main" id="{4FAF8A94-F72D-446F-9D8D-4C5C33DCE99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7" name="Rectangle 6">
            <a:extLst>
              <a:ext uri="{FF2B5EF4-FFF2-40B4-BE49-F238E27FC236}">
                <a16:creationId xmlns:a16="http://schemas.microsoft.com/office/drawing/2014/main" id="{132F1B83-B13A-423E-A546-203D3C76EAE9}"/>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F6F3ED"/>
                </a:solidFill>
                <a:latin typeface="Aptos"/>
                <a:ea typeface="Aptos"/>
                <a:cs typeface="Aptos"/>
              </a:defRPr>
            </a:pPr>
            <a:r>
              <a:rPr lang="fr-FR" sz="1875" b="0">
                <a:solidFill>
                  <a:srgbClr val="F6F3ED"/>
                </a:solidFill>
                <a:latin typeface="Aptos"/>
                <a:ea typeface="Aptos"/>
                <a:cs typeface="Aptos"/>
              </a:rPr>
              <a:t>La journée 2 testera l’hypothèse d’un index composé sur incident_id et occurred_at.</a:t>
            </a:r>
            <a:endParaRPr sz="1875" b="0">
              <a:solidFill>
                <a:srgbClr val="F6F3ED"/>
              </a:solidFill>
              <a:latin typeface="Aptos"/>
              <a:ea typeface="Aptos"/>
              <a:cs typeface="Aptos"/>
            </a:endParaRPr>
          </a:p>
        </p:txBody>
      </p:sp>
      <p:sp>
        <p:nvSpPr>
          <p:cNvPr id="8" name="Rectangle 7">
            <a:extLst>
              <a:ext uri="{FF2B5EF4-FFF2-40B4-BE49-F238E27FC236}">
                <a16:creationId xmlns:a16="http://schemas.microsoft.com/office/drawing/2014/main" id="{7454BFB9-C6F8-4121-B741-1074C1C5BAE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CECA5F9D-069A-4BE5-9EDF-4ED08F403A3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32 / 34</a:t>
            </a:r>
          </a:p>
        </p:txBody>
      </p:sp>
    </p:spTree>
    <p:extLst>
      <p:ext uri="{BB962C8B-B14F-4D97-AF65-F5344CB8AC3E}">
        <p14:creationId xmlns:p14="http://schemas.microsoft.com/office/powerpoint/2010/main" val="1611188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963743A-4C77-4FD8-AC30-C0D386A3C32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1   /   OPTIMISATION BDD</a:t>
            </a:r>
          </a:p>
        </p:txBody>
      </p:sp>
      <p:sp>
        <p:nvSpPr>
          <p:cNvPr id="3" name="Rectangle 2">
            <a:extLst>
              <a:ext uri="{FF2B5EF4-FFF2-40B4-BE49-F238E27FC236}">
                <a16:creationId xmlns:a16="http://schemas.microsoft.com/office/drawing/2014/main" id="{4636234F-A6DC-4885-B6D9-733BF349F81F}"/>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Questions de compréhension</a:t>
            </a:r>
          </a:p>
        </p:txBody>
      </p:sp>
      <p:sp>
        <p:nvSpPr>
          <p:cNvPr id="4" name="Rectangle 3">
            <a:extLst>
              <a:ext uri="{FF2B5EF4-FFF2-40B4-BE49-F238E27FC236}">
                <a16:creationId xmlns:a16="http://schemas.microsoft.com/office/drawing/2014/main" id="{1A40C26C-8AA4-4BCF-B38B-E82A698FC36A}"/>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BC8062EB-ECA3-4626-A220-51D2373B4BAD}"/>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1. Pourquoi ne faut-il pas additionner les durées de tous les nœuds ?</a:t>
            </a:r>
          </a:p>
          <a:p>
            <a:pPr>
              <a:defRPr sz="2325" b="0">
                <a:solidFill>
                  <a:srgbClr val="173044"/>
                </a:solidFill>
                <a:latin typeface="Aptos"/>
                <a:ea typeface="Aptos"/>
                <a:cs typeface="Aptos"/>
              </a:defRPr>
            </a:pPr>
            <a:r>
              <a:rPr sz="2325" b="0">
                <a:solidFill>
                  <a:srgbClr val="173044"/>
                </a:solidFill>
                <a:latin typeface="Aptos"/>
                <a:ea typeface="Aptos"/>
                <a:cs typeface="Aptos"/>
              </a:rPr>
              <a:t>2. Quand un parcours séquentiel peut-il être raisonnable ?</a:t>
            </a:r>
          </a:p>
          <a:p>
            <a:pPr>
              <a:defRPr sz="2325" b="0">
                <a:solidFill>
                  <a:srgbClr val="173044"/>
                </a:solidFill>
                <a:latin typeface="Aptos"/>
                <a:ea typeface="Aptos"/>
                <a:cs typeface="Aptos"/>
              </a:defRPr>
            </a:pPr>
            <a:r>
              <a:rPr sz="2325" b="0">
                <a:solidFill>
                  <a:srgbClr val="173044"/>
                </a:solidFill>
                <a:latin typeface="Aptos"/>
                <a:ea typeface="Aptos"/>
                <a:cs typeface="Aptos"/>
              </a:rPr>
              <a:t>3. Pourquoi une moyenne faible peut-elle masquer un problème ?</a:t>
            </a:r>
          </a:p>
        </p:txBody>
      </p:sp>
      <p:sp>
        <p:nvSpPr>
          <p:cNvPr id="6" name="Rectangle 5">
            <a:extLst>
              <a:ext uri="{FF2B5EF4-FFF2-40B4-BE49-F238E27FC236}">
                <a16:creationId xmlns:a16="http://schemas.microsoft.com/office/drawing/2014/main" id="{2035C271-4D6C-4AEB-8C45-98AF2279223D}"/>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F35C59BE-7400-486F-A7B2-462B62A9ADF0}"/>
              </a:ext>
            </a:extLst>
          </p:cNvPr>
          <p:cNvSpPr>
            <a:spLocks noGrp="1"/>
          </p:cNvSpPr>
          <p:nvPr/>
        </p:nvSpPr>
        <p:spPr>
          <a:xfrm>
            <a:off x="8096250" y="2571750"/>
            <a:ext cx="6381750" cy="3524250"/>
          </a:xfrm>
          <a:prstGeom prst="rect">
            <a:avLst/>
          </a:prstGeom>
          <a:noFill/>
          <a:ln w="0">
            <a:noFill/>
          </a:ln>
        </p:spPr>
        <p:txBody>
          <a:bodyPr>
            <a:normAutofit/>
          </a:bodyPr>
          <a:lstStyle/>
          <a:p>
            <a:pPr>
              <a:defRPr sz="2325" b="0">
                <a:solidFill>
                  <a:srgbClr val="173044"/>
                </a:solidFill>
                <a:latin typeface="Aptos"/>
                <a:ea typeface="Aptos"/>
                <a:cs typeface="Aptos"/>
              </a:defRPr>
            </a:pPr>
            <a:r>
              <a:rPr lang="fr-FR" sz="2325" b="0">
                <a:solidFill>
                  <a:srgbClr val="173044"/>
                </a:solidFill>
                <a:latin typeface="Aptos"/>
                <a:ea typeface="Aptos"/>
                <a:cs typeface="Aptos"/>
              </a:rPr>
              <a:t>4. Qu’est-ce qui rend deux benchmarks comparables ?
5. Pourquoi la jointure incidents/incident_events change-t-elle la granularité ?
6. Une sous-requête corrélée produit-elle toujours une exécution par ligne ?</a:t>
            </a:r>
            <a:endParaRPr sz="232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C1C8F47B-6012-40F7-8690-5F9177FDC35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B3CA202A-F1B0-4FD9-A499-76C5692AAEEC}"/>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Répondre avec un exemple et une condition d’application, pas uniquement une définition.</a:t>
            </a:r>
          </a:p>
        </p:txBody>
      </p:sp>
      <p:sp>
        <p:nvSpPr>
          <p:cNvPr id="10" name="Rectangle 9">
            <a:extLst>
              <a:ext uri="{FF2B5EF4-FFF2-40B4-BE49-F238E27FC236}">
                <a16:creationId xmlns:a16="http://schemas.microsoft.com/office/drawing/2014/main" id="{5625E981-CD00-4057-A8DA-B71338C75640}"/>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1E6A9516-96DD-4593-B933-96C664835F0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33 / 34</a:t>
            </a:r>
          </a:p>
        </p:txBody>
      </p:sp>
    </p:spTree>
    <p:extLst>
      <p:ext uri="{BB962C8B-B14F-4D97-AF65-F5344CB8AC3E}">
        <p14:creationId xmlns:p14="http://schemas.microsoft.com/office/powerpoint/2010/main" val="311763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EDEF1D5B-D4DC-40E3-AF82-029783A35504}"/>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1   /   OPTIMISATION BDD</a:t>
            </a:r>
          </a:p>
        </p:txBody>
      </p:sp>
      <p:sp>
        <p:nvSpPr>
          <p:cNvPr id="3" name="Rectangle 2">
            <a:extLst>
              <a:ext uri="{FF2B5EF4-FFF2-40B4-BE49-F238E27FC236}">
                <a16:creationId xmlns:a16="http://schemas.microsoft.com/office/drawing/2014/main" id="{28775A8A-9DD2-4240-B9E7-C4149053D709}"/>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dirty="0" err="1">
                <a:solidFill>
                  <a:srgbClr val="F6F3ED"/>
                </a:solidFill>
                <a:latin typeface="Aptos"/>
                <a:ea typeface="Aptos"/>
                <a:cs typeface="Aptos"/>
              </a:rPr>
              <a:t>Réponses</a:t>
            </a:r>
            <a:endParaRPr sz="3600" b="1" dirty="0">
              <a:solidFill>
                <a:srgbClr val="F6F3ED"/>
              </a:solidFill>
              <a:latin typeface="Aptos"/>
              <a:ea typeface="Aptos"/>
              <a:cs typeface="Aptos"/>
            </a:endParaRPr>
          </a:p>
        </p:txBody>
      </p:sp>
      <p:sp>
        <p:nvSpPr>
          <p:cNvPr id="4" name="Rectangle 3">
            <a:extLst>
              <a:ext uri="{FF2B5EF4-FFF2-40B4-BE49-F238E27FC236}">
                <a16:creationId xmlns:a16="http://schemas.microsoft.com/office/drawing/2014/main" id="{E0455332-0153-400C-A4B2-7BE0167ADFC3}"/>
              </a:ext>
            </a:extLst>
          </p:cNvPr>
          <p:cNvSpPr>
            <a:spLocks noGrp="1"/>
          </p:cNvSpPr>
          <p:nvPr/>
        </p:nvSpPr>
        <p:spPr>
          <a:xfrm>
            <a:off x="666750" y="2238375"/>
            <a:ext cx="13525500" cy="1790700"/>
          </a:xfrm>
          <a:prstGeom prst="rect">
            <a:avLst/>
          </a:prstGeom>
          <a:noFill/>
          <a:ln w="0">
            <a:noFill/>
          </a:ln>
        </p:spPr>
        <p:txBody>
          <a:bodyPr>
            <a:noAutofit/>
          </a:bodyPr>
          <a:lstStyle/>
          <a:p>
            <a:pPr>
              <a:defRPr sz="2550" b="0">
                <a:solidFill>
                  <a:srgbClr val="F6F3ED"/>
                </a:solidFill>
                <a:latin typeface="Aptos"/>
                <a:ea typeface="Aptos"/>
                <a:cs typeface="Aptos"/>
              </a:defRPr>
            </a:pPr>
            <a:r>
              <a:rPr lang="fr-FR" sz="2000" b="0" dirty="0">
                <a:solidFill>
                  <a:srgbClr val="F6F3ED"/>
                </a:solidFill>
                <a:latin typeface="Aptos"/>
                <a:ea typeface="Aptos"/>
                <a:cs typeface="Aptos"/>
              </a:rPr>
              <a:t>1/ </a:t>
            </a:r>
            <a:r>
              <a:rPr sz="2000" b="0" dirty="0">
                <a:solidFill>
                  <a:srgbClr val="F6F3ED"/>
                </a:solidFill>
                <a:latin typeface="Aptos"/>
                <a:ea typeface="Aptos"/>
                <a:cs typeface="Aptos"/>
              </a:rPr>
              <a:t>Les </a:t>
            </a:r>
            <a:r>
              <a:rPr sz="2000" b="0" dirty="0" err="1">
                <a:solidFill>
                  <a:srgbClr val="F6F3ED"/>
                </a:solidFill>
                <a:latin typeface="Aptos"/>
                <a:ea typeface="Aptos"/>
                <a:cs typeface="Aptos"/>
              </a:rPr>
              <a:t>nœuds</a:t>
            </a:r>
            <a:r>
              <a:rPr sz="2000" b="0" dirty="0">
                <a:solidFill>
                  <a:srgbClr val="F6F3ED"/>
                </a:solidFill>
                <a:latin typeface="Aptos"/>
                <a:ea typeface="Aptos"/>
                <a:cs typeface="Aptos"/>
              </a:rPr>
              <a:t> </a:t>
            </a:r>
            <a:r>
              <a:rPr sz="2000" b="0" dirty="0" err="1">
                <a:solidFill>
                  <a:srgbClr val="F6F3ED"/>
                </a:solidFill>
                <a:latin typeface="Aptos"/>
                <a:ea typeface="Aptos"/>
                <a:cs typeface="Aptos"/>
              </a:rPr>
              <a:t>imbriqués</a:t>
            </a:r>
            <a:r>
              <a:rPr sz="2000" b="0" dirty="0">
                <a:solidFill>
                  <a:srgbClr val="F6F3ED"/>
                </a:solidFill>
                <a:latin typeface="Aptos"/>
                <a:ea typeface="Aptos"/>
                <a:cs typeface="Aptos"/>
              </a:rPr>
              <a:t> </a:t>
            </a:r>
            <a:r>
              <a:rPr sz="2000" b="0" dirty="0" err="1">
                <a:solidFill>
                  <a:srgbClr val="F6F3ED"/>
                </a:solidFill>
                <a:latin typeface="Aptos"/>
                <a:ea typeface="Aptos"/>
                <a:cs typeface="Aptos"/>
              </a:rPr>
              <a:t>partagent</a:t>
            </a:r>
            <a:r>
              <a:rPr sz="2000" b="0" dirty="0">
                <a:solidFill>
                  <a:srgbClr val="F6F3ED"/>
                </a:solidFill>
                <a:latin typeface="Aptos"/>
                <a:ea typeface="Aptos"/>
                <a:cs typeface="Aptos"/>
              </a:rPr>
              <a:t> du travail. </a:t>
            </a:r>
            <a:endParaRPr lang="fr-FR" sz="2000" b="0" dirty="0">
              <a:solidFill>
                <a:srgbClr val="F6F3ED"/>
              </a:solidFill>
              <a:latin typeface="Aptos"/>
              <a:ea typeface="Aptos"/>
              <a:cs typeface="Aptos"/>
            </a:endParaRPr>
          </a:p>
          <a:p>
            <a:pPr>
              <a:defRPr sz="2550" b="0">
                <a:solidFill>
                  <a:srgbClr val="F6F3ED"/>
                </a:solidFill>
                <a:latin typeface="Aptos"/>
                <a:ea typeface="Aptos"/>
                <a:cs typeface="Aptos"/>
              </a:defRPr>
            </a:pPr>
            <a:r>
              <a:rPr lang="fr-FR" sz="2000" b="0" dirty="0">
                <a:solidFill>
                  <a:srgbClr val="F6F3ED"/>
                </a:solidFill>
                <a:latin typeface="Aptos"/>
                <a:ea typeface="Aptos"/>
                <a:cs typeface="Aptos"/>
              </a:rPr>
              <a:t>2/ </a:t>
            </a:r>
            <a:r>
              <a:rPr sz="2000" b="0" dirty="0">
                <a:solidFill>
                  <a:srgbClr val="F6F3ED"/>
                </a:solidFill>
                <a:latin typeface="Aptos"/>
                <a:ea typeface="Aptos"/>
                <a:cs typeface="Aptos"/>
              </a:rPr>
              <a:t>Une grande part de table </a:t>
            </a:r>
            <a:r>
              <a:rPr sz="2000" b="0" dirty="0" err="1">
                <a:solidFill>
                  <a:srgbClr val="F6F3ED"/>
                </a:solidFill>
                <a:latin typeface="Aptos"/>
                <a:ea typeface="Aptos"/>
                <a:cs typeface="Aptos"/>
              </a:rPr>
              <a:t>ou</a:t>
            </a:r>
            <a:r>
              <a:rPr sz="2000" b="0" dirty="0">
                <a:solidFill>
                  <a:srgbClr val="F6F3ED"/>
                </a:solidFill>
                <a:latin typeface="Aptos"/>
                <a:ea typeface="Aptos"/>
                <a:cs typeface="Aptos"/>
              </a:rPr>
              <a:t> </a:t>
            </a:r>
            <a:r>
              <a:rPr sz="2000" b="0" dirty="0" err="1">
                <a:solidFill>
                  <a:srgbClr val="F6F3ED"/>
                </a:solidFill>
                <a:latin typeface="Aptos"/>
                <a:ea typeface="Aptos"/>
                <a:cs typeface="Aptos"/>
              </a:rPr>
              <a:t>une</a:t>
            </a:r>
            <a:r>
              <a:rPr sz="2000" b="0" dirty="0">
                <a:solidFill>
                  <a:srgbClr val="F6F3ED"/>
                </a:solidFill>
                <a:latin typeface="Aptos"/>
                <a:ea typeface="Aptos"/>
                <a:cs typeface="Aptos"/>
              </a:rPr>
              <a:t> petite table </a:t>
            </a:r>
            <a:r>
              <a:rPr sz="2000" b="0" dirty="0" err="1">
                <a:solidFill>
                  <a:srgbClr val="F6F3ED"/>
                </a:solidFill>
                <a:latin typeface="Aptos"/>
                <a:ea typeface="Aptos"/>
                <a:cs typeface="Aptos"/>
              </a:rPr>
              <a:t>peut</a:t>
            </a:r>
            <a:r>
              <a:rPr sz="2000" b="0" dirty="0">
                <a:solidFill>
                  <a:srgbClr val="F6F3ED"/>
                </a:solidFill>
                <a:latin typeface="Aptos"/>
                <a:ea typeface="Aptos"/>
                <a:cs typeface="Aptos"/>
              </a:rPr>
              <a:t> </a:t>
            </a:r>
            <a:r>
              <a:rPr sz="2000" b="0" dirty="0" err="1">
                <a:solidFill>
                  <a:srgbClr val="F6F3ED"/>
                </a:solidFill>
                <a:latin typeface="Aptos"/>
                <a:ea typeface="Aptos"/>
                <a:cs typeface="Aptos"/>
              </a:rPr>
              <a:t>favoriser</a:t>
            </a:r>
            <a:r>
              <a:rPr sz="2000" b="0" dirty="0">
                <a:solidFill>
                  <a:srgbClr val="F6F3ED"/>
                </a:solidFill>
                <a:latin typeface="Aptos"/>
                <a:ea typeface="Aptos"/>
                <a:cs typeface="Aptos"/>
              </a:rPr>
              <a:t> un Seq Scan. </a:t>
            </a:r>
            <a:endParaRPr lang="fr-FR" sz="2000" b="0" dirty="0">
              <a:solidFill>
                <a:srgbClr val="F6F3ED"/>
              </a:solidFill>
              <a:latin typeface="Aptos"/>
              <a:ea typeface="Aptos"/>
              <a:cs typeface="Aptos"/>
            </a:endParaRPr>
          </a:p>
          <a:p>
            <a:pPr>
              <a:defRPr sz="2550" b="0">
                <a:solidFill>
                  <a:srgbClr val="F6F3ED"/>
                </a:solidFill>
                <a:latin typeface="Aptos"/>
                <a:ea typeface="Aptos"/>
                <a:cs typeface="Aptos"/>
              </a:defRPr>
            </a:pPr>
            <a:r>
              <a:rPr lang="fr-FR" sz="2000" dirty="0">
                <a:solidFill>
                  <a:srgbClr val="F6F3ED"/>
                </a:solidFill>
                <a:latin typeface="Aptos"/>
                <a:ea typeface="Aptos"/>
                <a:cs typeface="Aptos"/>
              </a:rPr>
              <a:t>3/ </a:t>
            </a:r>
            <a:r>
              <a:rPr sz="2000" b="0" dirty="0">
                <a:solidFill>
                  <a:srgbClr val="F6F3ED"/>
                </a:solidFill>
                <a:latin typeface="Aptos"/>
                <a:ea typeface="Aptos"/>
                <a:cs typeface="Aptos"/>
              </a:rPr>
              <a:t>Les percentiles </a:t>
            </a:r>
            <a:r>
              <a:rPr sz="2000" b="0" dirty="0" err="1">
                <a:solidFill>
                  <a:srgbClr val="F6F3ED"/>
                </a:solidFill>
                <a:latin typeface="Aptos"/>
                <a:ea typeface="Aptos"/>
                <a:cs typeface="Aptos"/>
              </a:rPr>
              <a:t>rendent</a:t>
            </a:r>
            <a:r>
              <a:rPr sz="2000" b="0" dirty="0">
                <a:solidFill>
                  <a:srgbClr val="F6F3ED"/>
                </a:solidFill>
                <a:latin typeface="Aptos"/>
                <a:ea typeface="Aptos"/>
                <a:cs typeface="Aptos"/>
              </a:rPr>
              <a:t> visible </a:t>
            </a:r>
            <a:r>
              <a:rPr sz="2000" b="0" dirty="0" err="1">
                <a:solidFill>
                  <a:srgbClr val="F6F3ED"/>
                </a:solidFill>
                <a:latin typeface="Aptos"/>
                <a:ea typeface="Aptos"/>
                <a:cs typeface="Aptos"/>
              </a:rPr>
              <a:t>une</a:t>
            </a:r>
            <a:r>
              <a:rPr sz="2000" b="0" dirty="0">
                <a:solidFill>
                  <a:srgbClr val="F6F3ED"/>
                </a:solidFill>
                <a:latin typeface="Aptos"/>
                <a:ea typeface="Aptos"/>
                <a:cs typeface="Aptos"/>
              </a:rPr>
              <a:t> queue de </a:t>
            </a:r>
            <a:r>
              <a:rPr sz="2000" b="0" dirty="0" err="1">
                <a:solidFill>
                  <a:srgbClr val="F6F3ED"/>
                </a:solidFill>
                <a:latin typeface="Aptos"/>
                <a:ea typeface="Aptos"/>
                <a:cs typeface="Aptos"/>
              </a:rPr>
              <a:t>latence</a:t>
            </a:r>
            <a:r>
              <a:rPr sz="2000" b="0" dirty="0">
                <a:solidFill>
                  <a:srgbClr val="F6F3ED"/>
                </a:solidFill>
                <a:latin typeface="Aptos"/>
                <a:ea typeface="Aptos"/>
                <a:cs typeface="Aptos"/>
              </a:rPr>
              <a:t>. </a:t>
            </a:r>
            <a:endParaRPr lang="fr-FR" sz="2000" b="0" dirty="0">
              <a:solidFill>
                <a:srgbClr val="F6F3ED"/>
              </a:solidFill>
              <a:latin typeface="Aptos"/>
              <a:ea typeface="Aptos"/>
              <a:cs typeface="Aptos"/>
            </a:endParaRPr>
          </a:p>
          <a:p>
            <a:pPr>
              <a:defRPr sz="2550" b="0">
                <a:solidFill>
                  <a:srgbClr val="F6F3ED"/>
                </a:solidFill>
                <a:latin typeface="Aptos"/>
                <a:ea typeface="Aptos"/>
                <a:cs typeface="Aptos"/>
              </a:defRPr>
            </a:pPr>
            <a:endParaRPr lang="fr-FR" sz="2000" dirty="0">
              <a:solidFill>
                <a:srgbClr val="F6F3ED"/>
              </a:solidFill>
              <a:latin typeface="Aptos"/>
              <a:ea typeface="Aptos"/>
              <a:cs typeface="Aptos"/>
            </a:endParaRPr>
          </a:p>
          <a:p>
            <a:pPr>
              <a:defRPr sz="2550" b="0">
                <a:solidFill>
                  <a:srgbClr val="F6F3ED"/>
                </a:solidFill>
                <a:latin typeface="Aptos"/>
                <a:ea typeface="Aptos"/>
                <a:cs typeface="Aptos"/>
              </a:defRPr>
            </a:pPr>
            <a:endParaRPr lang="fr-FR" sz="2550" b="0" dirty="0">
              <a:solidFill>
                <a:srgbClr val="F6F3ED"/>
              </a:solidFill>
              <a:latin typeface="Aptos"/>
              <a:ea typeface="Aptos"/>
              <a:cs typeface="Aptos"/>
            </a:endParaRPr>
          </a:p>
        </p:txBody>
      </p:sp>
      <p:sp>
        <p:nvSpPr>
          <p:cNvPr id="5" name="Rectangle 4">
            <a:extLst>
              <a:ext uri="{FF2B5EF4-FFF2-40B4-BE49-F238E27FC236}">
                <a16:creationId xmlns:a16="http://schemas.microsoft.com/office/drawing/2014/main" id="{49C4FB3D-77AA-4EC3-910C-F3DAAC229C4D}"/>
              </a:ext>
            </a:extLst>
          </p:cNvPr>
          <p:cNvSpPr>
            <a:spLocks noGrp="1"/>
          </p:cNvSpPr>
          <p:nvPr/>
        </p:nvSpPr>
        <p:spPr>
          <a:xfrm>
            <a:off x="666750" y="3714750"/>
            <a:ext cx="10668000" cy="1809750"/>
          </a:xfrm>
          <a:prstGeom prst="rect">
            <a:avLst/>
          </a:prstGeom>
          <a:noFill/>
          <a:ln w="0">
            <a:noFill/>
          </a:ln>
        </p:spPr>
        <p:txBody>
          <a:bodyPr>
            <a:noAutofit/>
          </a:bodyPr>
          <a:lstStyle/>
          <a:p>
            <a:pPr>
              <a:defRPr sz="2325" b="0">
                <a:solidFill>
                  <a:srgbClr val="F6F3ED"/>
                </a:solidFill>
                <a:latin typeface="Aptos"/>
                <a:ea typeface="Aptos"/>
                <a:cs typeface="Aptos"/>
              </a:defRPr>
            </a:pPr>
            <a:r>
              <a:rPr lang="fr-FR" sz="2000" dirty="0">
                <a:solidFill>
                  <a:srgbClr val="F6F3ED"/>
                </a:solidFill>
                <a:latin typeface="Aptos"/>
                <a:ea typeface="Aptos"/>
                <a:cs typeface="Aptos"/>
              </a:rPr>
              <a:t>4/ La comparaison exige un scénario et un environnement stables.</a:t>
            </a:r>
            <a:endParaRPr lang="fr-FR" sz="2000" b="0" dirty="0">
              <a:solidFill>
                <a:srgbClr val="F6F3ED"/>
              </a:solidFill>
              <a:latin typeface="Aptos"/>
              <a:ea typeface="Aptos"/>
              <a:cs typeface="Aptos"/>
            </a:endParaRPr>
          </a:p>
          <a:p>
            <a:pPr>
              <a:defRPr sz="2325" b="0">
                <a:solidFill>
                  <a:srgbClr val="F6F3ED"/>
                </a:solidFill>
                <a:latin typeface="Aptos"/>
                <a:ea typeface="Aptos"/>
                <a:cs typeface="Aptos"/>
              </a:defRPr>
            </a:pPr>
            <a:r>
              <a:rPr lang="fr-FR" sz="2000" dirty="0">
                <a:solidFill>
                  <a:srgbClr val="F6F3ED"/>
                </a:solidFill>
                <a:latin typeface="Aptos"/>
                <a:ea typeface="Aptos"/>
                <a:cs typeface="Aptos"/>
              </a:rPr>
              <a:t>5/ </a:t>
            </a:r>
            <a:r>
              <a:rPr lang="fr-FR" sz="2000" dirty="0">
                <a:solidFill>
                  <a:srgbClr val="F6F3ED"/>
                </a:solidFill>
                <a:latin typeface="Aptos"/>
              </a:rPr>
              <a:t>La jointure entre </a:t>
            </a:r>
            <a:r>
              <a:rPr lang="fr-FR" sz="2000" i="1" dirty="0">
                <a:solidFill>
                  <a:srgbClr val="F6F3ED"/>
                </a:solidFill>
                <a:latin typeface="Aptos"/>
              </a:rPr>
              <a:t>incidents</a:t>
            </a:r>
            <a:r>
              <a:rPr lang="fr-FR" sz="2000" dirty="0">
                <a:solidFill>
                  <a:srgbClr val="F6F3ED"/>
                </a:solidFill>
                <a:latin typeface="Aptos"/>
              </a:rPr>
              <a:t> et </a:t>
            </a:r>
            <a:r>
              <a:rPr lang="fr-FR" sz="2000" i="1" dirty="0" err="1">
                <a:solidFill>
                  <a:srgbClr val="F6F3ED"/>
                </a:solidFill>
                <a:latin typeface="Aptos"/>
              </a:rPr>
              <a:t>incident_events</a:t>
            </a:r>
            <a:r>
              <a:rPr lang="fr-FR" sz="2000" i="1" dirty="0">
                <a:solidFill>
                  <a:srgbClr val="F6F3ED"/>
                </a:solidFill>
                <a:latin typeface="Aptos"/>
              </a:rPr>
              <a:t> </a:t>
            </a:r>
            <a:r>
              <a:rPr lang="fr-FR" sz="2000" dirty="0">
                <a:solidFill>
                  <a:srgbClr val="F6F3ED"/>
                </a:solidFill>
                <a:latin typeface="Aptos"/>
              </a:rPr>
              <a:t>produit une ligne par événement, et non une ligne par incident.</a:t>
            </a:r>
          </a:p>
          <a:p>
            <a:pPr>
              <a:defRPr sz="2325" b="0">
                <a:solidFill>
                  <a:srgbClr val="F6F3ED"/>
                </a:solidFill>
                <a:latin typeface="Aptos"/>
                <a:ea typeface="Aptos"/>
                <a:cs typeface="Aptos"/>
              </a:defRPr>
            </a:pPr>
            <a:r>
              <a:rPr lang="fr-FR" sz="2000" dirty="0">
                <a:solidFill>
                  <a:srgbClr val="F6F3ED"/>
                </a:solidFill>
                <a:latin typeface="Aptos"/>
                <a:ea typeface="Aptos"/>
                <a:cs typeface="Aptos"/>
              </a:rPr>
              <a:t>6/ </a:t>
            </a:r>
            <a:r>
              <a:rPr lang="fr-FR" sz="2325" b="1" dirty="0">
                <a:solidFill>
                  <a:srgbClr val="F6F3ED"/>
                </a:solidFill>
                <a:latin typeface="Aptos"/>
              </a:rPr>
              <a:t> </a:t>
            </a:r>
            <a:r>
              <a:rPr lang="fr-FR" sz="2000" dirty="0">
                <a:solidFill>
                  <a:srgbClr val="F6F3ED"/>
                </a:solidFill>
                <a:latin typeface="Aptos"/>
              </a:rPr>
              <a:t>Non. Le planificateur peut transformer certaines sous-requêtes corrélées en semi-jointure ou en un autre plan équivalent. Il faut examiner EXPLAIN (ANALYZE, BUFFERS) plutôt que supposer une exécution complète par ligne.</a:t>
            </a:r>
            <a:endParaRPr sz="2000" dirty="0">
              <a:solidFill>
                <a:srgbClr val="F6F3ED"/>
              </a:solidFill>
              <a:latin typeface="Aptos"/>
              <a:ea typeface="Aptos"/>
              <a:cs typeface="Aptos"/>
            </a:endParaRPr>
          </a:p>
        </p:txBody>
      </p:sp>
      <p:sp>
        <p:nvSpPr>
          <p:cNvPr id="8" name="Rectangle 7">
            <a:extLst>
              <a:ext uri="{FF2B5EF4-FFF2-40B4-BE49-F238E27FC236}">
                <a16:creationId xmlns:a16="http://schemas.microsoft.com/office/drawing/2014/main" id="{7B712442-D9F9-4809-888E-22F7634D071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AAE5B856-9D29-45D8-8102-AAC8E01BDAF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34 / 34</a:t>
            </a:r>
          </a:p>
        </p:txBody>
      </p:sp>
    </p:spTree>
    <p:extLst>
      <p:ext uri="{BB962C8B-B14F-4D97-AF65-F5344CB8AC3E}">
        <p14:creationId xmlns:p14="http://schemas.microsoft.com/office/powerpoint/2010/main" val="111865095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6649816-20B6-4466-B7E3-4CF6E087F54A}">
  <we:reference id="wa200010215" version="2.0.0.1" store="en-US" storeType="OMEX"/>
  <we:alternateReferences>
    <we:reference id="wa200010215" version="2.0.0.1" store="" storeType="OMEX"/>
  </we:alternateReferences>
  <we:properties>
    <we:property name="bps.codex_control.document_id" value="&quot;1f336531-ca51-46c2-bd23-620a663579f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298</TotalTime>
  <Words>10183</Words>
  <Application>Microsoft Office PowerPoint</Application>
  <DocSecurity>0</DocSecurity>
  <PresentationFormat>Personnalisé</PresentationFormat>
  <Paragraphs>748</Paragraphs>
  <Slides>34</Slides>
  <Notes>34</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34</vt:i4>
      </vt:variant>
    </vt:vector>
  </HeadingPairs>
  <TitlesOfParts>
    <vt:vector size="41" baseType="lpstr">
      <vt:lpstr>Aptos</vt:lpstr>
      <vt:lpstr>Arial</vt:lpstr>
      <vt:lpstr>Calibri</vt:lpstr>
      <vt:lpstr>Consolas</vt:lpstr>
      <vt:lpstr>Courier New</vt:lpstr>
      <vt:lpstr>OpenAI Sans</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bruno dernier</cp:lastModifiedBy>
  <cp:revision>2</cp:revision>
  <dcterms:created xsi:type="dcterms:W3CDTF">2026-10-01T16:04:48Z</dcterms:created>
  <dcterms:modified xsi:type="dcterms:W3CDTF">2026-10-04T15:22:07Z</dcterms:modified>
</cp:coreProperties>
</file>
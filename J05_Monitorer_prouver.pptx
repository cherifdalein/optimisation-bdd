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90" r:id="rId25"/>
    <p:sldId id="291" r:id="rId26"/>
    <p:sldId id="292" r:id="rId27"/>
    <p:sldId id="282" r:id="rId28"/>
    <p:sldId id="283" r:id="rId29"/>
    <p:sldId id="284" r:id="rId30"/>
    <p:sldId id="285" r:id="rId31"/>
    <p:sldId id="286" r:id="rId32"/>
    <p:sldId id="287" r:id="rId33"/>
  </p:sldIdLst>
  <p:sldSz cx="15240000" cy="85725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6035322-D748-4097-A9B8-B587A9CC87EF}" v="1" dt="2026-10-07T19:59:09.802"/>
    <p1510:client id="{E3EBF4C8-E72D-4429-A3E1-BA2A84F7CCF5}" v="23" dt="2026-10-07T13:44:11.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13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uno dernier" userId="0b849cd58950a972" providerId="LiveId" clId="{D3882F65-1598-4E5F-B3AD-5CD47B29D372}"/>
    <pc:docChg chg="custSel addSld delSld">
      <pc:chgData name="bruno dernier" userId="0b849cd58950a972" providerId="LiveId" clId="{D3882F65-1598-4E5F-B3AD-5CD47B29D372}" dt="2026-10-07T20:37:41.515" v="3" actId="47"/>
      <pc:docMkLst>
        <pc:docMk/>
      </pc:docMkLst>
      <pc:sldChg chg="del">
        <pc:chgData name="bruno dernier" userId="0b849cd58950a972" providerId="LiveId" clId="{D3882F65-1598-4E5F-B3AD-5CD47B29D372}" dt="2026-10-07T20:28:53.785" v="1"/>
        <pc:sldMkLst>
          <pc:docMk/>
          <pc:sldMk cId="1981169715" sldId="281"/>
        </pc:sldMkLst>
      </pc:sldChg>
      <pc:sldChg chg="del">
        <pc:chgData name="bruno dernier" userId="0b849cd58950a972" providerId="LiveId" clId="{D3882F65-1598-4E5F-B3AD-5CD47B29D372}" dt="2026-10-07T20:37:38.096" v="2" actId="47"/>
        <pc:sldMkLst>
          <pc:docMk/>
          <pc:sldMk cId="1278150864" sldId="288"/>
        </pc:sldMkLst>
      </pc:sldChg>
      <pc:sldChg chg="del">
        <pc:chgData name="bruno dernier" userId="0b849cd58950a972" providerId="LiveId" clId="{D3882F65-1598-4E5F-B3AD-5CD47B29D372}" dt="2026-10-07T20:37:41.515" v="3" actId="47"/>
        <pc:sldMkLst>
          <pc:docMk/>
          <pc:sldMk cId="396605061" sldId="289"/>
        </pc:sldMkLst>
      </pc:sldChg>
      <pc:sldChg chg="add">
        <pc:chgData name="bruno dernier" userId="0b849cd58950a972" providerId="LiveId" clId="{D3882F65-1598-4E5F-B3AD-5CD47B29D372}" dt="2026-10-07T20:28:53.758" v="0"/>
        <pc:sldMkLst>
          <pc:docMk/>
          <pc:sldMk cId="2885096707" sldId="292"/>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fr-FR"/>
  <c:roundedCorners val="1"/>
  <c:style val="2"/>
  <c:chart>
    <c:autoTitleDeleted val="1"/>
    <c:plotArea>
      <c:layout/>
      <c:barChart>
        <c:barDir val="col"/>
        <c:grouping val="clustered"/>
        <c:varyColors val="0"/>
        <c:ser>
          <c:idx val="0"/>
          <c:order val="0"/>
          <c:tx>
            <c:v>Temps cumulé, secondes</c:v>
          </c:tx>
          <c:spPr>
            <a:solidFill>
              <a:srgbClr val="228F99"/>
            </a:solidFill>
          </c:spPr>
          <c:invertIfNegative val="1"/>
          <c:dLbls>
            <c:spPr>
              <a:noFill/>
              <a:ln>
                <a:noFill/>
              </a:ln>
              <a:effectLst/>
            </c:spPr>
            <c:txPr>
              <a:bodyPr anchorCtr="1"/>
              <a:lstStyle/>
              <a:p>
                <a:pPr>
                  <a:defRPr sz="1650" b="1">
                    <a:solidFill>
                      <a:srgbClr val="173044"/>
                    </a:solidFill>
                    <a:latin typeface="Aptos"/>
                    <a:ea typeface="Aptos"/>
                    <a:cs typeface="Aptos"/>
                  </a:defRPr>
                </a:pPr>
                <a:endParaRPr lang="fr-FR"/>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2 ms × 1 000 000</c:v>
                </c:pt>
                <c:pt idx="1">
                  <c:v>500 ms × 1 000</c:v>
                </c:pt>
              </c:strCache>
            </c:strRef>
          </c:cat>
          <c:val>
            <c:numRef>
              <c:f>'Chart Data'!$B$2:$B$3</c:f>
              <c:numCache>
                <c:formatCode>General</c:formatCode>
                <c:ptCount val="2"/>
                <c:pt idx="0">
                  <c:v>2000</c:v>
                </c:pt>
                <c:pt idx="1">
                  <c:v>500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390E-4663-9396-6C7317A0235E}"/>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sz="1575">
                <a:solidFill>
                  <a:srgbClr val="173044"/>
                </a:solidFill>
                <a:latin typeface="Aptos"/>
                <a:ea typeface="Aptos"/>
                <a:cs typeface="Aptos"/>
              </a:defRPr>
            </a:pPr>
            <a:endParaRPr lang="fr-FR"/>
          </a:p>
        </c:txPr>
        <c:crossAx val="48672768"/>
        <c:crosses val="autoZero"/>
        <c:auto val="1"/>
        <c:lblAlgn val="ctr"/>
        <c:lblOffset val="100"/>
        <c:noMultiLvlLbl val="1"/>
      </c:catAx>
      <c:valAx>
        <c:axId val="48672768"/>
        <c:scaling>
          <c:orientation val="minMax"/>
          <c:min val="0"/>
        </c:scaling>
        <c:delete val="0"/>
        <c:axPos val="l"/>
        <c:majorGridlines>
          <c:spPr>
            <a:ln w="9525">
              <a:solidFill>
                <a:srgbClr val="C8B7A1"/>
              </a:solidFill>
              <a:prstDash val="solid"/>
            </a:ln>
          </c:spPr>
        </c:majorGridlines>
        <c:numFmt formatCode="General" sourceLinked="1"/>
        <c:majorTickMark val="none"/>
        <c:minorTickMark val="none"/>
        <c:tickLblPos val="nextTo"/>
        <c:spPr>
          <a:ln w="9525">
            <a:solidFill>
              <a:srgbClr val="D4D4D4"/>
            </a:solidFill>
            <a:prstDash val="solid"/>
          </a:ln>
        </c:spPr>
        <c:txPr>
          <a:bodyPr anchorCtr="1"/>
          <a:lstStyle/>
          <a:p>
            <a:pPr>
              <a:defRPr sz="1500">
                <a:solidFill>
                  <a:srgbClr val="3F5B66"/>
                </a:solidFill>
                <a:latin typeface="Aptos"/>
                <a:ea typeface="Aptos"/>
                <a:cs typeface="Aptos"/>
              </a:defRPr>
            </a:pPr>
            <a:endParaRPr lang="fr-FR"/>
          </a:p>
        </c:txPr>
        <c:crossAx val="48650112"/>
        <c:crosses val="autoZero"/>
        <c:crossBetween val="between"/>
      </c:valAx>
      <c:spPr>
        <a:noFill/>
      </c:spPr>
    </c:plotArea>
    <c:plotVisOnly val="1"/>
    <c:dispBlanksAs val="zero"/>
    <c:showDLblsOverMax val="1"/>
  </c:chart>
  <c:spPr>
    <a:noFill/>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Descriptif DEV - RNCP 40166 - M2 - OPTIMISATION BDD - M2.pdf fourni, p. 1-2. Séquence conçue pour 35 heures.</a:t>
            </a:r>
          </a:p>
          <a:p>
            <a:r>
              <a:t>Cours de référence : Formation_NoSQL_2026. Thème et illustrations existantes réutilisés.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L’étudiant transforme ses essais en une conclusion argumentée sur le comportement de l’application. Il distingue une optimisation reproductible, une simple variation de mesure et un déplacement du coût vers une autre ressource.</a:t>
            </a:r>
          </a:p>
          <a:p>
            <a:r>
              <a:t>La preuve B4C8 assemble un stockage déployé, une API correcte et des résultats avant/après. Elle décrit le protocole, les limites, le coût de maintenance et les garanties de fraîcheur ou de reprise.</a:t>
            </a:r>
          </a:p>
          <a:p>
            <a:r>
              <a:t>Le dossier collectif du Bloc 4 reçoit la partie Performance et Services Back-End indiquée dans le descriptif.</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matinée introduit l’observation et les réglages à partir d’incidents concrets. L’après-midi situe Lakehouse et Data Mesh, puis termine le benchmark et la défense des choix.</a:t>
            </a:r>
          </a:p>
          <a:p>
            <a:r>
              <a:t>Les notions modernes restent appliquées au rôle du développeur : publier un contrat de données et séparer le traitement analytique des accès transactionnels.</a:t>
            </a:r>
          </a:p>
          <a:p>
            <a:endParaRP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métrique décrit une grandeur agrégée, par exemple le débit ou le nombre de connexions. Un log décrit un événement. Une trace relie les étapes d’une demande entre ses composants.</a:t>
            </a:r>
          </a:p>
          <a:p>
            <a:r>
              <a:t>Le rapprochement de ces sources répond à des questions différentes : quand la dégradation commence, quelles demandes sont concernées et où elles attendent. Un identifiant de corrélation facilite le passage d’un endpoint à ses opérations SQL.</a:t>
            </a:r>
          </a:p>
          <a:p>
            <a:r>
              <a:t>Le diagnostic conserve la même fenêtre de temps pour l’API, le pool, Redis et PostgreSQL.</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tableau de bord part des objectifs du service. Il associe latence p50/p95, débit terminé et erreurs aux ressources et aux attentes. Une CPU élevée peut être normale sous charge si le service respecte ses objectifs.</a:t>
            </a:r>
          </a:p>
          <a:p>
            <a:r>
              <a:t>Le tableau ne doit pas masquer une file d’attente derrière une moyenne. Les dimensions endpoint, version et période aident à comparer une régression. On évite d’utiliser un identifiant client individuel comme dimension de métrique à très forte cardinalité.</a:t>
            </a:r>
          </a:p>
          <a:p>
            <a:r>
              <a:t>Les alertes doivent pointer une conséquence ou une cause vérifiable.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L’extension agrège des statistiques de requêtes normalisées : nombre d’appels, temps cumulé, temps moyen et autres compteurs. Elle aide à repérer les requêtes qui consomment le plus de travail sur une période.</a:t>
            </a:r>
          </a:p>
          <a:p>
            <a:r>
              <a:t>Son activation demande une configuration serveur, généralement shared_preload_libraries, un redémarrage puis CREATE EXTENSION dans la base. Elle ne donne pas directement le p95 de chaque endpoint. Les snapshots doivent être comparés sur la même fenêtre.</a:t>
            </a:r>
          </a:p>
          <a:p>
            <a:r>
              <a:t>La requête ci-contre suppose l’extension déjà activée.</a:t>
            </a:r>
          </a:p>
          <a:p>
            <a:endParaRPr/>
          </a:p>
          <a:p>
            <a:r>
              <a:t>Descriptif DEV - RNCP 40166 - M2 - OPTIMISATION BDD - M2.pdf fourni, p. 1-2. Séquence conçue pour 35 heures.</a:t>
            </a:r>
          </a:p>
          <a:p>
            <a:r>
              <a:t>Sources techniques : https://www.postgresql.org/docs/18/pgstatstatements.html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requête de 2 ms appelée un million de fois consomme 2 000 secondes de temps cumulé. Une requête de 500 ms appelée mille fois consomme 500 secondes. La priorité dépend du coût total et de l’impact utilisateur.</a:t>
            </a:r>
          </a:p>
          <a:p>
            <a:r>
              <a:t>On examine aussi les appels, les lignes et les variations. Une requête longue sur un rapport rare n’a pas le même rôle qu’une petite requête répétée pour chaque objet d’une page. N+1 peut dominer le coût sans paraître dans les logs de requêtes très lentes.</a:t>
            </a:r>
          </a:p>
          <a:p>
            <a:r>
              <a:t>Calculs théoriques, sans mesure réelle.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pg_stat_activity décrit les sessions et leur activité courante. Les champs state, wait_event_type et wait_event aident à distinguer une exécution, une attente et une session idle in transaction.</a:t>
            </a:r>
          </a:p>
          <a:p>
            <a:r>
              <a:t>Une attente de verrou peut expliquer la latence sans consommation CPU élevée. On identifie les bloqueurs et la transaction qui conserve le verrou. Une lecture de la vue est un instantané, à replacer dans la période de l’incident.</a:t>
            </a:r>
          </a:p>
          <a:p>
            <a:r>
              <a:t>L’extrait évite d’afficher le texte intégral des requêtes, qui peut contenir des valeurs sensibles.</a:t>
            </a:r>
          </a:p>
          <a:p>
            <a:endParaRPr/>
          </a:p>
          <a:p>
            <a:r>
              <a:t>Descriptif DEV - RNCP 40166 - M2 - OPTIMISATION BDD - M2.pdf fourni, p. 1-2. Séquence conçue pour 35 heures.</a:t>
            </a:r>
          </a:p>
          <a:p>
            <a:r>
              <a:t>Sources techniques : https://www.postgresql.org/docs/18/monitoring-stats.html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Les logs de requêtes lentes rendent visibles des opérations qui dépassent un seuil configuré. Ils doivent porter un contexte exploitable : application, durée et éventuellement identifiant de corrélation.</a:t>
            </a:r>
          </a:p>
          <a:p>
            <a:r>
              <a:t>Un seuil très bas peut créer un volume excessif. Des paramètres SQL et des informations personnelles peuvent apparaître dans les logs selon la configuration. La collecte définit l’accès, la conservation et le niveau de détail utile.</a:t>
            </a:r>
          </a:p>
          <a:p>
            <a:r>
              <a:t>Le seuil dépend du budget du service. Il ne s’agit pas d’un nombre universel à copier.</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p95 augmente, le débit stagne et la CPU PostgreSQL reste modérée. Le pool indique de nombreuses demandes en attente. Une transaction conserve une connexion pendant un appel réseau externe.</a:t>
            </a:r>
          </a:p>
          <a:p>
            <a:r>
              <a:t>L’hypothèse porte sur la durée d’occupation et les limites de concurrence. Agrandir le pool peut déplacer la saturation vers la base sans supprimer l’attente inutile. Le code doit réduire le périmètre de la transaction et libérer la connexion.</a:t>
            </a:r>
          </a:p>
          <a:p>
            <a:r>
              <a:t>Cas fictif d’incident. Les indicateurs doivent être relevés ensemble pour tester cette hypothèse.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requête trie un ensemble important avant LIMIT. Le plan montre un tri avec des écritures temporaires. Un index compatible ou un filtre plus ciblé peut réduire le travail avant tout changement mémoire.</a:t>
            </a:r>
          </a:p>
          <a:p>
            <a:r>
              <a:t>Si le tri reste nécessaire, un réglage local de work_mem peut être étudié. Le besoin de mémoire se multiplie avec les opérations et les sessions. Augmenter une valeur globale sans estimer cette multiplication crée un nouveau risque de saturation.</a:t>
            </a:r>
          </a:p>
          <a:p>
            <a:r>
              <a:t>La décision commence par le plan et le volume intermédiaire.</a:t>
            </a:r>
          </a:p>
          <a:p>
            <a:endParaRPr/>
          </a:p>
          <a:p>
            <a:r>
              <a:t>Descriptif DEV - RNCP 40166 - M2 - OPTIMISATION BDD - M2.pdf fourni, p. 1-2. Séquence conçue pour 35 heures.</a:t>
            </a:r>
          </a:p>
          <a:p>
            <a:r>
              <a:t>Sources techniques : https://www.postgresql.org/docs/18/runtime-config-resource.html</a:t>
            </a:r>
          </a:p>
          <a:p>
            <a:r>
              <a:t>https://www.postgresql.org/docs/18/using-explain.html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tuning suit une hypothèse, une modification contrôlée et une vérification. Les requêtes, les index et le chemin applicatif constituent souvent les premières interventions. Les paramètres complètent ce travail lorsque l’observation les justifie.</a:t>
            </a:r>
          </a:p>
          <a:p>
            <a:r>
              <a:t>On conserve une configuration de référence et une possibilité de retour arrière. Une amélioration locale peut dégrader une autre charge. Le test mélange lectures et écritures dans des proportions décrites.</a:t>
            </a:r>
          </a:p>
          <a:p>
            <a:r>
              <a:t>Une valeur de paramètre a un périmètre, une unité et un effet. Le dossier les explique.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work_mem borne la mémoire utilisée par certaines opérations de tri ou de hachage avant leur débordement, avec des règles propres aux opérations. Plusieurs opérations dans une requête et plusieurs sessions peuvent consommer leur budget.</a:t>
            </a:r>
          </a:p>
          <a:p>
            <a:r>
              <a:t>Un réglage local limite une expérience à une transaction. On compare les fichiers temporaires, la durée et la mémoire. La taille ne se choisit pas comme une fraction magique de la RAM totale.</a:t>
            </a:r>
          </a:p>
          <a:p>
            <a:r>
              <a:t>Exemple de laboratoire. Il ne prescrit pas 32 MB en production.</a:t>
            </a:r>
          </a:p>
          <a:p>
            <a:endParaRPr/>
          </a:p>
          <a:p>
            <a:r>
              <a:t>Descriptif DEV - RNCP 40166 - M2 - OPTIMISATION BDD - M2.pdf fourni, p. 1-2. Séquence conçue pour 35 heures.</a:t>
            </a:r>
          </a:p>
          <a:p>
            <a:r>
              <a:t>Sources techniques : https://www.postgresql.org/docs/18/runtime-config-resource.html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shared_buffers réserve une mémoire de cache à PostgreSQL. effective_cache_size renseigne le planificateur sur une estimation de mémoire de cache disponible. Cette seconde valeur ne réserve pas elle-même cette quantité de RAM.</a:t>
            </a:r>
          </a:p>
          <a:p>
            <a:r>
              <a:t>Le système d’exploitation conserve aussi des pages. Le dimensionnement dépend de l’ensemble des services et de la charge. Une valeur copiée d’une autre machine peut être inadaptée, même avec le même volume de données.</a:t>
            </a:r>
          </a:p>
          <a:p>
            <a:r>
              <a:t>Le test distingue configuration du moteur, cache système et consommation réelle.</a:t>
            </a:r>
          </a:p>
          <a:p>
            <a:endParaRPr/>
          </a:p>
          <a:p>
            <a:r>
              <a:t>Descriptif DEV - RNCP 40166 - M2 - OPTIMISATION BDD - M2.pdf fourni, p. 1-2. Séquence conçue pour 35 heures.</a:t>
            </a:r>
          </a:p>
          <a:p>
            <a:r>
              <a:t>Sources techniques : https://www.postgresql.org/docs/18/runtime-config-resource.html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base supporte un nombre borné de connexions, mais la consommation réelle dépend de ce qu’elles font. Cent connexions inactives et cent connexions qui trient de grands ensembles ne portent pas la même charge.</a:t>
            </a:r>
          </a:p>
          <a:p>
            <a:r>
              <a:t>L’application limite les demandes simultanées et définit les délais. Les pools de toutes les instances participent au budget. Les outils de sauvegarde, de maintenance et de supervision conservent une capacité d’accès.</a:t>
            </a:r>
          </a:p>
          <a:p>
            <a:r>
              <a:t>La capacité se valide par une courbe de charge, pas par l’augmentation isolée de max_connections.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Les modifications produisent des versions de lignes qui ne restent pas toutes utiles. VACUUM récupère de l’espace réutilisable et participe à la maintenance de visibilité. ANALYZE met à jour les statistiques pour les plans.</a:t>
            </a:r>
          </a:p>
          <a:p>
            <a:r>
              <a:t>Autovacuum automatise des travaux essentiels. Une transaction longue peut empêcher le nettoyage de certaines versions. Un VACUUM ordinaire ne rend pas systématiquement tout l’espace au système d’exploitation. La maintenance demande une observation de la table.</a:t>
            </a:r>
          </a:p>
          <a:p>
            <a:r>
              <a:t>Désactiver autovacuum pour gagner un benchmark court peut accumuler un coût qui apparaîtra plus tard.</a:t>
            </a:r>
          </a:p>
          <a:p>
            <a:endParaRPr/>
          </a:p>
          <a:p>
            <a:r>
              <a:t>Descriptif DEV - RNCP 40166 - M2 - OPTIMISATION BDD - M2.pdf fourni, p. 1-2. Séquence conçue pour 35 heures.</a:t>
            </a:r>
          </a:p>
          <a:p>
            <a:r>
              <a:t>Sources techniques : https://www.postgresql.org/docs/18/routine-vacuuming.html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Une transaction oubliée peut conserver un instantané ou des verrous et empêcher le système de progresser normalement. Les tables accumulent des versions, les index grandissent et les opérations attendent.</a:t>
            </a:r>
          </a:p>
          <a:p>
            <a:r>
              <a:t>Le service doit fermer les transactions dans tous les chemins d’erreur. L’exploitation repère idle in transaction et l’âge des transactions. Une interruption se décide selon le contexte, car elle peut annuler un travail important.</a:t>
            </a:r>
          </a:p>
          <a:p>
            <a:r>
              <a:t>Le dossier documente la durée des transactions et la libération des connexions.</a:t>
            </a:r>
          </a:p>
          <a:p>
            <a:endParaRPr/>
          </a:p>
          <a:p>
            <a:r>
              <a:t>Descriptif DEV - RNCP 40166 - M2 - OPTIMISATION BDD - M2.pdf fourni, p. 1-2. Séquence conçue pour 35 heures.</a:t>
            </a:r>
          </a:p>
          <a:p>
            <a:r>
              <a:t>Sources techniques : https://www.postgresql.org/docs/18/routine-vacuuming.html</a:t>
            </a:r>
          </a:p>
          <a:p>
            <a:r>
              <a:t>https://www.postgresql.org/docs/18/monitoring-stats.html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benchmark SQL isole le moteur et la requête. Un benchmark HTTP inclut routage, pool, sérialisation, réseau et parfois cache. Les deux apportent des preuves complémentaires sur le même besoin.</a:t>
            </a:r>
          </a:p>
          <a:p>
            <a:r>
              <a:t>pgbench peut exécuter un script SQL personnalisé et mesurer un scénario de charge. Le projet utilise son outil HTTP habituel pour les endpoints. Les résultats restent séparés si les scénarios ou les unités diffèrent.</a:t>
            </a:r>
          </a:p>
          <a:p>
            <a:r>
              <a:t>L’amélioration du temps SQL ne se convertit pas automatiquement en la même amélioration HTTP.</a:t>
            </a:r>
          </a:p>
          <a:p>
            <a:endParaRPr/>
          </a:p>
          <a:p>
            <a:r>
              <a:t>Descriptif DEV - RNCP 40166 - M2 - OPTIMISATION BDD - M2.pdf fourni, p. 1-2. Séquence conçue pour 35 heures.</a:t>
            </a:r>
          </a:p>
          <a:p>
            <a:r>
              <a:t>Sources techniques : https://www.postgresql.org/docs/18/pgbench.html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script utilise une variable client_id et une requête bornée. On fixe le nombre de clients, la durée, les versions et l’état des index. Les résultats décrivent les opérations terminées et les erreurs du scénario.</a:t>
            </a:r>
          </a:p>
          <a:p>
            <a:r>
              <a:t>Une série de client_id uniforme ne représente pas forcément les clients très actifs. Une seconde série peut tester la distribution défavorable. Les scripts du dossier rendent ces choix visibles et reproductibles.</a:t>
            </a:r>
          </a:p>
          <a:p>
            <a:r>
              <a:t>Exemple de script SQL à enregistrer pour pgbench. La commande complète figure dans le guide de mesure.</a:t>
            </a:r>
          </a:p>
          <a:p>
            <a:endParaRPr/>
          </a:p>
          <a:p>
            <a:r>
              <a:t>Descriptif DEV - RNCP 40166 - M2 - OPTIMISATION BDD - M2.pdf fourni, p. 1-2. Séquence conçue pour 35 heures.</a:t>
            </a:r>
          </a:p>
          <a:p>
            <a:r>
              <a:t>Sources techniques : https://www.postgresql.org/docs/18/pgbench.html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Avec une charge fermée, un nombre de clients relance une opération après la précédente. Lorsque le système ralentit, le rythme des nouvelles demandes diminue. Une charge ouverte fixe un rythme d’arrivée plus indépendant des durées.</a:t>
            </a:r>
          </a:p>
          <a:p>
            <a:r>
              <a:t>Cette différence influence la lecture des files et des percentiles. Un outil qui attend les réponses peut sous-représenter les demandes qui auraient continué à arriver. Le protocole décrit le modèle et les retards de génération.</a:t>
            </a:r>
          </a:p>
          <a:p>
            <a:r>
              <a:t>Les résultats d’outils ou de modèles différents ne se comparent pas sans préciser ces conditions.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Tester la même consultation avec 1, 5, 10 et 20 clients, puis s’arrêter si la machine de laboratoire sature. Pour chaque point, relever débit terminé, médiane, p95 et erreurs avec la même durée et le même échauffement.</a:t>
            </a:r>
          </a:p>
          <a:p>
            <a:r>
              <a:t>Comparer avant/après index ou correction N+1, avec un seul changement par série. Observer le pool et PostgreSQL. Garder les sorties brutes, la configuration et la charge de la machine pendant chaque test.</a:t>
            </a:r>
          </a:p>
          <a:p>
            <a:r>
              <a:t>Livrable : courbe, protocole et interprétation de la saturation. Temps prévu : 1 h 15.</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Sur un exemple fictif, le p95 passe de 400 à 160 ms. La réduction vaut (400 − 160) / 400 = 60 %. Le facteur vaut 400 / 160 = 2,5. Ce sont deux façons différentes d’exprimer le même rapport.</a:t>
            </a:r>
          </a:p>
          <a:p>
            <a:r>
              <a:t>Une conclusion exploitable conserve les erreurs, le débit et le coût en ressources. La taille de l’échantillon et les répétitions déterminent la confiance accordée à la différence. On ne généralise pas le rapport à toutes les requêtes.</a:t>
            </a:r>
          </a:p>
          <a:p>
            <a:r>
              <a:t>Valeurs fictives uniquement. Les étudiants remplacent le tableau par leurs observations.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 Sur cette machine, ce jeu et cette charge, l’index réduit le travail et le p95 de l’historique » est une conclusion testable. Elle identifie le périmètre et le mécanisme observé.</a:t>
            </a:r>
          </a:p>
          <a:p>
            <a:r>
              <a:t>« PostgreSQL devient 2,5 fois plus rapide » dépasse ce qui a été testé. Une optimisation peut être neutre pour un autre endpoint et plus coûteuse pour l’import. Le dossier explique les effets secondaires et les tests encore nécessaires.</a:t>
            </a:r>
          </a:p>
          <a:p>
            <a:r>
              <a:t>Un résultat défavorable ou neutre constitue une preuve utile s’il est expliqué.</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L’OLTP traite les opérations applicatives courtes et les invariants, comme une commande ou une réservation. L’analytique rapproche de grandes périodes et de grands ensembles pour répondre à des questions d’activité.</a:t>
            </a:r>
          </a:p>
          <a:p>
            <a:r>
              <a:t>Un rapport complet peut concurrencer le trafic de commandes sur la même instance. Un export, une copie ou une plateforme analytique peut déplacer ce travail, avec un délai de fraîcheur. La solution conserve un contrat de données.</a:t>
            </a:r>
          </a:p>
          <a:p>
            <a:r>
              <a:t>Le transfert analytique doit respecter la suppression, la minimisation et les droits applicables.</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Lakehouse rapproche le stockage de fichiers analytiques et certaines garanties attendues d’un entrepôt, comme des tables gérées, des transactions et une évolution de schéma selon la solution. Il vise des usages analytiques.</a:t>
            </a:r>
          </a:p>
          <a:p>
            <a:r>
              <a:t>Il ne remplace pas automatiquement la base transactionnelle d’un endpoint de commande. Le développeur fournit des données structurées et connaît leur fraîcheur, leur qualité et leur provenance. Le choix des formats et outils relève d’une architecture plus large.</a:t>
            </a:r>
          </a:p>
          <a:p>
            <a:r>
              <a:t>Dans ce cours, l’application pratique consiste à concevoir un export et son contrat, sans déployer une plateforme Lakehouse.</a:t>
            </a:r>
          </a:p>
          <a:p>
            <a:endParaRPr/>
          </a:p>
          <a:p>
            <a:r>
              <a:t>Descriptif DEV - RNCP 40166 - M2 - OPTIMISATION BDD - M2.pdf fourni, p. 1-2. Séquence conçue pour 35 heures.</a:t>
            </a:r>
          </a:p>
          <a:p>
            <a:r>
              <a:t>Sources techniques : https://www.databricks.com/research/lakehouse-a-new-generation-of-open-platforms-that-unify-data-warehousing-and-advanced-analytics</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Data Mesh propose une responsabilité des données par domaines, des données traitées comme produits, une plateforme facilitant leur usage et une gouvernance commune. Il concerne l’organisation autant que les outils.</a:t>
            </a:r>
          </a:p>
          <a:p>
            <a:r>
              <a:t>L’équipe Commandes peut publier un produit de données commandes_journalieres avec un propriétaire, un schéma, une fréquence et des règles de qualité. L’équipe Catalogue en publie un autre. Les consommateurs connaissent les engagements de chaque produit.</a:t>
            </a:r>
          </a:p>
          <a:p>
            <a:r>
              <a:t>Une collection de bases séparées ne suffit pas à établir ces responsabilités.</a:t>
            </a:r>
          </a:p>
          <a:p>
            <a:endParaRPr/>
          </a:p>
          <a:p>
            <a:r>
              <a:t>Descriptif DEV - RNCP 40166 - M2 - OPTIMISATION BDD - M2.pdf fourni, p. 1-2. Séquence conçue pour 35 heures.</a:t>
            </a:r>
          </a:p>
          <a:p>
            <a:r>
              <a:t>Sources techniques : https://martinfowler.com/articles/data-mesh-principles.html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Un contrat indique les champs, leurs types, leur signification, les règles de qualité et la fraîcheur. Il nomme un responsable et un mode de changement compatible. Une valeur technique sans définition métier ne suffit pas.</a:t>
            </a:r>
          </a:p>
          <a:p>
            <a:r>
              <a:t>Pour commandes_journalieres, total désigne les montants des commandes payées sur une journée définie. Les annulations, remboursements et fuseaux doivent avoir une règle. Le consommateur doit savoir comment corriger une journée déjà publiée.</a:t>
            </a:r>
          </a:p>
          <a:p>
            <a:r>
              <a:t>Exemple de contrat pédagogique, à adapter aux définitions du projet.</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SQL regroupe les commandes payées par jour UTC. Le résultat peut alimenter une table analytique ou un fichier. Le contrat précise si les journées encore ouvertes sont provisoires et comment les corrections arrivent.</a:t>
            </a:r>
          </a:p>
          <a:p>
            <a:r>
              <a:t>Une extraction ponctuelle est une introduction pratique. Elle ne prouve ni une ingestion incrémentale fiable ni les garanties d’une plateforme Lakehouse. Le dossier sépare ce qui est implémenté et ce qui reste une conception.</a:t>
            </a:r>
          </a:p>
          <a:p>
            <a:r>
              <a:t>L’agrégation porte sur commandes.total, sans jointure aux lignes qui le dupliquerait.</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Lakehouse décrit une plateforme possible pour des usages analytiques. Data Mesh organise la responsabilité des produits de données. Ils peuvent se combiner, mais ne décrivent pas la même dimension.</a:t>
            </a:r>
          </a:p>
          <a:p>
            <a:r>
              <a:t>L’API de commande conserve PostgreSQL comme source transactionnelle. Une publication analytique expose un contrat versionné. L’équipe propriétaire explique sa qualité et son délai. L’étudiant relie ainsi les concepts modernes à un flux applicatif concret.</a:t>
            </a:r>
          </a:p>
          <a:p>
            <a:r>
              <a:t>Le périmètre pratique reste un export vérifié et un contrat de données.</a:t>
            </a:r>
          </a:p>
          <a:p>
            <a:endParaRPr/>
          </a:p>
          <a:p>
            <a:r>
              <a:t>Descriptif DEV - RNCP 40166 - M2 - OPTIMISATION BDD - M2.pdf fourni, p. 1-2. Séquence conçue pour 35 heures.</a:t>
            </a:r>
          </a:p>
          <a:p>
            <a:r>
              <a:t>Sources techniques : https://www.databricks.com/research/lakehouse-a-new-generation-of-open-platforms-that-unify-data-warehousing-and-advanced-analytics</a:t>
            </a:r>
          </a:p>
          <a:p>
            <a:r>
              <a:t>https://martinfowler.com/articles/data-mesh-principles.html</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Le dossier explique le besoin et l’état initial, l’architecture et le stockage déployé, les interventions réalisées et les résultats. Chaque preuve porte un identifiant, un protocole et une interprétation.</a:t>
            </a:r>
          </a:p>
          <a:p>
            <a:r>
              <a:t>Les plans SQL, traces, migrations et tests d’invariant soutiennent le récit. Les graphiques présentent les unités et la charge. La conclusion explicite les compromis de coût, de fraîcheur et de disponibilité.</a:t>
            </a:r>
          </a:p>
          <a:p>
            <a:r>
              <a:t>Le descriptif demande une amélioration mesurée. Il ne fournit pas de seuil de gain officiel.</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La grille aide à relire le travail : besoin et contrat, correction des résultats, diagnostic, méthode de mesure, intervention et explication des limites. Elle ne remplace pas la grille certifiante de l’établissement.</a:t>
            </a:r>
          </a:p>
          <a:p>
            <a:r>
              <a:t>La qualité de la preuve compte davantage qu’un pourcentage spectaculaire obtenu dans des conditions incompatibles. Chaque étudiant doit pouvoir expliquer une décision et reconnaître un résultat qui ne permet pas de conclure.</a:t>
            </a:r>
          </a:p>
          <a:p>
            <a:r>
              <a:t>Proposition locale pour le cours, sans pondération RNCP officielle.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Support étudiant : les explications principales figurent sur la diapositive.</a:t>
            </a:r>
          </a:p>
          <a:p>
            <a:r>
              <a:t>Assembler le dossier à partir des cinq journées. Choisir une optimisation principale et une vérification de fiabilité ou de fraîcheur. Préparer une présentation de cinq minutes centrée sur le problème, le mécanisme et les mesures.</a:t>
            </a:r>
          </a:p>
          <a:p>
            <a:r>
              <a:t>Montrer un plan ou une trace, un graphique mesuré et un résultat fonctionnel. Expliquer une variante rejetée et un risque restant. Répondre à une question sur la reproductibilité et à une question sur les conséquences pour l’API.</a:t>
            </a:r>
          </a:p>
          <a:p>
            <a:r>
              <a:t>Temps prévu : 2 h avec finalisation, échanges et restitutions. Aucun résultat fictif ne doit devenir une mesure annoncée.</a:t>
            </a:r>
          </a:p>
          <a:p>
            <a:endParaRPr/>
          </a:p>
          <a:p>
            <a:r>
              <a:t>Descriptif DEV - RNCP 40166 - M2 - OPTIMISATION BDD - M2.pdf fourni, p. 1-2. Séquence conçue pour 35 heures.</a:t>
            </a:r>
          </a:p>
          <a:p>
            <a:r>
              <a:t>Sources techniques : </a:t>
            </a:r>
          </a:p>
          <a:p>
            <a:r>
              <a:t>Illustrations de fond générées. Schémas pédagogiques simplifiés et éditables. Les exemples fictifs et valeurs attendues ne sont pas des mesures de performance.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714D644-7DD0-4087-9809-50A14AF58B18}"/>
              </a:ext>
            </a:extLst>
          </p:cNvPr>
          <p:cNvSpPr>
            <a:spLocks noGrp="1"/>
          </p:cNvSpPr>
          <p:nvPr/>
        </p:nvSpPr>
        <p:spPr>
          <a:xfrm>
            <a:off x="666750" y="571500"/>
            <a:ext cx="10477500" cy="381000"/>
          </a:xfrm>
          <a:prstGeom prst="rect">
            <a:avLst/>
          </a:prstGeom>
          <a:noFill/>
          <a:ln w="0">
            <a:noFill/>
          </a:ln>
        </p:spPr>
        <p:txBody>
          <a:bodyPr>
            <a:noAutofit/>
          </a:bodyPr>
          <a:lstStyle/>
          <a:p>
            <a:pPr>
              <a:defRPr sz="1875" b="1">
                <a:solidFill>
                  <a:srgbClr val="69E0E3"/>
                </a:solidFill>
                <a:latin typeface="Aptos"/>
                <a:ea typeface="Aptos"/>
                <a:cs typeface="Aptos"/>
              </a:defRPr>
            </a:pPr>
            <a:r>
              <a:rPr sz="1875" b="1">
                <a:solidFill>
                  <a:srgbClr val="69E0E3"/>
                </a:solidFill>
                <a:latin typeface="Aptos"/>
                <a:ea typeface="Aptos"/>
                <a:cs typeface="Aptos"/>
              </a:rPr>
              <a:t>OPTIMISATION BDD</a:t>
            </a:r>
          </a:p>
        </p:txBody>
      </p:sp>
      <p:sp>
        <p:nvSpPr>
          <p:cNvPr id="3" name="Rectangle 2">
            <a:extLst>
              <a:ext uri="{FF2B5EF4-FFF2-40B4-BE49-F238E27FC236}">
                <a16:creationId xmlns:a16="http://schemas.microsoft.com/office/drawing/2014/main" id="{E2C80646-668B-45BC-BD5E-117F031C3A5D}"/>
              </a:ext>
            </a:extLst>
          </p:cNvPr>
          <p:cNvSpPr>
            <a:spLocks noGrp="1"/>
          </p:cNvSpPr>
          <p:nvPr/>
        </p:nvSpPr>
        <p:spPr>
          <a:xfrm>
            <a:off x="666750" y="2266950"/>
            <a:ext cx="9144000" cy="2238375"/>
          </a:xfrm>
          <a:prstGeom prst="rect">
            <a:avLst/>
          </a:prstGeom>
          <a:noFill/>
          <a:ln w="0">
            <a:noFill/>
          </a:ln>
        </p:spPr>
        <p:txBody>
          <a:bodyPr>
            <a:noAutofit/>
          </a:bodyPr>
          <a:lstStyle/>
          <a:p>
            <a:pPr>
              <a:defRPr sz="4875" b="1">
                <a:solidFill>
                  <a:srgbClr val="FFFFFF"/>
                </a:solidFill>
                <a:latin typeface="Aptos"/>
                <a:ea typeface="Aptos"/>
                <a:cs typeface="Aptos"/>
              </a:defRPr>
            </a:pPr>
            <a:r>
              <a:rPr sz="4875" b="1">
                <a:solidFill>
                  <a:srgbClr val="FFFFFF"/>
                </a:solidFill>
                <a:latin typeface="Aptos"/>
                <a:ea typeface="Aptos"/>
                <a:cs typeface="Aptos"/>
              </a:rPr>
              <a:t>Monitorer et prouver les gains</a:t>
            </a:r>
          </a:p>
        </p:txBody>
      </p:sp>
      <p:sp>
        <p:nvSpPr>
          <p:cNvPr id="4" name="Rectangle 3">
            <a:extLst>
              <a:ext uri="{FF2B5EF4-FFF2-40B4-BE49-F238E27FC236}">
                <a16:creationId xmlns:a16="http://schemas.microsoft.com/office/drawing/2014/main" id="{E556634C-F0C9-4FD6-89BC-003ED20FC88B}"/>
              </a:ext>
            </a:extLst>
          </p:cNvPr>
          <p:cNvSpPr>
            <a:spLocks noGrp="1"/>
          </p:cNvSpPr>
          <p:nvPr/>
        </p:nvSpPr>
        <p:spPr>
          <a:xfrm>
            <a:off x="666750" y="5286375"/>
            <a:ext cx="10191750" cy="933450"/>
          </a:xfrm>
          <a:prstGeom prst="rect">
            <a:avLst/>
          </a:prstGeom>
          <a:noFill/>
          <a:ln w="0">
            <a:noFill/>
          </a:ln>
        </p:spPr>
        <p:txBody>
          <a:bodyPr>
            <a:noAutofit/>
          </a:bodyPr>
          <a:lstStyle/>
          <a:p>
            <a:pPr>
              <a:defRPr sz="2325" b="0">
                <a:solidFill>
                  <a:srgbClr val="FFFFFF"/>
                </a:solidFill>
                <a:latin typeface="Aptos"/>
                <a:ea typeface="Aptos"/>
                <a:cs typeface="Aptos"/>
              </a:defRPr>
            </a:pPr>
            <a:r>
              <a:rPr sz="2325" b="0">
                <a:solidFill>
                  <a:srgbClr val="FFFFFF"/>
                </a:solidFill>
                <a:latin typeface="Aptos"/>
                <a:ea typeface="Aptos"/>
                <a:cs typeface="Aptos"/>
              </a:rPr>
              <a:t>Jour 5</a:t>
            </a:r>
          </a:p>
          <a:p>
            <a:pPr>
              <a:defRPr sz="2325" b="0">
                <a:solidFill>
                  <a:srgbClr val="FFFFFF"/>
                </a:solidFill>
                <a:latin typeface="Aptos"/>
                <a:ea typeface="Aptos"/>
                <a:cs typeface="Aptos"/>
              </a:defRPr>
            </a:pPr>
            <a:r>
              <a:rPr sz="2325" b="0">
                <a:solidFill>
                  <a:srgbClr val="FFFFFF"/>
                </a:solidFill>
                <a:latin typeface="Aptos"/>
                <a:ea typeface="Aptos"/>
                <a:cs typeface="Aptos"/>
              </a:rPr>
              <a:t>Tuning, données modernes et dossier certifiant</a:t>
            </a:r>
          </a:p>
        </p:txBody>
      </p:sp>
      <p:sp>
        <p:nvSpPr>
          <p:cNvPr id="5" name="Rectangle 4">
            <a:extLst>
              <a:ext uri="{FF2B5EF4-FFF2-40B4-BE49-F238E27FC236}">
                <a16:creationId xmlns:a16="http://schemas.microsoft.com/office/drawing/2014/main" id="{5AB55BDB-21FD-4D37-BE40-8FF3759648C8}"/>
              </a:ext>
            </a:extLst>
          </p:cNvPr>
          <p:cNvSpPr>
            <a:spLocks noGrp="1"/>
          </p:cNvSpPr>
          <p:nvPr/>
        </p:nvSpPr>
        <p:spPr>
          <a:xfrm>
            <a:off x="666750" y="7048500"/>
            <a:ext cx="13335000" cy="476250"/>
          </a:xfrm>
          <a:prstGeom prst="rect">
            <a:avLst/>
          </a:prstGeom>
          <a:noFill/>
          <a:ln w="0">
            <a:noFill/>
          </a:ln>
        </p:spPr>
        <p:txBody>
          <a:bodyPr lIns="91440" tIns="45720" rIns="91440" bIns="45720" anchor="t">
            <a:noAutofit/>
          </a:bodyPr>
          <a:lstStyle/>
          <a:p>
            <a:pPr>
              <a:defRPr sz="1800" b="0">
                <a:solidFill>
                  <a:srgbClr val="BFD8E0"/>
                </a:solidFill>
                <a:latin typeface="Aptos"/>
                <a:ea typeface="Aptos"/>
                <a:cs typeface="Aptos"/>
              </a:defRPr>
            </a:pPr>
            <a:r>
              <a:rPr lang="fr-FR">
                <a:solidFill>
                  <a:srgbClr val="BFD8E0"/>
                </a:solidFill>
                <a:latin typeface="Aptos"/>
              </a:rPr>
              <a:t>Bruno DERNIER</a:t>
            </a:r>
          </a:p>
          <a:p>
            <a:pPr>
              <a:defRPr sz="1800" b="0">
                <a:solidFill>
                  <a:srgbClr val="BFD8E0"/>
                </a:solidFill>
                <a:latin typeface="Aptos"/>
                <a:ea typeface="Aptos"/>
                <a:cs typeface="Aptos"/>
              </a:defRPr>
            </a:pPr>
            <a:r>
              <a:rPr lang="fr-FR"/>
              <a:t>01/10/2026</a:t>
            </a:r>
            <a:endParaRPr lang="fr-FR" dirty="0"/>
          </a:p>
        </p:txBody>
      </p:sp>
      <p:sp>
        <p:nvSpPr>
          <p:cNvPr id="6" name="Rectangle 5">
            <a:extLst>
              <a:ext uri="{FF2B5EF4-FFF2-40B4-BE49-F238E27FC236}">
                <a16:creationId xmlns:a16="http://schemas.microsoft.com/office/drawing/2014/main" id="{4C6BBEF9-81EB-443E-9781-CC19768899F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0C464C15-07F6-4EAA-85FD-3B163460D5F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01 / 34</a:t>
            </a:r>
          </a:p>
        </p:txBody>
      </p:sp>
    </p:spTree>
    <p:extLst>
      <p:ext uri="{BB962C8B-B14F-4D97-AF65-F5344CB8AC3E}">
        <p14:creationId xmlns:p14="http://schemas.microsoft.com/office/powerpoint/2010/main" val="160274790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652A884-B9B7-4B3F-BC92-149059A40D88}"/>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8E4792CD-E212-4A3F-96C0-A9D25F77E11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Objectifs et preuve finale</a:t>
            </a:r>
          </a:p>
        </p:txBody>
      </p:sp>
      <p:sp>
        <p:nvSpPr>
          <p:cNvPr id="4" name="Rectangle 3">
            <a:extLst>
              <a:ext uri="{FF2B5EF4-FFF2-40B4-BE49-F238E27FC236}">
                <a16:creationId xmlns:a16="http://schemas.microsoft.com/office/drawing/2014/main" id="{B076D945-AB2A-4A2A-B5CB-5EFC6A0E5E24}"/>
              </a:ext>
            </a:extLst>
          </p:cNvPr>
          <p:cNvSpPr>
            <a:spLocks noGrp="1"/>
          </p:cNvSpPr>
          <p:nvPr/>
        </p:nvSpPr>
        <p:spPr>
          <a:xfrm>
            <a:off x="666750" y="2238375"/>
            <a:ext cx="13525500" cy="1790700"/>
          </a:xfrm>
          <a:prstGeom prst="rect">
            <a:avLst/>
          </a:prstGeom>
          <a:noFill/>
          <a:ln w="0">
            <a:noFill/>
          </a:ln>
        </p:spPr>
        <p:txBody>
          <a:bodyPr>
            <a:noAutofit/>
          </a:bodyPr>
          <a:lstStyle/>
          <a:p>
            <a:pPr>
              <a:defRPr sz="2550" b="0">
                <a:solidFill>
                  <a:srgbClr val="F6F3ED"/>
                </a:solidFill>
                <a:latin typeface="Aptos"/>
                <a:ea typeface="Aptos"/>
                <a:cs typeface="Aptos"/>
              </a:defRPr>
            </a:pPr>
            <a:r>
              <a:rPr sz="2550" b="0">
                <a:solidFill>
                  <a:srgbClr val="F6F3ED"/>
                </a:solidFill>
                <a:latin typeface="Aptos"/>
                <a:ea typeface="Aptos"/>
                <a:cs typeface="Aptos"/>
              </a:rPr>
              <a:t>L’étudiant transforme ses essais en une conclusion argumentée sur le comportement de l’application. Il distingue une optimisation reproductible, une simple variation de mesure et un déplacement du coût vers une autre ressource.</a:t>
            </a:r>
          </a:p>
        </p:txBody>
      </p:sp>
      <p:sp>
        <p:nvSpPr>
          <p:cNvPr id="5" name="Rectangle 4">
            <a:extLst>
              <a:ext uri="{FF2B5EF4-FFF2-40B4-BE49-F238E27FC236}">
                <a16:creationId xmlns:a16="http://schemas.microsoft.com/office/drawing/2014/main" id="{FF8BBD4C-2002-4195-88F1-80E3A3F2A3E0}"/>
              </a:ext>
            </a:extLst>
          </p:cNvPr>
          <p:cNvSpPr>
            <a:spLocks noGrp="1"/>
          </p:cNvSpPr>
          <p:nvPr/>
        </p:nvSpPr>
        <p:spPr>
          <a:xfrm>
            <a:off x="666750" y="4438650"/>
            <a:ext cx="10668000" cy="180975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La preuve B4C8 assemble un stockage déployé, une API correcte et des résultats avant/après. Elle décrit le protocole, les limites, le coût de maintenance et les garanties de fraîcheur ou de reprise.</a:t>
            </a:r>
          </a:p>
        </p:txBody>
      </p:sp>
      <p:sp>
        <p:nvSpPr>
          <p:cNvPr id="6" name="Rectangle 5">
            <a:extLst>
              <a:ext uri="{FF2B5EF4-FFF2-40B4-BE49-F238E27FC236}">
                <a16:creationId xmlns:a16="http://schemas.microsoft.com/office/drawing/2014/main" id="{44C3917F-D5E7-4EA5-BBC7-3D4794FE59F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7" name="Rectangle 6">
            <a:extLst>
              <a:ext uri="{FF2B5EF4-FFF2-40B4-BE49-F238E27FC236}">
                <a16:creationId xmlns:a16="http://schemas.microsoft.com/office/drawing/2014/main" id="{2330083D-BCA2-4F5B-8CD1-AFC4EA6C323B}"/>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dossier collectif du Bloc 4 reçoit la partie Performance et Services Back-End indiquée dans le descriptif.</a:t>
            </a:r>
          </a:p>
        </p:txBody>
      </p:sp>
      <p:sp>
        <p:nvSpPr>
          <p:cNvPr id="8" name="Rectangle 7">
            <a:extLst>
              <a:ext uri="{FF2B5EF4-FFF2-40B4-BE49-F238E27FC236}">
                <a16:creationId xmlns:a16="http://schemas.microsoft.com/office/drawing/2014/main" id="{09D3D846-71CA-4492-B0A2-5B762AA4A92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6936E938-37AF-4948-B4C1-FC06EFEEF47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02 / 34</a:t>
            </a:r>
          </a:p>
        </p:txBody>
      </p:sp>
    </p:spTree>
    <p:extLst>
      <p:ext uri="{BB962C8B-B14F-4D97-AF65-F5344CB8AC3E}">
        <p14:creationId xmlns:p14="http://schemas.microsoft.com/office/powerpoint/2010/main" val="9465995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8" name="Image 7"/>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DBC7A4A-094B-415C-9B84-5BDECD9B3722}"/>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2FE22926-584F-4D92-BD3B-1674699C781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Organisation de la journée</a:t>
            </a:r>
          </a:p>
        </p:txBody>
      </p:sp>
      <p:sp>
        <p:nvSpPr>
          <p:cNvPr id="4" name="Rectangle 3">
            <a:extLst>
              <a:ext uri="{FF2B5EF4-FFF2-40B4-BE49-F238E27FC236}">
                <a16:creationId xmlns:a16="http://schemas.microsoft.com/office/drawing/2014/main" id="{837C3331-0375-4FD4-A6FA-317C0CC81574}"/>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matinée introduit l’observation et les réglages à partir d’incidents concrets. L’après-midi situe Lakehouse et Data Mesh, puis termine le benchmark et la défense des choix.</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Les notions modernes restent appliquées au rôle du développeur : publier un contrat de données et séparer le traitement analytique des accès transactionnels.</a:t>
            </a:r>
          </a:p>
        </p:txBody>
      </p:sp>
      <p:graphicFrame>
        <p:nvGraphicFramePr>
          <p:cNvPr id="12" name="Tableau 11"/>
          <p:cNvGraphicFramePr/>
          <p:nvPr/>
        </p:nvGraphicFramePr>
        <p:xfrm>
          <a:off x="7334250" y="2381250"/>
          <a:ext cx="7239000" cy="3905250"/>
        </p:xfrm>
        <a:graphic>
          <a:graphicData uri="http://schemas.openxmlformats.org/drawingml/2006/table">
            <a:tbl>
              <a:tblPr/>
              <a:tblGrid>
                <a:gridCol w="3619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tblGrid>
              <a:tr h="650875">
                <a:tc>
                  <a:txBody>
                    <a:bodyPr/>
                    <a:lstStyle/>
                    <a:p>
                      <a:r>
                        <a:rPr sz="1800" b="1">
                          <a:solidFill>
                            <a:srgbClr val="FFFFFF"/>
                          </a:solidFill>
                          <a:latin typeface="Aptos"/>
                          <a:ea typeface="Aptos"/>
                          <a:cs typeface="Aptos"/>
                        </a:rPr>
                        <a:t>Séquence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Durée</a:t>
                      </a:r>
                    </a:p>
                  </a:txBody>
                  <a:tcPr marL="142875" marR="142875" marT="114300" marB="114300" anchor="ctr">
                    <a:solidFill>
                      <a:srgbClr val="173C4C"/>
                    </a:solidFill>
                  </a:tcPr>
                </a:tc>
                <a:extLst>
                  <a:ext uri="{0D108BD9-81ED-4DB2-BD59-A6C34878D82A}">
                    <a16:rowId xmlns:a16="http://schemas.microsoft.com/office/drawing/2014/main" val="10000"/>
                  </a:ext>
                </a:extLst>
              </a:tr>
              <a:tr h="650875">
                <a:tc>
                  <a:txBody>
                    <a:bodyPr/>
                    <a:lstStyle/>
                    <a:p>
                      <a:r>
                        <a:rPr sz="1800">
                          <a:solidFill>
                            <a:srgbClr val="173044"/>
                          </a:solidFill>
                          <a:latin typeface="Aptos"/>
                          <a:ea typeface="Aptos"/>
                          <a:cs typeface="Aptos"/>
                        </a:rPr>
                        <a:t>Observation et incidents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30</a:t>
                      </a:r>
                    </a:p>
                  </a:txBody>
                  <a:tcPr marL="142875" marR="142875" marT="114300" marB="114300" anchor="ctr">
                    <a:solidFill>
                      <a:srgbClr val="F2DEC6"/>
                    </a:solidFill>
                  </a:tcPr>
                </a:tc>
                <a:extLst>
                  <a:ext uri="{0D108BD9-81ED-4DB2-BD59-A6C34878D82A}">
                    <a16:rowId xmlns:a16="http://schemas.microsoft.com/office/drawing/2014/main" val="10001"/>
                  </a:ext>
                </a:extLst>
              </a:tr>
              <a:tr h="650875">
                <a:tc>
                  <a:txBody>
                    <a:bodyPr/>
                    <a:lstStyle/>
                    <a:p>
                      <a:r>
                        <a:rPr sz="1800">
                          <a:solidFill>
                            <a:srgbClr val="173044"/>
                          </a:solidFill>
                          <a:latin typeface="Aptos"/>
                          <a:ea typeface="Aptos"/>
                          <a:cs typeface="Aptos"/>
                        </a:rPr>
                        <a:t>Tuning et maintenance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2"/>
                  </a:ext>
                </a:extLst>
              </a:tr>
              <a:tr h="650875">
                <a:tc>
                  <a:txBody>
                    <a:bodyPr/>
                    <a:lstStyle/>
                    <a:p>
                      <a:r>
                        <a:rPr sz="1800">
                          <a:solidFill>
                            <a:srgbClr val="173044"/>
                          </a:solidFill>
                          <a:latin typeface="Aptos"/>
                          <a:ea typeface="Aptos"/>
                          <a:cs typeface="Aptos"/>
                        </a:rPr>
                        <a:t>Atelier charge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 15</a:t>
                      </a:r>
                    </a:p>
                  </a:txBody>
                  <a:tcPr marL="142875" marR="142875" marT="114300" marB="114300" anchor="ctr">
                    <a:solidFill>
                      <a:srgbClr val="F2DEC6"/>
                    </a:solidFill>
                  </a:tcPr>
                </a:tc>
                <a:extLst>
                  <a:ext uri="{0D108BD9-81ED-4DB2-BD59-A6C34878D82A}">
                    <a16:rowId xmlns:a16="http://schemas.microsoft.com/office/drawing/2014/main" val="10003"/>
                  </a:ext>
                </a:extLst>
              </a:tr>
              <a:tr h="650875">
                <a:tc>
                  <a:txBody>
                    <a:bodyPr/>
                    <a:lstStyle/>
                    <a:p>
                      <a:r>
                        <a:rPr sz="1800">
                          <a:solidFill>
                            <a:srgbClr val="173044"/>
                          </a:solidFill>
                          <a:latin typeface="Aptos"/>
                          <a:ea typeface="Aptos"/>
                          <a:cs typeface="Aptos"/>
                        </a:rPr>
                        <a:t>Lakehouse et Data Mesh</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 h</a:t>
                      </a:r>
                    </a:p>
                  </a:txBody>
                  <a:tcPr marL="142875" marR="142875" marT="114300" marB="114300" anchor="ctr">
                    <a:solidFill>
                      <a:srgbClr val="F2DEC6"/>
                    </a:solidFill>
                  </a:tcPr>
                </a:tc>
                <a:extLst>
                  <a:ext uri="{0D108BD9-81ED-4DB2-BD59-A6C34878D82A}">
                    <a16:rowId xmlns:a16="http://schemas.microsoft.com/office/drawing/2014/main" val="10004"/>
                  </a:ext>
                </a:extLst>
              </a:tr>
              <a:tr h="650875">
                <a:tc>
                  <a:txBody>
                    <a:bodyPr/>
                    <a:lstStyle/>
                    <a:p>
                      <a:r>
                        <a:rPr sz="1800">
                          <a:solidFill>
                            <a:srgbClr val="173044"/>
                          </a:solidFill>
                          <a:latin typeface="Aptos"/>
                          <a:ea typeface="Aptos"/>
                          <a:cs typeface="Aptos"/>
                        </a:rPr>
                        <a:t>Dossier final et restitution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2 h</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58D297E1-FE2D-4DF4-B324-8608B3A72D0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7" name="Rectangle 6">
            <a:extLst>
              <a:ext uri="{FF2B5EF4-FFF2-40B4-BE49-F238E27FC236}">
                <a16:creationId xmlns:a16="http://schemas.microsoft.com/office/drawing/2014/main" id="{FB2B5135-497B-439C-B798-462A5E518A63}"/>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03 / 34</a:t>
            </a:r>
          </a:p>
        </p:txBody>
      </p:sp>
    </p:spTree>
    <p:extLst>
      <p:ext uri="{BB962C8B-B14F-4D97-AF65-F5344CB8AC3E}">
        <p14:creationId xmlns:p14="http://schemas.microsoft.com/office/powerpoint/2010/main" val="162493876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6" name="Image 15"/>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BCE8218-54F1-44BF-AD87-B02363FE05E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2DF10A32-9A11-490B-BCC0-F22B5E673CD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Mesures, logs et traces</a:t>
            </a:r>
          </a:p>
        </p:txBody>
      </p:sp>
      <p:sp>
        <p:nvSpPr>
          <p:cNvPr id="4" name="Rectangle 3">
            <a:extLst>
              <a:ext uri="{FF2B5EF4-FFF2-40B4-BE49-F238E27FC236}">
                <a16:creationId xmlns:a16="http://schemas.microsoft.com/office/drawing/2014/main" id="{80BD6BE2-0DCC-4759-B623-A7F57A60444D}"/>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Une métrique décrit une grandeur agrégée, par exemple le débit ou le nombre de connexions. Un log décrit un événement. Une trace relie les étapes d’une demande entre ses composants.</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Le rapprochement de ces sources répond à des questions différentes : quand la dégradation commence, quelles demandes sont concernées et où elles attendent. Un identifiant de corrélation facilite le passage d’un endpoint à ses opérations SQL.</a:t>
            </a:r>
          </a:p>
        </p:txBody>
      </p:sp>
      <p:sp>
        <p:nvSpPr>
          <p:cNvPr id="5" name="Rectangle : coins arrondis 4">
            <a:extLst>
              <a:ext uri="{FF2B5EF4-FFF2-40B4-BE49-F238E27FC236}">
                <a16:creationId xmlns:a16="http://schemas.microsoft.com/office/drawing/2014/main" id="{FEC1012E-906E-4767-8E21-3A70FD0BAD04}"/>
              </a:ext>
            </a:extLst>
          </p:cNvPr>
          <p:cNvSpPr>
            <a:spLocks noGrp="1"/>
          </p:cNvSpPr>
          <p:nvPr/>
        </p:nvSpPr>
        <p:spPr>
          <a:xfrm>
            <a:off x="9471660" y="223837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API</a:t>
            </a:r>
          </a:p>
          <a:p>
            <a:pPr algn="ctr">
              <a:defRPr sz="1875" b="1">
                <a:solidFill>
                  <a:srgbClr val="FFFFFF"/>
                </a:solidFill>
                <a:latin typeface="Aptos"/>
                <a:ea typeface="Aptos"/>
                <a:cs typeface="Aptos"/>
              </a:defRPr>
            </a:pPr>
            <a:r>
              <a:rPr sz="1875" b="1">
                <a:solidFill>
                  <a:srgbClr val="FFFFFF"/>
                </a:solidFill>
                <a:latin typeface="Aptos"/>
                <a:ea typeface="Aptos"/>
                <a:cs typeface="Aptos"/>
              </a:rPr>
              <a:t>latence et erreurs</a:t>
            </a:r>
          </a:p>
        </p:txBody>
      </p:sp>
      <p:sp>
        <p:nvSpPr>
          <p:cNvPr id="6" name="Rectangle : coins arrondis 5">
            <a:extLst>
              <a:ext uri="{FF2B5EF4-FFF2-40B4-BE49-F238E27FC236}">
                <a16:creationId xmlns:a16="http://schemas.microsoft.com/office/drawing/2014/main" id="{45E86D5C-4CFD-42D7-84C3-2D139777B0C5}"/>
              </a:ext>
            </a:extLst>
          </p:cNvPr>
          <p:cNvSpPr>
            <a:spLocks noGrp="1"/>
          </p:cNvSpPr>
          <p:nvPr/>
        </p:nvSpPr>
        <p:spPr>
          <a:xfrm>
            <a:off x="9471660" y="35528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Trace</a:t>
            </a:r>
          </a:p>
          <a:p>
            <a:pPr algn="ctr">
              <a:defRPr sz="1875" b="1">
                <a:solidFill>
                  <a:srgbClr val="FFFFFF"/>
                </a:solidFill>
                <a:latin typeface="Aptos"/>
                <a:ea typeface="Aptos"/>
                <a:cs typeface="Aptos"/>
              </a:defRPr>
            </a:pPr>
            <a:r>
              <a:rPr sz="1875" b="1">
                <a:solidFill>
                  <a:srgbClr val="FFFFFF"/>
                </a:solidFill>
                <a:latin typeface="Aptos"/>
                <a:ea typeface="Aptos"/>
                <a:cs typeface="Aptos"/>
              </a:rPr>
              <a:t>étapes corrélées</a:t>
            </a:r>
          </a:p>
        </p:txBody>
      </p:sp>
      <p:sp>
        <p:nvSpPr>
          <p:cNvPr id="7" name="Rectangle : coins arrondis 6">
            <a:extLst>
              <a:ext uri="{FF2B5EF4-FFF2-40B4-BE49-F238E27FC236}">
                <a16:creationId xmlns:a16="http://schemas.microsoft.com/office/drawing/2014/main" id="{6E16FDA4-5357-4A8C-B51B-1F34709CDC3C}"/>
              </a:ext>
            </a:extLst>
          </p:cNvPr>
          <p:cNvSpPr>
            <a:spLocks noGrp="1"/>
          </p:cNvSpPr>
          <p:nvPr/>
        </p:nvSpPr>
        <p:spPr>
          <a:xfrm>
            <a:off x="9471660" y="486727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Base</a:t>
            </a:r>
          </a:p>
          <a:p>
            <a:pPr algn="ctr">
              <a:defRPr sz="1875" b="1">
                <a:solidFill>
                  <a:srgbClr val="FFFFFF"/>
                </a:solidFill>
                <a:latin typeface="Aptos"/>
                <a:ea typeface="Aptos"/>
                <a:cs typeface="Aptos"/>
              </a:defRPr>
            </a:pPr>
            <a:r>
              <a:rPr sz="1875" b="1">
                <a:solidFill>
                  <a:srgbClr val="FFFFFF"/>
                </a:solidFill>
                <a:latin typeface="Aptos"/>
                <a:ea typeface="Aptos"/>
                <a:cs typeface="Aptos"/>
              </a:rPr>
              <a:t>requêtes et attentes</a:t>
            </a:r>
          </a:p>
        </p:txBody>
      </p:sp>
      <p:sp>
        <p:nvSpPr>
          <p:cNvPr id="8" name="Flèche : droite 7">
            <a:extLst>
              <a:ext uri="{FF2B5EF4-FFF2-40B4-BE49-F238E27FC236}">
                <a16:creationId xmlns:a16="http://schemas.microsoft.com/office/drawing/2014/main" id="{731E06AB-1377-442D-B6DF-23FE13AAAD34}"/>
              </a:ext>
            </a:extLst>
          </p:cNvPr>
          <p:cNvSpPr>
            <a:spLocks noGrp="1"/>
          </p:cNvSpPr>
          <p:nvPr/>
        </p:nvSpPr>
        <p:spPr>
          <a:xfrm rot="5400000">
            <a:off x="10738485" y="3314700"/>
            <a:ext cx="247650" cy="114300"/>
          </a:xfrm>
          <a:prstGeom prst="rightArrow">
            <a:avLst/>
          </a:prstGeom>
          <a:solidFill>
            <a:srgbClr val="69E0E3"/>
          </a:solidFill>
          <a:ln w="0">
            <a:noFill/>
          </a:ln>
        </p:spPr>
        <p:txBody>
          <a:bodyPr/>
          <a:lstStyle/>
          <a:p>
            <a:endParaRPr lang="fr-FR"/>
          </a:p>
        </p:txBody>
      </p:sp>
      <p:sp>
        <p:nvSpPr>
          <p:cNvPr id="9" name="Rectangle 8">
            <a:extLst>
              <a:ext uri="{FF2B5EF4-FFF2-40B4-BE49-F238E27FC236}">
                <a16:creationId xmlns:a16="http://schemas.microsoft.com/office/drawing/2014/main" id="{604EEED1-38F3-483E-ACC0-8E7CFFA417D1}"/>
              </a:ext>
            </a:extLst>
          </p:cNvPr>
          <p:cNvSpPr>
            <a:spLocks noGrp="1"/>
          </p:cNvSpPr>
          <p:nvPr/>
        </p:nvSpPr>
        <p:spPr>
          <a:xfrm>
            <a:off x="10976610" y="32289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contexte</a:t>
            </a:r>
          </a:p>
        </p:txBody>
      </p:sp>
      <p:sp>
        <p:nvSpPr>
          <p:cNvPr id="10" name="Flèche : droite 9">
            <a:extLst>
              <a:ext uri="{FF2B5EF4-FFF2-40B4-BE49-F238E27FC236}">
                <a16:creationId xmlns:a16="http://schemas.microsoft.com/office/drawing/2014/main" id="{CD942BD2-EC24-440B-9064-EFBB38D54D7C}"/>
              </a:ext>
            </a:extLst>
          </p:cNvPr>
          <p:cNvSpPr>
            <a:spLocks noGrp="1"/>
          </p:cNvSpPr>
          <p:nvPr/>
        </p:nvSpPr>
        <p:spPr>
          <a:xfrm rot="5400000">
            <a:off x="10738485" y="4629150"/>
            <a:ext cx="247650" cy="114300"/>
          </a:xfrm>
          <a:prstGeom prst="rightArrow">
            <a:avLst/>
          </a:prstGeom>
          <a:solidFill>
            <a:srgbClr val="69E0E3"/>
          </a:solidFill>
          <a:ln w="0">
            <a:noFill/>
          </a:ln>
        </p:spPr>
        <p:txBody>
          <a:bodyPr/>
          <a:lstStyle/>
          <a:p>
            <a:endParaRPr lang="fr-FR"/>
          </a:p>
        </p:txBody>
      </p:sp>
      <p:sp>
        <p:nvSpPr>
          <p:cNvPr id="11" name="Rectangle 10">
            <a:extLst>
              <a:ext uri="{FF2B5EF4-FFF2-40B4-BE49-F238E27FC236}">
                <a16:creationId xmlns:a16="http://schemas.microsoft.com/office/drawing/2014/main" id="{A4C0F879-9CAE-44A7-903C-A59240A615D1}"/>
              </a:ext>
            </a:extLst>
          </p:cNvPr>
          <p:cNvSpPr>
            <a:spLocks noGrp="1"/>
          </p:cNvSpPr>
          <p:nvPr/>
        </p:nvSpPr>
        <p:spPr>
          <a:xfrm>
            <a:off x="10976610" y="454342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SQL</a:t>
            </a:r>
          </a:p>
        </p:txBody>
      </p:sp>
      <p:sp>
        <p:nvSpPr>
          <p:cNvPr id="12" name="Rectangle 11">
            <a:extLst>
              <a:ext uri="{FF2B5EF4-FFF2-40B4-BE49-F238E27FC236}">
                <a16:creationId xmlns:a16="http://schemas.microsoft.com/office/drawing/2014/main" id="{8ACADB86-0033-45FF-9154-CDF9FB20A7B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3" name="Rectangle 12">
            <a:extLst>
              <a:ext uri="{FF2B5EF4-FFF2-40B4-BE49-F238E27FC236}">
                <a16:creationId xmlns:a16="http://schemas.microsoft.com/office/drawing/2014/main" id="{BC3AD636-800B-4227-8C43-106C2868FB58}"/>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diagnostic conserve la même fenêtre de temps pour l’API, le pool, Redis et PostgreSQL.</a:t>
            </a:r>
          </a:p>
        </p:txBody>
      </p:sp>
      <p:sp>
        <p:nvSpPr>
          <p:cNvPr id="14" name="Rectangle 13">
            <a:extLst>
              <a:ext uri="{FF2B5EF4-FFF2-40B4-BE49-F238E27FC236}">
                <a16:creationId xmlns:a16="http://schemas.microsoft.com/office/drawing/2014/main" id="{E159E9AF-411F-44FA-8981-D66B2CF2A3B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5" name="Rectangle 14">
            <a:extLst>
              <a:ext uri="{FF2B5EF4-FFF2-40B4-BE49-F238E27FC236}">
                <a16:creationId xmlns:a16="http://schemas.microsoft.com/office/drawing/2014/main" id="{8BD50CA8-F6AC-4593-BB4F-E17FD00AF31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04 / 34</a:t>
            </a:r>
          </a:p>
        </p:txBody>
      </p:sp>
    </p:spTree>
    <p:extLst>
      <p:ext uri="{BB962C8B-B14F-4D97-AF65-F5344CB8AC3E}">
        <p14:creationId xmlns:p14="http://schemas.microsoft.com/office/powerpoint/2010/main" val="8538395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B168FC2-5B0E-45E3-B565-C3891DF85ED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CF823C96-7068-4473-9A5C-16881472A60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tableau de bord utile</a:t>
            </a:r>
          </a:p>
        </p:txBody>
      </p:sp>
      <p:sp>
        <p:nvSpPr>
          <p:cNvPr id="4" name="Rectangle 3">
            <a:extLst>
              <a:ext uri="{FF2B5EF4-FFF2-40B4-BE49-F238E27FC236}">
                <a16:creationId xmlns:a16="http://schemas.microsoft.com/office/drawing/2014/main" id="{A9EA8D4F-489D-476D-8C9E-A5E8A965DC7F}"/>
              </a:ext>
            </a:extLst>
          </p:cNvPr>
          <p:cNvSpPr>
            <a:spLocks noGrp="1"/>
          </p:cNvSpPr>
          <p:nvPr/>
        </p:nvSpPr>
        <p:spPr>
          <a:xfrm>
            <a:off x="666750" y="2038350"/>
            <a:ext cx="13525500" cy="164782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tableau de bord part des objectifs du service. Il associe latence p50/p95, débit terminé et erreurs aux ressources et aux attentes. Une CPU élevée peut être normale sous charge si le service respecte ses objectifs.</a:t>
            </a:r>
          </a:p>
          <a:p>
            <a:pPr>
              <a:defRPr sz="2025" b="0">
                <a:solidFill>
                  <a:srgbClr val="173044"/>
                </a:solidFill>
                <a:latin typeface="Aptos"/>
                <a:ea typeface="Aptos"/>
                <a:cs typeface="Aptos"/>
              </a:defRPr>
            </a:pPr>
            <a:r>
              <a:rPr sz="2025" b="0">
                <a:solidFill>
                  <a:srgbClr val="173044"/>
                </a:solidFill>
                <a:latin typeface="Aptos"/>
                <a:ea typeface="Aptos"/>
                <a:cs typeface="Aptos"/>
              </a:rPr>
              <a:t>Le tableau ne doit pas masquer une file d’attente derrière une moyenne. Les dimensions endpoint, version et période aident à comparer une régression. On évite d’utiliser un identifiant client individuel comme dimension de métrique à très forte cardinalité.</a:t>
            </a:r>
          </a:p>
        </p:txBody>
      </p:sp>
      <p:graphicFrame>
        <p:nvGraphicFramePr>
          <p:cNvPr id="13" name="Tableau 12"/>
          <p:cNvGraphicFramePr/>
          <p:nvPr/>
        </p:nvGraphicFramePr>
        <p:xfrm>
          <a:off x="666750" y="3857625"/>
          <a:ext cx="13811250" cy="3333750"/>
        </p:xfrm>
        <a:graphic>
          <a:graphicData uri="http://schemas.openxmlformats.org/drawingml/2006/table">
            <a:tbl>
              <a:tblPr/>
              <a:tblGrid>
                <a:gridCol w="4603750">
                  <a:extLst>
                    <a:ext uri="{9D8B030D-6E8A-4147-A177-3AD203B41FA5}">
                      <a16:colId xmlns:a16="http://schemas.microsoft.com/office/drawing/2014/main" val="20000"/>
                    </a:ext>
                  </a:extLst>
                </a:gridCol>
                <a:gridCol w="4603750">
                  <a:extLst>
                    <a:ext uri="{9D8B030D-6E8A-4147-A177-3AD203B41FA5}">
                      <a16:colId xmlns:a16="http://schemas.microsoft.com/office/drawing/2014/main" val="20001"/>
                    </a:ext>
                  </a:extLst>
                </a:gridCol>
                <a:gridCol w="4603750">
                  <a:extLst>
                    <a:ext uri="{9D8B030D-6E8A-4147-A177-3AD203B41FA5}">
                      <a16:colId xmlns:a16="http://schemas.microsoft.com/office/drawing/2014/main" val="20002"/>
                    </a:ext>
                  </a:extLst>
                </a:gridCol>
              </a:tblGrid>
              <a:tr h="555625">
                <a:tc>
                  <a:txBody>
                    <a:bodyPr/>
                    <a:lstStyle/>
                    <a:p>
                      <a:r>
                        <a:rPr sz="1800" b="1">
                          <a:solidFill>
                            <a:srgbClr val="FFFFFF"/>
                          </a:solidFill>
                          <a:latin typeface="Aptos"/>
                          <a:ea typeface="Aptos"/>
                          <a:cs typeface="Aptos"/>
                        </a:rPr>
                        <a:t>Niveau</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Observation</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Question</a:t>
                      </a:r>
                    </a:p>
                  </a:txBody>
                  <a:tcPr marL="142875" marR="142875" marT="114300" marB="114300" anchor="ctr">
                    <a:solidFill>
                      <a:srgbClr val="173C4C"/>
                    </a:solidFill>
                  </a:tcPr>
                </a:tc>
                <a:extLst>
                  <a:ext uri="{0D108BD9-81ED-4DB2-BD59-A6C34878D82A}">
                    <a16:rowId xmlns:a16="http://schemas.microsoft.com/office/drawing/2014/main" val="10000"/>
                  </a:ext>
                </a:extLst>
              </a:tr>
              <a:tr h="555625">
                <a:tc>
                  <a:txBody>
                    <a:bodyPr/>
                    <a:lstStyle/>
                    <a:p>
                      <a:r>
                        <a:rPr sz="1800">
                          <a:solidFill>
                            <a:srgbClr val="173044"/>
                          </a:solidFill>
                          <a:latin typeface="Aptos"/>
                          <a:ea typeface="Aptos"/>
                          <a:cs typeface="Aptos"/>
                        </a:rPr>
                        <a:t>API</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p95, erreurs, débit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 contrat est-il respecté ?</a:t>
                      </a:r>
                    </a:p>
                  </a:txBody>
                  <a:tcPr marL="142875" marR="142875" marT="114300" marB="114300" anchor="ctr">
                    <a:solidFill>
                      <a:srgbClr val="F2DEC6"/>
                    </a:solidFill>
                  </a:tcPr>
                </a:tc>
                <a:extLst>
                  <a:ext uri="{0D108BD9-81ED-4DB2-BD59-A6C34878D82A}">
                    <a16:rowId xmlns:a16="http://schemas.microsoft.com/office/drawing/2014/main" val="10001"/>
                  </a:ext>
                </a:extLst>
              </a:tr>
              <a:tr h="555625">
                <a:tc>
                  <a:txBody>
                    <a:bodyPr/>
                    <a:lstStyle/>
                    <a:p>
                      <a:r>
                        <a:rPr sz="1800">
                          <a:solidFill>
                            <a:srgbClr val="173044"/>
                          </a:solidFill>
                          <a:latin typeface="Aptos"/>
                          <a:ea typeface="Aptos"/>
                          <a:cs typeface="Aptos"/>
                        </a:rPr>
                        <a:t>Pool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Attente, connexions actives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 service attend-il une connexion ?</a:t>
                      </a:r>
                    </a:p>
                  </a:txBody>
                  <a:tcPr marL="142875" marR="142875" marT="114300" marB="114300" anchor="ctr">
                    <a:solidFill>
                      <a:srgbClr val="F2DEC6"/>
                    </a:solidFill>
                  </a:tcPr>
                </a:tc>
                <a:extLst>
                  <a:ext uri="{0D108BD9-81ED-4DB2-BD59-A6C34878D82A}">
                    <a16:rowId xmlns:a16="http://schemas.microsoft.com/office/drawing/2014/main" val="10002"/>
                  </a:ext>
                </a:extLst>
              </a:tr>
              <a:tr h="555625">
                <a:tc>
                  <a:txBody>
                    <a:bodyPr/>
                    <a:lstStyle/>
                    <a:p>
                      <a:r>
                        <a:rPr sz="1800">
                          <a:solidFill>
                            <a:srgbClr val="173044"/>
                          </a:solidFill>
                          <a:latin typeface="Aptos"/>
                          <a:ea typeface="Aptos"/>
                          <a:cs typeface="Aptos"/>
                        </a:rPr>
                        <a:t>PostgreSQL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SQL, verrous, buffers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Quel travail ou quelle attente ?</a:t>
                      </a:r>
                    </a:p>
                  </a:txBody>
                  <a:tcPr marL="142875" marR="142875" marT="114300" marB="114300" anchor="ctr">
                    <a:solidFill>
                      <a:srgbClr val="F2DEC6"/>
                    </a:solidFill>
                  </a:tcPr>
                </a:tc>
                <a:extLst>
                  <a:ext uri="{0D108BD9-81ED-4DB2-BD59-A6C34878D82A}">
                    <a16:rowId xmlns:a16="http://schemas.microsoft.com/office/drawing/2014/main" val="10003"/>
                  </a:ext>
                </a:extLst>
              </a:tr>
              <a:tr h="555625">
                <a:tc>
                  <a:txBody>
                    <a:bodyPr/>
                    <a:lstStyle/>
                    <a:p>
                      <a:r>
                        <a:rPr sz="1800">
                          <a:solidFill>
                            <a:srgbClr val="173044"/>
                          </a:solidFill>
                          <a:latin typeface="Aptos"/>
                          <a:ea typeface="Aptos"/>
                          <a:cs typeface="Aptos"/>
                        </a:rPr>
                        <a:t>Redis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Hits, misses, mémoire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 cache réduit-il la charge ?</a:t>
                      </a:r>
                    </a:p>
                  </a:txBody>
                  <a:tcPr marL="142875" marR="142875" marT="114300" marB="114300" anchor="ctr">
                    <a:solidFill>
                      <a:srgbClr val="F2DEC6"/>
                    </a:solidFill>
                  </a:tcPr>
                </a:tc>
                <a:extLst>
                  <a:ext uri="{0D108BD9-81ED-4DB2-BD59-A6C34878D82A}">
                    <a16:rowId xmlns:a16="http://schemas.microsoft.com/office/drawing/2014/main" val="10004"/>
                  </a:ext>
                </a:extLst>
              </a:tr>
              <a:tr h="555625">
                <a:tc>
                  <a:txBody>
                    <a:bodyPr/>
                    <a:lstStyle/>
                    <a:p>
                      <a:r>
                        <a:rPr sz="1800">
                          <a:solidFill>
                            <a:srgbClr val="173044"/>
                          </a:solidFill>
                          <a:latin typeface="Aptos"/>
                          <a:ea typeface="Aptos"/>
                          <a:cs typeface="Aptos"/>
                        </a:rPr>
                        <a:t>Machine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CPU, mémoire, I/O</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Quelle ressource se sature ?</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A38EDA70-7C8F-40FE-9367-931122A25156}"/>
              </a:ext>
            </a:extLst>
          </p:cNvPr>
          <p:cNvSpPr>
            <a:spLocks noGrp="1"/>
          </p:cNvSpPr>
          <p:nvPr/>
        </p:nvSpPr>
        <p:spPr>
          <a:xfrm>
            <a:off x="666750" y="7477125"/>
            <a:ext cx="13525500" cy="533400"/>
          </a:xfrm>
          <a:prstGeom prst="rect">
            <a:avLst/>
          </a:prstGeom>
          <a:noFill/>
          <a:ln w="0">
            <a:noFill/>
          </a:ln>
        </p:spPr>
        <p:txBody>
          <a:bodyPr>
            <a:noAutofit/>
          </a:bodyPr>
          <a:lstStyle/>
          <a:p>
            <a:pPr>
              <a:defRPr sz="1725" b="0">
                <a:solidFill>
                  <a:srgbClr val="173044"/>
                </a:solidFill>
                <a:latin typeface="Aptos"/>
                <a:ea typeface="Aptos"/>
                <a:cs typeface="Aptos"/>
              </a:defRPr>
            </a:pPr>
            <a:r>
              <a:rPr sz="1725" b="0">
                <a:solidFill>
                  <a:srgbClr val="173044"/>
                </a:solidFill>
                <a:latin typeface="Aptos"/>
                <a:ea typeface="Aptos"/>
                <a:cs typeface="Aptos"/>
              </a:rPr>
              <a:t>Les alertes doivent pointer une conséquence ou une cause vérifiable.</a:t>
            </a:r>
          </a:p>
        </p:txBody>
      </p:sp>
      <p:sp>
        <p:nvSpPr>
          <p:cNvPr id="7" name="Rectangle 6">
            <a:extLst>
              <a:ext uri="{FF2B5EF4-FFF2-40B4-BE49-F238E27FC236}">
                <a16:creationId xmlns:a16="http://schemas.microsoft.com/office/drawing/2014/main" id="{9E201A4A-8213-4C72-A1CF-63738234230F}"/>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7D170622-D2FD-4609-80F6-5DED4C7976D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05 / 34</a:t>
            </a:r>
          </a:p>
        </p:txBody>
      </p:sp>
    </p:spTree>
    <p:extLst>
      <p:ext uri="{BB962C8B-B14F-4D97-AF65-F5344CB8AC3E}">
        <p14:creationId xmlns:p14="http://schemas.microsoft.com/office/powerpoint/2010/main" val="112529052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9AF06D2-4FFE-48B9-8604-FC3A15844DA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6F1B22C7-64DC-4CCE-B6D5-1FBD9785795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pg_stat_statements</a:t>
            </a:r>
          </a:p>
        </p:txBody>
      </p:sp>
      <p:sp>
        <p:nvSpPr>
          <p:cNvPr id="4" name="Rectangle 3">
            <a:extLst>
              <a:ext uri="{FF2B5EF4-FFF2-40B4-BE49-F238E27FC236}">
                <a16:creationId xmlns:a16="http://schemas.microsoft.com/office/drawing/2014/main" id="{808B613F-9575-419D-B970-A69802DC6AE9}"/>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L’extension agrège des statistiques de requêtes normalisées : nombre d’appels, temps cumulé, temps moyen et autres compteurs. Elle aide à repérer les requêtes qui consomment le plus de travail sur une période.</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Son activation demande une configuration serveur, généralement shared_preload_libraries, un redémarrage puis CREATE EXTENSION dans la base. Elle ne donne pas directement le p95 de chaque endpoint. Les snapshots doivent être comparés sur la même fenêtre.</a:t>
            </a:r>
          </a:p>
        </p:txBody>
      </p:sp>
      <p:sp>
        <p:nvSpPr>
          <p:cNvPr id="5" name="Rectangle 4">
            <a:extLst>
              <a:ext uri="{FF2B5EF4-FFF2-40B4-BE49-F238E27FC236}">
                <a16:creationId xmlns:a16="http://schemas.microsoft.com/office/drawing/2014/main" id="{A32528C2-731A-405B-AA2B-EB154A3DFC8F}"/>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24B3073D-6CBB-4970-B378-1CF9243D6E9B}"/>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query, calls,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round(total_exec_time::numeric, 1)</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AS total_ms,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round(mean_exec_time::numeric, 1)</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AS moyenne_ms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pg_stat_statements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total_exec_time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10;</a:t>
            </a:r>
          </a:p>
        </p:txBody>
      </p:sp>
      <p:sp>
        <p:nvSpPr>
          <p:cNvPr id="7" name="Rectangle 6">
            <a:extLst>
              <a:ext uri="{FF2B5EF4-FFF2-40B4-BE49-F238E27FC236}">
                <a16:creationId xmlns:a16="http://schemas.microsoft.com/office/drawing/2014/main" id="{420C43C9-CE45-4999-A970-5D851550B1C5}"/>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013AD03C-D3B5-42B8-B5BA-C52C39222EF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requête ci-contre suppose l’extension déjà activée.</a:t>
            </a:r>
          </a:p>
        </p:txBody>
      </p:sp>
      <p:sp>
        <p:nvSpPr>
          <p:cNvPr id="9" name="Rectangle 8">
            <a:extLst>
              <a:ext uri="{FF2B5EF4-FFF2-40B4-BE49-F238E27FC236}">
                <a16:creationId xmlns:a16="http://schemas.microsoft.com/office/drawing/2014/main" id="{69EEFDA8-5A9F-4936-8B05-828877CC53D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A406D41B-57AC-4F81-B1B0-21923BEA8478}"/>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06 / 34</a:t>
            </a:r>
          </a:p>
        </p:txBody>
      </p:sp>
    </p:spTree>
    <p:extLst>
      <p:ext uri="{BB962C8B-B14F-4D97-AF65-F5344CB8AC3E}">
        <p14:creationId xmlns:p14="http://schemas.microsoft.com/office/powerpoint/2010/main" val="213157890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D31110B-74DE-49AB-B32B-7E88A55D01F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BB8A0945-268E-401E-AC8B-A895D783419F}"/>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Temps cumulé et requête lente</a:t>
            </a:r>
          </a:p>
        </p:txBody>
      </p:sp>
      <p:sp>
        <p:nvSpPr>
          <p:cNvPr id="4" name="Rectangle 3">
            <a:extLst>
              <a:ext uri="{FF2B5EF4-FFF2-40B4-BE49-F238E27FC236}">
                <a16:creationId xmlns:a16="http://schemas.microsoft.com/office/drawing/2014/main" id="{337D7C64-6F79-4D0E-966D-A760D725E947}"/>
              </a:ext>
            </a:extLst>
          </p:cNvPr>
          <p:cNvSpPr>
            <a:spLocks noGrp="1"/>
          </p:cNvSpPr>
          <p:nvPr/>
        </p:nvSpPr>
        <p:spPr>
          <a:xfrm>
            <a:off x="666750" y="2105025"/>
            <a:ext cx="5762625"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Une requête de 2 ms appelée un million de fois consomme 2 000 secondes de temps cumulé. Une requête de 500 ms appelée mille fois consomme 500 secondes. La priorité dépend du coût total et de l’impact utilisateur.</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On examine aussi les appels, les lignes et les variations. Une requête longue sur un rapport rare n’a pas le même rôle qu’une petite requête répétée pour chaque objet d’une page. N+1 peut dominer le coût sans paraître dans les logs de requêtes très lentes.</a:t>
            </a:r>
          </a:p>
        </p:txBody>
      </p:sp>
      <p:sp>
        <p:nvSpPr>
          <p:cNvPr id="5" name="Rectangle 4">
            <a:extLst>
              <a:ext uri="{FF2B5EF4-FFF2-40B4-BE49-F238E27FC236}">
                <a16:creationId xmlns:a16="http://schemas.microsoft.com/office/drawing/2014/main" id="{99C7668C-1AFF-4D7D-AB8A-1FC614596774}"/>
              </a:ext>
            </a:extLst>
          </p:cNvPr>
          <p:cNvSpPr>
            <a:spLocks noGrp="1"/>
          </p:cNvSpPr>
          <p:nvPr/>
        </p:nvSpPr>
        <p:spPr>
          <a:xfrm>
            <a:off x="7000875" y="1943100"/>
            <a:ext cx="7429500" cy="285750"/>
          </a:xfrm>
          <a:prstGeom prst="rect">
            <a:avLst/>
          </a:prstGeom>
          <a:noFill/>
          <a:ln w="0">
            <a:noFill/>
          </a:ln>
        </p:spPr>
        <p:txBody>
          <a:bodyPr>
            <a:noAutofit/>
          </a:bodyPr>
          <a:lstStyle/>
          <a:p>
            <a:pPr>
              <a:defRPr sz="1575" b="1">
                <a:solidFill>
                  <a:srgbClr val="173044"/>
                </a:solidFill>
                <a:latin typeface="Aptos"/>
                <a:ea typeface="Aptos"/>
                <a:cs typeface="Aptos"/>
              </a:defRPr>
            </a:pPr>
            <a:r>
              <a:rPr sz="1575" b="1">
                <a:solidFill>
                  <a:srgbClr val="173044"/>
                </a:solidFill>
                <a:latin typeface="Aptos"/>
                <a:ea typeface="Aptos"/>
                <a:cs typeface="Aptos"/>
              </a:rPr>
              <a:t>Temps cumulé, secondes</a:t>
            </a:r>
          </a:p>
        </p:txBody>
      </p:sp>
      <p:graphicFrame>
        <p:nvGraphicFramePr>
          <p:cNvPr id="17" name="Chart"/>
          <p:cNvGraphicFramePr/>
          <p:nvPr/>
        </p:nvGraphicFramePr>
        <p:xfrm>
          <a:off x="6953250" y="2371725"/>
          <a:ext cx="7572375" cy="3486150"/>
        </p:xfrm>
        <a:graphic>
          <a:graphicData uri="http://schemas.openxmlformats.org/drawingml/2006/chart">
            <c:chart xmlns:c="http://schemas.openxmlformats.org/drawingml/2006/chart" xmlns:r="http://schemas.openxmlformats.org/officeDocument/2006/relationships" r:id="rId4"/>
          </a:graphicData>
        </a:graphic>
      </p:graphicFrame>
      <p:sp>
        <p:nvSpPr>
          <p:cNvPr id="7" name="Rectangle 6">
            <a:extLst>
              <a:ext uri="{FF2B5EF4-FFF2-40B4-BE49-F238E27FC236}">
                <a16:creationId xmlns:a16="http://schemas.microsoft.com/office/drawing/2014/main" id="{DFDD95A5-B13F-44AC-A6D1-05A9B3C289DA}"/>
              </a:ext>
            </a:extLst>
          </p:cNvPr>
          <p:cNvSpPr>
            <a:spLocks noGrp="1"/>
          </p:cNvSpPr>
          <p:nvPr/>
        </p:nvSpPr>
        <p:spPr>
          <a:xfrm>
            <a:off x="7096125" y="6019800"/>
            <a:ext cx="7239000" cy="619125"/>
          </a:xfrm>
          <a:prstGeom prst="rect">
            <a:avLst/>
          </a:prstGeom>
          <a:noFill/>
          <a:ln w="0">
            <a:noFill/>
          </a:ln>
        </p:spPr>
        <p:txBody>
          <a:bodyPr>
            <a:noAutofit/>
          </a:bodyPr>
          <a:lstStyle/>
          <a:p>
            <a:pPr>
              <a:defRPr sz="1500" b="0">
                <a:solidFill>
                  <a:srgbClr val="3F5B66"/>
                </a:solidFill>
                <a:latin typeface="Aptos"/>
                <a:ea typeface="Aptos"/>
                <a:cs typeface="Aptos"/>
              </a:defRPr>
            </a:pPr>
            <a:r>
              <a:rPr sz="1500" b="0">
                <a:solidFill>
                  <a:srgbClr val="3F5B66"/>
                </a:solidFill>
                <a:latin typeface="Aptos"/>
                <a:ea typeface="Aptos"/>
                <a:cs typeface="Aptos"/>
              </a:rPr>
              <a:t>Calculs : durée unitaire multipliée par nombre d’appels.</a:t>
            </a:r>
          </a:p>
        </p:txBody>
      </p:sp>
      <p:sp>
        <p:nvSpPr>
          <p:cNvPr id="8" name="Rectangle 7">
            <a:extLst>
              <a:ext uri="{FF2B5EF4-FFF2-40B4-BE49-F238E27FC236}">
                <a16:creationId xmlns:a16="http://schemas.microsoft.com/office/drawing/2014/main" id="{A33C8191-CB09-4ED0-AF97-E793DFEFCDD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551CCCDF-D167-48A2-9922-7B299C1B9D5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Calculs théoriques, sans mesure réelle.</a:t>
            </a:r>
          </a:p>
        </p:txBody>
      </p:sp>
      <p:sp>
        <p:nvSpPr>
          <p:cNvPr id="10" name="Rectangle 9">
            <a:extLst>
              <a:ext uri="{FF2B5EF4-FFF2-40B4-BE49-F238E27FC236}">
                <a16:creationId xmlns:a16="http://schemas.microsoft.com/office/drawing/2014/main" id="{BC31B84C-E708-4A8F-B174-66B678D153A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313D9CD0-4E32-4752-B0AC-0062458314D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07 / 34</a:t>
            </a:r>
          </a:p>
        </p:txBody>
      </p:sp>
    </p:spTree>
    <p:extLst>
      <p:ext uri="{BB962C8B-B14F-4D97-AF65-F5344CB8AC3E}">
        <p14:creationId xmlns:p14="http://schemas.microsoft.com/office/powerpoint/2010/main" val="799679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68C639D-72E6-453D-951B-C46A70655F4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DE184D32-8354-4AB3-BA00-8F07E1277F4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pg_stat_activity et attentes</a:t>
            </a:r>
          </a:p>
        </p:txBody>
      </p:sp>
      <p:sp>
        <p:nvSpPr>
          <p:cNvPr id="4" name="Rectangle 3">
            <a:extLst>
              <a:ext uri="{FF2B5EF4-FFF2-40B4-BE49-F238E27FC236}">
                <a16:creationId xmlns:a16="http://schemas.microsoft.com/office/drawing/2014/main" id="{07D39B41-2254-4372-BE8B-D71F87DE226E}"/>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pg_stat_activity décrit les sessions et leur activité courante. Les champs state, wait_event_type et wait_event aident à distinguer une exécution, une attente et une session idle in transaction.</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attente de verrou peut expliquer la latence sans consommation CPU élevée. On identifie les bloqueurs et la transaction qui conserve le verrou. Une lecture de la vue est un instantané, à replacer dans la période de l’incident.</a:t>
            </a:r>
          </a:p>
        </p:txBody>
      </p:sp>
      <p:sp>
        <p:nvSpPr>
          <p:cNvPr id="5" name="Rectangle 4">
            <a:extLst>
              <a:ext uri="{FF2B5EF4-FFF2-40B4-BE49-F238E27FC236}">
                <a16:creationId xmlns:a16="http://schemas.microsoft.com/office/drawing/2014/main" id="{2A6BFF93-4B23-49D6-AAAD-1530B9A4652C}"/>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FE0C6CC7-FF2C-4DCE-BE8C-920FB712D14A}"/>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pid, state, wait_event_type,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wait_event,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pg_blocking_pids(pid) bloqueurs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pg_stat_activity</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datname = current_database()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AND pid &lt;&gt; pg_backend_pid();</a:t>
            </a:r>
          </a:p>
        </p:txBody>
      </p:sp>
      <p:sp>
        <p:nvSpPr>
          <p:cNvPr id="7" name="Rectangle 6">
            <a:extLst>
              <a:ext uri="{FF2B5EF4-FFF2-40B4-BE49-F238E27FC236}">
                <a16:creationId xmlns:a16="http://schemas.microsoft.com/office/drawing/2014/main" id="{03F66BD4-B198-4B70-94F7-36A8F9A5D02D}"/>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B426D427-1238-47B8-B8A3-F0827258FA3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L’extrait évite d’afficher le texte intégral des requêtes, qui peut contenir des valeurs sensibles.</a:t>
            </a:r>
          </a:p>
        </p:txBody>
      </p:sp>
      <p:sp>
        <p:nvSpPr>
          <p:cNvPr id="9" name="Rectangle 8">
            <a:extLst>
              <a:ext uri="{FF2B5EF4-FFF2-40B4-BE49-F238E27FC236}">
                <a16:creationId xmlns:a16="http://schemas.microsoft.com/office/drawing/2014/main" id="{C5F93F25-1CCF-4761-84C9-BAF92170778E}"/>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E7E4DB73-B921-4702-B85F-4D1CED38174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08 / 34</a:t>
            </a:r>
          </a:p>
        </p:txBody>
      </p:sp>
    </p:spTree>
    <p:extLst>
      <p:ext uri="{BB962C8B-B14F-4D97-AF65-F5344CB8AC3E}">
        <p14:creationId xmlns:p14="http://schemas.microsoft.com/office/powerpoint/2010/main" val="18206506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8306EBC-C919-4F14-B61E-04DA32C0A55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94BD2FAA-E043-4F45-B4B0-4D8AFE126AA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Où lire les requêtes lentes ?</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B8B7DD28-32BC-407F-B9A5-88736A482F14}"/>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ACTIVER ET LOCALISER</a:t>
            </a:r>
            <a:endParaRPr sz="1425" b="1">
              <a:solidFill>
                <a:srgbClr val="AD4C21"/>
              </a:solidFill>
              <a:latin typeface="Aptos"/>
              <a:ea typeface="Aptos"/>
              <a:cs typeface="Aptos"/>
            </a:endParaRPr>
          </a:p>
        </p:txBody>
      </p:sp>
      <p:sp>
        <p:nvSpPr>
          <p:cNvPr id="5" name="Rectangle 4">
            <a:extLst>
              <a:ext uri="{FF2B5EF4-FFF2-40B4-BE49-F238E27FC236}">
                <a16:creationId xmlns:a16="http://schemas.microsoft.com/office/drawing/2014/main" id="{EBE616F4-16FB-44DE-8375-092040F3E5A4}"/>
              </a:ext>
            </a:extLst>
          </p:cNvPr>
          <p:cNvSpPr>
            <a:spLocks noGrp="1"/>
          </p:cNvSpPr>
          <p:nvPr/>
        </p:nvSpPr>
        <p:spPr>
          <a:xfrm>
            <a:off x="666750" y="2571750"/>
            <a:ext cx="6334125" cy="3524250"/>
          </a:xfrm>
          <a:prstGeom prst="rect">
            <a:avLst/>
          </a:prstGeom>
          <a:noFill/>
          <a:ln w="0">
            <a:noFill/>
          </a:ln>
        </p:spPr>
        <p:txBody>
          <a:bodyPr lIns="91440" tIns="45720" rIns="91440" bIns="45720" anchor="t">
            <a:noAutofit/>
          </a:bodyPr>
          <a:lstStyle/>
          <a:p>
            <a:pPr>
              <a:defRPr sz="2325" b="0">
                <a:solidFill>
                  <a:srgbClr val="173044"/>
                </a:solidFill>
                <a:latin typeface="Aptos"/>
                <a:ea typeface="Aptos"/>
                <a:cs typeface="Aptos"/>
              </a:defRPr>
            </a:pPr>
            <a:r>
              <a:rPr lang="fr-FR" sz="2300" b="0" dirty="0">
                <a:solidFill>
                  <a:srgbClr val="173044"/>
                </a:solidFill>
                <a:latin typeface="Aptos"/>
                <a:ea typeface="Aptos"/>
                <a:cs typeface="Aptos"/>
              </a:rPr>
              <a:t>SHOW </a:t>
            </a:r>
            <a:r>
              <a:rPr lang="fr-FR" sz="2300" b="1" dirty="0" err="1">
                <a:solidFill>
                  <a:srgbClr val="173044"/>
                </a:solidFill>
                <a:latin typeface="Aptos"/>
                <a:ea typeface="Aptos"/>
                <a:cs typeface="Aptos"/>
              </a:rPr>
              <a:t>log_min_duration_statement</a:t>
            </a:r>
            <a:r>
              <a:rPr lang="fr-FR" sz="2300" b="1" dirty="0">
                <a:solidFill>
                  <a:srgbClr val="173044"/>
                </a:solidFill>
                <a:latin typeface="Aptos"/>
                <a:ea typeface="Aptos"/>
                <a:cs typeface="Aptos"/>
              </a:rPr>
              <a:t>; </a:t>
            </a:r>
            <a:r>
              <a:rPr lang="fr-FR" sz="2300" b="0" dirty="0">
                <a:solidFill>
                  <a:srgbClr val="173044"/>
                </a:solidFill>
                <a:latin typeface="Aptos"/>
                <a:ea typeface="Aptos"/>
                <a:cs typeface="Aptos"/>
              </a:rPr>
              <a:t>vérifie le seuil (−1 = désactivé). Choisir une durée adaptée au service : les requêtes terminées au-delà de ce seuil sont journalisées.
SHOW </a:t>
            </a:r>
            <a:r>
              <a:rPr lang="fr-FR" sz="2300" b="1" dirty="0" err="1">
                <a:solidFill>
                  <a:srgbClr val="173044"/>
                </a:solidFill>
                <a:latin typeface="Aptos"/>
                <a:ea typeface="Aptos"/>
                <a:cs typeface="Aptos"/>
              </a:rPr>
              <a:t>log_destination</a:t>
            </a:r>
            <a:r>
              <a:rPr lang="fr-FR" sz="2300" b="1" dirty="0">
                <a:solidFill>
                  <a:srgbClr val="173044"/>
                </a:solidFill>
                <a:latin typeface="Aptos"/>
                <a:ea typeface="Aptos"/>
                <a:cs typeface="Aptos"/>
              </a:rPr>
              <a:t>; </a:t>
            </a:r>
            <a:r>
              <a:rPr lang="fr-FR" sz="2300" b="0" dirty="0">
                <a:solidFill>
                  <a:srgbClr val="173044"/>
                </a:solidFill>
                <a:latin typeface="Aptos"/>
                <a:ea typeface="Aptos"/>
                <a:cs typeface="Aptos"/>
              </a:rPr>
              <a:t>puis SELECT </a:t>
            </a:r>
            <a:r>
              <a:rPr lang="fr-FR" sz="2300" b="1" dirty="0" err="1">
                <a:solidFill>
                  <a:srgbClr val="173044"/>
                </a:solidFill>
                <a:latin typeface="Aptos"/>
                <a:ea typeface="Aptos"/>
                <a:cs typeface="Aptos"/>
              </a:rPr>
              <a:t>pg_current_logfile</a:t>
            </a:r>
            <a:r>
              <a:rPr lang="fr-FR" sz="2300" b="1" dirty="0">
                <a:solidFill>
                  <a:srgbClr val="173044"/>
                </a:solidFill>
                <a:latin typeface="Aptos"/>
                <a:ea typeface="Aptos"/>
                <a:cs typeface="Aptos"/>
              </a:rPr>
              <a:t>();</a:t>
            </a:r>
            <a:r>
              <a:rPr lang="fr-FR" sz="2300" b="0" dirty="0">
                <a:solidFill>
                  <a:srgbClr val="173044"/>
                </a:solidFill>
                <a:latin typeface="Aptos"/>
                <a:ea typeface="Aptos"/>
                <a:cs typeface="Aptos"/>
              </a:rPr>
              <a:t> localisent le fichier si </a:t>
            </a:r>
            <a:r>
              <a:rPr lang="fr-FR" sz="2300" b="0" dirty="0" err="1">
                <a:solidFill>
                  <a:srgbClr val="173044"/>
                </a:solidFill>
                <a:latin typeface="Aptos"/>
                <a:ea typeface="Aptos"/>
                <a:cs typeface="Aptos"/>
              </a:rPr>
              <a:t>logging_collector</a:t>
            </a:r>
            <a:r>
              <a:rPr lang="fr-FR" sz="2300" b="0" dirty="0">
                <a:solidFill>
                  <a:srgbClr val="173044"/>
                </a:solidFill>
                <a:latin typeface="Aptos"/>
                <a:ea typeface="Aptos"/>
                <a:cs typeface="Aptos"/>
              </a:rPr>
              <a:t> est actif.</a:t>
            </a:r>
            <a:endParaRPr sz="2300" b="0" dirty="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01093912-42E3-479D-9677-B627ED3B66D4}"/>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lang="fr-FR" sz="1425" b="1">
                <a:solidFill>
                  <a:srgbClr val="AD4C21"/>
                </a:solidFill>
                <a:latin typeface="Aptos"/>
                <a:ea typeface="Aptos"/>
                <a:cs typeface="Aptos"/>
              </a:rPr>
              <a:t>CONSULTER ET CORRÉLER</a:t>
            </a:r>
            <a:endParaRPr sz="1425" b="1">
              <a:solidFill>
                <a:srgbClr val="AD4C21"/>
              </a:solidFill>
              <a:latin typeface="Aptos"/>
              <a:ea typeface="Aptos"/>
              <a:cs typeface="Aptos"/>
            </a:endParaRPr>
          </a:p>
        </p:txBody>
      </p:sp>
      <p:sp>
        <p:nvSpPr>
          <p:cNvPr id="7" name="Rectangle 6">
            <a:extLst>
              <a:ext uri="{FF2B5EF4-FFF2-40B4-BE49-F238E27FC236}">
                <a16:creationId xmlns:a16="http://schemas.microsoft.com/office/drawing/2014/main" id="{CD6C2751-5472-4E80-BBBD-9BD447401D26}"/>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lang="fr-FR" sz="2325" b="0">
                <a:solidFill>
                  <a:srgbClr val="173044"/>
                </a:solidFill>
                <a:latin typeface="Aptos"/>
                <a:ea typeface="Aptos"/>
                <a:cs typeface="Aptos"/>
              </a:rPr>
              <a:t>Sur le serveur, lire le fichier indiqué (ex. tail -f &lt;chemin&gt;). Si la destination est syslog ou stderr sans collecteur, consulter les journaux système ou du conteneur.
Chercher « duration: », relever heure et durée, puis rapprocher la requête de l’application avec le PID ou l’identifiant de session.</a:t>
            </a:r>
            <a:endParaRPr sz="232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51B87789-C7BF-44C9-94A8-EC634376384E}"/>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964D76B3-A449-4C34-B053-4FFAFB62A41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Si pg_current_logfile() renvoie NULL, vérifier log_destination et logging_collector. Restreindre l’accès aux logs : le SQL peut contenir des données sensibles.</a:t>
            </a:r>
            <a:endParaRPr sz="1875" b="0">
              <a:solidFill>
                <a:srgbClr val="173044"/>
              </a:solidFill>
              <a:latin typeface="Aptos"/>
              <a:ea typeface="Aptos"/>
              <a:cs typeface="Aptos"/>
            </a:endParaRPr>
          </a:p>
        </p:txBody>
      </p:sp>
      <p:sp>
        <p:nvSpPr>
          <p:cNvPr id="10" name="Rectangle 9">
            <a:extLst>
              <a:ext uri="{FF2B5EF4-FFF2-40B4-BE49-F238E27FC236}">
                <a16:creationId xmlns:a16="http://schemas.microsoft.com/office/drawing/2014/main" id="{AA0BCDAC-ECB8-4386-95F2-394BC9177E35}"/>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697A27C7-9605-4231-851B-9A71EC314051}"/>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09 / 34</a:t>
            </a:r>
          </a:p>
        </p:txBody>
      </p:sp>
    </p:spTree>
    <p:extLst>
      <p:ext uri="{BB962C8B-B14F-4D97-AF65-F5344CB8AC3E}">
        <p14:creationId xmlns:p14="http://schemas.microsoft.com/office/powerpoint/2010/main" val="18596084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968214F6-4F85-45D5-9808-1CC5F0D83E0F}"/>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AD3A830E-F57B-4E68-886C-2FDC71CF02C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Diagnostic d’une API qui attend</a:t>
            </a:r>
          </a:p>
        </p:txBody>
      </p:sp>
      <p:sp>
        <p:nvSpPr>
          <p:cNvPr id="4" name="Rectangle 3">
            <a:extLst>
              <a:ext uri="{FF2B5EF4-FFF2-40B4-BE49-F238E27FC236}">
                <a16:creationId xmlns:a16="http://schemas.microsoft.com/office/drawing/2014/main" id="{4CE86CDF-7A06-47DC-9CB5-B470175E5178}"/>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EAAB9E70-FBCE-41B7-B363-911372D74F9C}"/>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Le p95 augmente, le débit stagne et la CPU PostgreSQL reste modérée. Le pool indique de nombreuses demandes en attente. Une transaction conserve une connexion pendant un appel réseau externe.</a:t>
            </a:r>
          </a:p>
        </p:txBody>
      </p:sp>
      <p:sp>
        <p:nvSpPr>
          <p:cNvPr id="6" name="Rectangle 5">
            <a:extLst>
              <a:ext uri="{FF2B5EF4-FFF2-40B4-BE49-F238E27FC236}">
                <a16:creationId xmlns:a16="http://schemas.microsoft.com/office/drawing/2014/main" id="{7E3614AB-8079-40E4-B4E8-CD9CC5BD99B5}"/>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L’hypothèse porte sur la durée d’occupation et les limites de concurrence. Agrandir le pool peut déplacer la saturation vers la base sans supprimer l’attente inutile. Le code doit réduire le périmètre de la transaction et libérer la connexion.</a:t>
            </a:r>
          </a:p>
        </p:txBody>
      </p:sp>
      <p:sp>
        <p:nvSpPr>
          <p:cNvPr id="7" name="Rectangle 6">
            <a:extLst>
              <a:ext uri="{FF2B5EF4-FFF2-40B4-BE49-F238E27FC236}">
                <a16:creationId xmlns:a16="http://schemas.microsoft.com/office/drawing/2014/main" id="{C71CCA72-E368-475F-B30D-322407C9575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68195929-CD70-4516-8EED-D5C1185B5D2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Cas fictif d’incident. Les indicateurs doivent être relevés ensemble pour tester cette hypothèse.</a:t>
            </a:r>
          </a:p>
        </p:txBody>
      </p:sp>
      <p:sp>
        <p:nvSpPr>
          <p:cNvPr id="9" name="Rectangle 8">
            <a:extLst>
              <a:ext uri="{FF2B5EF4-FFF2-40B4-BE49-F238E27FC236}">
                <a16:creationId xmlns:a16="http://schemas.microsoft.com/office/drawing/2014/main" id="{18600D0F-7D19-426F-B17C-88E9B73B828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C837E81B-8703-4C53-AA12-72CC219559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10 / 34</a:t>
            </a:r>
          </a:p>
        </p:txBody>
      </p:sp>
    </p:spTree>
    <p:extLst>
      <p:ext uri="{BB962C8B-B14F-4D97-AF65-F5344CB8AC3E}">
        <p14:creationId xmlns:p14="http://schemas.microsoft.com/office/powerpoint/2010/main" val="1433353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F907A3F1-CB65-4137-8FC5-939B948A1BD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A776D65E-5BD9-4CE3-9264-C5FA9EC18DB9}"/>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Diagnostic d’une requête qui trie sur disque</a:t>
            </a:r>
          </a:p>
        </p:txBody>
      </p:sp>
      <p:sp>
        <p:nvSpPr>
          <p:cNvPr id="4" name="Rectangle 3">
            <a:extLst>
              <a:ext uri="{FF2B5EF4-FFF2-40B4-BE49-F238E27FC236}">
                <a16:creationId xmlns:a16="http://schemas.microsoft.com/office/drawing/2014/main" id="{810B6303-1158-43AF-988B-1E77D303C950}"/>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308E8FED-5549-492C-9B19-412CF9309C10}"/>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Une requête trie un ensemble important avant LIMIT. Le plan montre un tri avec des écritures temporaires. Un index compatible ou un filtre plus ciblé peut réduire le travail avant tout changement mémoire.</a:t>
            </a:r>
          </a:p>
        </p:txBody>
      </p:sp>
      <p:sp>
        <p:nvSpPr>
          <p:cNvPr id="6" name="Rectangle 5">
            <a:extLst>
              <a:ext uri="{FF2B5EF4-FFF2-40B4-BE49-F238E27FC236}">
                <a16:creationId xmlns:a16="http://schemas.microsoft.com/office/drawing/2014/main" id="{67DADCA8-ADC0-4919-9D1B-E0020D73ACAE}"/>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Si le tri reste nécessaire, un réglage local de work_mem peut être étudié. Le besoin de mémoire se multiplie avec les opérations et les sessions. Augmenter une valeur globale sans estimer cette multiplication crée un nouveau risque de saturation.</a:t>
            </a:r>
          </a:p>
        </p:txBody>
      </p:sp>
      <p:sp>
        <p:nvSpPr>
          <p:cNvPr id="7" name="Rectangle 6">
            <a:extLst>
              <a:ext uri="{FF2B5EF4-FFF2-40B4-BE49-F238E27FC236}">
                <a16:creationId xmlns:a16="http://schemas.microsoft.com/office/drawing/2014/main" id="{CECEF10A-1279-4104-86FF-B7685A8A44DE}"/>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3126F7D5-62F4-43BB-A785-0F4623BC80D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La décision commence par le plan et le volume intermédiaire.</a:t>
            </a:r>
          </a:p>
        </p:txBody>
      </p:sp>
      <p:sp>
        <p:nvSpPr>
          <p:cNvPr id="9" name="Rectangle 8">
            <a:extLst>
              <a:ext uri="{FF2B5EF4-FFF2-40B4-BE49-F238E27FC236}">
                <a16:creationId xmlns:a16="http://schemas.microsoft.com/office/drawing/2014/main" id="{4D92DA10-F104-4D18-9AC1-F0FF1713406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C52E3E43-6888-4A38-9BF0-CE3EC6CE620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11 / 34</a:t>
            </a:r>
          </a:p>
        </p:txBody>
      </p:sp>
    </p:spTree>
    <p:extLst>
      <p:ext uri="{BB962C8B-B14F-4D97-AF65-F5344CB8AC3E}">
        <p14:creationId xmlns:p14="http://schemas.microsoft.com/office/powerpoint/2010/main" val="8707994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9" name="Image 1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CD23689-F0D5-4C69-BAD5-27EDBB6BCA71}"/>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52143E85-5B82-4777-BDB0-70B344E9A02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La méthode de tuning</a:t>
            </a:r>
          </a:p>
        </p:txBody>
      </p:sp>
      <p:sp>
        <p:nvSpPr>
          <p:cNvPr id="4" name="Rectangle 3">
            <a:extLst>
              <a:ext uri="{FF2B5EF4-FFF2-40B4-BE49-F238E27FC236}">
                <a16:creationId xmlns:a16="http://schemas.microsoft.com/office/drawing/2014/main" id="{B393E6D7-FCB3-4CA2-9A89-B85362C7C18F}"/>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Le tuning suit une hypothèse, une modification contrôlée et une vérification. Les requêtes, les index et le chemin applicatif constituent souvent les premières interventions. Les paramètres complètent ce travail lorsque l’observation les justifie.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On conserve une configuration de référence et une possibilité de retour arrière. Une amélioration locale peut dégrader une autre charge. Le test mélange lectures et écritures dans des proportions décrites.</a:t>
            </a:r>
          </a:p>
        </p:txBody>
      </p:sp>
      <p:sp>
        <p:nvSpPr>
          <p:cNvPr id="5" name="Rectangle : coins arrondis 4">
            <a:extLst>
              <a:ext uri="{FF2B5EF4-FFF2-40B4-BE49-F238E27FC236}">
                <a16:creationId xmlns:a16="http://schemas.microsoft.com/office/drawing/2014/main" id="{3F129F92-46C3-4B1D-8998-FB9F3FDF5C2E}"/>
              </a:ext>
            </a:extLst>
          </p:cNvPr>
          <p:cNvSpPr>
            <a:spLocks noGrp="1"/>
          </p:cNvSpPr>
          <p:nvPr/>
        </p:nvSpPr>
        <p:spPr>
          <a:xfrm>
            <a:off x="7524750"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Observation</a:t>
            </a:r>
          </a:p>
          <a:p>
            <a:pPr algn="ctr">
              <a:defRPr sz="1875" b="1">
                <a:solidFill>
                  <a:srgbClr val="FFFFFF"/>
                </a:solidFill>
                <a:latin typeface="Aptos"/>
                <a:ea typeface="Aptos"/>
                <a:cs typeface="Aptos"/>
              </a:defRPr>
            </a:pPr>
            <a:r>
              <a:rPr sz="1875" b="1">
                <a:solidFill>
                  <a:srgbClr val="FFFFFF"/>
                </a:solidFill>
                <a:latin typeface="Aptos"/>
                <a:ea typeface="Aptos"/>
                <a:cs typeface="Aptos"/>
              </a:rPr>
              <a:t>reproductible</a:t>
            </a:r>
          </a:p>
        </p:txBody>
      </p:sp>
      <p:sp>
        <p:nvSpPr>
          <p:cNvPr id="6" name="Rectangle : coins arrondis 5">
            <a:extLst>
              <a:ext uri="{FF2B5EF4-FFF2-40B4-BE49-F238E27FC236}">
                <a16:creationId xmlns:a16="http://schemas.microsoft.com/office/drawing/2014/main" id="{64E72A72-C2AC-4849-84C6-5E5452D88BED}"/>
              </a:ext>
            </a:extLst>
          </p:cNvPr>
          <p:cNvSpPr>
            <a:spLocks noGrp="1"/>
          </p:cNvSpPr>
          <p:nvPr/>
        </p:nvSpPr>
        <p:spPr>
          <a:xfrm>
            <a:off x="11557635" y="2238375"/>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Hypothèse</a:t>
            </a:r>
          </a:p>
          <a:p>
            <a:pPr algn="ctr">
              <a:defRPr sz="1875" b="1">
                <a:solidFill>
                  <a:srgbClr val="FFFFFF"/>
                </a:solidFill>
                <a:latin typeface="Aptos"/>
                <a:ea typeface="Aptos"/>
                <a:cs typeface="Aptos"/>
              </a:defRPr>
            </a:pPr>
            <a:r>
              <a:rPr sz="1875" b="1">
                <a:solidFill>
                  <a:srgbClr val="FFFFFF"/>
                </a:solidFill>
                <a:latin typeface="Aptos"/>
                <a:ea typeface="Aptos"/>
                <a:cs typeface="Aptos"/>
              </a:rPr>
              <a:t>causale</a:t>
            </a:r>
          </a:p>
        </p:txBody>
      </p:sp>
      <p:sp>
        <p:nvSpPr>
          <p:cNvPr id="7" name="Rectangle : coins arrondis 6">
            <a:extLst>
              <a:ext uri="{FF2B5EF4-FFF2-40B4-BE49-F238E27FC236}">
                <a16:creationId xmlns:a16="http://schemas.microsoft.com/office/drawing/2014/main" id="{A78D260B-CAD9-4968-BF24-854806DC3885}"/>
              </a:ext>
            </a:extLst>
          </p:cNvPr>
          <p:cNvSpPr>
            <a:spLocks noGrp="1"/>
          </p:cNvSpPr>
          <p:nvPr/>
        </p:nvSpPr>
        <p:spPr>
          <a:xfrm>
            <a:off x="11557635"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Modification</a:t>
            </a:r>
          </a:p>
          <a:p>
            <a:pPr algn="ctr">
              <a:defRPr sz="1875" b="1">
                <a:solidFill>
                  <a:srgbClr val="FFFFFF"/>
                </a:solidFill>
                <a:latin typeface="Aptos"/>
                <a:ea typeface="Aptos"/>
                <a:cs typeface="Aptos"/>
              </a:defRPr>
            </a:pPr>
            <a:r>
              <a:rPr sz="1875" b="1">
                <a:solidFill>
                  <a:srgbClr val="FFFFFF"/>
                </a:solidFill>
                <a:latin typeface="Aptos"/>
                <a:ea typeface="Aptos"/>
                <a:cs typeface="Aptos"/>
              </a:rPr>
              <a:t>contrôlée</a:t>
            </a:r>
          </a:p>
        </p:txBody>
      </p:sp>
      <p:sp>
        <p:nvSpPr>
          <p:cNvPr id="8" name="Rectangle : coins arrondis 7">
            <a:extLst>
              <a:ext uri="{FF2B5EF4-FFF2-40B4-BE49-F238E27FC236}">
                <a16:creationId xmlns:a16="http://schemas.microsoft.com/office/drawing/2014/main" id="{1916602B-B208-413E-977C-A84EB8CEDD1A}"/>
              </a:ext>
            </a:extLst>
          </p:cNvPr>
          <p:cNvSpPr>
            <a:spLocks noGrp="1"/>
          </p:cNvSpPr>
          <p:nvPr/>
        </p:nvSpPr>
        <p:spPr>
          <a:xfrm>
            <a:off x="7524750" y="3924300"/>
            <a:ext cx="2920365"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Vérification</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comparative</a:t>
            </a:r>
          </a:p>
        </p:txBody>
      </p:sp>
      <p:sp>
        <p:nvSpPr>
          <p:cNvPr id="9" name="Flèche : droite 8">
            <a:extLst>
              <a:ext uri="{FF2B5EF4-FFF2-40B4-BE49-F238E27FC236}">
                <a16:creationId xmlns:a16="http://schemas.microsoft.com/office/drawing/2014/main" id="{39F097DA-E61D-4284-93EC-1D17073F9FFD}"/>
              </a:ext>
            </a:extLst>
          </p:cNvPr>
          <p:cNvSpPr>
            <a:spLocks noGrp="1"/>
          </p:cNvSpPr>
          <p:nvPr/>
        </p:nvSpPr>
        <p:spPr>
          <a:xfrm>
            <a:off x="10502265" y="2657475"/>
            <a:ext cx="998220" cy="114300"/>
          </a:xfrm>
          <a:prstGeom prst="rightArrow">
            <a:avLst/>
          </a:prstGeom>
          <a:solidFill>
            <a:srgbClr val="69E0E3"/>
          </a:solidFill>
          <a:ln w="0">
            <a:noFill/>
          </a:ln>
        </p:spPr>
        <p:txBody>
          <a:bodyPr/>
          <a:lstStyle/>
          <a:p>
            <a:endParaRPr lang="fr-FR"/>
          </a:p>
        </p:txBody>
      </p:sp>
      <p:sp>
        <p:nvSpPr>
          <p:cNvPr id="10" name="Rectangle 9">
            <a:extLst>
              <a:ext uri="{FF2B5EF4-FFF2-40B4-BE49-F238E27FC236}">
                <a16:creationId xmlns:a16="http://schemas.microsoft.com/office/drawing/2014/main" id="{7AB46208-0949-4CAC-9555-42148D3EC6AC}"/>
              </a:ext>
            </a:extLst>
          </p:cNvPr>
          <p:cNvSpPr>
            <a:spLocks noGrp="1"/>
          </p:cNvSpPr>
          <p:nvPr/>
        </p:nvSpPr>
        <p:spPr>
          <a:xfrm>
            <a:off x="10429875" y="2343150"/>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diagnostic</a:t>
            </a:r>
          </a:p>
        </p:txBody>
      </p:sp>
      <p:sp>
        <p:nvSpPr>
          <p:cNvPr id="11" name="Flèche : droite 10">
            <a:extLst>
              <a:ext uri="{FF2B5EF4-FFF2-40B4-BE49-F238E27FC236}">
                <a16:creationId xmlns:a16="http://schemas.microsoft.com/office/drawing/2014/main" id="{EFF2F3A0-ACAA-433B-8C12-56C90E0A90A8}"/>
              </a:ext>
            </a:extLst>
          </p:cNvPr>
          <p:cNvSpPr>
            <a:spLocks noGrp="1"/>
          </p:cNvSpPr>
          <p:nvPr/>
        </p:nvSpPr>
        <p:spPr>
          <a:xfrm rot="5400000">
            <a:off x="12708255" y="3500438"/>
            <a:ext cx="619125" cy="114300"/>
          </a:xfrm>
          <a:prstGeom prst="rightArrow">
            <a:avLst/>
          </a:prstGeom>
          <a:solidFill>
            <a:srgbClr val="69E0E3"/>
          </a:solidFill>
          <a:ln w="0">
            <a:noFill/>
          </a:ln>
        </p:spPr>
        <p:txBody>
          <a:bodyPr/>
          <a:lstStyle/>
          <a:p>
            <a:endParaRPr lang="fr-FR"/>
          </a:p>
        </p:txBody>
      </p:sp>
      <p:sp>
        <p:nvSpPr>
          <p:cNvPr id="12" name="Rectangle 11">
            <a:extLst>
              <a:ext uri="{FF2B5EF4-FFF2-40B4-BE49-F238E27FC236}">
                <a16:creationId xmlns:a16="http://schemas.microsoft.com/office/drawing/2014/main" id="{0C26B21A-0133-4625-99A8-26853A2B91DD}"/>
              </a:ext>
            </a:extLst>
          </p:cNvPr>
          <p:cNvSpPr>
            <a:spLocks noGrp="1"/>
          </p:cNvSpPr>
          <p:nvPr/>
        </p:nvSpPr>
        <p:spPr>
          <a:xfrm>
            <a:off x="13132118" y="3414713"/>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expérience</a:t>
            </a:r>
          </a:p>
        </p:txBody>
      </p:sp>
      <p:sp>
        <p:nvSpPr>
          <p:cNvPr id="13" name="Flèche : droite 12">
            <a:extLst>
              <a:ext uri="{FF2B5EF4-FFF2-40B4-BE49-F238E27FC236}">
                <a16:creationId xmlns:a16="http://schemas.microsoft.com/office/drawing/2014/main" id="{9A1270D8-FFAD-440F-81E7-0F470C62B219}"/>
              </a:ext>
            </a:extLst>
          </p:cNvPr>
          <p:cNvSpPr>
            <a:spLocks noGrp="1"/>
          </p:cNvSpPr>
          <p:nvPr/>
        </p:nvSpPr>
        <p:spPr>
          <a:xfrm rot="10800000">
            <a:off x="10502265" y="4343400"/>
            <a:ext cx="998220" cy="114300"/>
          </a:xfrm>
          <a:prstGeom prst="rightArrow">
            <a:avLst/>
          </a:prstGeom>
          <a:solidFill>
            <a:srgbClr val="69E0E3"/>
          </a:solidFill>
          <a:ln w="0">
            <a:noFill/>
          </a:ln>
        </p:spPr>
        <p:txBody>
          <a:bodyPr/>
          <a:lstStyle/>
          <a:p>
            <a:endParaRPr lang="fr-FR"/>
          </a:p>
        </p:txBody>
      </p:sp>
      <p:sp>
        <p:nvSpPr>
          <p:cNvPr id="14" name="Rectangle 13">
            <a:extLst>
              <a:ext uri="{FF2B5EF4-FFF2-40B4-BE49-F238E27FC236}">
                <a16:creationId xmlns:a16="http://schemas.microsoft.com/office/drawing/2014/main" id="{AA5F1B87-5292-405D-8F9B-90FC30A86436}"/>
              </a:ext>
            </a:extLst>
          </p:cNvPr>
          <p:cNvSpPr>
            <a:spLocks noGrp="1"/>
          </p:cNvSpPr>
          <p:nvPr/>
        </p:nvSpPr>
        <p:spPr>
          <a:xfrm>
            <a:off x="10429875" y="40290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mesures</a:t>
            </a:r>
          </a:p>
        </p:txBody>
      </p:sp>
      <p:sp>
        <p:nvSpPr>
          <p:cNvPr id="15" name="Rectangle 14">
            <a:extLst>
              <a:ext uri="{FF2B5EF4-FFF2-40B4-BE49-F238E27FC236}">
                <a16:creationId xmlns:a16="http://schemas.microsoft.com/office/drawing/2014/main" id="{ECB98E89-4B67-47FE-8FCD-60AC401C18A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6" name="Rectangle 15">
            <a:extLst>
              <a:ext uri="{FF2B5EF4-FFF2-40B4-BE49-F238E27FC236}">
                <a16:creationId xmlns:a16="http://schemas.microsoft.com/office/drawing/2014/main" id="{0485632A-E50D-4315-97FD-09437AEAE806}"/>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Une valeur de paramètre a un périmètre, une unité et un effet. Le dossier les explique.</a:t>
            </a:r>
          </a:p>
        </p:txBody>
      </p:sp>
      <p:sp>
        <p:nvSpPr>
          <p:cNvPr id="17" name="Rectangle 16">
            <a:extLst>
              <a:ext uri="{FF2B5EF4-FFF2-40B4-BE49-F238E27FC236}">
                <a16:creationId xmlns:a16="http://schemas.microsoft.com/office/drawing/2014/main" id="{951F5D4C-7B1E-4ABB-9145-3D505A62DD7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8" name="Rectangle 17">
            <a:extLst>
              <a:ext uri="{FF2B5EF4-FFF2-40B4-BE49-F238E27FC236}">
                <a16:creationId xmlns:a16="http://schemas.microsoft.com/office/drawing/2014/main" id="{ADF1C703-70DF-41D7-B44A-BEEC4770DAC6}"/>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12 / 34</a:t>
            </a:r>
          </a:p>
        </p:txBody>
      </p:sp>
    </p:spTree>
    <p:extLst>
      <p:ext uri="{BB962C8B-B14F-4D97-AF65-F5344CB8AC3E}">
        <p14:creationId xmlns:p14="http://schemas.microsoft.com/office/powerpoint/2010/main" val="2238021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E24146D-31DE-4228-B0CA-C0AD5171538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08053AC1-9AA7-442A-9291-DB711566C96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work_mem</a:t>
            </a:r>
          </a:p>
        </p:txBody>
      </p:sp>
      <p:sp>
        <p:nvSpPr>
          <p:cNvPr id="4" name="Rectangle 3">
            <a:extLst>
              <a:ext uri="{FF2B5EF4-FFF2-40B4-BE49-F238E27FC236}">
                <a16:creationId xmlns:a16="http://schemas.microsoft.com/office/drawing/2014/main" id="{2208D29B-0E04-4D91-A125-5E61CF58BDE1}"/>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work_mem borne la mémoire utilisée par certaines opérations de tri ou de hachage avant leur débordement, avec des règles propres aux opérations. Plusieurs opérations dans une requête et plusieurs sessions peuvent consommer leur budget.</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 réglage local limite une expérience à une transaction. On compare les fichiers temporaires, la durée et la mémoire. La taille ne se choisit pas comme une fraction magique de la RAM totale.</a:t>
            </a:r>
          </a:p>
        </p:txBody>
      </p:sp>
      <p:sp>
        <p:nvSpPr>
          <p:cNvPr id="5" name="Rectangle 4">
            <a:extLst>
              <a:ext uri="{FF2B5EF4-FFF2-40B4-BE49-F238E27FC236}">
                <a16:creationId xmlns:a16="http://schemas.microsoft.com/office/drawing/2014/main" id="{6101EB6A-6150-44FC-8B59-33119170C70D}"/>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21426133-01CC-4F68-AC8B-44FAD3240C29}"/>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BEGIN;</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SET LOCAL work_mem = '32MB';</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EXPLAIN (ANALYZE, BUFFERS)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client_id, SUM(total)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GROUP BY client_id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SUM(total)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ROLLBACK;</a:t>
            </a:r>
          </a:p>
        </p:txBody>
      </p:sp>
      <p:sp>
        <p:nvSpPr>
          <p:cNvPr id="7" name="Rectangle 6">
            <a:extLst>
              <a:ext uri="{FF2B5EF4-FFF2-40B4-BE49-F238E27FC236}">
                <a16:creationId xmlns:a16="http://schemas.microsoft.com/office/drawing/2014/main" id="{C26DCE95-29FA-49B8-AB90-EF1DC7F67777}"/>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7A348969-8A8B-4C87-8276-045757951305}"/>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Exemple de laboratoire. Il ne prescrit pas 32 MB en production.</a:t>
            </a:r>
          </a:p>
        </p:txBody>
      </p:sp>
      <p:sp>
        <p:nvSpPr>
          <p:cNvPr id="9" name="Rectangle 8">
            <a:extLst>
              <a:ext uri="{FF2B5EF4-FFF2-40B4-BE49-F238E27FC236}">
                <a16:creationId xmlns:a16="http://schemas.microsoft.com/office/drawing/2014/main" id="{926D2907-473F-48FF-B893-4BCF4F65C7E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D80FD57A-B2D2-4B32-9DE2-AC51946A53E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13 / 34</a:t>
            </a:r>
          </a:p>
        </p:txBody>
      </p:sp>
    </p:spTree>
    <p:extLst>
      <p:ext uri="{BB962C8B-B14F-4D97-AF65-F5344CB8AC3E}">
        <p14:creationId xmlns:p14="http://schemas.microsoft.com/office/powerpoint/2010/main" val="166430785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EE13CDEE-149A-4129-9C91-15A460EE901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532C9592-097B-4A41-AEA2-26024DCC760A}"/>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shared_buffers alloue ; effective_cache_size estime</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5577E41B-353C-43CD-85E1-C92606C8D37F}"/>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lang="fr-FR" sz="2550" b="0">
                <a:solidFill>
                  <a:srgbClr val="173044"/>
                </a:solidFill>
                <a:latin typeface="Aptos"/>
                <a:ea typeface="Aptos"/>
                <a:cs typeface="Aptos"/>
              </a:rPr>
              <a:t>shared_buffers définit la taille du cache de pages alloué par PostgreSQL. effective_cache_size indique au planificateur combien de cache il peut supposer disponible pour une requête (cache PostgreSQL et système). Ce n’est pas une seconde allocation de RAM.</a:t>
            </a:r>
            <a:endParaRPr sz="2550"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A3917E39-3DCC-4B46-81DE-ECD6FEFFBC81}"/>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lang="fr-FR" sz="2250" b="0">
                <a:solidFill>
                  <a:srgbClr val="173044"/>
                </a:solidFill>
                <a:latin typeface="Aptos"/>
                <a:ea typeface="Aptos"/>
                <a:cs typeface="Aptos"/>
              </a:rPr>
              <a:t>Exemple illustratif : 2 Go de shared_buffers configurent le cache PostgreSQL ; 8 Go d’effective_cache_size ne réservent pas 8 Go supplémentaires. Cette estimation peut rendre un accès par index plus probable. Elle doit tenir compte des requêtes concurrentes.</a:t>
            </a:r>
            <a:endParaRPr sz="2250"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797490A7-23C9-4CDD-8F62-B84DC78AF6C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82E8257D-86B2-4819-8DDF-F66DF306949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À retenir : ne pas additionner ces deux valeurs pour calculer la RAM consommée. Vérifier les plans de requêtes et la charge réelle.</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832F146F-E3BB-456F-B116-6D8CB7E52AA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68D51D49-5496-46D9-A351-B24E6B1B6FD2}"/>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14 / 34</a:t>
            </a:r>
          </a:p>
        </p:txBody>
      </p:sp>
    </p:spTree>
    <p:extLst>
      <p:ext uri="{BB962C8B-B14F-4D97-AF65-F5344CB8AC3E}">
        <p14:creationId xmlns:p14="http://schemas.microsoft.com/office/powerpoint/2010/main" val="116814112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0E888A7B-81FB-4FDF-9282-B6D645FD779E}"/>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61055A34-0591-463B-81AB-1CA6913ADAB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Connexions et mémoire globale</a:t>
            </a:r>
          </a:p>
        </p:txBody>
      </p:sp>
      <p:sp>
        <p:nvSpPr>
          <p:cNvPr id="4" name="Rectangle 3">
            <a:extLst>
              <a:ext uri="{FF2B5EF4-FFF2-40B4-BE49-F238E27FC236}">
                <a16:creationId xmlns:a16="http://schemas.microsoft.com/office/drawing/2014/main" id="{C383D373-7BF1-4F44-87F0-577838F1F96A}"/>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7C43F031-AE60-4825-B28D-888D689359B6}"/>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La base supporte un nombre borné de connexions, mais la consommation réelle dépend de ce qu’elles font. Cent connexions inactives et cent connexions qui trient de grands ensembles ne portent pas la même charge.</a:t>
            </a:r>
          </a:p>
        </p:txBody>
      </p:sp>
      <p:sp>
        <p:nvSpPr>
          <p:cNvPr id="6" name="Rectangle 5">
            <a:extLst>
              <a:ext uri="{FF2B5EF4-FFF2-40B4-BE49-F238E27FC236}">
                <a16:creationId xmlns:a16="http://schemas.microsoft.com/office/drawing/2014/main" id="{4F8AB03F-A974-42A1-87DF-E408CDB22079}"/>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51A91D97-832B-4576-AA82-09E2082EE2BC}"/>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L’application limite les demandes simultanées et définit les délais. Les pools de toutes les instances participent au budget. Les outils de sauvegarde, de maintenance et de supervision conservent une capacité d’accès.</a:t>
            </a:r>
          </a:p>
        </p:txBody>
      </p:sp>
      <p:sp>
        <p:nvSpPr>
          <p:cNvPr id="8" name="Rectangle 7">
            <a:extLst>
              <a:ext uri="{FF2B5EF4-FFF2-40B4-BE49-F238E27FC236}">
                <a16:creationId xmlns:a16="http://schemas.microsoft.com/office/drawing/2014/main" id="{0F7F0226-0FEE-4146-97B2-56039B6EB866}"/>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57A8411E-1CBF-4BB1-A6E8-804BD70B7A5B}"/>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 capacité se valide par une courbe de charge, pas par l’augmentation isolée de max_connections.</a:t>
            </a:r>
          </a:p>
        </p:txBody>
      </p:sp>
      <p:sp>
        <p:nvSpPr>
          <p:cNvPr id="10" name="Rectangle 9">
            <a:extLst>
              <a:ext uri="{FF2B5EF4-FFF2-40B4-BE49-F238E27FC236}">
                <a16:creationId xmlns:a16="http://schemas.microsoft.com/office/drawing/2014/main" id="{FDF56EB2-7AEA-4AB6-AFA9-37D6EBDC973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4DD7068D-7806-4EA8-A868-3CAC6442724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15 / 34</a:t>
            </a:r>
          </a:p>
        </p:txBody>
      </p:sp>
    </p:spTree>
    <p:extLst>
      <p:ext uri="{BB962C8B-B14F-4D97-AF65-F5344CB8AC3E}">
        <p14:creationId xmlns:p14="http://schemas.microsoft.com/office/powerpoint/2010/main" val="16620875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A6EB6D72-9AF2-47A6-B0FF-13106968B39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9430A592-9881-4D64-BFF7-E0F2F836FA7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lang="fr-FR" sz="3600" b="1">
                <a:solidFill>
                  <a:srgbClr val="173044"/>
                </a:solidFill>
                <a:latin typeface="Aptos"/>
                <a:ea typeface="Aptos"/>
                <a:cs typeface="Aptos"/>
              </a:rPr>
              <a:t>VACUUM nettoie ; ANALYZE optimise les plans</a:t>
            </a:r>
            <a:endParaRPr sz="3600" b="1">
              <a:solidFill>
                <a:srgbClr val="173044"/>
              </a:solidFill>
              <a:latin typeface="Aptos"/>
              <a:ea typeface="Aptos"/>
              <a:cs typeface="Aptos"/>
            </a:endParaRPr>
          </a:p>
        </p:txBody>
      </p:sp>
      <p:sp>
        <p:nvSpPr>
          <p:cNvPr id="4" name="Rectangle 3">
            <a:extLst>
              <a:ext uri="{FF2B5EF4-FFF2-40B4-BE49-F238E27FC236}">
                <a16:creationId xmlns:a16="http://schemas.microsoft.com/office/drawing/2014/main" id="{33AE5164-67CA-474B-8B82-6027D1CC6B60}"/>
              </a:ext>
            </a:extLst>
          </p:cNvPr>
          <p:cNvSpPr>
            <a:spLocks noGrp="1"/>
          </p:cNvSpPr>
          <p:nvPr/>
        </p:nvSpPr>
        <p:spPr>
          <a:xfrm>
            <a:off x="666750" y="2143125"/>
            <a:ext cx="13525500" cy="2143125"/>
          </a:xfrm>
          <a:prstGeom prst="rect">
            <a:avLst/>
          </a:prstGeom>
          <a:noFill/>
          <a:ln w="0">
            <a:noFill/>
          </a:ln>
        </p:spPr>
        <p:txBody>
          <a:bodyPr>
            <a:noAutofit/>
          </a:bodyPr>
          <a:lstStyle/>
          <a:p>
            <a:pPr>
              <a:defRPr sz="2550" b="0">
                <a:solidFill>
                  <a:srgbClr val="173044"/>
                </a:solidFill>
                <a:latin typeface="Aptos"/>
                <a:ea typeface="Aptos"/>
                <a:cs typeface="Aptos"/>
              </a:defRPr>
            </a:pPr>
            <a:r>
              <a:rPr lang="fr-FR" sz="2200" b="0">
                <a:solidFill>
                  <a:srgbClr val="173044"/>
                </a:solidFill>
                <a:latin typeface="Aptos"/>
                <a:ea typeface="Aptos"/>
                <a:cs typeface="Aptos"/>
              </a:rPr>
              <a:t>VACUUM élimine les versions de lignes mortes (tables et index) : l’espace devient réutilisable, ce qui limite le gonflement. Il met à jour la visibilité des pages (index-only scans) et contribue à prévenir le bouclage des identifiants de transaction.
ANALYZE mesure la distribution des données : ses statistiques aident à choisir index et jointures.</a:t>
            </a:r>
            <a:endParaRPr sz="2200" b="0">
              <a:solidFill>
                <a:srgbClr val="173044"/>
              </a:solidFill>
              <a:latin typeface="Aptos"/>
              <a:ea typeface="Aptos"/>
              <a:cs typeface="Aptos"/>
            </a:endParaRPr>
          </a:p>
        </p:txBody>
      </p:sp>
      <p:sp>
        <p:nvSpPr>
          <p:cNvPr id="5" name="Rectangle 4">
            <a:extLst>
              <a:ext uri="{FF2B5EF4-FFF2-40B4-BE49-F238E27FC236}">
                <a16:creationId xmlns:a16="http://schemas.microsoft.com/office/drawing/2014/main" id="{E28256F3-6081-4900-937E-DD289E4D692D}"/>
              </a:ext>
            </a:extLst>
          </p:cNvPr>
          <p:cNvSpPr>
            <a:spLocks noGrp="1"/>
          </p:cNvSpPr>
          <p:nvPr/>
        </p:nvSpPr>
        <p:spPr>
          <a:xfrm>
            <a:off x="666750" y="4476750"/>
            <a:ext cx="13525500" cy="1981200"/>
          </a:xfrm>
          <a:prstGeom prst="rect">
            <a:avLst/>
          </a:prstGeom>
          <a:noFill/>
          <a:ln w="0">
            <a:noFill/>
          </a:ln>
        </p:spPr>
        <p:txBody>
          <a:bodyPr>
            <a:noAutofit/>
          </a:bodyPr>
          <a:lstStyle/>
          <a:p>
            <a:pPr>
              <a:defRPr sz="2175" b="0">
                <a:solidFill>
                  <a:srgbClr val="173044"/>
                </a:solidFill>
                <a:latin typeface="Aptos"/>
                <a:ea typeface="Aptos"/>
                <a:cs typeface="Aptos"/>
              </a:defRPr>
            </a:pPr>
            <a:r>
              <a:rPr lang="fr-FR" sz="2000" b="0">
                <a:solidFill>
                  <a:srgbClr val="173044"/>
                </a:solidFill>
                <a:latin typeface="Aptos"/>
                <a:ea typeface="Aptos"/>
                <a:cs typeface="Aptos"/>
              </a:rPr>
              <a:t>Autovacuum (activé par défaut) lance VACUUM et ANALYZE selon les modifications. Vérifier : SHOW autovacuum; SHOW track_counts;
À la demande : VACUUM (ANALYZE) public.commandes; ou ANALYZE public.commandes; VACUUM s’exécute hors transaction. Si désactivé : autovacuum = on et track_counts = on dans postgresql.conf ; puis SELECT pg_reload_conf();</a:t>
            </a:r>
            <a:endParaRPr sz="2000" b="0">
              <a:solidFill>
                <a:srgbClr val="173044"/>
              </a:solidFill>
              <a:latin typeface="Aptos"/>
              <a:ea typeface="Aptos"/>
              <a:cs typeface="Aptos"/>
            </a:endParaRPr>
          </a:p>
        </p:txBody>
      </p:sp>
      <p:sp>
        <p:nvSpPr>
          <p:cNvPr id="6" name="Rectangle 5">
            <a:extLst>
              <a:ext uri="{FF2B5EF4-FFF2-40B4-BE49-F238E27FC236}">
                <a16:creationId xmlns:a16="http://schemas.microsoft.com/office/drawing/2014/main" id="{03386D2F-66C7-481C-AF70-5DAAE668E386}"/>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ADC3DE14-E68E-432B-B949-5AA6B578BA4C}"/>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lang="fr-FR" sz="1875" b="0">
                <a:solidFill>
                  <a:srgbClr val="173044"/>
                </a:solidFill>
                <a:latin typeface="Aptos"/>
                <a:ea typeface="Aptos"/>
                <a:cs typeface="Aptos"/>
              </a:rPr>
              <a:t>VACUUM ordinaire rend l’espace réutilisable, pas forcément au système ; VACUUM FULL réécrit et verrouille la table. Une transaction longue peut retarder le nettoyage.</a:t>
            </a:r>
            <a:endParaRPr sz="1875" b="0">
              <a:solidFill>
                <a:srgbClr val="173044"/>
              </a:solidFill>
              <a:latin typeface="Aptos"/>
              <a:ea typeface="Aptos"/>
              <a:cs typeface="Aptos"/>
            </a:endParaRPr>
          </a:p>
        </p:txBody>
      </p:sp>
      <p:sp>
        <p:nvSpPr>
          <p:cNvPr id="8" name="Rectangle 7">
            <a:extLst>
              <a:ext uri="{FF2B5EF4-FFF2-40B4-BE49-F238E27FC236}">
                <a16:creationId xmlns:a16="http://schemas.microsoft.com/office/drawing/2014/main" id="{49CBC55E-9432-4C70-9B49-DEC3FB3402B1}"/>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25763C76-CFB0-48BB-A4DA-DF9040B26E3A}"/>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16 / 34</a:t>
            </a:r>
          </a:p>
        </p:txBody>
      </p:sp>
    </p:spTree>
    <p:extLst>
      <p:ext uri="{BB962C8B-B14F-4D97-AF65-F5344CB8AC3E}">
        <p14:creationId xmlns:p14="http://schemas.microsoft.com/office/powerpoint/2010/main" val="43082022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5F807444-3FC1-41FF-A6C8-4A24BFFAB14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FADAAE63-4FF8-4843-BEC9-D67E2C86D37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Transactions longues et dette de maintenance</a:t>
            </a:r>
          </a:p>
        </p:txBody>
      </p:sp>
      <p:sp>
        <p:nvSpPr>
          <p:cNvPr id="4" name="Rectangle 3">
            <a:extLst>
              <a:ext uri="{FF2B5EF4-FFF2-40B4-BE49-F238E27FC236}">
                <a16:creationId xmlns:a16="http://schemas.microsoft.com/office/drawing/2014/main" id="{04B49BAF-CC0C-4595-A4A7-20822D3DC191}"/>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77197078-D55F-4722-9C2C-4F80C4730FAC}"/>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Une transaction oubliée peut conserver un instantané ou des verrous et empêcher le système de progresser normalement. Les tables accumulent des versions, les index grandissent et les opérations attendent.</a:t>
            </a:r>
          </a:p>
        </p:txBody>
      </p:sp>
      <p:sp>
        <p:nvSpPr>
          <p:cNvPr id="6" name="Rectangle 5">
            <a:extLst>
              <a:ext uri="{FF2B5EF4-FFF2-40B4-BE49-F238E27FC236}">
                <a16:creationId xmlns:a16="http://schemas.microsoft.com/office/drawing/2014/main" id="{D401BEB2-3B3B-4F86-B7DE-F398B684E38C}"/>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3F8C63B0-207E-46E2-A24D-8255CFA4EEDA}"/>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Le service doit fermer les transactions dans tous les chemins d’erreur. L’exploitation repère idle in transaction et l’âge des transactions. Une interruption se décide selon le contexte, car elle peut annuler un travail important.</a:t>
            </a:r>
          </a:p>
        </p:txBody>
      </p:sp>
      <p:sp>
        <p:nvSpPr>
          <p:cNvPr id="8" name="Rectangle 7">
            <a:extLst>
              <a:ext uri="{FF2B5EF4-FFF2-40B4-BE49-F238E27FC236}">
                <a16:creationId xmlns:a16="http://schemas.microsoft.com/office/drawing/2014/main" id="{0100D2C6-71A1-49FD-B3EB-3770756BC6B1}"/>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111525EE-0C79-42D6-9AA1-F5533B507F3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dossier documente la durée des transactions et la libération des connexions.</a:t>
            </a:r>
          </a:p>
        </p:txBody>
      </p:sp>
      <p:sp>
        <p:nvSpPr>
          <p:cNvPr id="10" name="Rectangle 9">
            <a:extLst>
              <a:ext uri="{FF2B5EF4-FFF2-40B4-BE49-F238E27FC236}">
                <a16:creationId xmlns:a16="http://schemas.microsoft.com/office/drawing/2014/main" id="{7B8E748A-1DC4-426C-88A5-14082C0031F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1D12185D-75DD-4E05-B1C0-DD0529469AE3}"/>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17 / 34</a:t>
            </a:r>
          </a:p>
        </p:txBody>
      </p:sp>
    </p:spTree>
    <p:extLst>
      <p:ext uri="{BB962C8B-B14F-4D97-AF65-F5344CB8AC3E}">
        <p14:creationId xmlns:p14="http://schemas.microsoft.com/office/powerpoint/2010/main" val="12856392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68C5971-C24B-4EA7-AF5E-734AFCEA64D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D25B4120-ED40-47AA-BA44-6A0A52148DB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Benchmark SQL et benchmark HTTP</a:t>
            </a:r>
          </a:p>
        </p:txBody>
      </p:sp>
      <p:sp>
        <p:nvSpPr>
          <p:cNvPr id="4" name="Rectangle 3">
            <a:extLst>
              <a:ext uri="{FF2B5EF4-FFF2-40B4-BE49-F238E27FC236}">
                <a16:creationId xmlns:a16="http://schemas.microsoft.com/office/drawing/2014/main" id="{993254AE-999F-4E09-98D3-6CF9D5267EEF}"/>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Un benchmark SQL isole le moteur et la requête. Un benchmark HTTP inclut routage, pool, sérialisation, réseau et parfois cache. Les deux apportent des preuves complémentaires sur le même besoin.</a:t>
            </a:r>
          </a:p>
        </p:txBody>
      </p:sp>
      <p:sp>
        <p:nvSpPr>
          <p:cNvPr id="5" name="Rectangle 4">
            <a:extLst>
              <a:ext uri="{FF2B5EF4-FFF2-40B4-BE49-F238E27FC236}">
                <a16:creationId xmlns:a16="http://schemas.microsoft.com/office/drawing/2014/main" id="{458DDD5A-21C6-4BBA-B344-8C0FE451468D}"/>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pgbench peut exécuter un script SQL personnalisé et mesurer un scénario de charge. Le projet utilise son outil HTTP habituel pour les endpoints. Les résultats restent séparés si les scénarios ou les unités diffèrent.</a:t>
            </a:r>
          </a:p>
        </p:txBody>
      </p:sp>
      <p:sp>
        <p:nvSpPr>
          <p:cNvPr id="6" name="Rectangle 5">
            <a:extLst>
              <a:ext uri="{FF2B5EF4-FFF2-40B4-BE49-F238E27FC236}">
                <a16:creationId xmlns:a16="http://schemas.microsoft.com/office/drawing/2014/main" id="{FCCC1740-9EBB-4574-A775-54D564B6BF0F}"/>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1519E223-E477-4C93-AEC8-4267B2581EA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L’amélioration du temps SQL ne se convertit pas automatiquement en la même amélioration HTTP.</a:t>
            </a:r>
          </a:p>
        </p:txBody>
      </p:sp>
      <p:sp>
        <p:nvSpPr>
          <p:cNvPr id="8" name="Rectangle 7">
            <a:extLst>
              <a:ext uri="{FF2B5EF4-FFF2-40B4-BE49-F238E27FC236}">
                <a16:creationId xmlns:a16="http://schemas.microsoft.com/office/drawing/2014/main" id="{5E5BA6CF-033A-4374-8BBA-4034BF269879}"/>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1DF597D4-01BD-4174-BB53-84A4A719781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18 / 34</a:t>
            </a:r>
          </a:p>
        </p:txBody>
      </p:sp>
    </p:spTree>
    <p:extLst>
      <p:ext uri="{BB962C8B-B14F-4D97-AF65-F5344CB8AC3E}">
        <p14:creationId xmlns:p14="http://schemas.microsoft.com/office/powerpoint/2010/main" val="6660292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3C715D7-57BB-48F5-8EED-6ED48F0BAF2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AA974AE0-5FA4-4D32-B85D-DE8C40A88A61}"/>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scénario pgbench personnalisé</a:t>
            </a:r>
          </a:p>
        </p:txBody>
      </p:sp>
      <p:sp>
        <p:nvSpPr>
          <p:cNvPr id="4" name="Rectangle 3">
            <a:extLst>
              <a:ext uri="{FF2B5EF4-FFF2-40B4-BE49-F238E27FC236}">
                <a16:creationId xmlns:a16="http://schemas.microsoft.com/office/drawing/2014/main" id="{91D3AD51-5937-41A4-B715-7D75597FEE1B}"/>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script utilise une variable client_id et une requête bornée. On fixe le nombre de clients, la durée, les versions et l’état des index. Les résultats décrivent les opérations terminées et les erreurs du scénario.</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série de client_id uniforme ne représente pas forcément les clients très actifs. Une seconde série peut tester la distribution défavorable. Les scripts du dossier rendent ces choix visibles et reproductibles.</a:t>
            </a:r>
          </a:p>
        </p:txBody>
      </p:sp>
      <p:sp>
        <p:nvSpPr>
          <p:cNvPr id="5" name="Rectangle 4">
            <a:extLst>
              <a:ext uri="{FF2B5EF4-FFF2-40B4-BE49-F238E27FC236}">
                <a16:creationId xmlns:a16="http://schemas.microsoft.com/office/drawing/2014/main" id="{4198190D-25FB-4711-8C85-942D61AD6BB4}"/>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7958147D-5F77-41FC-9057-90FA375A12C4}"/>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\set client_id random(1, 1000)</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 id, created_at, total</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client_id = :client_id</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ORDER BY created_at DESC, id DESC</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LIMIT 20;</a:t>
            </a:r>
          </a:p>
        </p:txBody>
      </p:sp>
      <p:sp>
        <p:nvSpPr>
          <p:cNvPr id="7" name="Rectangle 6">
            <a:extLst>
              <a:ext uri="{FF2B5EF4-FFF2-40B4-BE49-F238E27FC236}">
                <a16:creationId xmlns:a16="http://schemas.microsoft.com/office/drawing/2014/main" id="{178F2E6A-8330-4E78-A6B6-26B92F1FF714}"/>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1E260A64-6682-44FA-8EEB-8F9F0D932E2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Exemple de script SQL à enregistrer pour pgbench. La commande complète figure dans le guide de mesure.</a:t>
            </a:r>
          </a:p>
        </p:txBody>
      </p:sp>
      <p:sp>
        <p:nvSpPr>
          <p:cNvPr id="9" name="Rectangle 8">
            <a:extLst>
              <a:ext uri="{FF2B5EF4-FFF2-40B4-BE49-F238E27FC236}">
                <a16:creationId xmlns:a16="http://schemas.microsoft.com/office/drawing/2014/main" id="{44975D9F-FD20-4AC2-95AE-7B93D619861D}"/>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7EBF052A-E0E0-44F8-8E2A-FCBC24737B7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19 / 34</a:t>
            </a:r>
          </a:p>
        </p:txBody>
      </p:sp>
    </p:spTree>
    <p:extLst>
      <p:ext uri="{BB962C8B-B14F-4D97-AF65-F5344CB8AC3E}">
        <p14:creationId xmlns:p14="http://schemas.microsoft.com/office/powerpoint/2010/main" val="158175344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BC2D89B3-667B-43D9-B272-ABE2DD1421B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DB76DDF3-783A-4837-AA29-2E4ED409B987}"/>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Charge ouverte et charge fermée</a:t>
            </a:r>
          </a:p>
        </p:txBody>
      </p:sp>
      <p:sp>
        <p:nvSpPr>
          <p:cNvPr id="4" name="Rectangle 3">
            <a:extLst>
              <a:ext uri="{FF2B5EF4-FFF2-40B4-BE49-F238E27FC236}">
                <a16:creationId xmlns:a16="http://schemas.microsoft.com/office/drawing/2014/main" id="{9730883C-4560-4025-8FA6-5CF460DD0F2C}"/>
              </a:ext>
            </a:extLst>
          </p:cNvPr>
          <p:cNvSpPr>
            <a:spLocks noGrp="1"/>
          </p:cNvSpPr>
          <p:nvPr/>
        </p:nvSpPr>
        <p:spPr>
          <a:xfrm>
            <a:off x="666750" y="2143125"/>
            <a:ext cx="9525000" cy="2143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Avec une charge fermée, un nombre de clients relance une opération après la précédente. Lorsque le système ralentit, le rythme des nouvelles demandes diminue. Une charge ouverte fixe un rythme d’arrivée plus indépendant des durées.</a:t>
            </a:r>
          </a:p>
        </p:txBody>
      </p:sp>
      <p:sp>
        <p:nvSpPr>
          <p:cNvPr id="5" name="Rectangle 4">
            <a:extLst>
              <a:ext uri="{FF2B5EF4-FFF2-40B4-BE49-F238E27FC236}">
                <a16:creationId xmlns:a16="http://schemas.microsoft.com/office/drawing/2014/main" id="{DC58E3B7-355F-4DC0-8157-7B027CE7D5F1}"/>
              </a:ext>
            </a:extLst>
          </p:cNvPr>
          <p:cNvSpPr>
            <a:spLocks noGrp="1"/>
          </p:cNvSpPr>
          <p:nvPr/>
        </p:nvSpPr>
        <p:spPr>
          <a:xfrm>
            <a:off x="4429125" y="4695825"/>
            <a:ext cx="10001250" cy="1771650"/>
          </a:xfrm>
          <a:prstGeom prst="rect">
            <a:avLst/>
          </a:prstGeom>
          <a:noFill/>
          <a:ln w="0">
            <a:noFill/>
          </a:ln>
        </p:spPr>
        <p:txBody>
          <a:bodyPr>
            <a:noAutofit/>
          </a:bodyPr>
          <a:lstStyle/>
          <a:p>
            <a:pPr>
              <a:defRPr sz="2175" b="0">
                <a:solidFill>
                  <a:srgbClr val="173044"/>
                </a:solidFill>
                <a:latin typeface="Aptos"/>
                <a:ea typeface="Aptos"/>
                <a:cs typeface="Aptos"/>
              </a:defRPr>
            </a:pPr>
            <a:r>
              <a:rPr sz="2175" b="0">
                <a:solidFill>
                  <a:srgbClr val="173044"/>
                </a:solidFill>
                <a:latin typeface="Aptos"/>
                <a:ea typeface="Aptos"/>
                <a:cs typeface="Aptos"/>
              </a:rPr>
              <a:t>Cette différence influence la lecture des files et des percentiles. Un outil qui attend les réponses peut sous-représenter les demandes qui auraient continué à arriver. Le protocole décrit le modèle et les retards de génération.</a:t>
            </a:r>
          </a:p>
        </p:txBody>
      </p:sp>
      <p:sp>
        <p:nvSpPr>
          <p:cNvPr id="6" name="Rectangle 5">
            <a:extLst>
              <a:ext uri="{FF2B5EF4-FFF2-40B4-BE49-F238E27FC236}">
                <a16:creationId xmlns:a16="http://schemas.microsoft.com/office/drawing/2014/main" id="{A8088D35-3D69-4F7B-8588-CE0A70EA88AA}"/>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F7793BE3-7DD6-4C35-898B-60710B0C1E7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Les résultats d’outils ou de modèles différents ne se comparent pas sans préciser ces conditions.</a:t>
            </a:r>
          </a:p>
        </p:txBody>
      </p:sp>
      <p:sp>
        <p:nvSpPr>
          <p:cNvPr id="8" name="Rectangle 7">
            <a:extLst>
              <a:ext uri="{FF2B5EF4-FFF2-40B4-BE49-F238E27FC236}">
                <a16:creationId xmlns:a16="http://schemas.microsoft.com/office/drawing/2014/main" id="{9935B550-A2B8-4EAD-896E-153C43581E8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EC9426E0-51BF-4084-965B-E43B3C9E1E4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20 / 34</a:t>
            </a:r>
          </a:p>
        </p:txBody>
      </p:sp>
    </p:spTree>
    <p:extLst>
      <p:ext uri="{BB962C8B-B14F-4D97-AF65-F5344CB8AC3E}">
        <p14:creationId xmlns:p14="http://schemas.microsoft.com/office/powerpoint/2010/main" val="1394853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1DF2D03-F106-44CE-921D-175C498AB41A}"/>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0B6BC4BC-4726-4105-9A42-DFC79391830B}"/>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9 : la courbe de charge</a:t>
            </a:r>
          </a:p>
        </p:txBody>
      </p:sp>
      <p:sp>
        <p:nvSpPr>
          <p:cNvPr id="4" name="Rectangle 3">
            <a:extLst>
              <a:ext uri="{FF2B5EF4-FFF2-40B4-BE49-F238E27FC236}">
                <a16:creationId xmlns:a16="http://schemas.microsoft.com/office/drawing/2014/main" id="{D479529A-1E9B-47C1-A32E-0421323A6EF8}"/>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ED6B36D7-637E-42B1-8790-35DB095F112D}"/>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Tester la même consultation avec 1, 5, 10 et 20 clients, puis s’arrêter si la machine de laboratoire sature. Pour chaque point, relever débit terminé, médiane, p95 et erreurs avec la même durée et le même échauffement.</a:t>
            </a:r>
          </a:p>
        </p:txBody>
      </p:sp>
      <p:sp>
        <p:nvSpPr>
          <p:cNvPr id="6" name="Rectangle 5">
            <a:extLst>
              <a:ext uri="{FF2B5EF4-FFF2-40B4-BE49-F238E27FC236}">
                <a16:creationId xmlns:a16="http://schemas.microsoft.com/office/drawing/2014/main" id="{9B97B555-4D5A-485D-A8BF-B4305ECE98B6}"/>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275E1DA8-A4ED-4866-BBF3-DF90CEEAFBCD}"/>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Comparer avant/après index ou correction N+1, avec un seul changement par série. Observer le pool et PostgreSQL. Garder les sorties brutes, la configuration et la charge de la machine pendant chaque test.</a:t>
            </a:r>
          </a:p>
        </p:txBody>
      </p:sp>
      <p:sp>
        <p:nvSpPr>
          <p:cNvPr id="8" name="Rectangle 7">
            <a:extLst>
              <a:ext uri="{FF2B5EF4-FFF2-40B4-BE49-F238E27FC236}">
                <a16:creationId xmlns:a16="http://schemas.microsoft.com/office/drawing/2014/main" id="{67848CDB-7200-48AA-9FB4-8EE9BFFD5058}"/>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3A3B22CE-5831-491C-BA88-D2281ECE17F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Livrable : courbe, protocole et interprétation de la saturation. Temps prévu : 1 h 15.</a:t>
            </a:r>
          </a:p>
        </p:txBody>
      </p:sp>
      <p:sp>
        <p:nvSpPr>
          <p:cNvPr id="10" name="Rectangle 9">
            <a:extLst>
              <a:ext uri="{FF2B5EF4-FFF2-40B4-BE49-F238E27FC236}">
                <a16:creationId xmlns:a16="http://schemas.microsoft.com/office/drawing/2014/main" id="{9463961A-3F58-4D46-94C5-B4AB2B66ABE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92C4F48E-BB94-4C22-AD8A-60A1FCD9BCF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21 / 34</a:t>
            </a:r>
          </a:p>
        </p:txBody>
      </p:sp>
    </p:spTree>
    <p:extLst>
      <p:ext uri="{BB962C8B-B14F-4D97-AF65-F5344CB8AC3E}">
        <p14:creationId xmlns:p14="http://schemas.microsoft.com/office/powerpoint/2010/main" val="13691680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611BC6C-7D82-4D95-B38B-29E34239D3FD}"/>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50E78448-A846-4556-8FB4-E23F08754DE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Lecture d’un résultat avant/après</a:t>
            </a:r>
          </a:p>
        </p:txBody>
      </p:sp>
      <p:sp>
        <p:nvSpPr>
          <p:cNvPr id="4" name="Rectangle 3">
            <a:extLst>
              <a:ext uri="{FF2B5EF4-FFF2-40B4-BE49-F238E27FC236}">
                <a16:creationId xmlns:a16="http://schemas.microsoft.com/office/drawing/2014/main" id="{3E1089DD-46D1-40C8-8D77-9BA93D77573F}"/>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Sur un exemple fictif, le p95 passe de 400 à 160 ms. La réduction vaut (400 − 160) / 400 = 60 %. Le facteur vaut 400 / 160 = 2,5. Ce sont deux façons différentes d’exprimer le même rapport.</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conclusion exploitable conserve les erreurs, le débit et le coût en ressources. La taille de l’échantillon et les répétitions déterminent la confiance accordée à la différence. On ne généralise pas le rapport à toutes les requêtes.</a:t>
            </a:r>
          </a:p>
        </p:txBody>
      </p:sp>
      <p:graphicFrame>
        <p:nvGraphicFramePr>
          <p:cNvPr id="14" name="Tableau 13"/>
          <p:cNvGraphicFramePr/>
          <p:nvPr/>
        </p:nvGraphicFramePr>
        <p:xfrm>
          <a:off x="7334250" y="2381250"/>
          <a:ext cx="7239000" cy="3714750"/>
        </p:xfrm>
        <a:graphic>
          <a:graphicData uri="http://schemas.openxmlformats.org/drawingml/2006/table">
            <a:tbl>
              <a:tblPr/>
              <a:tblGrid>
                <a:gridCol w="2413000">
                  <a:extLst>
                    <a:ext uri="{9D8B030D-6E8A-4147-A177-3AD203B41FA5}">
                      <a16:colId xmlns:a16="http://schemas.microsoft.com/office/drawing/2014/main" val="20000"/>
                    </a:ext>
                  </a:extLst>
                </a:gridCol>
                <a:gridCol w="2413000">
                  <a:extLst>
                    <a:ext uri="{9D8B030D-6E8A-4147-A177-3AD203B41FA5}">
                      <a16:colId xmlns:a16="http://schemas.microsoft.com/office/drawing/2014/main" val="20001"/>
                    </a:ext>
                  </a:extLst>
                </a:gridCol>
                <a:gridCol w="2413000">
                  <a:extLst>
                    <a:ext uri="{9D8B030D-6E8A-4147-A177-3AD203B41FA5}">
                      <a16:colId xmlns:a16="http://schemas.microsoft.com/office/drawing/2014/main" val="20002"/>
                    </a:ext>
                  </a:extLst>
                </a:gridCol>
              </a:tblGrid>
              <a:tr h="742950">
                <a:tc>
                  <a:txBody>
                    <a:bodyPr/>
                    <a:lstStyle/>
                    <a:p>
                      <a:r>
                        <a:rPr sz="1800" b="1">
                          <a:solidFill>
                            <a:srgbClr val="FFFFFF"/>
                          </a:solidFill>
                          <a:latin typeface="Aptos"/>
                          <a:ea typeface="Aptos"/>
                          <a:cs typeface="Aptos"/>
                        </a:rPr>
                        <a:t>Indicateur</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Avant</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Après</a:t>
                      </a:r>
                    </a:p>
                  </a:txBody>
                  <a:tcPr marL="142875" marR="142875" marT="114300" marB="114300" anchor="ctr">
                    <a:solidFill>
                      <a:srgbClr val="173C4C"/>
                    </a:solidFill>
                  </a:tcPr>
                </a:tc>
                <a:extLst>
                  <a:ext uri="{0D108BD9-81ED-4DB2-BD59-A6C34878D82A}">
                    <a16:rowId xmlns:a16="http://schemas.microsoft.com/office/drawing/2014/main" val="10000"/>
                  </a:ext>
                </a:extLst>
              </a:tr>
              <a:tr h="742950">
                <a:tc>
                  <a:txBody>
                    <a:bodyPr/>
                    <a:lstStyle/>
                    <a:p>
                      <a:r>
                        <a:rPr sz="1800">
                          <a:solidFill>
                            <a:srgbClr val="173044"/>
                          </a:solidFill>
                          <a:latin typeface="Aptos"/>
                          <a:ea typeface="Aptos"/>
                          <a:cs typeface="Aptos"/>
                        </a:rPr>
                        <a:t>Médiane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120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70 ms</a:t>
                      </a:r>
                    </a:p>
                  </a:txBody>
                  <a:tcPr marL="142875" marR="142875" marT="114300" marB="114300" anchor="ctr">
                    <a:solidFill>
                      <a:srgbClr val="F2DEC6"/>
                    </a:solidFill>
                  </a:tcPr>
                </a:tc>
                <a:extLst>
                  <a:ext uri="{0D108BD9-81ED-4DB2-BD59-A6C34878D82A}">
                    <a16:rowId xmlns:a16="http://schemas.microsoft.com/office/drawing/2014/main" val="10001"/>
                  </a:ext>
                </a:extLst>
              </a:tr>
              <a:tr h="742950">
                <a:tc>
                  <a:txBody>
                    <a:bodyPr/>
                    <a:lstStyle/>
                    <a:p>
                      <a:r>
                        <a:rPr sz="1800">
                          <a:solidFill>
                            <a:srgbClr val="173044"/>
                          </a:solidFill>
                          <a:latin typeface="Aptos"/>
                          <a:ea typeface="Aptos"/>
                          <a:cs typeface="Aptos"/>
                        </a:rPr>
                        <a:t>p95</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400 ms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160 ms</a:t>
                      </a:r>
                    </a:p>
                  </a:txBody>
                  <a:tcPr marL="142875" marR="142875" marT="114300" marB="114300" anchor="ctr">
                    <a:solidFill>
                      <a:srgbClr val="F2DEC6"/>
                    </a:solidFill>
                  </a:tcPr>
                </a:tc>
                <a:extLst>
                  <a:ext uri="{0D108BD9-81ED-4DB2-BD59-A6C34878D82A}">
                    <a16:rowId xmlns:a16="http://schemas.microsoft.com/office/drawing/2014/main" val="10002"/>
                  </a:ext>
                </a:extLst>
              </a:tr>
              <a:tr h="742950">
                <a:tc>
                  <a:txBody>
                    <a:bodyPr/>
                    <a:lstStyle/>
                    <a:p>
                      <a:r>
                        <a:rPr sz="1800">
                          <a:solidFill>
                            <a:srgbClr val="173044"/>
                          </a:solidFill>
                          <a:latin typeface="Aptos"/>
                          <a:ea typeface="Aptos"/>
                          <a:cs typeface="Aptos"/>
                        </a:rPr>
                        <a:t>Débit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100 req/s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160 req/s</a:t>
                      </a:r>
                    </a:p>
                  </a:txBody>
                  <a:tcPr marL="142875" marR="142875" marT="114300" marB="114300" anchor="ctr">
                    <a:solidFill>
                      <a:srgbClr val="F2DEC6"/>
                    </a:solidFill>
                  </a:tcPr>
                </a:tc>
                <a:extLst>
                  <a:ext uri="{0D108BD9-81ED-4DB2-BD59-A6C34878D82A}">
                    <a16:rowId xmlns:a16="http://schemas.microsoft.com/office/drawing/2014/main" val="10003"/>
                  </a:ext>
                </a:extLst>
              </a:tr>
              <a:tr h="742950">
                <a:tc>
                  <a:txBody>
                    <a:bodyPr/>
                    <a:lstStyle/>
                    <a:p>
                      <a:r>
                        <a:rPr sz="1800">
                          <a:solidFill>
                            <a:srgbClr val="173044"/>
                          </a:solidFill>
                          <a:latin typeface="Aptos"/>
                          <a:ea typeface="Aptos"/>
                          <a:cs typeface="Aptos"/>
                        </a:rPr>
                        <a:t>Erreurs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0,5 %</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0,5 %</a:t>
                      </a:r>
                    </a:p>
                  </a:txBody>
                  <a:tcPr marL="142875" marR="142875" marT="114300" marB="114300" anchor="ctr">
                    <a:solidFill>
                      <a:srgbClr val="F2DEC6"/>
                    </a:solidFill>
                  </a:tcPr>
                </a:tc>
                <a:extLst>
                  <a:ext uri="{0D108BD9-81ED-4DB2-BD59-A6C34878D82A}">
                    <a16:rowId xmlns:a16="http://schemas.microsoft.com/office/drawing/2014/main" val="10004"/>
                  </a:ext>
                </a:extLst>
              </a:tr>
            </a:tbl>
          </a:graphicData>
        </a:graphic>
      </p:graphicFrame>
      <p:sp>
        <p:nvSpPr>
          <p:cNvPr id="6" name="Rectangle 5">
            <a:extLst>
              <a:ext uri="{FF2B5EF4-FFF2-40B4-BE49-F238E27FC236}">
                <a16:creationId xmlns:a16="http://schemas.microsoft.com/office/drawing/2014/main" id="{423EC57A-6CFE-4F01-B16A-BF29898552B9}"/>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7157A6CF-6AE7-4817-9671-CAE141150A33}"/>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Valeurs fictives uniquement. Les étudiants remplacent le tableau par leurs observations.</a:t>
            </a:r>
          </a:p>
        </p:txBody>
      </p:sp>
      <p:sp>
        <p:nvSpPr>
          <p:cNvPr id="8" name="Rectangle 7">
            <a:extLst>
              <a:ext uri="{FF2B5EF4-FFF2-40B4-BE49-F238E27FC236}">
                <a16:creationId xmlns:a16="http://schemas.microsoft.com/office/drawing/2014/main" id="{8F9B3EDA-4E67-4F54-85FF-EC09696456D4}"/>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BF533C61-92E7-4FA9-84BF-159C92CCB2E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22 / 34</a:t>
            </a:r>
          </a:p>
        </p:txBody>
      </p:sp>
    </p:spTree>
    <p:extLst>
      <p:ext uri="{BB962C8B-B14F-4D97-AF65-F5344CB8AC3E}">
        <p14:creationId xmlns:p14="http://schemas.microsoft.com/office/powerpoint/2010/main" val="146094020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F5888A18-1341-45FA-BF52-AFC72788CFD9}"/>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4ADB323A-99DE-4991-BB18-D748D0DBD7B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Une conclusion qui reste limitée</a:t>
            </a:r>
          </a:p>
        </p:txBody>
      </p:sp>
      <p:sp>
        <p:nvSpPr>
          <p:cNvPr id="4" name="Rectangle 3">
            <a:extLst>
              <a:ext uri="{FF2B5EF4-FFF2-40B4-BE49-F238E27FC236}">
                <a16:creationId xmlns:a16="http://schemas.microsoft.com/office/drawing/2014/main" id="{EC0D34E5-B180-41E1-8E4C-35D858166579}"/>
              </a:ext>
            </a:extLst>
          </p:cNvPr>
          <p:cNvSpPr>
            <a:spLocks noGrp="1"/>
          </p:cNvSpPr>
          <p:nvPr/>
        </p:nvSpPr>
        <p:spPr>
          <a:xfrm>
            <a:off x="666750" y="2076450"/>
            <a:ext cx="13335000" cy="304800"/>
          </a:xfrm>
          <a:prstGeom prst="rect">
            <a:avLst/>
          </a:prstGeom>
          <a:noFill/>
          <a:ln w="0">
            <a:noFill/>
          </a:ln>
        </p:spPr>
        <p:txBody>
          <a:bodyPr>
            <a:noAutofit/>
          </a:bodyPr>
          <a:lstStyle/>
          <a:p>
            <a:pPr>
              <a:defRPr sz="1425" b="1">
                <a:solidFill>
                  <a:srgbClr val="69E0E3"/>
                </a:solidFill>
                <a:latin typeface="Aptos"/>
                <a:ea typeface="Aptos"/>
                <a:cs typeface="Aptos"/>
              </a:defRPr>
            </a:pPr>
            <a:r>
              <a:rPr sz="1425" b="1">
                <a:solidFill>
                  <a:srgbClr val="69E0E3"/>
                </a:solidFill>
                <a:latin typeface="Aptos"/>
                <a:ea typeface="Aptos"/>
                <a:cs typeface="Aptos"/>
              </a:rPr>
              <a:t>SITUATION ET RAISONNEMENT</a:t>
            </a:r>
          </a:p>
        </p:txBody>
      </p:sp>
      <p:sp>
        <p:nvSpPr>
          <p:cNvPr id="5" name="Rectangle 4">
            <a:extLst>
              <a:ext uri="{FF2B5EF4-FFF2-40B4-BE49-F238E27FC236}">
                <a16:creationId xmlns:a16="http://schemas.microsoft.com/office/drawing/2014/main" id="{D3FFA86B-0D3F-4A9B-96BC-4877E77EA8F8}"/>
              </a:ext>
            </a:extLst>
          </p:cNvPr>
          <p:cNvSpPr>
            <a:spLocks noGrp="1"/>
          </p:cNvSpPr>
          <p:nvPr/>
        </p:nvSpPr>
        <p:spPr>
          <a:xfrm>
            <a:off x="666750" y="2590800"/>
            <a:ext cx="13525500" cy="1666875"/>
          </a:xfrm>
          <a:prstGeom prst="rect">
            <a:avLst/>
          </a:prstGeom>
          <a:noFill/>
          <a:ln w="0">
            <a:noFill/>
          </a:ln>
        </p:spPr>
        <p:txBody>
          <a:bodyPr>
            <a:noAutofit/>
          </a:bodyPr>
          <a:lstStyle/>
          <a:p>
            <a:pPr>
              <a:defRPr sz="2475" b="0">
                <a:solidFill>
                  <a:srgbClr val="F6F3ED"/>
                </a:solidFill>
                <a:latin typeface="Aptos"/>
                <a:ea typeface="Aptos"/>
                <a:cs typeface="Aptos"/>
              </a:defRPr>
            </a:pPr>
            <a:r>
              <a:rPr sz="2475" b="0">
                <a:solidFill>
                  <a:srgbClr val="F6F3ED"/>
                </a:solidFill>
                <a:latin typeface="Aptos"/>
                <a:ea typeface="Aptos"/>
                <a:cs typeface="Aptos"/>
              </a:rPr>
              <a:t>« Sur cette machine, ce jeu et cette charge, l’index réduit le travail et le p95 de l’historique » est une conclusion testable. Elle identifie le périmètre et le mécanisme observé.</a:t>
            </a:r>
          </a:p>
        </p:txBody>
      </p:sp>
      <p:sp>
        <p:nvSpPr>
          <p:cNvPr id="6" name="Rectangle 5">
            <a:extLst>
              <a:ext uri="{FF2B5EF4-FFF2-40B4-BE49-F238E27FC236}">
                <a16:creationId xmlns:a16="http://schemas.microsoft.com/office/drawing/2014/main" id="{A65FE2B0-6B8D-44A4-958A-C17732FCB047}"/>
              </a:ext>
            </a:extLst>
          </p:cNvPr>
          <p:cNvSpPr>
            <a:spLocks noGrp="1"/>
          </p:cNvSpPr>
          <p:nvPr/>
        </p:nvSpPr>
        <p:spPr>
          <a:xfrm>
            <a:off x="666750" y="4591050"/>
            <a:ext cx="9144000" cy="1905000"/>
          </a:xfrm>
          <a:prstGeom prst="rect">
            <a:avLst/>
          </a:prstGeom>
          <a:noFill/>
          <a:ln w="0">
            <a:noFill/>
          </a:ln>
        </p:spPr>
        <p:txBody>
          <a:bodyPr>
            <a:noAutofit/>
          </a:bodyPr>
          <a:lstStyle/>
          <a:p>
            <a:pPr>
              <a:defRPr sz="2175" b="0">
                <a:solidFill>
                  <a:srgbClr val="F6F3ED"/>
                </a:solidFill>
                <a:latin typeface="Aptos"/>
                <a:ea typeface="Aptos"/>
                <a:cs typeface="Aptos"/>
              </a:defRPr>
            </a:pPr>
            <a:r>
              <a:rPr sz="2175" b="0">
                <a:solidFill>
                  <a:srgbClr val="F6F3ED"/>
                </a:solidFill>
                <a:latin typeface="Aptos"/>
                <a:ea typeface="Aptos"/>
                <a:cs typeface="Aptos"/>
              </a:rPr>
              <a:t>« PostgreSQL devient 2,5 fois plus rapide » dépasse ce qui a été testé. Une optimisation peut être neutre pour un autre endpoint et plus coûteuse pour l’import. Le dossier explique les effets secondaires et les tests encore nécessaires.</a:t>
            </a:r>
          </a:p>
        </p:txBody>
      </p:sp>
      <p:sp>
        <p:nvSpPr>
          <p:cNvPr id="7" name="Rectangle 6">
            <a:extLst>
              <a:ext uri="{FF2B5EF4-FFF2-40B4-BE49-F238E27FC236}">
                <a16:creationId xmlns:a16="http://schemas.microsoft.com/office/drawing/2014/main" id="{8C85E670-09D3-4197-94A8-4E53D5D8FC6E}"/>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8" name="Rectangle 7">
            <a:extLst>
              <a:ext uri="{FF2B5EF4-FFF2-40B4-BE49-F238E27FC236}">
                <a16:creationId xmlns:a16="http://schemas.microsoft.com/office/drawing/2014/main" id="{F3B41FE2-6CCC-43EA-A073-1E19D86CA33D}"/>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Un résultat défavorable ou neutre constitue une preuve utile s’il est expliqué.</a:t>
            </a:r>
          </a:p>
        </p:txBody>
      </p:sp>
      <p:sp>
        <p:nvSpPr>
          <p:cNvPr id="9" name="Rectangle 8">
            <a:extLst>
              <a:ext uri="{FF2B5EF4-FFF2-40B4-BE49-F238E27FC236}">
                <a16:creationId xmlns:a16="http://schemas.microsoft.com/office/drawing/2014/main" id="{7BA8CEBD-05A5-4481-8F7C-4297A30A2E33}"/>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E180FE0D-952F-4F73-843D-3E2D151DEB4B}"/>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23 / 34</a:t>
            </a:r>
          </a:p>
        </p:txBody>
      </p:sp>
    </p:spTree>
    <p:extLst>
      <p:ext uri="{BB962C8B-B14F-4D97-AF65-F5344CB8AC3E}">
        <p14:creationId xmlns:p14="http://schemas.microsoft.com/office/powerpoint/2010/main" val="202807244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6" name="Image 15"/>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88BD495-B1D3-449F-9F56-39B661D25E8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84D2A1DE-577A-4BC4-98E2-E08EE4836CA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Séparer rapports et commandes limite la concurrence</a:t>
            </a:r>
          </a:p>
        </p:txBody>
      </p:sp>
      <p:sp>
        <p:nvSpPr>
          <p:cNvPr id="4" name="Rectangle 3">
            <a:extLst>
              <a:ext uri="{FF2B5EF4-FFF2-40B4-BE49-F238E27FC236}">
                <a16:creationId xmlns:a16="http://schemas.microsoft.com/office/drawing/2014/main" id="{6001D079-C1B3-4F96-AE4A-34C8F42ACBAA}"/>
              </a:ext>
            </a:extLst>
          </p:cNvPr>
          <p:cNvSpPr>
            <a:spLocks noGrp="1"/>
          </p:cNvSpPr>
          <p:nvPr/>
        </p:nvSpPr>
        <p:spPr>
          <a:xfrm>
            <a:off x="666750" y="2105025"/>
            <a:ext cx="6096000" cy="4476750"/>
          </a:xfrm>
          <a:prstGeom prst="rect">
            <a:avLst/>
          </a:prstGeom>
          <a:noFill/>
          <a:ln w="0">
            <a:noFill/>
          </a:ln>
        </p:spPr>
        <p:txBody>
          <a:bodyPr>
            <a:noAutofit/>
          </a:bodyPr>
          <a:lstStyle/>
          <a:p>
            <a:pPr>
              <a:defRPr sz="2025" b="0">
                <a:solidFill>
                  <a:srgbClr val="F6F3ED"/>
                </a:solidFill>
                <a:latin typeface="Aptos"/>
                <a:ea typeface="Aptos"/>
                <a:cs typeface="Aptos"/>
              </a:defRPr>
            </a:pPr>
            <a:r>
              <a:rPr sz="2025" b="0">
                <a:solidFill>
                  <a:srgbClr val="F6F3ED"/>
                </a:solidFill>
                <a:latin typeface="Aptos"/>
                <a:ea typeface="Aptos"/>
                <a:cs typeface="Aptos"/>
              </a:rPr>
              <a:t>OLTP : PostgreSQL enregistre les commandes et répond aux requêtes courtes. Analytique : un export alimente le calcul des ventes mensuelles sur une période longue.</a:t>
            </a:r>
          </a:p>
          <a:p>
            <a:endParaRPr sz="2025" b="0">
              <a:solidFill>
                <a:srgbClr val="F6F3ED"/>
              </a:solidFill>
              <a:latin typeface="Aptos"/>
              <a:ea typeface="Aptos"/>
              <a:cs typeface="Aptos"/>
            </a:endParaRPr>
          </a:p>
          <a:p>
            <a:pPr>
              <a:defRPr sz="2025" b="0">
                <a:solidFill>
                  <a:srgbClr val="F6F3ED"/>
                </a:solidFill>
                <a:latin typeface="Aptos"/>
                <a:ea typeface="Aptos"/>
                <a:cs typeface="Aptos"/>
              </a:defRPr>
            </a:pPr>
            <a:r>
              <a:rPr sz="2025" b="0">
                <a:solidFill>
                  <a:srgbClr val="F6F3ED"/>
                </a:solidFill>
                <a:latin typeface="Aptos"/>
                <a:ea typeface="Aptos"/>
                <a:cs typeface="Aptos"/>
              </a:rPr>
              <a:t>Pourquoi séparer ? Un rapport lourd sur la même instance peut concurrencer les commandes. L’export déplace ce calcul, mais les chiffres arrivent avec un délai.</a:t>
            </a:r>
          </a:p>
        </p:txBody>
      </p:sp>
      <p:sp>
        <p:nvSpPr>
          <p:cNvPr id="5" name="Rectangle : coins arrondis 4">
            <a:extLst>
              <a:ext uri="{FF2B5EF4-FFF2-40B4-BE49-F238E27FC236}">
                <a16:creationId xmlns:a16="http://schemas.microsoft.com/office/drawing/2014/main" id="{78AE0228-9F88-48B9-9DE0-C801724E86F3}"/>
              </a:ext>
            </a:extLst>
          </p:cNvPr>
          <p:cNvSpPr>
            <a:spLocks noGrp="1"/>
          </p:cNvSpPr>
          <p:nvPr/>
        </p:nvSpPr>
        <p:spPr>
          <a:xfrm>
            <a:off x="9471660" y="223837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PostgreSQL</a:t>
            </a:r>
          </a:p>
          <a:p>
            <a:pPr algn="ctr">
              <a:defRPr sz="1875" b="1">
                <a:solidFill>
                  <a:srgbClr val="FFFFFF"/>
                </a:solidFill>
                <a:latin typeface="Aptos"/>
                <a:ea typeface="Aptos"/>
                <a:cs typeface="Aptos"/>
              </a:defRPr>
            </a:pPr>
            <a:r>
              <a:rPr sz="1875" b="1">
                <a:solidFill>
                  <a:srgbClr val="FFFFFF"/>
                </a:solidFill>
                <a:latin typeface="Aptos"/>
                <a:ea typeface="Aptos"/>
                <a:cs typeface="Aptos"/>
              </a:rPr>
              <a:t>commandes (OLTP)</a:t>
            </a:r>
          </a:p>
        </p:txBody>
      </p:sp>
      <p:sp>
        <p:nvSpPr>
          <p:cNvPr id="6" name="Rectangle : coins arrondis 5">
            <a:extLst>
              <a:ext uri="{FF2B5EF4-FFF2-40B4-BE49-F238E27FC236}">
                <a16:creationId xmlns:a16="http://schemas.microsoft.com/office/drawing/2014/main" id="{95D43C05-2508-4663-8893-8E14AB5E1D85}"/>
              </a:ext>
            </a:extLst>
          </p:cNvPr>
          <p:cNvSpPr>
            <a:spLocks noGrp="1"/>
          </p:cNvSpPr>
          <p:nvPr/>
        </p:nvSpPr>
        <p:spPr>
          <a:xfrm>
            <a:off x="9471660" y="355282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Export</a:t>
            </a:r>
          </a:p>
          <a:p>
            <a:pPr algn="ctr">
              <a:defRPr sz="1875" b="1">
                <a:solidFill>
                  <a:srgbClr val="FFFFFF"/>
                </a:solidFill>
                <a:latin typeface="Aptos"/>
                <a:ea typeface="Aptos"/>
                <a:cs typeface="Aptos"/>
              </a:defRPr>
            </a:pPr>
            <a:r>
              <a:rPr sz="1875" b="1">
                <a:solidFill>
                  <a:srgbClr val="FFFFFF"/>
                </a:solidFill>
                <a:latin typeface="Aptos"/>
                <a:ea typeface="Aptos"/>
                <a:cs typeface="Aptos"/>
              </a:rPr>
              <a:t>champs et règles</a:t>
            </a:r>
          </a:p>
        </p:txBody>
      </p:sp>
      <p:sp>
        <p:nvSpPr>
          <p:cNvPr id="7" name="Rectangle : coins arrondis 6">
            <a:extLst>
              <a:ext uri="{FF2B5EF4-FFF2-40B4-BE49-F238E27FC236}">
                <a16:creationId xmlns:a16="http://schemas.microsoft.com/office/drawing/2014/main" id="{3AE1BD81-CA1B-4B74-91C5-E4F3ED46CD62}"/>
              </a:ext>
            </a:extLst>
          </p:cNvPr>
          <p:cNvSpPr>
            <a:spLocks noGrp="1"/>
          </p:cNvSpPr>
          <p:nvPr/>
        </p:nvSpPr>
        <p:spPr>
          <a:xfrm>
            <a:off x="9471660" y="4867275"/>
            <a:ext cx="2781300" cy="952500"/>
          </a:xfrm>
          <a:prstGeom prst="roundRect">
            <a:avLst>
              <a:gd name="adj" fmla="val 8000"/>
            </a:avLst>
          </a:prstGeom>
          <a:solidFill>
            <a:srgbClr val="174654"/>
          </a:solidFill>
          <a:ln w="19050">
            <a:solidFill>
              <a:srgbClr val="69E0E3"/>
            </a:solidFill>
          </a:ln>
        </p:spPr>
        <p:txBody>
          <a:bodyPr anchor="ctr">
            <a:noAutofit/>
          </a:bodyPr>
          <a:lstStyle/>
          <a:p>
            <a:pPr algn="ctr">
              <a:defRPr sz="1875" b="1">
                <a:solidFill>
                  <a:srgbClr val="FFFFFF"/>
                </a:solidFill>
                <a:latin typeface="Aptos"/>
                <a:ea typeface="Aptos"/>
                <a:cs typeface="Aptos"/>
              </a:defRPr>
            </a:pPr>
            <a:r>
              <a:rPr sz="1875" b="1">
                <a:solidFill>
                  <a:srgbClr val="FFFFFF"/>
                </a:solidFill>
                <a:latin typeface="Aptos"/>
                <a:ea typeface="Aptos"/>
                <a:cs typeface="Aptos"/>
              </a:rPr>
              <a:t>Analytique</a:t>
            </a:r>
          </a:p>
          <a:p>
            <a:pPr algn="ctr">
              <a:defRPr sz="1875" b="1">
                <a:solidFill>
                  <a:srgbClr val="FFFFFF"/>
                </a:solidFill>
                <a:latin typeface="Aptos"/>
                <a:ea typeface="Aptos"/>
                <a:cs typeface="Aptos"/>
              </a:defRPr>
            </a:pPr>
            <a:r>
              <a:rPr sz="1875" b="1">
                <a:solidFill>
                  <a:srgbClr val="FFFFFF"/>
                </a:solidFill>
                <a:latin typeface="Aptos"/>
                <a:ea typeface="Aptos"/>
                <a:cs typeface="Aptos"/>
              </a:rPr>
              <a:t>ventes mensuelles</a:t>
            </a:r>
          </a:p>
        </p:txBody>
      </p:sp>
      <p:sp>
        <p:nvSpPr>
          <p:cNvPr id="8" name="Flèche : droite 7">
            <a:extLst>
              <a:ext uri="{FF2B5EF4-FFF2-40B4-BE49-F238E27FC236}">
                <a16:creationId xmlns:a16="http://schemas.microsoft.com/office/drawing/2014/main" id="{4CD68F7F-288E-4EB4-AA7F-6663E7F7EBFD}"/>
              </a:ext>
            </a:extLst>
          </p:cNvPr>
          <p:cNvSpPr>
            <a:spLocks noGrp="1"/>
          </p:cNvSpPr>
          <p:nvPr/>
        </p:nvSpPr>
        <p:spPr>
          <a:xfrm rot="5400000">
            <a:off x="10738485" y="3314700"/>
            <a:ext cx="247650" cy="114300"/>
          </a:xfrm>
          <a:prstGeom prst="rightArrow">
            <a:avLst/>
          </a:prstGeom>
          <a:solidFill>
            <a:srgbClr val="69E0E3"/>
          </a:solidFill>
          <a:ln w="0">
            <a:noFill/>
          </a:ln>
        </p:spPr>
        <p:txBody>
          <a:bodyPr/>
          <a:lstStyle/>
          <a:p>
            <a:endParaRPr lang="fr-FR"/>
          </a:p>
        </p:txBody>
      </p:sp>
      <p:sp>
        <p:nvSpPr>
          <p:cNvPr id="9" name="Rectangle 8">
            <a:extLst>
              <a:ext uri="{FF2B5EF4-FFF2-40B4-BE49-F238E27FC236}">
                <a16:creationId xmlns:a16="http://schemas.microsoft.com/office/drawing/2014/main" id="{10B582CD-4B29-4CEA-AA8B-33CFD50FD13F}"/>
              </a:ext>
            </a:extLst>
          </p:cNvPr>
          <p:cNvSpPr>
            <a:spLocks noGrp="1"/>
          </p:cNvSpPr>
          <p:nvPr/>
        </p:nvSpPr>
        <p:spPr>
          <a:xfrm>
            <a:off x="10976610" y="322897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extraction</a:t>
            </a:r>
          </a:p>
        </p:txBody>
      </p:sp>
      <p:sp>
        <p:nvSpPr>
          <p:cNvPr id="10" name="Flèche : droite 9">
            <a:extLst>
              <a:ext uri="{FF2B5EF4-FFF2-40B4-BE49-F238E27FC236}">
                <a16:creationId xmlns:a16="http://schemas.microsoft.com/office/drawing/2014/main" id="{F75B046E-4920-41F3-8736-77B3B66C5E46}"/>
              </a:ext>
            </a:extLst>
          </p:cNvPr>
          <p:cNvSpPr>
            <a:spLocks noGrp="1"/>
          </p:cNvSpPr>
          <p:nvPr/>
        </p:nvSpPr>
        <p:spPr>
          <a:xfrm rot="5400000">
            <a:off x="10738485" y="4629150"/>
            <a:ext cx="247650" cy="114300"/>
          </a:xfrm>
          <a:prstGeom prst="rightArrow">
            <a:avLst/>
          </a:prstGeom>
          <a:solidFill>
            <a:srgbClr val="69E0E3"/>
          </a:solidFill>
          <a:ln w="0">
            <a:noFill/>
          </a:ln>
        </p:spPr>
        <p:txBody>
          <a:bodyPr/>
          <a:lstStyle/>
          <a:p>
            <a:endParaRPr lang="fr-FR"/>
          </a:p>
        </p:txBody>
      </p:sp>
      <p:sp>
        <p:nvSpPr>
          <p:cNvPr id="11" name="Rectangle 10">
            <a:extLst>
              <a:ext uri="{FF2B5EF4-FFF2-40B4-BE49-F238E27FC236}">
                <a16:creationId xmlns:a16="http://schemas.microsoft.com/office/drawing/2014/main" id="{39808F97-0F5D-4EB3-965F-20E9AA044BC9}"/>
              </a:ext>
            </a:extLst>
          </p:cNvPr>
          <p:cNvSpPr>
            <a:spLocks noGrp="1"/>
          </p:cNvSpPr>
          <p:nvPr/>
        </p:nvSpPr>
        <p:spPr>
          <a:xfrm>
            <a:off x="10976610" y="4543425"/>
            <a:ext cx="1143000" cy="361950"/>
          </a:xfrm>
          <a:prstGeom prst="rect">
            <a:avLst/>
          </a:prstGeom>
          <a:noFill/>
          <a:ln w="0">
            <a:noFill/>
          </a:ln>
        </p:spPr>
        <p:txBody>
          <a:bodyPr>
            <a:noAutofit/>
          </a:bodyPr>
          <a:lstStyle/>
          <a:p>
            <a:pPr algn="ctr">
              <a:defRPr sz="1275" b="1">
                <a:solidFill>
                  <a:srgbClr val="69E0E3"/>
                </a:solidFill>
                <a:latin typeface="Aptos"/>
                <a:ea typeface="Aptos"/>
                <a:cs typeface="Aptos"/>
              </a:defRPr>
            </a:pPr>
            <a:r>
              <a:rPr sz="1275" b="1">
                <a:solidFill>
                  <a:srgbClr val="69E0E3"/>
                </a:solidFill>
                <a:latin typeface="Aptos"/>
                <a:ea typeface="Aptos"/>
                <a:cs typeface="Aptos"/>
              </a:rPr>
              <a:t>chargement</a:t>
            </a:r>
          </a:p>
        </p:txBody>
      </p:sp>
      <p:sp>
        <p:nvSpPr>
          <p:cNvPr id="12" name="Rectangle 11">
            <a:extLst>
              <a:ext uri="{FF2B5EF4-FFF2-40B4-BE49-F238E27FC236}">
                <a16:creationId xmlns:a16="http://schemas.microsoft.com/office/drawing/2014/main" id="{863F759B-9A8E-4010-94DC-21E0093F15F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13" name="Rectangle 12">
            <a:extLst>
              <a:ext uri="{FF2B5EF4-FFF2-40B4-BE49-F238E27FC236}">
                <a16:creationId xmlns:a16="http://schemas.microsoft.com/office/drawing/2014/main" id="{E0FD286B-1087-4194-8EFA-EE9AB1C934F4}"/>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Le contrat d’export précise les champs autorisés, la fraîcheur, les droits d’accès et les règles de suppression.</a:t>
            </a:r>
          </a:p>
        </p:txBody>
      </p:sp>
      <p:sp>
        <p:nvSpPr>
          <p:cNvPr id="14" name="Rectangle 13">
            <a:extLst>
              <a:ext uri="{FF2B5EF4-FFF2-40B4-BE49-F238E27FC236}">
                <a16:creationId xmlns:a16="http://schemas.microsoft.com/office/drawing/2014/main" id="{CC93EA76-97C1-48A4-964A-D511519FA170}"/>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5" name="Rectangle 14">
            <a:extLst>
              <a:ext uri="{FF2B5EF4-FFF2-40B4-BE49-F238E27FC236}">
                <a16:creationId xmlns:a16="http://schemas.microsoft.com/office/drawing/2014/main" id="{69F2247E-0DE4-47F7-89DB-478665D08297}"/>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24 / 34</a:t>
            </a:r>
          </a:p>
        </p:txBody>
      </p:sp>
    </p:spTree>
    <p:extLst>
      <p:ext uri="{BB962C8B-B14F-4D97-AF65-F5344CB8AC3E}">
        <p14:creationId xmlns:p14="http://schemas.microsoft.com/office/powerpoint/2010/main" val="24829427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8D473DC5-F3AC-4984-90A1-9F2D4F16AB9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500FA304-A5A9-42A8-851D-6E7EB8023890}"/>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lakehouse sert l’analyse, pas les commandes</a:t>
            </a:r>
          </a:p>
        </p:txBody>
      </p:sp>
      <p:sp>
        <p:nvSpPr>
          <p:cNvPr id="4" name="Rectangle 3">
            <a:extLst>
              <a:ext uri="{FF2B5EF4-FFF2-40B4-BE49-F238E27FC236}">
                <a16:creationId xmlns:a16="http://schemas.microsoft.com/office/drawing/2014/main" id="{21FD9B79-FC9C-4281-A456-2D0DB6E69F4B}"/>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603FB117-85F8-4249-9021-9C8575D0B31F}"/>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Un lakehouse stocke des fichiers analytiques (ex. Parquet) et les organise en tables. Un format de table, tel que Delta Lake, ajoute des transactions, le contrôle du schéma et des métadonnées. Exemple : calculer les ventes mensuelles à partir des commandes exportées.</a:t>
            </a:r>
          </a:p>
        </p:txBody>
      </p:sp>
      <p:sp>
        <p:nvSpPr>
          <p:cNvPr id="6" name="Rectangle 5">
            <a:extLst>
              <a:ext uri="{FF2B5EF4-FFF2-40B4-BE49-F238E27FC236}">
                <a16:creationId xmlns:a16="http://schemas.microsoft.com/office/drawing/2014/main" id="{72198571-1AA8-4E52-BF67-F51F42A4843C}"/>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EDF398BD-659D-4B49-A77C-D3AC46E4061B}"/>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PostgreSQL reste la base des commandes : le lakehouse ne remplace pas les écritures courtes de l’application. Les commandes sont extraites, contrôlées puis chargées pour l’analyse. Le contrat précise les champs, la fréquence de mise à jour, la provenance et les droits d’accès.</a:t>
            </a:r>
          </a:p>
        </p:txBody>
      </p:sp>
      <p:sp>
        <p:nvSpPr>
          <p:cNvPr id="8" name="Rectangle 7">
            <a:extLst>
              <a:ext uri="{FF2B5EF4-FFF2-40B4-BE49-F238E27FC236}">
                <a16:creationId xmlns:a16="http://schemas.microsoft.com/office/drawing/2014/main" id="{B74C7D15-5F78-4A83-BA95-66039B75D29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0EC6EF21-DB6B-4CD8-9224-FFF8069C2EC4}"/>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À retenir : dans ce cours, concevoir un export fiable (champs, fréquence, droits, suppression). Déployer une plateforme lakehouse complète n’est pas demandé.</a:t>
            </a:r>
          </a:p>
        </p:txBody>
      </p:sp>
      <p:sp>
        <p:nvSpPr>
          <p:cNvPr id="10" name="Rectangle 9">
            <a:extLst>
              <a:ext uri="{FF2B5EF4-FFF2-40B4-BE49-F238E27FC236}">
                <a16:creationId xmlns:a16="http://schemas.microsoft.com/office/drawing/2014/main" id="{06688129-CE42-46EF-B490-EA88C31E3748}"/>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0487BBC9-63C2-45FC-A9C5-8B17C988BD9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25 / 34</a:t>
            </a:r>
          </a:p>
        </p:txBody>
      </p:sp>
    </p:spTree>
    <p:extLst>
      <p:ext uri="{BB962C8B-B14F-4D97-AF65-F5344CB8AC3E}">
        <p14:creationId xmlns:p14="http://schemas.microsoft.com/office/powerpoint/2010/main" val="220712470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0" name="Image 9"/>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66592256-6CEC-48C4-A846-E1F1C7DA8BA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2EBDD61E-AD50-4377-A542-18EF273305CE}"/>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 Data Mesh confie les données à leurs domaines métiers</a:t>
            </a:r>
          </a:p>
        </p:txBody>
      </p:sp>
      <p:sp>
        <p:nvSpPr>
          <p:cNvPr id="4" name="Rectangle 3">
            <a:extLst>
              <a:ext uri="{FF2B5EF4-FFF2-40B4-BE49-F238E27FC236}">
                <a16:creationId xmlns:a16="http://schemas.microsoft.com/office/drawing/2014/main" id="{E40675BB-94AA-4E27-A763-A9DDF1716D7C}"/>
              </a:ext>
            </a:extLst>
          </p:cNvPr>
          <p:cNvSpPr>
            <a:spLocks noGrp="1"/>
          </p:cNvSpPr>
          <p:nvPr/>
        </p:nvSpPr>
        <p:spPr>
          <a:xfrm>
            <a:off x="666750" y="2209800"/>
            <a:ext cx="13525500" cy="1762125"/>
          </a:xfrm>
          <a:prstGeom prst="rect">
            <a:avLst/>
          </a:prstGeom>
          <a:noFill/>
          <a:ln w="0">
            <a:noFill/>
          </a:ln>
        </p:spPr>
        <p:txBody>
          <a:bodyPr>
            <a:noAutofit/>
          </a:bodyPr>
          <a:lstStyle/>
          <a:p>
            <a:pPr>
              <a:defRPr sz="2550" b="0">
                <a:solidFill>
                  <a:srgbClr val="173044"/>
                </a:solidFill>
                <a:latin typeface="Aptos"/>
                <a:ea typeface="Aptos"/>
                <a:cs typeface="Aptos"/>
              </a:defRPr>
            </a:pPr>
            <a:r>
              <a:rPr sz="2550" b="0">
                <a:solidFill>
                  <a:srgbClr val="173044"/>
                </a:solidFill>
                <a:latin typeface="Aptos"/>
                <a:ea typeface="Aptos"/>
                <a:cs typeface="Aptos"/>
              </a:rPr>
              <a:t>Le Data Mesh organise les données pour l’analyse par domaine métier, plutôt que de tout confier à une équipe centrale. Quatre principes : des équipes responsables ; des données publiées comme produits ; des outils communs en libre-service ; des règles de gouvernance partagées.</a:t>
            </a:r>
          </a:p>
        </p:txBody>
      </p:sp>
      <p:sp>
        <p:nvSpPr>
          <p:cNvPr id="5" name="Rectangle 4">
            <a:extLst>
              <a:ext uri="{FF2B5EF4-FFF2-40B4-BE49-F238E27FC236}">
                <a16:creationId xmlns:a16="http://schemas.microsoft.com/office/drawing/2014/main" id="{4781AC8B-3F6D-4B66-8336-7D6700C097BA}"/>
              </a:ext>
            </a:extLst>
          </p:cNvPr>
          <p:cNvSpPr>
            <a:spLocks noGrp="1"/>
          </p:cNvSpPr>
          <p:nvPr/>
        </p:nvSpPr>
        <p:spPr>
          <a:xfrm>
            <a:off x="3714750" y="4343400"/>
            <a:ext cx="10715625" cy="1981200"/>
          </a:xfrm>
          <a:prstGeom prst="rect">
            <a:avLst/>
          </a:prstGeom>
          <a:noFill/>
          <a:ln w="0">
            <a:noFill/>
          </a:ln>
        </p:spPr>
        <p:txBody>
          <a:bodyPr>
            <a:noAutofit/>
          </a:bodyPr>
          <a:lstStyle/>
          <a:p>
            <a:pPr>
              <a:defRPr sz="2250" b="0">
                <a:solidFill>
                  <a:srgbClr val="173044"/>
                </a:solidFill>
                <a:latin typeface="Aptos"/>
                <a:ea typeface="Aptos"/>
                <a:cs typeface="Aptos"/>
              </a:defRPr>
            </a:pPr>
            <a:r>
              <a:rPr sz="2250" b="0">
                <a:solidFill>
                  <a:srgbClr val="173044"/>
                </a:solidFill>
                <a:latin typeface="Aptos"/>
                <a:ea typeface="Aptos"/>
                <a:cs typeface="Aptos"/>
              </a:rPr>
              <a:t>Exemple : l’équipe Commandes publie commandes_journalieres. Elle définit « commande payée », documente les champs, désigne un responsable et annonce fréquence et contrôles de qualité. L’équipe Catalogue publie son propre produit. Les analystes savent ce que chaque produit contient et qui contacter.</a:t>
            </a:r>
          </a:p>
        </p:txBody>
      </p:sp>
      <p:sp>
        <p:nvSpPr>
          <p:cNvPr id="6" name="Rectangle 5">
            <a:extLst>
              <a:ext uri="{FF2B5EF4-FFF2-40B4-BE49-F238E27FC236}">
                <a16:creationId xmlns:a16="http://schemas.microsoft.com/office/drawing/2014/main" id="{A104FD81-C058-441E-BBD1-A7156944B3A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7" name="Rectangle 6">
            <a:extLst>
              <a:ext uri="{FF2B5EF4-FFF2-40B4-BE49-F238E27FC236}">
                <a16:creationId xmlns:a16="http://schemas.microsoft.com/office/drawing/2014/main" id="{EAE960B8-4642-4236-A4F2-9806A74B1E09}"/>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À retenir : plusieurs bases séparées ne font pas un Data Mesh. Il faut aussi des responsables, des produits documentés et des règles communes.</a:t>
            </a:r>
          </a:p>
        </p:txBody>
      </p:sp>
      <p:sp>
        <p:nvSpPr>
          <p:cNvPr id="8" name="Rectangle 7">
            <a:extLst>
              <a:ext uri="{FF2B5EF4-FFF2-40B4-BE49-F238E27FC236}">
                <a16:creationId xmlns:a16="http://schemas.microsoft.com/office/drawing/2014/main" id="{B2C3EE2F-24E9-4B67-9F88-77AFB6512A8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9" name="Rectangle 8">
            <a:extLst>
              <a:ext uri="{FF2B5EF4-FFF2-40B4-BE49-F238E27FC236}">
                <a16:creationId xmlns:a16="http://schemas.microsoft.com/office/drawing/2014/main" id="{67F5AE21-26AC-4DFC-97E4-95FA5C955CED}"/>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26 / 34</a:t>
            </a:r>
          </a:p>
        </p:txBody>
      </p:sp>
    </p:spTree>
    <p:extLst>
      <p:ext uri="{BB962C8B-B14F-4D97-AF65-F5344CB8AC3E}">
        <p14:creationId xmlns:p14="http://schemas.microsoft.com/office/powerpoint/2010/main" val="288509670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7EBB93DC-EFB8-4D4A-BE3B-03DAD0BE890C}"/>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9989745A-AECC-4C23-87B6-085FB16B9568}"/>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 contrat de données applicatif</a:t>
            </a:r>
          </a:p>
        </p:txBody>
      </p:sp>
      <p:sp>
        <p:nvSpPr>
          <p:cNvPr id="4" name="Rectangle 3">
            <a:extLst>
              <a:ext uri="{FF2B5EF4-FFF2-40B4-BE49-F238E27FC236}">
                <a16:creationId xmlns:a16="http://schemas.microsoft.com/office/drawing/2014/main" id="{7B2449F6-EB36-41C0-9CE9-3F34C3DD1CDD}"/>
              </a:ext>
            </a:extLst>
          </p:cNvPr>
          <p:cNvSpPr>
            <a:spLocks noGrp="1"/>
          </p:cNvSpPr>
          <p:nvPr/>
        </p:nvSpPr>
        <p:spPr>
          <a:xfrm>
            <a:off x="666750" y="2038350"/>
            <a:ext cx="13525500" cy="164782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Un contrat indique les champs, leurs types, leur signification, les règles de qualité et la fraîcheur. Il nomme un responsable et un mode de changement compatible. Une valeur technique sans définition métier ne suffit pas.</a:t>
            </a:r>
          </a:p>
          <a:p>
            <a:pPr>
              <a:defRPr sz="2025" b="0">
                <a:solidFill>
                  <a:srgbClr val="173044"/>
                </a:solidFill>
                <a:latin typeface="Aptos"/>
                <a:ea typeface="Aptos"/>
                <a:cs typeface="Aptos"/>
              </a:defRPr>
            </a:pPr>
            <a:r>
              <a:rPr sz="2025" b="0">
                <a:solidFill>
                  <a:srgbClr val="173044"/>
                </a:solidFill>
                <a:latin typeface="Aptos"/>
                <a:ea typeface="Aptos"/>
                <a:cs typeface="Aptos"/>
              </a:rPr>
              <a:t>Pour commandes_journalieres, total désigne les montants des commandes payées sur une journée définie. Les annulations, remboursements et fuseaux doivent avoir une règle. Le consommateur doit savoir comment corriger une journée déjà publiée.</a:t>
            </a:r>
          </a:p>
        </p:txBody>
      </p:sp>
      <p:graphicFrame>
        <p:nvGraphicFramePr>
          <p:cNvPr id="13" name="Tableau 12"/>
          <p:cNvGraphicFramePr/>
          <p:nvPr>
            <p:extLst>
              <p:ext uri="{D42A27DB-BD31-4B8C-83A1-F6EECF244321}">
                <p14:modId xmlns:p14="http://schemas.microsoft.com/office/powerpoint/2010/main" val="2098310624"/>
              </p:ext>
            </p:extLst>
          </p:nvPr>
        </p:nvGraphicFramePr>
        <p:xfrm>
          <a:off x="666750" y="3857625"/>
          <a:ext cx="13811250" cy="3520440"/>
        </p:xfrm>
        <a:graphic>
          <a:graphicData uri="http://schemas.openxmlformats.org/drawingml/2006/table">
            <a:tbl>
              <a:tblPr/>
              <a:tblGrid>
                <a:gridCol w="6905625">
                  <a:extLst>
                    <a:ext uri="{9D8B030D-6E8A-4147-A177-3AD203B41FA5}">
                      <a16:colId xmlns:a16="http://schemas.microsoft.com/office/drawing/2014/main" val="20000"/>
                    </a:ext>
                  </a:extLst>
                </a:gridCol>
                <a:gridCol w="6905625">
                  <a:extLst>
                    <a:ext uri="{9D8B030D-6E8A-4147-A177-3AD203B41FA5}">
                      <a16:colId xmlns:a16="http://schemas.microsoft.com/office/drawing/2014/main" val="20001"/>
                    </a:ext>
                  </a:extLst>
                </a:gridCol>
              </a:tblGrid>
              <a:tr h="476250">
                <a:tc>
                  <a:txBody>
                    <a:bodyPr/>
                    <a:lstStyle/>
                    <a:p>
                      <a:r>
                        <a:rPr sz="1800" b="1">
                          <a:solidFill>
                            <a:srgbClr val="FFFFFF"/>
                          </a:solidFill>
                          <a:latin typeface="Aptos"/>
                          <a:ea typeface="Aptos"/>
                          <a:cs typeface="Aptos"/>
                        </a:rPr>
                        <a:t>Élément</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Engagement proposé</a:t>
                      </a:r>
                    </a:p>
                  </a:txBody>
                  <a:tcPr marL="142875" marR="142875" marT="114300" marB="114300" anchor="ctr">
                    <a:solidFill>
                      <a:srgbClr val="173C4C"/>
                    </a:solidFill>
                  </a:tcPr>
                </a:tc>
                <a:extLst>
                  <a:ext uri="{0D108BD9-81ED-4DB2-BD59-A6C34878D82A}">
                    <a16:rowId xmlns:a16="http://schemas.microsoft.com/office/drawing/2014/main" val="10000"/>
                  </a:ext>
                </a:extLst>
              </a:tr>
              <a:tr h="476250">
                <a:tc>
                  <a:txBody>
                    <a:bodyPr/>
                    <a:lstStyle/>
                    <a:p>
                      <a:r>
                        <a:rPr sz="1800" dirty="0">
                          <a:solidFill>
                            <a:srgbClr val="173044"/>
                          </a:solidFill>
                          <a:latin typeface="Aptos"/>
                          <a:ea typeface="Aptos"/>
                          <a:cs typeface="Aptos"/>
                        </a:rPr>
                        <a:t>Gra</a:t>
                      </a:r>
                      <a:r>
                        <a:rPr lang="fr-FR" sz="1800" dirty="0" err="1">
                          <a:solidFill>
                            <a:srgbClr val="173044"/>
                          </a:solidFill>
                          <a:latin typeface="Aptos"/>
                          <a:ea typeface="Aptos"/>
                          <a:cs typeface="Aptos"/>
                        </a:rPr>
                        <a:t>nularité</a:t>
                      </a:r>
                      <a:endParaRPr sz="1800" dirty="0">
                        <a:solidFill>
                          <a:srgbClr val="173044"/>
                        </a:solidFill>
                        <a:latin typeface="Aptos"/>
                        <a:ea typeface="Aptos"/>
                        <a:cs typeface="Aptos"/>
                      </a:endParaRPr>
                    </a:p>
                  </a:txBody>
                  <a:tcPr marL="142875" marR="142875" marT="114300" marB="114300" anchor="ctr">
                    <a:solidFill>
                      <a:srgbClr val="F2DEC6"/>
                    </a:solidFill>
                  </a:tcPr>
                </a:tc>
                <a:tc>
                  <a:txBody>
                    <a:bodyPr/>
                    <a:lstStyle/>
                    <a:p>
                      <a:r>
                        <a:rPr sz="1800">
                          <a:solidFill>
                            <a:srgbClr val="173044"/>
                          </a:solidFill>
                          <a:latin typeface="Aptos"/>
                          <a:ea typeface="Aptos"/>
                          <a:cs typeface="Aptos"/>
                        </a:rPr>
                        <a:t>Une ligne par date UTC</a:t>
                      </a:r>
                    </a:p>
                  </a:txBody>
                  <a:tcPr marL="142875" marR="142875" marT="114300" marB="114300" anchor="ctr">
                    <a:solidFill>
                      <a:srgbClr val="F2DEC6"/>
                    </a:solidFill>
                  </a:tcPr>
                </a:tc>
                <a:extLst>
                  <a:ext uri="{0D108BD9-81ED-4DB2-BD59-A6C34878D82A}">
                    <a16:rowId xmlns:a16="http://schemas.microsoft.com/office/drawing/2014/main" val="10001"/>
                  </a:ext>
                </a:extLst>
              </a:tr>
              <a:tr h="476250">
                <a:tc>
                  <a:txBody>
                    <a:bodyPr/>
                    <a:lstStyle/>
                    <a:p>
                      <a:r>
                        <a:rPr sz="1800" dirty="0">
                          <a:solidFill>
                            <a:srgbClr val="173044"/>
                          </a:solidFill>
                          <a:latin typeface="Aptos"/>
                          <a:ea typeface="Aptos"/>
                          <a:cs typeface="Aptos"/>
                        </a:rPr>
                        <a:t>Champs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date, nb_commandes, montant</a:t>
                      </a:r>
                    </a:p>
                  </a:txBody>
                  <a:tcPr marL="142875" marR="142875" marT="114300" marB="114300" anchor="ctr">
                    <a:solidFill>
                      <a:srgbClr val="F2DEC6"/>
                    </a:solidFill>
                  </a:tcPr>
                </a:tc>
                <a:extLst>
                  <a:ext uri="{0D108BD9-81ED-4DB2-BD59-A6C34878D82A}">
                    <a16:rowId xmlns:a16="http://schemas.microsoft.com/office/drawing/2014/main" val="10002"/>
                  </a:ext>
                </a:extLst>
              </a:tr>
              <a:tr h="476250">
                <a:tc>
                  <a:txBody>
                    <a:bodyPr/>
                    <a:lstStyle/>
                    <a:p>
                      <a:r>
                        <a:rPr sz="1800">
                          <a:solidFill>
                            <a:srgbClr val="173044"/>
                          </a:solidFill>
                          <a:latin typeface="Aptos"/>
                          <a:ea typeface="Aptos"/>
                          <a:cs typeface="Aptos"/>
                        </a:rPr>
                        <a:t>Qualité</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Montant exact, lignes uniques</a:t>
                      </a:r>
                    </a:p>
                  </a:txBody>
                  <a:tcPr marL="142875" marR="142875" marT="114300" marB="114300" anchor="ctr">
                    <a:solidFill>
                      <a:srgbClr val="F2DEC6"/>
                    </a:solidFill>
                  </a:tcPr>
                </a:tc>
                <a:extLst>
                  <a:ext uri="{0D108BD9-81ED-4DB2-BD59-A6C34878D82A}">
                    <a16:rowId xmlns:a16="http://schemas.microsoft.com/office/drawing/2014/main" val="10003"/>
                  </a:ext>
                </a:extLst>
              </a:tr>
              <a:tr h="476250">
                <a:tc>
                  <a:txBody>
                    <a:bodyPr/>
                    <a:lstStyle/>
                    <a:p>
                      <a:r>
                        <a:rPr sz="1800">
                          <a:solidFill>
                            <a:srgbClr val="173044"/>
                          </a:solidFill>
                          <a:latin typeface="Aptos"/>
                          <a:ea typeface="Aptos"/>
                          <a:cs typeface="Aptos"/>
                        </a:rPr>
                        <a:t>Fraîcheur</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Publication quotidienne à définir</a:t>
                      </a:r>
                    </a:p>
                  </a:txBody>
                  <a:tcPr marL="142875" marR="142875" marT="114300" marB="114300" anchor="ctr">
                    <a:solidFill>
                      <a:srgbClr val="F2DEC6"/>
                    </a:solidFill>
                  </a:tcPr>
                </a:tc>
                <a:extLst>
                  <a:ext uri="{0D108BD9-81ED-4DB2-BD59-A6C34878D82A}">
                    <a16:rowId xmlns:a16="http://schemas.microsoft.com/office/drawing/2014/main" val="10004"/>
                  </a:ext>
                </a:extLst>
              </a:tr>
              <a:tr h="476250">
                <a:tc>
                  <a:txBody>
                    <a:bodyPr/>
                    <a:lstStyle/>
                    <a:p>
                      <a:r>
                        <a:rPr sz="1800">
                          <a:solidFill>
                            <a:srgbClr val="173044"/>
                          </a:solidFill>
                          <a:latin typeface="Aptos"/>
                          <a:ea typeface="Aptos"/>
                          <a:cs typeface="Aptos"/>
                        </a:rPr>
                        <a:t>Responsable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Équipe Commandes</a:t>
                      </a:r>
                    </a:p>
                  </a:txBody>
                  <a:tcPr marL="142875" marR="142875" marT="114300" marB="114300" anchor="ctr">
                    <a:solidFill>
                      <a:srgbClr val="F2DEC6"/>
                    </a:solidFill>
                  </a:tcPr>
                </a:tc>
                <a:extLst>
                  <a:ext uri="{0D108BD9-81ED-4DB2-BD59-A6C34878D82A}">
                    <a16:rowId xmlns:a16="http://schemas.microsoft.com/office/drawing/2014/main" val="10005"/>
                  </a:ext>
                </a:extLst>
              </a:tr>
              <a:tr h="476250">
                <a:tc>
                  <a:txBody>
                    <a:bodyPr/>
                    <a:lstStyle/>
                    <a:p>
                      <a:r>
                        <a:rPr sz="1800">
                          <a:solidFill>
                            <a:srgbClr val="173044"/>
                          </a:solidFill>
                          <a:latin typeface="Aptos"/>
                          <a:ea typeface="Aptos"/>
                          <a:cs typeface="Aptos"/>
                        </a:rPr>
                        <a:t>Évolution</a:t>
                      </a:r>
                    </a:p>
                  </a:txBody>
                  <a:tcPr marL="142875" marR="142875" marT="114300" marB="114300" anchor="ctr">
                    <a:solidFill>
                      <a:srgbClr val="F2DEC6"/>
                    </a:solidFill>
                  </a:tcPr>
                </a:tc>
                <a:tc>
                  <a:txBody>
                    <a:bodyPr/>
                    <a:lstStyle/>
                    <a:p>
                      <a:r>
                        <a:rPr sz="1800" dirty="0">
                          <a:solidFill>
                            <a:srgbClr val="173044"/>
                          </a:solidFill>
                          <a:latin typeface="Aptos"/>
                          <a:ea typeface="Aptos"/>
                          <a:cs typeface="Aptos"/>
                        </a:rPr>
                        <a:t>Version et </a:t>
                      </a:r>
                      <a:r>
                        <a:rPr sz="1800" dirty="0" err="1">
                          <a:solidFill>
                            <a:srgbClr val="173044"/>
                          </a:solidFill>
                          <a:latin typeface="Aptos"/>
                          <a:ea typeface="Aptos"/>
                          <a:cs typeface="Aptos"/>
                        </a:rPr>
                        <a:t>période</a:t>
                      </a:r>
                      <a:r>
                        <a:rPr sz="1800" dirty="0">
                          <a:solidFill>
                            <a:srgbClr val="173044"/>
                          </a:solidFill>
                          <a:latin typeface="Aptos"/>
                          <a:ea typeface="Aptos"/>
                          <a:cs typeface="Aptos"/>
                        </a:rPr>
                        <a:t> de </a:t>
                      </a:r>
                      <a:r>
                        <a:rPr sz="1800" dirty="0" err="1">
                          <a:solidFill>
                            <a:srgbClr val="173044"/>
                          </a:solidFill>
                          <a:latin typeface="Aptos"/>
                          <a:ea typeface="Aptos"/>
                          <a:cs typeface="Aptos"/>
                        </a:rPr>
                        <a:t>compatibilité</a:t>
                      </a:r>
                      <a:endParaRPr sz="1800" dirty="0">
                        <a:solidFill>
                          <a:srgbClr val="173044"/>
                        </a:solidFill>
                        <a:latin typeface="Aptos"/>
                        <a:ea typeface="Aptos"/>
                        <a:cs typeface="Aptos"/>
                      </a:endParaRPr>
                    </a:p>
                  </a:txBody>
                  <a:tcPr marL="142875" marR="142875" marT="114300" marB="114300" anchor="ctr">
                    <a:solidFill>
                      <a:srgbClr val="F2DEC6"/>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CB19951F-EF58-4445-BD10-497D7EC87238}"/>
              </a:ext>
            </a:extLst>
          </p:cNvPr>
          <p:cNvSpPr>
            <a:spLocks noGrp="1"/>
          </p:cNvSpPr>
          <p:nvPr/>
        </p:nvSpPr>
        <p:spPr>
          <a:xfrm>
            <a:off x="666750" y="7477125"/>
            <a:ext cx="13525500" cy="533400"/>
          </a:xfrm>
          <a:prstGeom prst="rect">
            <a:avLst/>
          </a:prstGeom>
          <a:noFill/>
          <a:ln w="0">
            <a:noFill/>
          </a:ln>
        </p:spPr>
        <p:txBody>
          <a:bodyPr>
            <a:noAutofit/>
          </a:bodyPr>
          <a:lstStyle/>
          <a:p>
            <a:pPr>
              <a:defRPr sz="1725" b="0">
                <a:solidFill>
                  <a:srgbClr val="173044"/>
                </a:solidFill>
                <a:latin typeface="Aptos"/>
                <a:ea typeface="Aptos"/>
                <a:cs typeface="Aptos"/>
              </a:defRPr>
            </a:pPr>
            <a:r>
              <a:rPr sz="1725" b="0">
                <a:solidFill>
                  <a:srgbClr val="173044"/>
                </a:solidFill>
                <a:latin typeface="Aptos"/>
                <a:ea typeface="Aptos"/>
                <a:cs typeface="Aptos"/>
              </a:rPr>
              <a:t>Exemple de contrat pédagogique, à adapter aux définitions du projet.</a:t>
            </a:r>
          </a:p>
        </p:txBody>
      </p:sp>
      <p:sp>
        <p:nvSpPr>
          <p:cNvPr id="7" name="Rectangle 6">
            <a:extLst>
              <a:ext uri="{FF2B5EF4-FFF2-40B4-BE49-F238E27FC236}">
                <a16:creationId xmlns:a16="http://schemas.microsoft.com/office/drawing/2014/main" id="{1E78F536-A18C-4257-8AFB-2CDE204D6E3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CF3BAE3C-6C63-49C8-86C5-520F7034790E}"/>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27 / 34</a:t>
            </a:r>
          </a:p>
        </p:txBody>
      </p:sp>
    </p:spTree>
    <p:extLst>
      <p:ext uri="{BB962C8B-B14F-4D97-AF65-F5344CB8AC3E}">
        <p14:creationId xmlns:p14="http://schemas.microsoft.com/office/powerpoint/2010/main" val="184763055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1" name="Image 10"/>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DABBB4AA-CC33-4D89-80D1-73F2D27844E6}"/>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9DA9C440-3EB5-4641-B196-624E6DF26D06}"/>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Export minimal et limites analytiques</a:t>
            </a:r>
          </a:p>
        </p:txBody>
      </p:sp>
      <p:sp>
        <p:nvSpPr>
          <p:cNvPr id="4" name="Rectangle 3">
            <a:extLst>
              <a:ext uri="{FF2B5EF4-FFF2-40B4-BE49-F238E27FC236}">
                <a16:creationId xmlns:a16="http://schemas.microsoft.com/office/drawing/2014/main" id="{BBC6EF81-490F-4D13-9EB0-897D7B1372AE}"/>
              </a:ext>
            </a:extLst>
          </p:cNvPr>
          <p:cNvSpPr>
            <a:spLocks noGrp="1"/>
          </p:cNvSpPr>
          <p:nvPr/>
        </p:nvSpPr>
        <p:spPr>
          <a:xfrm>
            <a:off x="666750" y="2105025"/>
            <a:ext cx="6191250" cy="433387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SQL regroupe les commandes payées par jour UTC. Le résultat peut alimenter une table analytique ou un fichier. Le contrat précise si les journées encore ouvertes sont provisoires et comment les corrections arrivent.</a:t>
            </a:r>
          </a:p>
          <a:p>
            <a:endParaRPr sz="2025" b="0">
              <a:solidFill>
                <a:srgbClr val="173044"/>
              </a:solidFill>
              <a:latin typeface="Aptos"/>
              <a:ea typeface="Aptos"/>
              <a:cs typeface="Aptos"/>
            </a:endParaRPr>
          </a:p>
          <a:p>
            <a:pPr>
              <a:defRPr sz="2025" b="0">
                <a:solidFill>
                  <a:srgbClr val="173044"/>
                </a:solidFill>
                <a:latin typeface="Aptos"/>
                <a:ea typeface="Aptos"/>
                <a:cs typeface="Aptos"/>
              </a:defRPr>
            </a:pPr>
            <a:r>
              <a:rPr sz="2025" b="0">
                <a:solidFill>
                  <a:srgbClr val="173044"/>
                </a:solidFill>
                <a:latin typeface="Aptos"/>
                <a:ea typeface="Aptos"/>
                <a:cs typeface="Aptos"/>
              </a:rPr>
              <a:t>Une extraction ponctuelle est une introduction pratique. Elle ne prouve ni une ingestion incrémentale fiable ni les garanties d’une plateforme Lakehouse. Le dossier sépare ce qui est implémenté et ce qui reste une conception.</a:t>
            </a:r>
          </a:p>
        </p:txBody>
      </p:sp>
      <p:sp>
        <p:nvSpPr>
          <p:cNvPr id="5" name="Rectangle 4">
            <a:extLst>
              <a:ext uri="{FF2B5EF4-FFF2-40B4-BE49-F238E27FC236}">
                <a16:creationId xmlns:a16="http://schemas.microsoft.com/office/drawing/2014/main" id="{4FEAB873-ED50-43EC-BE03-730828B52697}"/>
              </a:ext>
            </a:extLst>
          </p:cNvPr>
          <p:cNvSpPr>
            <a:spLocks noGrp="1"/>
          </p:cNvSpPr>
          <p:nvPr/>
        </p:nvSpPr>
        <p:spPr>
          <a:xfrm>
            <a:off x="7524750" y="2028825"/>
            <a:ext cx="6953250" cy="3048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EXEMPLE COMMENTÉ</a:t>
            </a:r>
          </a:p>
        </p:txBody>
      </p:sp>
      <p:sp>
        <p:nvSpPr>
          <p:cNvPr id="6" name="Rectangle 5">
            <a:extLst>
              <a:ext uri="{FF2B5EF4-FFF2-40B4-BE49-F238E27FC236}">
                <a16:creationId xmlns:a16="http://schemas.microsoft.com/office/drawing/2014/main" id="{88739FF9-8C0C-4DE9-8767-5CE4B82913D9}"/>
              </a:ext>
            </a:extLst>
          </p:cNvPr>
          <p:cNvSpPr>
            <a:spLocks noGrp="1"/>
          </p:cNvSpPr>
          <p:nvPr/>
        </p:nvSpPr>
        <p:spPr>
          <a:xfrm>
            <a:off x="7524750" y="2476500"/>
            <a:ext cx="7000875" cy="4000500"/>
          </a:xfrm>
          <a:prstGeom prst="rect">
            <a:avLst/>
          </a:prstGeom>
          <a:noFill/>
          <a:ln w="0">
            <a:noFill/>
          </a:ln>
        </p:spPr>
        <p:txBody>
          <a:bodyPr>
            <a:noAutofit/>
          </a:bodyPr>
          <a:lstStyle/>
          <a:p>
            <a:pPr>
              <a:defRPr sz="1800" b="0">
                <a:solidFill>
                  <a:srgbClr val="173044"/>
                </a:solidFill>
                <a:latin typeface="Consolas"/>
                <a:ea typeface="Consolas"/>
                <a:cs typeface="Consolas"/>
              </a:defRPr>
            </a:pPr>
            <a:r>
              <a:rPr sz="1800" b="0">
                <a:solidFill>
                  <a:srgbClr val="173044"/>
                </a:solidFill>
                <a:latin typeface="Consolas"/>
                <a:ea typeface="Consolas"/>
                <a:cs typeface="Consolas"/>
              </a:rPr>
              <a:t>SELECT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(created_at AT TIME ZONE 'UTC')::date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AS jour,</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count(*) AS nb_commandes,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 sum(total) AS montant</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FROM commandes</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WHERE statut = 'payee'</a:t>
            </a:r>
          </a:p>
          <a:p>
            <a:pPr>
              <a:defRPr sz="1800" b="0">
                <a:solidFill>
                  <a:srgbClr val="173044"/>
                </a:solidFill>
                <a:latin typeface="Consolas"/>
                <a:ea typeface="Consolas"/>
                <a:cs typeface="Consolas"/>
              </a:defRPr>
            </a:pPr>
            <a:r>
              <a:rPr sz="1800" b="0">
                <a:solidFill>
                  <a:srgbClr val="173044"/>
                </a:solidFill>
                <a:latin typeface="Consolas"/>
                <a:ea typeface="Consolas"/>
                <a:cs typeface="Consolas"/>
              </a:rPr>
              <a:t>GROUP BY 1 ORDER BY 1;</a:t>
            </a:r>
          </a:p>
        </p:txBody>
      </p:sp>
      <p:sp>
        <p:nvSpPr>
          <p:cNvPr id="7" name="Rectangle 6">
            <a:extLst>
              <a:ext uri="{FF2B5EF4-FFF2-40B4-BE49-F238E27FC236}">
                <a16:creationId xmlns:a16="http://schemas.microsoft.com/office/drawing/2014/main" id="{C2D5BE46-AE9E-4C9D-8876-57A9789BC5FB}"/>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8" name="Rectangle 7">
            <a:extLst>
              <a:ext uri="{FF2B5EF4-FFF2-40B4-BE49-F238E27FC236}">
                <a16:creationId xmlns:a16="http://schemas.microsoft.com/office/drawing/2014/main" id="{28E81A89-A02B-4C5E-8EDB-4DE92F4EBDFA}"/>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L’agrégation porte sur commandes.total, sans jointure aux lignes qui le dupliquerait.</a:t>
            </a:r>
          </a:p>
        </p:txBody>
      </p:sp>
      <p:sp>
        <p:nvSpPr>
          <p:cNvPr id="9" name="Rectangle 8">
            <a:extLst>
              <a:ext uri="{FF2B5EF4-FFF2-40B4-BE49-F238E27FC236}">
                <a16:creationId xmlns:a16="http://schemas.microsoft.com/office/drawing/2014/main" id="{35FAD3C2-7571-4AF2-8447-9E2B67ED93D7}"/>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0" name="Rectangle 9">
            <a:extLst>
              <a:ext uri="{FF2B5EF4-FFF2-40B4-BE49-F238E27FC236}">
                <a16:creationId xmlns:a16="http://schemas.microsoft.com/office/drawing/2014/main" id="{002A9A85-2DD2-4037-B7F7-F9A4B8D66754}"/>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28 / 34</a:t>
            </a:r>
          </a:p>
        </p:txBody>
      </p:sp>
    </p:spTree>
    <p:extLst>
      <p:ext uri="{BB962C8B-B14F-4D97-AF65-F5344CB8AC3E}">
        <p14:creationId xmlns:p14="http://schemas.microsoft.com/office/powerpoint/2010/main" val="18567632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2C68C947-6A84-453C-B02C-9A21FE704C0B}"/>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836532AA-835B-4B45-84D7-A5525F34107C}"/>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Lakehouse et Data Mesh dans ShopFlow</a:t>
            </a:r>
          </a:p>
        </p:txBody>
      </p:sp>
      <p:sp>
        <p:nvSpPr>
          <p:cNvPr id="4" name="Rectangle 3">
            <a:extLst>
              <a:ext uri="{FF2B5EF4-FFF2-40B4-BE49-F238E27FC236}">
                <a16:creationId xmlns:a16="http://schemas.microsoft.com/office/drawing/2014/main" id="{BE156730-7108-4727-B9AF-C2B8B2D33152}"/>
              </a:ext>
            </a:extLst>
          </p:cNvPr>
          <p:cNvSpPr>
            <a:spLocks noGrp="1"/>
          </p:cNvSpPr>
          <p:nvPr/>
        </p:nvSpPr>
        <p:spPr>
          <a:xfrm>
            <a:off x="6667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MÉCANISME</a:t>
            </a:r>
          </a:p>
        </p:txBody>
      </p:sp>
      <p:sp>
        <p:nvSpPr>
          <p:cNvPr id="5" name="Rectangle 4">
            <a:extLst>
              <a:ext uri="{FF2B5EF4-FFF2-40B4-BE49-F238E27FC236}">
                <a16:creationId xmlns:a16="http://schemas.microsoft.com/office/drawing/2014/main" id="{3DB8A8AF-0C9A-42BB-A00F-7A772E163779}"/>
              </a:ext>
            </a:extLst>
          </p:cNvPr>
          <p:cNvSpPr>
            <a:spLocks noGrp="1"/>
          </p:cNvSpPr>
          <p:nvPr/>
        </p:nvSpPr>
        <p:spPr>
          <a:xfrm>
            <a:off x="666750" y="2571750"/>
            <a:ext cx="6334125"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Le Lakehouse décrit une plateforme possible pour des usages analytiques. Data Mesh organise la responsabilité des produits de données. Ils peuvent se combiner, mais ne décrivent pas la même dimension.</a:t>
            </a:r>
          </a:p>
        </p:txBody>
      </p:sp>
      <p:sp>
        <p:nvSpPr>
          <p:cNvPr id="6" name="Rectangle 5">
            <a:extLst>
              <a:ext uri="{FF2B5EF4-FFF2-40B4-BE49-F238E27FC236}">
                <a16:creationId xmlns:a16="http://schemas.microsoft.com/office/drawing/2014/main" id="{337CEDF4-19CA-454F-B12B-74ACDF902DFF}"/>
              </a:ext>
            </a:extLst>
          </p:cNvPr>
          <p:cNvSpPr>
            <a:spLocks noGrp="1"/>
          </p:cNvSpPr>
          <p:nvPr/>
        </p:nvSpPr>
        <p:spPr>
          <a:xfrm>
            <a:off x="8096250" y="2105025"/>
            <a:ext cx="6191250" cy="285750"/>
          </a:xfrm>
          <a:prstGeom prst="rect">
            <a:avLst/>
          </a:prstGeom>
          <a:noFill/>
          <a:ln w="0">
            <a:noFill/>
          </a:ln>
        </p:spPr>
        <p:txBody>
          <a:bodyPr>
            <a:noAutofit/>
          </a:bodyPr>
          <a:lstStyle/>
          <a:p>
            <a:pPr>
              <a:defRPr sz="1425" b="1">
                <a:solidFill>
                  <a:srgbClr val="AD4C21"/>
                </a:solidFill>
                <a:latin typeface="Aptos"/>
                <a:ea typeface="Aptos"/>
                <a:cs typeface="Aptos"/>
              </a:defRPr>
            </a:pPr>
            <a:r>
              <a:rPr sz="1425" b="1">
                <a:solidFill>
                  <a:srgbClr val="AD4C21"/>
                </a:solidFill>
                <a:latin typeface="Aptos"/>
                <a:ea typeface="Aptos"/>
                <a:cs typeface="Aptos"/>
              </a:rPr>
              <a:t>CONSÉQUENCE APPLICATIVE</a:t>
            </a:r>
          </a:p>
        </p:txBody>
      </p:sp>
      <p:sp>
        <p:nvSpPr>
          <p:cNvPr id="7" name="Rectangle 6">
            <a:extLst>
              <a:ext uri="{FF2B5EF4-FFF2-40B4-BE49-F238E27FC236}">
                <a16:creationId xmlns:a16="http://schemas.microsoft.com/office/drawing/2014/main" id="{35096A62-EFE1-4DD2-AE9E-8D7E23A14B45}"/>
              </a:ext>
            </a:extLst>
          </p:cNvPr>
          <p:cNvSpPr>
            <a:spLocks noGrp="1"/>
          </p:cNvSpPr>
          <p:nvPr/>
        </p:nvSpPr>
        <p:spPr>
          <a:xfrm>
            <a:off x="8096250" y="2571750"/>
            <a:ext cx="6381750" cy="3524250"/>
          </a:xfrm>
          <a:prstGeom prst="rect">
            <a:avLst/>
          </a:prstGeom>
          <a:noFill/>
          <a:ln w="0">
            <a:noFill/>
          </a:ln>
        </p:spPr>
        <p:txBody>
          <a:bodyPr>
            <a:noAutofit/>
          </a:bodyPr>
          <a:lstStyle/>
          <a:p>
            <a:pPr>
              <a:defRPr sz="2325" b="0">
                <a:solidFill>
                  <a:srgbClr val="173044"/>
                </a:solidFill>
                <a:latin typeface="Aptos"/>
                <a:ea typeface="Aptos"/>
                <a:cs typeface="Aptos"/>
              </a:defRPr>
            </a:pPr>
            <a:r>
              <a:rPr sz="2325" b="0">
                <a:solidFill>
                  <a:srgbClr val="173044"/>
                </a:solidFill>
                <a:latin typeface="Aptos"/>
                <a:ea typeface="Aptos"/>
                <a:cs typeface="Aptos"/>
              </a:rPr>
              <a:t>L’API de commande conserve PostgreSQL comme source transactionnelle. Une publication analytique expose un contrat versionné. L’équipe propriétaire explique sa qualité et son délai. L’étudiant relie ainsi les concepts modernes à un flux applicatif concret.</a:t>
            </a:r>
          </a:p>
        </p:txBody>
      </p:sp>
      <p:sp>
        <p:nvSpPr>
          <p:cNvPr id="8" name="Rectangle 7">
            <a:extLst>
              <a:ext uri="{FF2B5EF4-FFF2-40B4-BE49-F238E27FC236}">
                <a16:creationId xmlns:a16="http://schemas.microsoft.com/office/drawing/2014/main" id="{1E8813E2-28E4-4402-B00F-8416D51BA5A2}"/>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MISE EN PERSPECTIVE</a:t>
            </a:r>
          </a:p>
        </p:txBody>
      </p:sp>
      <p:sp>
        <p:nvSpPr>
          <p:cNvPr id="9" name="Rectangle 8">
            <a:extLst>
              <a:ext uri="{FF2B5EF4-FFF2-40B4-BE49-F238E27FC236}">
                <a16:creationId xmlns:a16="http://schemas.microsoft.com/office/drawing/2014/main" id="{498033F7-451D-4B27-8666-C47AC0BBCC52}"/>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173044"/>
                </a:solidFill>
                <a:latin typeface="Aptos"/>
                <a:ea typeface="Aptos"/>
                <a:cs typeface="Aptos"/>
              </a:defRPr>
            </a:pPr>
            <a:r>
              <a:rPr sz="1875" b="0">
                <a:solidFill>
                  <a:srgbClr val="173044"/>
                </a:solidFill>
                <a:latin typeface="Aptos"/>
                <a:ea typeface="Aptos"/>
                <a:cs typeface="Aptos"/>
              </a:rPr>
              <a:t>Le périmètre pratique reste un export vérifié et un contrat de données.</a:t>
            </a:r>
          </a:p>
        </p:txBody>
      </p:sp>
      <p:sp>
        <p:nvSpPr>
          <p:cNvPr id="10" name="Rectangle 9">
            <a:extLst>
              <a:ext uri="{FF2B5EF4-FFF2-40B4-BE49-F238E27FC236}">
                <a16:creationId xmlns:a16="http://schemas.microsoft.com/office/drawing/2014/main" id="{FA3D1045-98F1-4726-8F6E-1923E78379BB}"/>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A1FC711B-2725-40F0-897D-1480D824F489}"/>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29 / 34</a:t>
            </a:r>
          </a:p>
        </p:txBody>
      </p:sp>
    </p:spTree>
    <p:extLst>
      <p:ext uri="{BB962C8B-B14F-4D97-AF65-F5344CB8AC3E}">
        <p14:creationId xmlns:p14="http://schemas.microsoft.com/office/powerpoint/2010/main" val="211782584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4D5C936-2CD9-48E6-83B4-2CBE82EF57B5}"/>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1933C430-2CC2-4A9A-AB5D-DE63B7D4B105}"/>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Les pièces du dossier collectif</a:t>
            </a:r>
          </a:p>
        </p:txBody>
      </p:sp>
      <p:sp>
        <p:nvSpPr>
          <p:cNvPr id="4" name="Rectangle 3">
            <a:extLst>
              <a:ext uri="{FF2B5EF4-FFF2-40B4-BE49-F238E27FC236}">
                <a16:creationId xmlns:a16="http://schemas.microsoft.com/office/drawing/2014/main" id="{CB069AAF-92B6-40D5-912F-3FE6E17E9CCD}"/>
              </a:ext>
            </a:extLst>
          </p:cNvPr>
          <p:cNvSpPr>
            <a:spLocks noGrp="1"/>
          </p:cNvSpPr>
          <p:nvPr/>
        </p:nvSpPr>
        <p:spPr>
          <a:xfrm>
            <a:off x="666750" y="2038350"/>
            <a:ext cx="13525500" cy="164782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Le dossier explique le besoin et l’état initial, l’architecture et le stockage déployé, les interventions réalisées et les résultats. Chaque preuve porte un identifiant, un protocole et une interprétation.</a:t>
            </a:r>
          </a:p>
          <a:p>
            <a:pPr>
              <a:defRPr sz="2025" b="0">
                <a:solidFill>
                  <a:srgbClr val="173044"/>
                </a:solidFill>
                <a:latin typeface="Aptos"/>
                <a:ea typeface="Aptos"/>
                <a:cs typeface="Aptos"/>
              </a:defRPr>
            </a:pPr>
            <a:r>
              <a:rPr sz="2025" b="0">
                <a:solidFill>
                  <a:srgbClr val="173044"/>
                </a:solidFill>
                <a:latin typeface="Aptos"/>
                <a:ea typeface="Aptos"/>
                <a:cs typeface="Aptos"/>
              </a:rPr>
              <a:t>Les plans SQL, traces, migrations et tests d’invariant soutiennent le récit. Les graphiques présentent les unités et la charge. La conclusion explicite les compromis de coût, de fraîcheur et de disponibilité.</a:t>
            </a:r>
          </a:p>
        </p:txBody>
      </p:sp>
      <p:graphicFrame>
        <p:nvGraphicFramePr>
          <p:cNvPr id="13" name="Tableau 12"/>
          <p:cNvGraphicFramePr/>
          <p:nvPr/>
        </p:nvGraphicFramePr>
        <p:xfrm>
          <a:off x="666750" y="3857625"/>
          <a:ext cx="13811250" cy="3520440"/>
        </p:xfrm>
        <a:graphic>
          <a:graphicData uri="http://schemas.openxmlformats.org/drawingml/2006/table">
            <a:tbl>
              <a:tblPr/>
              <a:tblGrid>
                <a:gridCol w="6905625">
                  <a:extLst>
                    <a:ext uri="{9D8B030D-6E8A-4147-A177-3AD203B41FA5}">
                      <a16:colId xmlns:a16="http://schemas.microsoft.com/office/drawing/2014/main" val="20000"/>
                    </a:ext>
                  </a:extLst>
                </a:gridCol>
                <a:gridCol w="6905625">
                  <a:extLst>
                    <a:ext uri="{9D8B030D-6E8A-4147-A177-3AD203B41FA5}">
                      <a16:colId xmlns:a16="http://schemas.microsoft.com/office/drawing/2014/main" val="20001"/>
                    </a:ext>
                  </a:extLst>
                </a:gridCol>
              </a:tblGrid>
              <a:tr h="476250">
                <a:tc>
                  <a:txBody>
                    <a:bodyPr/>
                    <a:lstStyle/>
                    <a:p>
                      <a:r>
                        <a:rPr sz="1800" b="1">
                          <a:solidFill>
                            <a:srgbClr val="FFFFFF"/>
                          </a:solidFill>
                          <a:latin typeface="Aptos"/>
                          <a:ea typeface="Aptos"/>
                          <a:cs typeface="Aptos"/>
                        </a:rPr>
                        <a:t>Pièce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Ce qu’elle démontre</a:t>
                      </a:r>
                    </a:p>
                  </a:txBody>
                  <a:tcPr marL="142875" marR="142875" marT="114300" marB="114300" anchor="ctr">
                    <a:solidFill>
                      <a:srgbClr val="173C4C"/>
                    </a:solidFill>
                  </a:tcPr>
                </a:tc>
                <a:extLst>
                  <a:ext uri="{0D108BD9-81ED-4DB2-BD59-A6C34878D82A}">
                    <a16:rowId xmlns:a16="http://schemas.microsoft.com/office/drawing/2014/main" val="10000"/>
                  </a:ext>
                </a:extLst>
              </a:tr>
              <a:tr h="476250">
                <a:tc>
                  <a:txBody>
                    <a:bodyPr/>
                    <a:lstStyle/>
                    <a:p>
                      <a:r>
                        <a:rPr sz="1800">
                          <a:solidFill>
                            <a:srgbClr val="173044"/>
                          </a:solidFill>
                          <a:latin typeface="Aptos"/>
                          <a:ea typeface="Aptos"/>
                          <a:cs typeface="Aptos"/>
                        </a:rPr>
                        <a:t>Diagnostic initial</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Problème observable</a:t>
                      </a:r>
                    </a:p>
                  </a:txBody>
                  <a:tcPr marL="142875" marR="142875" marT="114300" marB="114300" anchor="ctr">
                    <a:solidFill>
                      <a:srgbClr val="F2DEC6"/>
                    </a:solidFill>
                  </a:tcPr>
                </a:tc>
                <a:extLst>
                  <a:ext uri="{0D108BD9-81ED-4DB2-BD59-A6C34878D82A}">
                    <a16:rowId xmlns:a16="http://schemas.microsoft.com/office/drawing/2014/main" val="10001"/>
                  </a:ext>
                </a:extLst>
              </a:tr>
              <a:tr h="476250">
                <a:tc>
                  <a:txBody>
                    <a:bodyPr/>
                    <a:lstStyle/>
                    <a:p>
                      <a:r>
                        <a:rPr sz="1800">
                          <a:solidFill>
                            <a:srgbClr val="173044"/>
                          </a:solidFill>
                          <a:latin typeface="Aptos"/>
                          <a:ea typeface="Aptos"/>
                          <a:cs typeface="Aptos"/>
                        </a:rPr>
                        <a:t>DDL et déploiement</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Stockage implémenté</a:t>
                      </a:r>
                    </a:p>
                  </a:txBody>
                  <a:tcPr marL="142875" marR="142875" marT="114300" marB="114300" anchor="ctr">
                    <a:solidFill>
                      <a:srgbClr val="F2DEC6"/>
                    </a:solidFill>
                  </a:tcPr>
                </a:tc>
                <a:extLst>
                  <a:ext uri="{0D108BD9-81ED-4DB2-BD59-A6C34878D82A}">
                    <a16:rowId xmlns:a16="http://schemas.microsoft.com/office/drawing/2014/main" val="10002"/>
                  </a:ext>
                </a:extLst>
              </a:tr>
              <a:tr h="476250">
                <a:tc>
                  <a:txBody>
                    <a:bodyPr/>
                    <a:lstStyle/>
                    <a:p>
                      <a:r>
                        <a:rPr sz="1800">
                          <a:solidFill>
                            <a:srgbClr val="173044"/>
                          </a:solidFill>
                          <a:latin typeface="Aptos"/>
                          <a:ea typeface="Aptos"/>
                          <a:cs typeface="Aptos"/>
                        </a:rPr>
                        <a:t>SQL et trace API</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Accès correct aux données</a:t>
                      </a:r>
                    </a:p>
                  </a:txBody>
                  <a:tcPr marL="142875" marR="142875" marT="114300" marB="114300" anchor="ctr">
                    <a:solidFill>
                      <a:srgbClr val="F2DEC6"/>
                    </a:solidFill>
                  </a:tcPr>
                </a:tc>
                <a:extLst>
                  <a:ext uri="{0D108BD9-81ED-4DB2-BD59-A6C34878D82A}">
                    <a16:rowId xmlns:a16="http://schemas.microsoft.com/office/drawing/2014/main" val="10003"/>
                  </a:ext>
                </a:extLst>
              </a:tr>
              <a:tr h="476250">
                <a:tc>
                  <a:txBody>
                    <a:bodyPr/>
                    <a:lstStyle/>
                    <a:p>
                      <a:r>
                        <a:rPr sz="1800">
                          <a:solidFill>
                            <a:srgbClr val="173044"/>
                          </a:solidFill>
                          <a:latin typeface="Aptos"/>
                          <a:ea typeface="Aptos"/>
                          <a:cs typeface="Aptos"/>
                        </a:rPr>
                        <a:t>Benchmark avant/après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Effet mesuré sur le service</a:t>
                      </a:r>
                    </a:p>
                  </a:txBody>
                  <a:tcPr marL="142875" marR="142875" marT="114300" marB="114300" anchor="ctr">
                    <a:solidFill>
                      <a:srgbClr val="F2DEC6"/>
                    </a:solidFill>
                  </a:tcPr>
                </a:tc>
                <a:extLst>
                  <a:ext uri="{0D108BD9-81ED-4DB2-BD59-A6C34878D82A}">
                    <a16:rowId xmlns:a16="http://schemas.microsoft.com/office/drawing/2014/main" val="10004"/>
                  </a:ext>
                </a:extLst>
              </a:tr>
              <a:tr h="476250">
                <a:tc>
                  <a:txBody>
                    <a:bodyPr/>
                    <a:lstStyle/>
                    <a:p>
                      <a:r>
                        <a:rPr sz="1800">
                          <a:solidFill>
                            <a:srgbClr val="173044"/>
                          </a:solidFill>
                          <a:latin typeface="Aptos"/>
                          <a:ea typeface="Aptos"/>
                          <a:cs typeface="Aptos"/>
                        </a:rPr>
                        <a:t>Tests de correction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Invariants et fraîcheur</a:t>
                      </a:r>
                    </a:p>
                  </a:txBody>
                  <a:tcPr marL="142875" marR="142875" marT="114300" marB="114300" anchor="ctr">
                    <a:solidFill>
                      <a:srgbClr val="F2DEC6"/>
                    </a:solidFill>
                  </a:tcPr>
                </a:tc>
                <a:extLst>
                  <a:ext uri="{0D108BD9-81ED-4DB2-BD59-A6C34878D82A}">
                    <a16:rowId xmlns:a16="http://schemas.microsoft.com/office/drawing/2014/main" val="10005"/>
                  </a:ext>
                </a:extLst>
              </a:tr>
              <a:tr h="476250">
                <a:tc>
                  <a:txBody>
                    <a:bodyPr/>
                    <a:lstStyle/>
                    <a:p>
                      <a:r>
                        <a:rPr sz="1800">
                          <a:solidFill>
                            <a:srgbClr val="173044"/>
                          </a:solidFill>
                          <a:latin typeface="Aptos"/>
                          <a:ea typeface="Aptos"/>
                          <a:cs typeface="Aptos"/>
                        </a:rPr>
                        <a:t>Décision finale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Choix et limites justifiés</a:t>
                      </a:r>
                    </a:p>
                  </a:txBody>
                  <a:tcPr marL="142875" marR="142875" marT="114300" marB="114300" anchor="ctr">
                    <a:solidFill>
                      <a:srgbClr val="F2DEC6"/>
                    </a:solidFill>
                  </a:tcPr>
                </a:tc>
                <a:extLst>
                  <a:ext uri="{0D108BD9-81ED-4DB2-BD59-A6C34878D82A}">
                    <a16:rowId xmlns:a16="http://schemas.microsoft.com/office/drawing/2014/main" val="10006"/>
                  </a:ext>
                </a:extLst>
              </a:tr>
            </a:tbl>
          </a:graphicData>
        </a:graphic>
      </p:graphicFrame>
      <p:sp>
        <p:nvSpPr>
          <p:cNvPr id="6" name="Rectangle 5">
            <a:extLst>
              <a:ext uri="{FF2B5EF4-FFF2-40B4-BE49-F238E27FC236}">
                <a16:creationId xmlns:a16="http://schemas.microsoft.com/office/drawing/2014/main" id="{4C9FE9E0-5DB9-43DA-826E-EBB1D6E2A740}"/>
              </a:ext>
            </a:extLst>
          </p:cNvPr>
          <p:cNvSpPr>
            <a:spLocks noGrp="1"/>
          </p:cNvSpPr>
          <p:nvPr/>
        </p:nvSpPr>
        <p:spPr>
          <a:xfrm>
            <a:off x="666750" y="7477125"/>
            <a:ext cx="13525500" cy="533400"/>
          </a:xfrm>
          <a:prstGeom prst="rect">
            <a:avLst/>
          </a:prstGeom>
          <a:noFill/>
          <a:ln w="0">
            <a:noFill/>
          </a:ln>
        </p:spPr>
        <p:txBody>
          <a:bodyPr>
            <a:noAutofit/>
          </a:bodyPr>
          <a:lstStyle/>
          <a:p>
            <a:pPr>
              <a:defRPr sz="1725" b="0">
                <a:solidFill>
                  <a:srgbClr val="173044"/>
                </a:solidFill>
                <a:latin typeface="Aptos"/>
                <a:ea typeface="Aptos"/>
                <a:cs typeface="Aptos"/>
              </a:defRPr>
            </a:pPr>
            <a:r>
              <a:rPr sz="1725" b="0">
                <a:solidFill>
                  <a:srgbClr val="173044"/>
                </a:solidFill>
                <a:latin typeface="Aptos"/>
                <a:ea typeface="Aptos"/>
                <a:cs typeface="Aptos"/>
              </a:rPr>
              <a:t>Le descriptif demande une amélioration mesurée. Il ne fournit pas de seuil de gain officiel.</a:t>
            </a:r>
          </a:p>
        </p:txBody>
      </p:sp>
      <p:sp>
        <p:nvSpPr>
          <p:cNvPr id="7" name="Rectangle 6">
            <a:extLst>
              <a:ext uri="{FF2B5EF4-FFF2-40B4-BE49-F238E27FC236}">
                <a16:creationId xmlns:a16="http://schemas.microsoft.com/office/drawing/2014/main" id="{B0462293-696C-4A40-BE91-A8874EB0241C}"/>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161D31C0-6D07-4FF1-B905-0E5E3A501C7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30 / 34</a:t>
            </a:r>
          </a:p>
        </p:txBody>
      </p:sp>
    </p:spTree>
    <p:extLst>
      <p:ext uri="{BB962C8B-B14F-4D97-AF65-F5344CB8AC3E}">
        <p14:creationId xmlns:p14="http://schemas.microsoft.com/office/powerpoint/2010/main" val="2051317277"/>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5E6D0"/>
        </a:solidFill>
        <a:effectLst/>
      </p:bgPr>
    </p:bg>
    <p:spTree>
      <p:nvGrpSpPr>
        <p:cNvPr id="1" name=""/>
        <p:cNvGrpSpPr/>
        <p:nvPr/>
      </p:nvGrpSpPr>
      <p:grpSpPr>
        <a:xfrm>
          <a:off x="0" y="0"/>
          <a:ext cx="0" cy="0"/>
          <a:chOff x="0" y="0"/>
          <a:chExt cx="0" cy="0"/>
        </a:xfrm>
      </p:grpSpPr>
      <p:pic>
        <p:nvPicPr>
          <p:cNvPr id="9" name="Image 8"/>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33423018-B03D-498D-AD6E-03494587F47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AD4C21"/>
                </a:solidFill>
                <a:latin typeface="Aptos"/>
                <a:ea typeface="Aptos"/>
                <a:cs typeface="Aptos"/>
              </a:defRPr>
            </a:pPr>
            <a:r>
              <a:rPr sz="1350" b="1">
                <a:solidFill>
                  <a:srgbClr val="AD4C21"/>
                </a:solidFill>
                <a:latin typeface="Aptos"/>
                <a:ea typeface="Aptos"/>
                <a:cs typeface="Aptos"/>
              </a:rPr>
              <a:t>JOUR 5   /   OPTIMISATION BDD</a:t>
            </a:r>
          </a:p>
        </p:txBody>
      </p:sp>
      <p:sp>
        <p:nvSpPr>
          <p:cNvPr id="3" name="Rectangle 2">
            <a:extLst>
              <a:ext uri="{FF2B5EF4-FFF2-40B4-BE49-F238E27FC236}">
                <a16:creationId xmlns:a16="http://schemas.microsoft.com/office/drawing/2014/main" id="{FF3F4816-E04B-48B5-B068-C2C03563E7E2}"/>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173044"/>
                </a:solidFill>
                <a:latin typeface="Aptos"/>
                <a:ea typeface="Aptos"/>
                <a:cs typeface="Aptos"/>
              </a:defRPr>
            </a:pPr>
            <a:r>
              <a:rPr sz="3600" b="1">
                <a:solidFill>
                  <a:srgbClr val="173044"/>
                </a:solidFill>
                <a:latin typeface="Aptos"/>
                <a:ea typeface="Aptos"/>
                <a:cs typeface="Aptos"/>
              </a:rPr>
              <a:t>Une grille pédagogique proposée</a:t>
            </a:r>
          </a:p>
        </p:txBody>
      </p:sp>
      <p:sp>
        <p:nvSpPr>
          <p:cNvPr id="4" name="Rectangle 3">
            <a:extLst>
              <a:ext uri="{FF2B5EF4-FFF2-40B4-BE49-F238E27FC236}">
                <a16:creationId xmlns:a16="http://schemas.microsoft.com/office/drawing/2014/main" id="{4E11F14D-2C0B-4407-BC30-B63BC2795FAB}"/>
              </a:ext>
            </a:extLst>
          </p:cNvPr>
          <p:cNvSpPr>
            <a:spLocks noGrp="1"/>
          </p:cNvSpPr>
          <p:nvPr/>
        </p:nvSpPr>
        <p:spPr>
          <a:xfrm>
            <a:off x="666750" y="2038350"/>
            <a:ext cx="13525500" cy="1647825"/>
          </a:xfrm>
          <a:prstGeom prst="rect">
            <a:avLst/>
          </a:prstGeom>
          <a:noFill/>
          <a:ln w="0">
            <a:noFill/>
          </a:ln>
        </p:spPr>
        <p:txBody>
          <a:bodyPr>
            <a:noAutofit/>
          </a:bodyPr>
          <a:lstStyle/>
          <a:p>
            <a:pPr>
              <a:defRPr sz="2025" b="0">
                <a:solidFill>
                  <a:srgbClr val="173044"/>
                </a:solidFill>
                <a:latin typeface="Aptos"/>
                <a:ea typeface="Aptos"/>
                <a:cs typeface="Aptos"/>
              </a:defRPr>
            </a:pPr>
            <a:r>
              <a:rPr sz="2025" b="0">
                <a:solidFill>
                  <a:srgbClr val="173044"/>
                </a:solidFill>
                <a:latin typeface="Aptos"/>
                <a:ea typeface="Aptos"/>
                <a:cs typeface="Aptos"/>
              </a:rPr>
              <a:t>La grille aide à relire le travail : besoin et contrat, correction des résultats, diagnostic, méthode de mesure, intervention et explication des limites. Elle ne remplace pas la grille certifiante de l’établissement.</a:t>
            </a:r>
          </a:p>
          <a:p>
            <a:pPr>
              <a:defRPr sz="2025" b="0">
                <a:solidFill>
                  <a:srgbClr val="173044"/>
                </a:solidFill>
                <a:latin typeface="Aptos"/>
                <a:ea typeface="Aptos"/>
                <a:cs typeface="Aptos"/>
              </a:defRPr>
            </a:pPr>
            <a:r>
              <a:rPr sz="2025" b="0">
                <a:solidFill>
                  <a:srgbClr val="173044"/>
                </a:solidFill>
                <a:latin typeface="Aptos"/>
                <a:ea typeface="Aptos"/>
                <a:cs typeface="Aptos"/>
              </a:rPr>
              <a:t>La qualité de la preuve compte davantage qu’un pourcentage spectaculaire obtenu dans des conditions incompatibles. Chaque étudiant doit pouvoir expliquer une décision et reconnaître un résultat qui ne permet pas de conclure.</a:t>
            </a:r>
          </a:p>
        </p:txBody>
      </p:sp>
      <p:graphicFrame>
        <p:nvGraphicFramePr>
          <p:cNvPr id="13" name="Tableau 12"/>
          <p:cNvGraphicFramePr/>
          <p:nvPr/>
        </p:nvGraphicFramePr>
        <p:xfrm>
          <a:off x="666750" y="3857625"/>
          <a:ext cx="13811250" cy="3333750"/>
        </p:xfrm>
        <a:graphic>
          <a:graphicData uri="http://schemas.openxmlformats.org/drawingml/2006/table">
            <a:tbl>
              <a:tblPr/>
              <a:tblGrid>
                <a:gridCol w="6905625">
                  <a:extLst>
                    <a:ext uri="{9D8B030D-6E8A-4147-A177-3AD203B41FA5}">
                      <a16:colId xmlns:a16="http://schemas.microsoft.com/office/drawing/2014/main" val="20000"/>
                    </a:ext>
                  </a:extLst>
                </a:gridCol>
                <a:gridCol w="6905625">
                  <a:extLst>
                    <a:ext uri="{9D8B030D-6E8A-4147-A177-3AD203B41FA5}">
                      <a16:colId xmlns:a16="http://schemas.microsoft.com/office/drawing/2014/main" val="20001"/>
                    </a:ext>
                  </a:extLst>
                </a:gridCol>
              </a:tblGrid>
              <a:tr h="555625">
                <a:tc>
                  <a:txBody>
                    <a:bodyPr/>
                    <a:lstStyle/>
                    <a:p>
                      <a:r>
                        <a:rPr sz="1800" b="1">
                          <a:solidFill>
                            <a:srgbClr val="FFFFFF"/>
                          </a:solidFill>
                          <a:latin typeface="Aptos"/>
                          <a:ea typeface="Aptos"/>
                          <a:cs typeface="Aptos"/>
                        </a:rPr>
                        <a:t>Critère</a:t>
                      </a:r>
                    </a:p>
                  </a:txBody>
                  <a:tcPr marL="142875" marR="142875" marT="114300" marB="114300" anchor="ctr">
                    <a:solidFill>
                      <a:srgbClr val="173C4C"/>
                    </a:solidFill>
                  </a:tcPr>
                </a:tc>
                <a:tc>
                  <a:txBody>
                    <a:bodyPr/>
                    <a:lstStyle/>
                    <a:p>
                      <a:r>
                        <a:rPr sz="1800" b="1">
                          <a:solidFill>
                            <a:srgbClr val="FFFFFF"/>
                          </a:solidFill>
                          <a:latin typeface="Aptos"/>
                          <a:ea typeface="Aptos"/>
                          <a:cs typeface="Aptos"/>
                        </a:rPr>
                        <a:t>Question de relecture</a:t>
                      </a:r>
                    </a:p>
                  </a:txBody>
                  <a:tcPr marL="142875" marR="142875" marT="114300" marB="114300" anchor="ctr">
                    <a:solidFill>
                      <a:srgbClr val="173C4C"/>
                    </a:solidFill>
                  </a:tcPr>
                </a:tc>
                <a:extLst>
                  <a:ext uri="{0D108BD9-81ED-4DB2-BD59-A6C34878D82A}">
                    <a16:rowId xmlns:a16="http://schemas.microsoft.com/office/drawing/2014/main" val="10000"/>
                  </a:ext>
                </a:extLst>
              </a:tr>
              <a:tr h="555625">
                <a:tc>
                  <a:txBody>
                    <a:bodyPr/>
                    <a:lstStyle/>
                    <a:p>
                      <a:r>
                        <a:rPr sz="1800">
                          <a:solidFill>
                            <a:srgbClr val="173044"/>
                          </a:solidFill>
                          <a:latin typeface="Aptos"/>
                          <a:ea typeface="Aptos"/>
                          <a:cs typeface="Aptos"/>
                        </a:rPr>
                        <a:t>Besoin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L’endpoint et sa charge sont-ils définis ?</a:t>
                      </a:r>
                    </a:p>
                  </a:txBody>
                  <a:tcPr marL="142875" marR="142875" marT="114300" marB="114300" anchor="ctr">
                    <a:solidFill>
                      <a:srgbClr val="F2DEC6"/>
                    </a:solidFill>
                  </a:tcPr>
                </a:tc>
                <a:extLst>
                  <a:ext uri="{0D108BD9-81ED-4DB2-BD59-A6C34878D82A}">
                    <a16:rowId xmlns:a16="http://schemas.microsoft.com/office/drawing/2014/main" val="10001"/>
                  </a:ext>
                </a:extLst>
              </a:tr>
              <a:tr h="555625">
                <a:tc>
                  <a:txBody>
                    <a:bodyPr/>
                    <a:lstStyle/>
                    <a:p>
                      <a:r>
                        <a:rPr sz="1800">
                          <a:solidFill>
                            <a:srgbClr val="173044"/>
                          </a:solidFill>
                          <a:latin typeface="Aptos"/>
                          <a:ea typeface="Aptos"/>
                          <a:cs typeface="Aptos"/>
                        </a:rPr>
                        <a:t>Correction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 résultat et les droits restent-ils valides ?</a:t>
                      </a:r>
                    </a:p>
                  </a:txBody>
                  <a:tcPr marL="142875" marR="142875" marT="114300" marB="114300" anchor="ctr">
                    <a:solidFill>
                      <a:srgbClr val="F2DEC6"/>
                    </a:solidFill>
                  </a:tcPr>
                </a:tc>
                <a:extLst>
                  <a:ext uri="{0D108BD9-81ED-4DB2-BD59-A6C34878D82A}">
                    <a16:rowId xmlns:a16="http://schemas.microsoft.com/office/drawing/2014/main" val="10002"/>
                  </a:ext>
                </a:extLst>
              </a:tr>
              <a:tr h="555625">
                <a:tc>
                  <a:txBody>
                    <a:bodyPr/>
                    <a:lstStyle/>
                    <a:p>
                      <a:r>
                        <a:rPr sz="1800">
                          <a:solidFill>
                            <a:srgbClr val="173044"/>
                          </a:solidFill>
                          <a:latin typeface="Aptos"/>
                          <a:ea typeface="Aptos"/>
                          <a:cs typeface="Aptos"/>
                        </a:rPr>
                        <a:t>Méthode</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 test peut-il être reproduit ?</a:t>
                      </a:r>
                    </a:p>
                  </a:txBody>
                  <a:tcPr marL="142875" marR="142875" marT="114300" marB="114300" anchor="ctr">
                    <a:solidFill>
                      <a:srgbClr val="F2DEC6"/>
                    </a:solidFill>
                  </a:tcPr>
                </a:tc>
                <a:extLst>
                  <a:ext uri="{0D108BD9-81ED-4DB2-BD59-A6C34878D82A}">
                    <a16:rowId xmlns:a16="http://schemas.microsoft.com/office/drawing/2014/main" val="10003"/>
                  </a:ext>
                </a:extLst>
              </a:tr>
              <a:tr h="555625">
                <a:tc>
                  <a:txBody>
                    <a:bodyPr/>
                    <a:lstStyle/>
                    <a:p>
                      <a:r>
                        <a:rPr sz="1800">
                          <a:solidFill>
                            <a:srgbClr val="173044"/>
                          </a:solidFill>
                          <a:latin typeface="Aptos"/>
                          <a:ea typeface="Aptos"/>
                          <a:cs typeface="Aptos"/>
                        </a:rPr>
                        <a:t>Intervention</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Le mécanisme explique-t-il le gain ?</a:t>
                      </a:r>
                    </a:p>
                  </a:txBody>
                  <a:tcPr marL="142875" marR="142875" marT="114300" marB="114300" anchor="ctr">
                    <a:solidFill>
                      <a:srgbClr val="F2DEC6"/>
                    </a:solidFill>
                  </a:tcPr>
                </a:tc>
                <a:extLst>
                  <a:ext uri="{0D108BD9-81ED-4DB2-BD59-A6C34878D82A}">
                    <a16:rowId xmlns:a16="http://schemas.microsoft.com/office/drawing/2014/main" val="10004"/>
                  </a:ext>
                </a:extLst>
              </a:tr>
              <a:tr h="555625">
                <a:tc>
                  <a:txBody>
                    <a:bodyPr/>
                    <a:lstStyle/>
                    <a:p>
                      <a:r>
                        <a:rPr sz="1800">
                          <a:solidFill>
                            <a:srgbClr val="173044"/>
                          </a:solidFill>
                          <a:latin typeface="Aptos"/>
                          <a:ea typeface="Aptos"/>
                          <a:cs typeface="Aptos"/>
                        </a:rPr>
                        <a:t>Limites</a:t>
                      </a:r>
                    </a:p>
                  </a:txBody>
                  <a:tcPr marL="142875" marR="142875" marT="114300" marB="114300" anchor="ctr">
                    <a:solidFill>
                      <a:srgbClr val="F2DEC6"/>
                    </a:solidFill>
                  </a:tcPr>
                </a:tc>
                <a:tc>
                  <a:txBody>
                    <a:bodyPr/>
                    <a:lstStyle/>
                    <a:p>
                      <a:r>
                        <a:rPr sz="1800">
                          <a:solidFill>
                            <a:srgbClr val="173044"/>
                          </a:solidFill>
                          <a:latin typeface="Aptos"/>
                          <a:ea typeface="Aptos"/>
                          <a:cs typeface="Aptos"/>
                        </a:rPr>
                        <a:t>Coûts et risques sont-ils exposés ?</a:t>
                      </a:r>
                    </a:p>
                  </a:txBody>
                  <a:tcPr marL="142875" marR="142875" marT="114300" marB="114300" anchor="ctr">
                    <a:solidFill>
                      <a:srgbClr val="F2DEC6"/>
                    </a:solidFill>
                  </a:tcPr>
                </a:tc>
                <a:extLst>
                  <a:ext uri="{0D108BD9-81ED-4DB2-BD59-A6C34878D82A}">
                    <a16:rowId xmlns:a16="http://schemas.microsoft.com/office/drawing/2014/main" val="10005"/>
                  </a:ext>
                </a:extLst>
              </a:tr>
            </a:tbl>
          </a:graphicData>
        </a:graphic>
      </p:graphicFrame>
      <p:sp>
        <p:nvSpPr>
          <p:cNvPr id="6" name="Rectangle 5">
            <a:extLst>
              <a:ext uri="{FF2B5EF4-FFF2-40B4-BE49-F238E27FC236}">
                <a16:creationId xmlns:a16="http://schemas.microsoft.com/office/drawing/2014/main" id="{56D55622-B1CD-4CB1-8D76-11ED1E575C9E}"/>
              </a:ext>
            </a:extLst>
          </p:cNvPr>
          <p:cNvSpPr>
            <a:spLocks noGrp="1"/>
          </p:cNvSpPr>
          <p:nvPr/>
        </p:nvSpPr>
        <p:spPr>
          <a:xfrm>
            <a:off x="666750" y="7477125"/>
            <a:ext cx="13525500" cy="533400"/>
          </a:xfrm>
          <a:prstGeom prst="rect">
            <a:avLst/>
          </a:prstGeom>
          <a:noFill/>
          <a:ln w="0">
            <a:noFill/>
          </a:ln>
        </p:spPr>
        <p:txBody>
          <a:bodyPr>
            <a:noAutofit/>
          </a:bodyPr>
          <a:lstStyle/>
          <a:p>
            <a:pPr>
              <a:defRPr sz="1725" b="0">
                <a:solidFill>
                  <a:srgbClr val="173044"/>
                </a:solidFill>
                <a:latin typeface="Aptos"/>
                <a:ea typeface="Aptos"/>
                <a:cs typeface="Aptos"/>
              </a:defRPr>
            </a:pPr>
            <a:r>
              <a:rPr sz="1725" b="0">
                <a:solidFill>
                  <a:srgbClr val="173044"/>
                </a:solidFill>
                <a:latin typeface="Aptos"/>
                <a:ea typeface="Aptos"/>
                <a:cs typeface="Aptos"/>
              </a:rPr>
              <a:t>Proposition locale pour le cours, sans pondération RNCP officielle.</a:t>
            </a:r>
          </a:p>
        </p:txBody>
      </p:sp>
      <p:sp>
        <p:nvSpPr>
          <p:cNvPr id="7" name="Rectangle 6">
            <a:extLst>
              <a:ext uri="{FF2B5EF4-FFF2-40B4-BE49-F238E27FC236}">
                <a16:creationId xmlns:a16="http://schemas.microsoft.com/office/drawing/2014/main" id="{BE055362-13E0-40CA-AAF3-E6C172AC73DA}"/>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SUP DE VINCI   /   M2   /   2026–2027</a:t>
            </a:r>
          </a:p>
        </p:txBody>
      </p:sp>
      <p:sp>
        <p:nvSpPr>
          <p:cNvPr id="8" name="Rectangle 7">
            <a:extLst>
              <a:ext uri="{FF2B5EF4-FFF2-40B4-BE49-F238E27FC236}">
                <a16:creationId xmlns:a16="http://schemas.microsoft.com/office/drawing/2014/main" id="{CAC7D29A-B2E3-467C-A7E2-9469FA469CD5}"/>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3F5B66"/>
                </a:solidFill>
                <a:latin typeface="Aptos"/>
                <a:ea typeface="Aptos"/>
                <a:cs typeface="Aptos"/>
              </a:defRPr>
            </a:pPr>
            <a:r>
              <a:rPr sz="1275" b="0">
                <a:solidFill>
                  <a:srgbClr val="3F5B66"/>
                </a:solidFill>
                <a:latin typeface="Aptos"/>
                <a:ea typeface="Aptos"/>
                <a:cs typeface="Aptos"/>
              </a:rPr>
              <a:t>31 / 34</a:t>
            </a:r>
          </a:p>
        </p:txBody>
      </p:sp>
    </p:spTree>
    <p:extLst>
      <p:ext uri="{BB962C8B-B14F-4D97-AF65-F5344CB8AC3E}">
        <p14:creationId xmlns:p14="http://schemas.microsoft.com/office/powerpoint/2010/main" val="102932184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081C2D"/>
        </a:solidFill>
        <a:effectLst/>
      </p:bgPr>
    </p:bg>
    <p:spTree>
      <p:nvGrpSpPr>
        <p:cNvPr id="1" name=""/>
        <p:cNvGrpSpPr/>
        <p:nvPr/>
      </p:nvGrpSpPr>
      <p:grpSpPr>
        <a:xfrm>
          <a:off x="0" y="0"/>
          <a:ext cx="0" cy="0"/>
          <a:chOff x="0" y="0"/>
          <a:chExt cx="0" cy="0"/>
        </a:xfrm>
      </p:grpSpPr>
      <p:pic>
        <p:nvPicPr>
          <p:cNvPr id="12" name="Image 11"/>
          <p:cNvPicPr>
            <a:picLocks noChangeAspect="1"/>
          </p:cNvPicPr>
          <p:nvPr/>
        </p:nvPicPr>
        <p:blipFill>
          <a:blip r:embed="rId3"/>
          <a:srcRect t="27" b="27"/>
          <a:stretch>
            <a:fillRect/>
          </a:stretch>
        </p:blipFill>
        <p:spPr>
          <a:xfrm>
            <a:off x="0" y="0"/>
            <a:ext cx="15240000" cy="8572500"/>
          </a:xfrm>
          <a:prstGeom prst="rect">
            <a:avLst/>
          </a:prstGeom>
        </p:spPr>
      </p:pic>
      <p:sp>
        <p:nvSpPr>
          <p:cNvPr id="2" name="Rectangle 1">
            <a:extLst>
              <a:ext uri="{FF2B5EF4-FFF2-40B4-BE49-F238E27FC236}">
                <a16:creationId xmlns:a16="http://schemas.microsoft.com/office/drawing/2014/main" id="{136EDF92-7389-47F1-94F0-0F3AD82AA6F3}"/>
              </a:ext>
            </a:extLst>
          </p:cNvPr>
          <p:cNvSpPr>
            <a:spLocks noGrp="1"/>
          </p:cNvSpPr>
          <p:nvPr/>
        </p:nvSpPr>
        <p:spPr>
          <a:xfrm>
            <a:off x="666750" y="285750"/>
            <a:ext cx="13716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JOUR 5   /   OPTIMISATION BDD</a:t>
            </a:r>
          </a:p>
        </p:txBody>
      </p:sp>
      <p:sp>
        <p:nvSpPr>
          <p:cNvPr id="3" name="Rectangle 2">
            <a:extLst>
              <a:ext uri="{FF2B5EF4-FFF2-40B4-BE49-F238E27FC236}">
                <a16:creationId xmlns:a16="http://schemas.microsoft.com/office/drawing/2014/main" id="{F9726897-F2CA-4831-9AFE-2F15ADA71AF3}"/>
              </a:ext>
            </a:extLst>
          </p:cNvPr>
          <p:cNvSpPr>
            <a:spLocks noGrp="1"/>
          </p:cNvSpPr>
          <p:nvPr/>
        </p:nvSpPr>
        <p:spPr>
          <a:xfrm>
            <a:off x="666750" y="790575"/>
            <a:ext cx="13525500" cy="1133475"/>
          </a:xfrm>
          <a:prstGeom prst="rect">
            <a:avLst/>
          </a:prstGeom>
          <a:noFill/>
          <a:ln w="0">
            <a:noFill/>
          </a:ln>
        </p:spPr>
        <p:txBody>
          <a:bodyPr>
            <a:noAutofit/>
          </a:bodyPr>
          <a:lstStyle/>
          <a:p>
            <a:pPr>
              <a:defRPr sz="3600" b="1">
                <a:solidFill>
                  <a:srgbClr val="F6F3ED"/>
                </a:solidFill>
                <a:latin typeface="Aptos"/>
                <a:ea typeface="Aptos"/>
                <a:cs typeface="Aptos"/>
              </a:defRPr>
            </a:pPr>
            <a:r>
              <a:rPr sz="3600" b="1">
                <a:solidFill>
                  <a:srgbClr val="F6F3ED"/>
                </a:solidFill>
                <a:latin typeface="Aptos"/>
                <a:ea typeface="Aptos"/>
                <a:cs typeface="Aptos"/>
              </a:rPr>
              <a:t>Atelier 10 : restitution finale</a:t>
            </a:r>
          </a:p>
        </p:txBody>
      </p:sp>
      <p:sp>
        <p:nvSpPr>
          <p:cNvPr id="4" name="Rectangle 3">
            <a:extLst>
              <a:ext uri="{FF2B5EF4-FFF2-40B4-BE49-F238E27FC236}">
                <a16:creationId xmlns:a16="http://schemas.microsoft.com/office/drawing/2014/main" id="{AA7A9F74-8836-4001-B6D9-29B671F73F79}"/>
              </a:ext>
            </a:extLst>
          </p:cNvPr>
          <p:cNvSpPr>
            <a:spLocks noGrp="1"/>
          </p:cNvSpPr>
          <p:nvPr/>
        </p:nvSpPr>
        <p:spPr>
          <a:xfrm>
            <a:off x="6667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MANIPULATION GUIDÉE</a:t>
            </a:r>
          </a:p>
        </p:txBody>
      </p:sp>
      <p:sp>
        <p:nvSpPr>
          <p:cNvPr id="5" name="Rectangle 4">
            <a:extLst>
              <a:ext uri="{FF2B5EF4-FFF2-40B4-BE49-F238E27FC236}">
                <a16:creationId xmlns:a16="http://schemas.microsoft.com/office/drawing/2014/main" id="{14B46978-131B-4C1E-9796-C133FEF2E3A7}"/>
              </a:ext>
            </a:extLst>
          </p:cNvPr>
          <p:cNvSpPr>
            <a:spLocks noGrp="1"/>
          </p:cNvSpPr>
          <p:nvPr/>
        </p:nvSpPr>
        <p:spPr>
          <a:xfrm>
            <a:off x="666750" y="2667000"/>
            <a:ext cx="6334125"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Assembler le dossier à partir des cinq journées. Choisir une optimisation principale et une vérification de fiabilité ou de fraîcheur. Préparer une présentation de cinq minutes centrée sur le problème, le mécanisme et les mesures.</a:t>
            </a:r>
          </a:p>
        </p:txBody>
      </p:sp>
      <p:sp>
        <p:nvSpPr>
          <p:cNvPr id="6" name="Rectangle 5">
            <a:extLst>
              <a:ext uri="{FF2B5EF4-FFF2-40B4-BE49-F238E27FC236}">
                <a16:creationId xmlns:a16="http://schemas.microsoft.com/office/drawing/2014/main" id="{AB53BAC0-BF84-4794-8B82-77DBD546AFE6}"/>
              </a:ext>
            </a:extLst>
          </p:cNvPr>
          <p:cNvSpPr>
            <a:spLocks noGrp="1"/>
          </p:cNvSpPr>
          <p:nvPr/>
        </p:nvSpPr>
        <p:spPr>
          <a:xfrm>
            <a:off x="8096250" y="2143125"/>
            <a:ext cx="6191250" cy="304800"/>
          </a:xfrm>
          <a:prstGeom prst="rect">
            <a:avLst/>
          </a:prstGeom>
          <a:noFill/>
          <a:ln w="0">
            <a:noFill/>
          </a:ln>
        </p:spPr>
        <p:txBody>
          <a:bodyPr>
            <a:noAutofit/>
          </a:bodyPr>
          <a:lstStyle/>
          <a:p>
            <a:pPr>
              <a:defRPr sz="1500" b="1">
                <a:solidFill>
                  <a:srgbClr val="69E0E3"/>
                </a:solidFill>
                <a:latin typeface="Aptos"/>
                <a:ea typeface="Aptos"/>
                <a:cs typeface="Aptos"/>
              </a:defRPr>
            </a:pPr>
            <a:r>
              <a:rPr sz="1500" b="1">
                <a:solidFill>
                  <a:srgbClr val="69E0E3"/>
                </a:solidFill>
                <a:latin typeface="Aptos"/>
                <a:ea typeface="Aptos"/>
                <a:cs typeface="Aptos"/>
              </a:rPr>
              <a:t>PREUVES À CONSERVER</a:t>
            </a:r>
          </a:p>
        </p:txBody>
      </p:sp>
      <p:sp>
        <p:nvSpPr>
          <p:cNvPr id="7" name="Rectangle 6">
            <a:extLst>
              <a:ext uri="{FF2B5EF4-FFF2-40B4-BE49-F238E27FC236}">
                <a16:creationId xmlns:a16="http://schemas.microsoft.com/office/drawing/2014/main" id="{A74B1B83-C3D8-4E9B-A819-407BFDDA9C74}"/>
              </a:ext>
            </a:extLst>
          </p:cNvPr>
          <p:cNvSpPr>
            <a:spLocks noGrp="1"/>
          </p:cNvSpPr>
          <p:nvPr/>
        </p:nvSpPr>
        <p:spPr>
          <a:xfrm>
            <a:off x="8096250" y="2667000"/>
            <a:ext cx="6381750" cy="3429000"/>
          </a:xfrm>
          <a:prstGeom prst="rect">
            <a:avLst/>
          </a:prstGeom>
          <a:noFill/>
          <a:ln w="0">
            <a:noFill/>
          </a:ln>
        </p:spPr>
        <p:txBody>
          <a:bodyPr>
            <a:noAutofit/>
          </a:bodyPr>
          <a:lstStyle/>
          <a:p>
            <a:pPr>
              <a:defRPr sz="2325" b="0">
                <a:solidFill>
                  <a:srgbClr val="F6F3ED"/>
                </a:solidFill>
                <a:latin typeface="Aptos"/>
                <a:ea typeface="Aptos"/>
                <a:cs typeface="Aptos"/>
              </a:defRPr>
            </a:pPr>
            <a:r>
              <a:rPr sz="2325" b="0">
                <a:solidFill>
                  <a:srgbClr val="F6F3ED"/>
                </a:solidFill>
                <a:latin typeface="Aptos"/>
                <a:ea typeface="Aptos"/>
                <a:cs typeface="Aptos"/>
              </a:rPr>
              <a:t>Montrer un plan ou une trace, un graphique mesuré et un résultat fonctionnel. Expliquer une variante rejetée et un risque restant. Répondre à une question sur la reproductibilité et à une question sur les conséquences pour l’API.</a:t>
            </a:r>
          </a:p>
        </p:txBody>
      </p:sp>
      <p:sp>
        <p:nvSpPr>
          <p:cNvPr id="8" name="Rectangle 7">
            <a:extLst>
              <a:ext uri="{FF2B5EF4-FFF2-40B4-BE49-F238E27FC236}">
                <a16:creationId xmlns:a16="http://schemas.microsoft.com/office/drawing/2014/main" id="{687D0E86-69C3-442C-8ADC-992330B5CB7C}"/>
              </a:ext>
            </a:extLst>
          </p:cNvPr>
          <p:cNvSpPr>
            <a:spLocks noGrp="1"/>
          </p:cNvSpPr>
          <p:nvPr/>
        </p:nvSpPr>
        <p:spPr>
          <a:xfrm>
            <a:off x="666750" y="6724650"/>
            <a:ext cx="13335000" cy="266700"/>
          </a:xfrm>
          <a:prstGeom prst="rect">
            <a:avLst/>
          </a:prstGeom>
          <a:noFill/>
          <a:ln w="0">
            <a:noFill/>
          </a:ln>
        </p:spPr>
        <p:txBody>
          <a:bodyPr>
            <a:noAutofit/>
          </a:bodyPr>
          <a:lstStyle/>
          <a:p>
            <a:pPr>
              <a:defRPr sz="1350" b="1">
                <a:solidFill>
                  <a:srgbClr val="69E0E3"/>
                </a:solidFill>
                <a:latin typeface="Aptos"/>
                <a:ea typeface="Aptos"/>
                <a:cs typeface="Aptos"/>
              </a:defRPr>
            </a:pPr>
            <a:r>
              <a:rPr sz="1350" b="1">
                <a:solidFill>
                  <a:srgbClr val="69E0E3"/>
                </a:solidFill>
                <a:latin typeface="Aptos"/>
                <a:ea typeface="Aptos"/>
                <a:cs typeface="Aptos"/>
              </a:rPr>
              <a:t>MISE EN PERSPECTIVE</a:t>
            </a:r>
          </a:p>
        </p:txBody>
      </p:sp>
      <p:sp>
        <p:nvSpPr>
          <p:cNvPr id="9" name="Rectangle 8">
            <a:extLst>
              <a:ext uri="{FF2B5EF4-FFF2-40B4-BE49-F238E27FC236}">
                <a16:creationId xmlns:a16="http://schemas.microsoft.com/office/drawing/2014/main" id="{6C8CD02B-5C44-4578-AEDC-C396CE16DF51}"/>
              </a:ext>
            </a:extLst>
          </p:cNvPr>
          <p:cNvSpPr>
            <a:spLocks noGrp="1"/>
          </p:cNvSpPr>
          <p:nvPr/>
        </p:nvSpPr>
        <p:spPr>
          <a:xfrm>
            <a:off x="666750" y="7086600"/>
            <a:ext cx="13525500" cy="914400"/>
          </a:xfrm>
          <a:prstGeom prst="rect">
            <a:avLst/>
          </a:prstGeom>
          <a:noFill/>
          <a:ln w="0">
            <a:noFill/>
          </a:ln>
        </p:spPr>
        <p:txBody>
          <a:bodyPr>
            <a:noAutofit/>
          </a:bodyPr>
          <a:lstStyle/>
          <a:p>
            <a:pPr>
              <a:defRPr sz="1875" b="0">
                <a:solidFill>
                  <a:srgbClr val="F6F3ED"/>
                </a:solidFill>
                <a:latin typeface="Aptos"/>
                <a:ea typeface="Aptos"/>
                <a:cs typeface="Aptos"/>
              </a:defRPr>
            </a:pPr>
            <a:r>
              <a:rPr sz="1875" b="0">
                <a:solidFill>
                  <a:srgbClr val="F6F3ED"/>
                </a:solidFill>
                <a:latin typeface="Aptos"/>
                <a:ea typeface="Aptos"/>
                <a:cs typeface="Aptos"/>
              </a:rPr>
              <a:t>Temps prévu : 2 h avec finalisation, échanges et restitutions. Aucun résultat fictif ne doit devenir une mesure annoncée.</a:t>
            </a:r>
          </a:p>
        </p:txBody>
      </p:sp>
      <p:sp>
        <p:nvSpPr>
          <p:cNvPr id="10" name="Rectangle 9">
            <a:extLst>
              <a:ext uri="{FF2B5EF4-FFF2-40B4-BE49-F238E27FC236}">
                <a16:creationId xmlns:a16="http://schemas.microsoft.com/office/drawing/2014/main" id="{4DF29A89-12DF-4630-87E1-601160D0C4C6}"/>
              </a:ext>
            </a:extLst>
          </p:cNvPr>
          <p:cNvSpPr>
            <a:spLocks noGrp="1"/>
          </p:cNvSpPr>
          <p:nvPr/>
        </p:nvSpPr>
        <p:spPr>
          <a:xfrm>
            <a:off x="666750" y="8172450"/>
            <a:ext cx="100012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SUP DE VINCI   /   M2   /   2026–2027</a:t>
            </a:r>
          </a:p>
        </p:txBody>
      </p:sp>
      <p:sp>
        <p:nvSpPr>
          <p:cNvPr id="11" name="Rectangle 10">
            <a:extLst>
              <a:ext uri="{FF2B5EF4-FFF2-40B4-BE49-F238E27FC236}">
                <a16:creationId xmlns:a16="http://schemas.microsoft.com/office/drawing/2014/main" id="{789FACF8-4C91-45EF-9830-5E513A37BA50}"/>
              </a:ext>
            </a:extLst>
          </p:cNvPr>
          <p:cNvSpPr>
            <a:spLocks noGrp="1"/>
          </p:cNvSpPr>
          <p:nvPr/>
        </p:nvSpPr>
        <p:spPr>
          <a:xfrm>
            <a:off x="13335000" y="8172450"/>
            <a:ext cx="1428750" cy="247650"/>
          </a:xfrm>
          <a:prstGeom prst="rect">
            <a:avLst/>
          </a:prstGeom>
          <a:noFill/>
          <a:ln w="0">
            <a:noFill/>
          </a:ln>
        </p:spPr>
        <p:txBody>
          <a:bodyPr>
            <a:noAutofit/>
          </a:bodyPr>
          <a:lstStyle/>
          <a:p>
            <a:pPr>
              <a:defRPr sz="1275" b="0">
                <a:solidFill>
                  <a:srgbClr val="ADCCD4"/>
                </a:solidFill>
                <a:latin typeface="Aptos"/>
                <a:ea typeface="Aptos"/>
                <a:cs typeface="Aptos"/>
              </a:defRPr>
            </a:pPr>
            <a:r>
              <a:rPr sz="1275" b="0">
                <a:solidFill>
                  <a:srgbClr val="ADCCD4"/>
                </a:solidFill>
                <a:latin typeface="Aptos"/>
                <a:ea typeface="Aptos"/>
                <a:cs typeface="Aptos"/>
              </a:rPr>
              <a:t>32 / 34</a:t>
            </a:r>
          </a:p>
        </p:txBody>
      </p:sp>
    </p:spTree>
    <p:extLst>
      <p:ext uri="{BB962C8B-B14F-4D97-AF65-F5344CB8AC3E}">
        <p14:creationId xmlns:p14="http://schemas.microsoft.com/office/powerpoint/2010/main" val="42048172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C4A5604E-86B5-4675-AE7E-45D8053667BD}">
  <we:reference id="WA200010215" version="2.0.0.1" store="en-US" storeType="omex"/>
  <we:alternateReferences>
    <we:reference id="WA200010215" version="2.0.0.1" store="en-US" storeType="omex"/>
  </we:alternateReferences>
  <we:properties>
    <we:property name="bps.codex_control.document_id" value="&quot;604dfb4b-17d6-4e5e-92eb-5c8bf4e6fbc2&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37</TotalTime>
  <Words>9431</Words>
  <Application>Microsoft Office PowerPoint</Application>
  <DocSecurity>0</DocSecurity>
  <PresentationFormat>Personnalisé</PresentationFormat>
  <Paragraphs>686</Paragraphs>
  <Slides>32</Slides>
  <Notes>32</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32</vt:i4>
      </vt:variant>
    </vt:vector>
  </HeadingPairs>
  <TitlesOfParts>
    <vt:vector size="37" baseType="lpstr">
      <vt:lpstr>Aptos</vt:lpstr>
      <vt:lpstr>Arial</vt:lpstr>
      <vt:lpstr>Calibri</vt:lpstr>
      <vt:lpstr>Consolas</vt:lpstr>
      <vt:lpstr>ChatGPT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bruno dernier</cp:lastModifiedBy>
  <cp:revision>17</cp:revision>
  <dcterms:created xsi:type="dcterms:W3CDTF">2026-10-01T16:05:15Z</dcterms:created>
  <dcterms:modified xsi:type="dcterms:W3CDTF">2026-10-07T20:37:47Z</dcterms:modified>
</cp:coreProperties>
</file>
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5240000" cy="85725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527216-6045-49D3-8D15-7C0F099B6AAA}" v="3" dt="2026-10-04T18:13:54.090"/>
    <p1510:client id="{84BD7847-5B73-474E-8EBD-CC6F3FFA3369}" v="4" dt="2026-10-05T10:29:29.1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1378"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uno dernier" userId="0b849cd58950a972" providerId="LiveId" clId="{D3882F65-1598-4E5F-B3AD-5CD47B29D372}"/>
    <pc:docChg chg="modSld">
      <pc:chgData name="bruno dernier" userId="0b849cd58950a972" providerId="LiveId" clId="{D3882F65-1598-4E5F-B3AD-5CD47B29D372}" dt="2026-10-04T18:14:06.034" v="39" actId="113"/>
      <pc:docMkLst>
        <pc:docMk/>
      </pc:docMkLst>
      <pc:sldChg chg="modSp">
        <pc:chgData name="bruno dernier" userId="0b849cd58950a972" providerId="LiveId" clId="{D3882F65-1598-4E5F-B3AD-5CD47B29D372}" dt="2026-10-04T17:58:10.825" v="27"/>
        <pc:sldMkLst>
          <pc:docMk/>
          <pc:sldMk cId="476214205" sldId="256"/>
        </pc:sldMkLst>
        <pc:spChg chg="mod">
          <ac:chgData name="bruno dernier" userId="0b849cd58950a972" providerId="LiveId" clId="{D3882F65-1598-4E5F-B3AD-5CD47B29D372}" dt="2026-10-04T17:58:10.825" v="27"/>
          <ac:spMkLst>
            <pc:docMk/>
            <pc:sldMk cId="476214205" sldId="256"/>
            <ac:spMk id="5" creationId="{13ADC54B-E7F1-46BA-934E-0F6A7E22DCBD}"/>
          </ac:spMkLst>
        </pc:spChg>
      </pc:sldChg>
      <pc:sldChg chg="modSp mod">
        <pc:chgData name="bruno dernier" userId="0b849cd58950a972" providerId="LiveId" clId="{D3882F65-1598-4E5F-B3AD-5CD47B29D372}" dt="2026-10-04T17:57:43.434" v="26" actId="20577"/>
        <pc:sldMkLst>
          <pc:docMk/>
          <pc:sldMk cId="1536728329" sldId="257"/>
        </pc:sldMkLst>
        <pc:spChg chg="mod">
          <ac:chgData name="bruno dernier" userId="0b849cd58950a972" providerId="LiveId" clId="{D3882F65-1598-4E5F-B3AD-5CD47B29D372}" dt="2026-10-04T17:57:31.177" v="19" actId="20577"/>
          <ac:spMkLst>
            <pc:docMk/>
            <pc:sldMk cId="1536728329" sldId="257"/>
            <ac:spMk id="4" creationId="{566395BC-5D2F-4ED0-BE10-6C1C77B9C9BF}"/>
          </ac:spMkLst>
        </pc:spChg>
        <pc:spChg chg="mod">
          <ac:chgData name="bruno dernier" userId="0b849cd58950a972" providerId="LiveId" clId="{D3882F65-1598-4E5F-B3AD-5CD47B29D372}" dt="2026-10-04T17:57:43.434" v="26" actId="20577"/>
          <ac:spMkLst>
            <pc:docMk/>
            <pc:sldMk cId="1536728329" sldId="257"/>
            <ac:spMk id="5" creationId="{450170D7-5447-4580-A766-788056903073}"/>
          </ac:spMkLst>
        </pc:spChg>
      </pc:sldChg>
      <pc:sldChg chg="modSp mod">
        <pc:chgData name="bruno dernier" userId="0b849cd58950a972" providerId="LiveId" clId="{D3882F65-1598-4E5F-B3AD-5CD47B29D372}" dt="2026-10-04T18:08:51.844" v="32" actId="114"/>
        <pc:sldMkLst>
          <pc:docMk/>
          <pc:sldMk cId="445003619" sldId="264"/>
        </pc:sldMkLst>
        <pc:spChg chg="mod">
          <ac:chgData name="bruno dernier" userId="0b849cd58950a972" providerId="LiveId" clId="{D3882F65-1598-4E5F-B3AD-5CD47B29D372}" dt="2026-10-04T18:08:51.844" v="32" actId="114"/>
          <ac:spMkLst>
            <pc:docMk/>
            <pc:sldMk cId="445003619" sldId="264"/>
            <ac:spMk id="4" creationId="{D6D30C3E-B4DA-445D-A96C-9672BA3E8DE3}"/>
          </ac:spMkLst>
        </pc:spChg>
      </pc:sldChg>
      <pc:sldChg chg="modSp mod">
        <pc:chgData name="bruno dernier" userId="0b849cd58950a972" providerId="LiveId" clId="{D3882F65-1598-4E5F-B3AD-5CD47B29D372}" dt="2026-10-04T18:14:06.034" v="39" actId="113"/>
        <pc:sldMkLst>
          <pc:docMk/>
          <pc:sldMk cId="97927106" sldId="265"/>
        </pc:sldMkLst>
        <pc:spChg chg="mod">
          <ac:chgData name="bruno dernier" userId="0b849cd58950a972" providerId="LiveId" clId="{D3882F65-1598-4E5F-B3AD-5CD47B29D372}" dt="2026-10-04T18:14:06.034" v="39" actId="113"/>
          <ac:spMkLst>
            <pc:docMk/>
            <pc:sldMk cId="97927106" sldId="265"/>
            <ac:spMk id="4" creationId="{E1378645-44D6-4066-A99A-85AF4DA760F8}"/>
          </ac:spMkLst>
        </pc:spChg>
      </pc:sldChg>
    </pc:docChg>
  </pc:docChgLst>
  <pc:docChgLst>
    <pc:chgData name="bruno dernier" userId="0b849cd58950a972" providerId="Windows Live" clId="Web-{84BD7847-5B73-474E-8EBD-CC6F3FFA3369}"/>
    <pc:docChg chg="modSld">
      <pc:chgData name="bruno dernier" userId="0b849cd58950a972" providerId="Windows Live" clId="Web-{84BD7847-5B73-474E-8EBD-CC6F3FFA3369}" dt="2026-10-05T10:29:27.813" v="2" actId="20577"/>
      <pc:docMkLst>
        <pc:docMk/>
      </pc:docMkLst>
      <pc:sldChg chg="modSp">
        <pc:chgData name="bruno dernier" userId="0b849cd58950a972" providerId="Windows Live" clId="Web-{84BD7847-5B73-474E-8EBD-CC6F3FFA3369}" dt="2026-10-05T10:29:27.813" v="2" actId="20577"/>
        <pc:sldMkLst>
          <pc:docMk/>
          <pc:sldMk cId="1118749878" sldId="273"/>
        </pc:sldMkLst>
        <pc:spChg chg="mod">
          <ac:chgData name="bruno dernier" userId="0b849cd58950a972" providerId="Windows Live" clId="Web-{84BD7847-5B73-474E-8EBD-CC6F3FFA3369}" dt="2026-10-05T10:29:27.813" v="2" actId="20577"/>
          <ac:spMkLst>
            <pc:docMk/>
            <pc:sldMk cId="1118749878" sldId="273"/>
            <ac:spMk id="6" creationId="{2834D819-D2C1-47D4-A7F8-09F3838377B1}"/>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col"/>
        <c:grouping val="clustered"/>
        <c:varyColors val="0"/>
        <c:ser>
          <c:idx val="0"/>
          <c:order val="0"/>
          <c:tx>
            <c:v>Lignes retenues</c:v>
          </c:tx>
          <c:spPr>
            <a:solidFill>
              <a:srgbClr val="228F99"/>
            </a:solidFill>
          </c:spPr>
          <c:invertIfNegative val="1"/>
          <c:dLbls>
            <c:spPr>
              <a:noFill/>
              <a:ln>
                <a:noFill/>
              </a:ln>
              <a:effectLst/>
            </c:spPr>
            <c:txPr>
              <a:bodyPr anchorCtr="1"/>
              <a:lstStyle/>
              <a:p>
                <a:pPr>
                  <a:defRPr sz="1650" b="1">
                    <a:solidFill>
                      <a:srgbClr val="173044"/>
                    </a:solidFill>
                    <a:latin typeface="Aptos"/>
                    <a:ea typeface="Aptos"/>
                    <a:cs typeface="Apto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id unique</c:v>
                </c:pt>
                <c:pt idx="1">
                  <c:v>client courant</c:v>
                </c:pt>
                <c:pt idx="2">
                  <c:v>statut majoritaire</c:v>
                </c:pt>
              </c:strCache>
            </c:strRef>
          </c:cat>
          <c:val>
            <c:numRef>
              <c:f>'Chart Data'!$B$2:$B$4</c:f>
              <c:numCache>
                <c:formatCode>General</c:formatCode>
                <c:ptCount val="3"/>
                <c:pt idx="0">
                  <c:v>1</c:v>
                </c:pt>
                <c:pt idx="1">
                  <c:v>100</c:v>
                </c:pt>
                <c:pt idx="2">
                  <c:v>90000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826-4F7B-8991-531FCBCCB27C}"/>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173044"/>
                </a:solidFill>
                <a:latin typeface="Aptos"/>
                <a:ea typeface="Aptos"/>
                <a:cs typeface="Aptos"/>
              </a:defRPr>
            </a:pPr>
            <a:endParaRPr lang="fr-FR"/>
          </a:p>
        </c:txPr>
        <c:crossAx val="48672768"/>
        <c:crosses val="autoZero"/>
        <c:auto val="1"/>
        <c:lblAlgn val="ctr"/>
        <c:lblOffset val="100"/>
        <c:noMultiLvlLbl val="1"/>
      </c:catAx>
      <c:valAx>
        <c:axId val="48672768"/>
        <c:scaling>
          <c:orientation val="minMax"/>
          <c:min val="0"/>
        </c:scaling>
        <c:delete val="0"/>
        <c:axPos val="l"/>
        <c:majorGridlines>
          <c:spPr>
            <a:ln w="9525">
              <a:solidFill>
                <a:srgbClr val="C8B7A1"/>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500">
                <a:solidFill>
                  <a:srgbClr val="3F5B66"/>
                </a:solidFill>
                <a:latin typeface="Aptos"/>
                <a:ea typeface="Aptos"/>
                <a:cs typeface="Aptos"/>
              </a:defRPr>
            </a:pPr>
            <a:endParaRPr lang="fr-FR"/>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col"/>
        <c:grouping val="clustered"/>
        <c:varyColors val="0"/>
        <c:ser>
          <c:idx val="0"/>
          <c:order val="0"/>
          <c:tx>
            <c:v>Durée d’un lot en ms</c:v>
          </c:tx>
          <c:spPr>
            <a:solidFill>
              <a:srgbClr val="228F99"/>
            </a:solidFill>
          </c:spPr>
          <c:invertIfNegative val="1"/>
          <c:dLbls>
            <c:spPr>
              <a:noFill/>
              <a:ln>
                <a:noFill/>
              </a:ln>
              <a:effectLst/>
            </c:spPr>
            <c:txPr>
              <a:bodyPr anchorCtr="1"/>
              <a:lstStyle/>
              <a:p>
                <a:pPr>
                  <a:defRPr sz="1650" b="1">
                    <a:solidFill>
                      <a:srgbClr val="173044"/>
                    </a:solidFill>
                    <a:latin typeface="Aptos"/>
                    <a:ea typeface="Aptos"/>
                    <a:cs typeface="Apto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0 index ajouté</c:v>
                </c:pt>
                <c:pt idx="1">
                  <c:v>1 index ajouté</c:v>
                </c:pt>
                <c:pt idx="2">
                  <c:v>4 index ajoutés</c:v>
                </c:pt>
              </c:strCache>
            </c:strRef>
          </c:cat>
          <c:val>
            <c:numRef>
              <c:f>'Chart Data'!$B$2:$B$4</c:f>
              <c:numCache>
                <c:formatCode>General</c:formatCode>
                <c:ptCount val="3"/>
                <c:pt idx="0">
                  <c:v>110</c:v>
                </c:pt>
                <c:pt idx="1">
                  <c:v>145</c:v>
                </c:pt>
                <c:pt idx="2">
                  <c:v>250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EB00-4C18-89D1-C77E338143B4}"/>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173044"/>
                </a:solidFill>
                <a:latin typeface="Aptos"/>
                <a:ea typeface="Aptos"/>
                <a:cs typeface="Aptos"/>
              </a:defRPr>
            </a:pPr>
            <a:endParaRPr lang="fr-FR"/>
          </a:p>
        </c:txPr>
        <c:crossAx val="48672768"/>
        <c:crosses val="autoZero"/>
        <c:auto val="1"/>
        <c:lblAlgn val="ctr"/>
        <c:lblOffset val="100"/>
        <c:noMultiLvlLbl val="1"/>
      </c:catAx>
      <c:valAx>
        <c:axId val="48672768"/>
        <c:scaling>
          <c:orientation val="minMax"/>
          <c:min val="0"/>
        </c:scaling>
        <c:delete val="0"/>
        <c:axPos val="l"/>
        <c:majorGridlines>
          <c:spPr>
            <a:ln w="9525">
              <a:solidFill>
                <a:srgbClr val="C8B7A1"/>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500">
                <a:solidFill>
                  <a:srgbClr val="3F5B66"/>
                </a:solidFill>
                <a:latin typeface="Aptos"/>
                <a:ea typeface="Aptos"/>
                <a:cs typeface="Aptos"/>
              </a:defRPr>
            </a:pPr>
            <a:endParaRPr lang="fr-FR"/>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Descriptif DEV - RNCP 40166 - M2 - OPTIMISATION BDD - M2.pdf fourni, p. 1-2. Séquence conçue pour 35 heures.</a:t>
            </a:r>
          </a:p>
          <a:p>
            <a:r>
              <a:t>Cours de référence : Formation_NoSQL_2026. Thème et illustrations existantes réutilisés.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La journée transforme un diagnostic en intervention. L’étudiant choisit un index à partir d’une requête, explique son mécanisme, puis vérifie son bénéfice et ses coûts. Le schéma conserve ses invariants.</a:t>
            </a:r>
          </a:p>
          <a:p>
            <a:r>
              <a:t>La preuve B4C8 comprend une migration, un plan avant/après et une comparaison des lectures et des écritures. Un index inutilisé ou un gain non reproductible n’est pas présenté comme une réussite.</a:t>
            </a:r>
          </a:p>
          <a:p>
            <a:r>
              <a:t>Priorité : l’historique du client et les filtres du catalogue.</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La matinée explique les chemins d’accès et l’ordre des colonnes. L’après-midi met en œuvre les index partiels, GIN et GiST, puis prépare leur déploiement.</a:t>
            </a:r>
          </a:p>
          <a:p>
            <a:r>
              <a:t>Les supports distinguent les essais de laboratoire des décisions de production. Les variantes sont comparées séparément pour identifier ce qui produit le gain.</a:t>
            </a:r>
          </a:p>
          <a:p>
            <a:endParaRP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index conserve une organisation supplémentaire des valeurs et des références aux lignes. Il offre un chemin d’accès qui peut éviter une grande partie du parcours de table. Il utilise de l’espace et doit suivre les modifications.</a:t>
            </a:r>
          </a:p>
          <a:p>
            <a:r>
              <a:t>Créer un index constitue une hypothèse sur une charge de travail. Une table consultée par plusieurs endpoints peut exiger plusieurs chemins. Le choix dépend des filtres, des tris, des jointures et des fréquences d’accès.</a:t>
            </a:r>
          </a:p>
          <a:p>
            <a:r>
              <a:t>La liste des requêtes utiles précède la liste des index.</a:t>
            </a:r>
          </a:p>
          <a:p>
            <a:endParaRPr/>
          </a:p>
          <a:p>
            <a:r>
              <a:t>Descriptif DEV - RNCP 40166 - M2 - OPTIMISATION BDD - M2.pdf fourni, p. 1-2. Séquence conçue pour 35 heures.</a:t>
            </a:r>
          </a:p>
          <a:p>
            <a:r>
              <a:t>Sources techniques : https://www.postgresql.org/docs/18/indexes-types.html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 B-tree conserve des clés dans une structure équilibrée et ordonnée. Le moteur descend vers une plage de clés puis parcourt les entrées pertinentes. Cette organisation convient aux égalités, aux intervalles et à certains ordres de tri.</a:t>
            </a:r>
          </a:p>
          <a:p>
            <a:r>
              <a:t>L’index de client_id regroupe les commandes par client. Un index qui ajoute created_at peut rapprocher les commandes du même client selon leur date. La structure indexe des valeurs, elle ne mémorise pas une réponse complète à chaque requête.</a:t>
            </a:r>
          </a:p>
          <a:p>
            <a:r>
              <a:t>Un index aide lorsque le travail évité dépasse son propre coût.</a:t>
            </a:r>
          </a:p>
          <a:p>
            <a:endParaRPr/>
          </a:p>
          <a:p>
            <a:r>
              <a:t>Descriptif DEV - RNCP 40166 - M2 - OPTIMISATION BDD - M2.pdf fourni, p. 1-2. Séquence conçue pour 35 heures.</a:t>
            </a:r>
          </a:p>
          <a:p>
            <a:r>
              <a:t>Sources techniques : https://www.postgresql.org/docs/18/indexes-types.html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La sélectivité décrit la fraction des lignes retenues par une condition. La cardinalité d’une colonne décrit son nombre de valeurs distinctes. Une colonne à forte cardinalité n’assure pas que chaque valeur soit rare.</a:t>
            </a:r>
          </a:p>
          <a:p>
            <a:r>
              <a:t>Dans un catalogue, un statut partagé par 90 % des produits filtre peu. Un client très actif peut posséder bien plus de commandes que les autres. On teste des paramètres courants et des cas défavorables.</a:t>
            </a:r>
          </a:p>
          <a:p>
            <a:r>
              <a:t>Simulation sur 100 000 lignes, sans mesure de durée.</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Avec une égalité sur client_id et un tri sur created_at puis id, un index (client_id, created_at DESC, id DESC) correspond au chemin de l’historique. L’égalité borne le groupe et l’ordre facilite la lecture des premières entrées.</a:t>
            </a:r>
          </a:p>
          <a:p>
            <a:r>
              <a:t>L’ordre se choisit à partir des usages, pas seulement d’une règle de cardinalité. PostgreSQL peut exploiter d’autres conditions et, selon le cas, un skip scan. Un filtre sans la première colonne reste à vérifier par le plan.</a:t>
            </a:r>
          </a:p>
          <a:p>
            <a:r>
              <a:t>Le dernier id rend l’ordre déterministe lorsque plusieurs commandes ont la même date.</a:t>
            </a:r>
          </a:p>
          <a:p>
            <a:endParaRPr/>
          </a:p>
          <a:p>
            <a:r>
              <a:t>Descriptif DEV - RNCP 40166 - M2 - OPTIMISATION BDD - M2.pdf fourni, p. 1-2. Séquence conçue pour 35 heures.</a:t>
            </a:r>
          </a:p>
          <a:p>
            <a:r>
              <a:t>Sources techniques : https://www.postgresql.org/docs/18/indexes-multicolumn.html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index ordonné peut fournir des lignes dans un ordre compatible avec la requête. Avec LIMIT, cela peut éviter de trier un grand ensemble avant de ne conserver que les premières lignes.</a:t>
            </a:r>
          </a:p>
          <a:p>
            <a:r>
              <a:t>Le sens ASC/DESC, les valeurs NULL et les colonnes de départ comptent. Un tri global par total ne correspond pas à l’ordre d’un index commençant par client_id. Le plan doit montrer ce que le moteur évite réellement.</a:t>
            </a:r>
          </a:p>
          <a:p>
            <a:r>
              <a:t>Un index compatible n’impose pas son utilisation au planificateur.</a:t>
            </a:r>
          </a:p>
          <a:p>
            <a:endParaRPr/>
          </a:p>
          <a:p>
            <a:r>
              <a:t>Descriptif DEV - RNCP 40166 - M2 - OPTIMISATION BDD - M2.pdf fourni, p. 1-2. Séquence conçue pour 35 heures.</a:t>
            </a:r>
          </a:p>
          <a:p>
            <a:r>
              <a:t>Sources techniques : https://www.postgresql.org/docs/18/indexes-multicolumn.html</a:t>
            </a:r>
          </a:p>
          <a:p>
            <a:r>
              <a:t>https://www.postgresql.org/docs/18/using-explain.html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INCLUDE ajoute des colonnes qui peuvent fournir le résultat sans participer à l’ordre de recherche. L’index de l’historique peut inclure statut et total si ces valeurs constituent toute la projection.</a:t>
            </a:r>
          </a:p>
          <a:p>
            <a:r>
              <a:t>Un Index Only Scan exige aussi que les informations de visibilité permettent d’éviter certaines visites à la table. Une table très modifiée peut encore provoquer des Heap Fetches. L’index plus large coûte davantage en espace et en maintenance.</a:t>
            </a:r>
          </a:p>
          <a:p>
            <a:r>
              <a:t>L’absence d’accès à la table ne se déduit pas de la seule présence de INCLUDE.</a:t>
            </a:r>
          </a:p>
          <a:p>
            <a:endParaRPr/>
          </a:p>
          <a:p>
            <a:r>
              <a:t>Descriptif DEV - RNCP 40166 - M2 - OPTIMISATION BDD - M2.pdf fourni, p. 1-2. Séquence conçue pour 35 heures.</a:t>
            </a:r>
          </a:p>
          <a:p>
            <a:r>
              <a:t>Sources techniques : https://www.postgresql.org/docs/18/indexes-index-only-scans.html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insertion doit créer la ligne et maintenir les index concernés. Une mise à jour d’une valeur indexée peut demander de nouvelles entrées. Les modifications produisent aussi du WAL et consomment de la mémoire et du stockage.</a:t>
            </a:r>
          </a:p>
          <a:p>
            <a:r>
              <a:t>On évalue donc le bénéfice de lecture face à la fréquence d’écriture. Dix index utiles à dix requêtes rares peuvent pénaliser un flux d’import important. Une décision doit considérer la charge complète.</a:t>
            </a:r>
          </a:p>
          <a:p>
            <a:r>
              <a:t>Valeurs fictives pour illustrer le compromis, sans résultat de benchmark.</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Deux index qui partagent un préfixe peuvent se recouvrir, sans être parfaitement équivalents. Leurs tailles, l’unicité, les prédicats et les colonnes incluses peuvent justifier leur coexistence.</a:t>
            </a:r>
          </a:p>
          <a:p>
            <a:r>
              <a:t>Un compteur d’utilisation nul sur une courte fenêtre ne prouve pas qu’un index soit inutile. Il peut protéger une contrainte ou servir à une opération mensuelle. On observe une période représentative et on vérifie les usages avant suppression.</a:t>
            </a:r>
          </a:p>
          <a:p>
            <a:r>
              <a:t>La migration conserve un retour arrière et documente les requêtes concernées.</a:t>
            </a:r>
          </a:p>
          <a:p>
            <a:endParaRPr/>
          </a:p>
          <a:p>
            <a:r>
              <a:t>Descriptif DEV - RNCP 40166 - M2 - OPTIMISATION BDD - M2.pdf fourni, p. 1-2. Séquence conçue pour 35 heures.</a:t>
            </a:r>
          </a:p>
          <a:p>
            <a:r>
              <a:t>Sources techniques : https://www.postgresql.org/docs/18/monitoring-stats.html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Comparer la base initiale, un index simple sur client_id, l’index composé et sa variante couvrante. Tester plusieurs clients, dont le client 42. Réinitialiser les variantes pour éviter leur concurrence dans le plan.</a:t>
            </a:r>
          </a:p>
          <a:p>
            <a:r>
              <a:t>Conserver la requête, le plan, les buffers, la taille des index et les répétitions. Comparer aussi un lot d’insertion dans une transaction de laboratoire. Expliquer le gain ou l’absence de gain.</a:t>
            </a:r>
          </a:p>
          <a:p>
            <a:r>
              <a:t>Livrable : un tableau de décision. Temps prévu : 1 h 30.</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index partiel ne contient que les lignes qui satisfont un prédicat. Il peut être pertinent pour un sous-ensemble souvent consulté, comme les commandes à traiter, tout en limitant la taille de l’index.</a:t>
            </a:r>
          </a:p>
          <a:p>
            <a:r>
              <a:t>La requête doit permettre au planificateur de reconnaître que sa condition implique le prédicat. Certains plans génériques paramétrés ne permettent pas cette preuve. La compatibilité se teste avec le SQL réellement émis par l’application.</a:t>
            </a:r>
          </a:p>
          <a:p>
            <a:r>
              <a:t>Le statut du laboratoire comprend payee, en_attente et annulee.</a:t>
            </a:r>
          </a:p>
          <a:p>
            <a:endParaRPr/>
          </a:p>
          <a:p>
            <a:r>
              <a:t>Descriptif DEV - RNCP 40166 - M2 - OPTIMISATION BDD - M2.pdf fourni, p. 1-2. Séquence conçue pour 35 heures.</a:t>
            </a:r>
          </a:p>
          <a:p>
            <a:r>
              <a:t>Sources techniques : https://www.postgresql.org/docs/18/indexes-partial.html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prédicat stable et utile définit un périmètre clair. L’index des commandes en attente suit les changements de statut. Son intérêt dépend de leur proportion et de la fréquence du traitement.</a:t>
            </a:r>
          </a:p>
          <a:p>
            <a:r>
              <a:t>Un index fondé sur « les sept derniers jours » avec now() dans le prédicat pose notamment un problème d’immuabilité. La date relative change sans écriture des lignes. Le partitionnement ou un filtre explicite peuvent mieux répondre au besoin.</a:t>
            </a:r>
          </a:p>
          <a:p>
            <a:r>
              <a:t>Une règle temporelle dynamique ne devient pas automatiquement un prédicat d’index valide.</a:t>
            </a:r>
          </a:p>
          <a:p>
            <a:endParaRPr/>
          </a:p>
          <a:p>
            <a:r>
              <a:t>Descriptif DEV - RNCP 40166 - M2 - OPTIMISATION BDD - M2.pdf fourni, p. 1-2. Séquence conçue pour 35 heures.</a:t>
            </a:r>
          </a:p>
          <a:p>
            <a:r>
              <a:t>Sources techniques : https://www.postgresql.org/docs/18/indexes-partial.html</a:t>
            </a:r>
          </a:p>
          <a:p>
            <a:r>
              <a:t>https://www.postgresql.org/docs/18/sql-createindex.html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index d’expression conserve la valeur calculée d’une expression. Pour une recherche insensible à la casse sur l’email, on peut indexer lower(email), puis utiliser cette expression dans la requête.</a:t>
            </a:r>
          </a:p>
          <a:p>
            <a:r>
              <a:t>L’expression doit respecter les exigences du moteur, notamment l’immuabilité des fonctions utilisées. La transformation doit aussi correspondre au métier : règles de casse et de comparaison ne signifient pas toujours identité des valeurs.</a:t>
            </a:r>
          </a:p>
          <a:p>
            <a:r>
              <a:t>La variante ci-contre accélère la recherche. Une contrainte d’unicité demande une décision supplémentaire.</a:t>
            </a:r>
          </a:p>
          <a:p>
            <a:endParaRPr/>
          </a:p>
          <a:p>
            <a:r>
              <a:t>Descriptif DEV - RNCP 40166 - M2 - OPTIMISATION BDD - M2.pdf fourni, p. 1-2. Séquence conçue pour 35 heures.</a:t>
            </a:r>
          </a:p>
          <a:p>
            <a:r>
              <a:t>Sources techniques : https://www.postgresql.org/docs/18/sql-createindex.html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GIN associe des éléments à des ensembles de lignes. Il convient à des valeurs composées que l’on interroge par appartenance ou présence, par exemple un document de recherche ou certaines opérations JSONB.</a:t>
            </a:r>
          </a:p>
          <a:p>
            <a:r>
              <a:t>Dans produits.attributs, la requête peut chercher la présence d’une paire catégorie/valeur. La classe d’opérateurs détermine les conditions prises en charge. Un GIN n’accélère pas toutes les fonctions JSON ni un tri arbitraire.</a:t>
            </a:r>
          </a:p>
          <a:p>
            <a:r>
              <a:t>L’index jsonb_ops par défaut est utilisé dans cet exemple.</a:t>
            </a:r>
          </a:p>
          <a:p>
            <a:endParaRPr/>
          </a:p>
          <a:p>
            <a:r>
              <a:t>Descriptif DEV - RNCP 40166 - M2 - OPTIMISATION BDD - M2.pdf fourni, p. 1-2. Séquence conçue pour 35 heures.</a:t>
            </a:r>
          </a:p>
          <a:p>
            <a:r>
              <a:t>Sources techniques : https://www.postgresql.org/docs/18/indexes-types.html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JSONB autorise des attributs variables sans créer une colonne pour chacun. Une propriété structurante, très utilisée dans les filtres ou les contraintes, peut cependant mériter une colonne typée.</a:t>
            </a:r>
          </a:p>
          <a:p>
            <a:r>
              <a:t>Un index sur tout le document peut être plus lourd qu’un index ciblé. Les changements d’attributs exigent sa maintenance. On compare une colonne categorie, une expression et un GIN selon les requêtes, les écritures et l’évolution du modèle.</a:t>
            </a:r>
          </a:p>
          <a:p>
            <a:r>
              <a:t>Dans ShopFlow, le prix et le stock restent des colonnes typées. Les caractéristiques secondaires peuvent être JSONB.</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GiST fournit un cadre d’indexation extensible pour des opérateurs spécialisés. Selon la classe d’opérateurs, il peut servir aux intervalles, à la recherche spatiale ou à la proximité. Ce n’est pas un index réservé à la géographie.</a:t>
            </a:r>
          </a:p>
          <a:p>
            <a:r>
              <a:t>Dans une réservation, un intervalle représente une période occupée. Une condition de chevauchement répond au besoin de conflit. L’index doit prendre en charge l’opérateur employé.</a:t>
            </a:r>
          </a:p>
          <a:p>
            <a:r>
              <a:t>L’exemple indépendant du fil rouge utilise le type tstzrange natif.</a:t>
            </a:r>
          </a:p>
          <a:p>
            <a:endParaRPr/>
          </a:p>
          <a:p>
            <a:r>
              <a:t>Descriptif DEV - RNCP 40166 - M2 - OPTIMISATION BDD - M2.pdf fourni, p. 1-2. Séquence conçue pour 35 heures.</a:t>
            </a:r>
          </a:p>
          <a:p>
            <a:r>
              <a:t>Sources techniques : https://www.postgresql.org/docs/18/indexes-types.html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BRIN conserve des résumés de plages de blocs. Il peut être compact et utile quand une valeur suit assez bien l’ordre physique des lignes, par exemple des événements ajoutés par date.</a:t>
            </a:r>
          </a:p>
          <a:p>
            <a:r>
              <a:t>Si les valeurs sont dispersées au hasard dans les pages, les résumés éliminent moins de plages. BRIN ne remplace pas une recherche ciblée par identifiant. La corrélation physique et le volume expliquent son intérêt.</a:t>
            </a:r>
          </a:p>
          <a:p>
            <a:r>
              <a:t>Notre jeu mélange les dates par identifiant. Il fournit un contre-exemple possible à un BRIN efficace.</a:t>
            </a:r>
          </a:p>
          <a:p>
            <a:endParaRPr/>
          </a:p>
          <a:p>
            <a:r>
              <a:t>Descriptif DEV - RNCP 40166 - M2 - OPTIMISATION BDD - M2.pdf fourni, p. 1-2. Séquence conçue pour 35 heures.</a:t>
            </a:r>
          </a:p>
          <a:p>
            <a:r>
              <a:t>Sources techniques : https://www.postgresql.org/docs/18/indexes-types.html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 type d’index découle des opérateurs et des chemins d’accès. B-tree, GIN, GiST et BRIN ne proposent pas la même organisation. Le moteur doit pouvoir associer la condition à la classe d’opérateurs.</a:t>
            </a:r>
          </a:p>
          <a:p>
            <a:r>
              <a:t>Le tableau sert de point de départ. La décision finale repose sur le plan et la charge réelle. Les index partiels et les colonnes INCLUDE sont des choix supplémentaires, pas des familles concurrentes.</a:t>
            </a:r>
          </a:p>
          <a:p>
            <a:r>
              <a:t>Un index partiel peut être un B-tree limité aux commandes en attente.</a:t>
            </a:r>
          </a:p>
          <a:p>
            <a:endParaRPr/>
          </a:p>
          <a:p>
            <a:r>
              <a:t>Descriptif DEV - RNCP 40166 - M2 - OPTIMISATION BDD - M2.pdf fourni, p. 1-2. Séquence conçue pour 35 heures.</a:t>
            </a:r>
          </a:p>
          <a:p>
            <a:r>
              <a:t>Sources techniques : https://www.postgresql.org/docs/18/indexes-types.html</a:t>
            </a:r>
          </a:p>
          <a:p>
            <a:r>
              <a:t>https://www.postgresql.org/docs/18/indexes-partial.html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clé primaire et une contrainte UNIQUE s’appuient sur un index pour identifier les doublons. Leur rôle dépasse la performance. Les retirer peut supprimer une garantie métier essentielle.</a:t>
            </a:r>
          </a:p>
          <a:p>
            <a:r>
              <a:t>PostgreSQL ne crée pas automatiquement un index sur chaque côté référençant d’une clé étrangère. Un accès à commandes.client_id ou une opération sur le client peut donc nécessiter un index supplémentaire, selon les usages.</a:t>
            </a:r>
          </a:p>
          <a:p>
            <a:r>
              <a:t>La lecture du DDL révèle les garanties déjà présentes avant toute optimisation.</a:t>
            </a:r>
          </a:p>
          <a:p>
            <a:endParaRPr/>
          </a:p>
          <a:p>
            <a:r>
              <a:t>Descriptif DEV - RNCP 40166 - M2 - OPTIMISATION BDD - M2.pdf fourni, p. 1-2. Séquence conçue pour 35 heures.</a:t>
            </a:r>
          </a:p>
          <a:p>
            <a:r>
              <a:t>Sources techniques : https://www.postgresql.org/docs/18/sql-createindex.html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table peut séparer ses colonnes fréquemment consultées de valeurs volumineuses rarement utiles. Par exemple, une fiche produit courte et une table de descriptions longues peuvent éviter de charger ces descriptions dans une liste.</a:t>
            </a:r>
          </a:p>
          <a:p>
            <a:r>
              <a:t>La décomposition verticale introduit un accès ou une jointure supplémentaire pour le détail. Elle n’est pas la création de plusieurs partitions temporelles. On justifie la séparation par les chemins d’accès et la taille des valeurs.</a:t>
            </a:r>
          </a:p>
          <a:p>
            <a:r>
              <a:t>Le maintien d’une clé commune préserve le lien entre les deux ensembles.</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valeur dérivée peut éviter un calcul fréquent, à condition de définir son actualisation. Un compteur de commandes par client demande une règle lors d’une création, d’une annulation ou d’une correction.</a:t>
            </a:r>
          </a:p>
          <a:p>
            <a:r>
              <a:t>L’application, un trigger ou un traitement asynchrone peut maintenir cette valeur. Chacun introduit un coût et un mode d’échec. Le dossier précise la source de vérité et une procédure de recalcul.</a:t>
            </a:r>
          </a:p>
          <a:p>
            <a:r>
              <a:t>Un cache et une vue matérialisée posent aussi la question de la fraîcheur des copies.</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migration progressive maintient une compatibilité temporaire entre les versions de l’application. Pour une nouvelle colonne, on peut ajouter la structure, adapter le code, remplir les anciennes lignes et renforcer ensuite les contraintes.</a:t>
            </a:r>
          </a:p>
          <a:p>
            <a:r>
              <a:t>Une opération sur une grande table peut attendre un verrou ou consommer des ressources. La migration prévoit une fenêtre, une surveillance et un retour arrière. Le SQL qui réussit sur 1 000 lignes n’est pas une preuve suffisante pour un volume de production.</a:t>
            </a:r>
          </a:p>
          <a:p>
            <a:r>
              <a:t>Les étapes et les contraintes sont documentées avec le déploiement.</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La création concurrente évite de bloquer les écritures comme une construction ordinaire, mais demande davantage de travail et présente des contraintes. Elle ne s’exécute pas dans un bloc de transaction utilisateur.</a:t>
            </a:r>
          </a:p>
          <a:p>
            <a:r>
              <a:t>Une construction interrompue peut laisser un index invalide. Le déploiement vérifie son état, les erreurs et la pression sur les ressources. Une commande concurrente n’est pas une promesse d’absence d’impact.</a:t>
            </a:r>
          </a:p>
          <a:p>
            <a:r>
              <a:t>Le laboratoire peut utiliser CREATE INDEX ordinaire. La variante concurrente relève de la procédure de déploiement.</a:t>
            </a:r>
          </a:p>
          <a:p>
            <a:endParaRPr/>
          </a:p>
          <a:p>
            <a:r>
              <a:t>Descriptif DEV - RNCP 40166 - M2 - OPTIMISATION BDD - M2.pdf fourni, p. 1-2. Séquence conçue pour 35 heures.</a:t>
            </a:r>
          </a:p>
          <a:p>
            <a:r>
              <a:t>Sources techniques : https://www.postgresql.org/docs/18/sql-createindex.html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DDL peut demander un verrou incompatible avec les opérations en cours. Une transaction oubliée peut prolonger l’attente, puis une file d’autres opérations peut s’accumuler. Le risque dépend du type d’opération.</a:t>
            </a:r>
          </a:p>
          <a:p>
            <a:r>
              <a:t>La procédure définit une limite d’attente et une possibilité d’abandon. On observe les sessions et les bloqueurs avant d’accuser la nouvelle requête. Une migration réussie conserve la disponibilité attendue.</a:t>
            </a:r>
          </a:p>
          <a:p>
            <a:r>
              <a:t>Le niveau de verrou exact se vérifie pour la commande choisie et la version utilisée.</a:t>
            </a:r>
          </a:p>
          <a:p>
            <a:endParaRPr/>
          </a:p>
          <a:p>
            <a:r>
              <a:t>Descriptif DEV - RNCP 40166 - M2 - OPTIMISATION BDD - M2.pdf fourni, p. 1-2. Séquence conçue pour 35 heures.</a:t>
            </a:r>
          </a:p>
          <a:p>
            <a:r>
              <a:t>Sources techniques : https://www.postgresql.org/docs/18/explicit-locking.html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Créer les variantes partielle et GIN dans le laboratoire. Comparer leurs requêtes avec un filtre qui correspond au prédicat et un filtre qui ne correspond pas. Observer la taille et l’usage des index.</a:t>
            </a:r>
          </a:p>
          <a:p>
            <a:r>
              <a:t>Sur la petite table produits, un Seq Scan peut rester rationnel. Expliquer ce résultat et proposer un test à plus grand volume. Pour GiST, créer deux périodes qui se chevauchent et une période disjointe.</a:t>
            </a:r>
          </a:p>
          <a:p>
            <a:r>
              <a:t>Livrable : choix d’index, opérateurs, résultats et conditions. Temps prévu : 1 h.</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L’historique donne une hypothèse d’index composé. Le traitement des commandes en attente donne une hypothèse partielle. Le catalogue flexible donne une hypothèse GIN. Chaque hypothèse répond à une requête distincte.</a:t>
            </a:r>
          </a:p>
          <a:p>
            <a:r>
              <a:t>Le choix final tient compte de la fréquence des appels, du coût des écritures, de la taille et des contraintes. On peut garder moins d’index que dans le laboratoire si les bénéfices ne compensent pas les coûts.</a:t>
            </a:r>
          </a:p>
          <a:p>
            <a:r>
              <a:t>Le dossier présente aussi les variantes rejetées et leur raison.</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plan modifié est un mécanisme observé. Une durée réduite est un effet mesuré. La démonstration relie les deux sans annoncer un pourcentage universel. Les résultats dépendent du jeu, du cache et de la charge.</a:t>
            </a:r>
          </a:p>
          <a:p>
            <a:r>
              <a:t>Si la médiane s’améliore et que le p95 se dégrade, on recherche la variabilité ou les attentes. Si les écritures ralentissent, on expose ce compromis au lieu de ne présenter que la lecture la plus favorable.</a:t>
            </a:r>
          </a:p>
          <a:p>
            <a:r>
              <a:t>Les graphiques du dossier portent leurs unités, leur protocole et la mention de leur origine.</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1. Pourquoi l’index composé commence-t-il par client_id ?</a:t>
            </a:r>
          </a:p>
          <a:p>
            <a:r>
              <a:t>2. Pourquoi INCLUDE ne garantit-il pas zéro Heap Fetches ?</a:t>
            </a:r>
          </a:p>
          <a:p>
            <a:r>
              <a:t>3. Quelle différence entre un index partiel et une partition ?</a:t>
            </a:r>
          </a:p>
          <a:p>
            <a:r>
              <a:t>4. Pourquoi un index GIN ne remplace-t-il pas tous les filtres JSON ?</a:t>
            </a:r>
          </a:p>
          <a:p>
            <a:r>
              <a:t>5. Quel coût observe-t-on sur les écritures ?</a:t>
            </a:r>
          </a:p>
          <a:p>
            <a:r>
              <a:t>6. Pourquoi un compteur d’usage nul ne suffit-il pas à supprimer un index ?</a:t>
            </a:r>
          </a:p>
          <a:p>
            <a:r>
              <a:t>Donner un exemple de requête pour chaque réponse.</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 groupe client borne l’historique avant son tri. INCLUDE fournit des valeurs, tandis que la visibilité peut encore imposer des visites à la table. Un index partiel ajoute un accès sur un sous-ensemble, une partition sépare le stockage des lignes.</a:t>
            </a:r>
          </a:p>
          <a:p>
            <a:r>
              <a:t>Les opérateurs conditionnent GIN. Les écritures maintiennent les index. Un index peut protéger une contrainte ou servir à un usage rare. Ces réponses rendent la décision de schéma vérifiable et maintenable.</a:t>
            </a:r>
          </a:p>
          <a:p>
            <a:r>
              <a:t>Les mesures du laboratoire doivent accompagner ces explications.</a:t>
            </a:r>
          </a:p>
          <a:p>
            <a:endParaRPr/>
          </a:p>
          <a:p>
            <a:r>
              <a:t>Descriptif DEV - RNCP 40166 - M2 - OPTIMISATION BDD - M2.pdf fourni, p. 1-2. Séquence conçue pour 35 heures.</a:t>
            </a:r>
          </a:p>
          <a:p>
            <a:r>
              <a:t>Sources techniques : https://www.postgresql.org/docs/18/indexes-multicolumn.html</a:t>
            </a:r>
          </a:p>
          <a:p>
            <a:r>
              <a:t>https://www.postgresql.org/docs/18/indexes-index-only-scans.html</a:t>
            </a:r>
          </a:p>
          <a:p>
            <a:r>
              <a:t>https://www.postgresql.org/docs/18/indexes-partial.html</a:t>
            </a:r>
          </a:p>
          <a:p>
            <a:r>
              <a:t>https://www.postgresql.org/docs/18/indexes-types.html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 dossier du jour comprend le besoin applicatif, le SQL initial, le DDL de migration et les plans avant/après. Il présente les mêmes résultats fonctionnels, les mesures de lecture et un coût d’écriture.</a:t>
            </a:r>
          </a:p>
          <a:p>
            <a:r>
              <a:t>La justification explique le type d’index, l’ordre des colonnes, sa taille et le déploiement. La prochaine journée étudie ce qui se passe lorsque plusieurs opérations modifient les mêmes données et lorsque le volume augmente.</a:t>
            </a:r>
          </a:p>
          <a:p>
            <a:r>
              <a:t>Sources : PostgreSQL 18, familles d’index, index composés, partiels, couverture et CREATE INDEX.</a:t>
            </a:r>
          </a:p>
          <a:p>
            <a:endParaRPr/>
          </a:p>
          <a:p>
            <a:r>
              <a:t>Descriptif DEV - RNCP 40166 - M2 - OPTIMISATION BDD - M2.pdf fourni, p. 1-2. Séquence conçue pour 35 heures.</a:t>
            </a:r>
          </a:p>
          <a:p>
            <a:r>
              <a:t>Sources techniques : https://www.postgresql.org/docs/18/indexes-types.html</a:t>
            </a:r>
          </a:p>
          <a:p>
            <a:r>
              <a:t>https://www.postgresql.org/docs/18/indexes-multicolumn.html</a:t>
            </a:r>
          </a:p>
          <a:p>
            <a:r>
              <a:t>https://www.postgresql.org/docs/18/indexes-partial.html</a:t>
            </a:r>
          </a:p>
          <a:p>
            <a:r>
              <a:t>https://www.postgresql.org/docs/18/indexes-index-only-scans.html</a:t>
            </a:r>
          </a:p>
          <a:p>
            <a:r>
              <a:t>https://www.postgresql.org/docs/18/sql-createindex.html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8424C265-1C9C-49F1-8C2F-6E16B3098CB8}"/>
              </a:ext>
            </a:extLst>
          </p:cNvPr>
          <p:cNvSpPr>
            <a:spLocks noGrp="1"/>
          </p:cNvSpPr>
          <p:nvPr/>
        </p:nvSpPr>
        <p:spPr>
          <a:xfrm>
            <a:off x="666750" y="571500"/>
            <a:ext cx="10477500" cy="381000"/>
          </a:xfrm>
          <a:prstGeom prst="rect">
            <a:avLst/>
          </a:prstGeom>
          <a:noFill/>
          <a:ln w="0">
            <a:noFill/>
          </a:ln>
        </p:spPr>
        <p:txBody>
          <a:bodyPr>
            <a:noAutofit/>
          </a:bodyPr>
          <a:lstStyle/>
          <a:p>
            <a:pPr>
              <a:defRPr sz="1875" b="1">
                <a:solidFill>
                  <a:srgbClr val="69E0E3"/>
                </a:solidFill>
                <a:latin typeface="Aptos"/>
                <a:ea typeface="Aptos"/>
                <a:cs typeface="Aptos"/>
              </a:defRPr>
            </a:pPr>
            <a:r>
              <a:rPr sz="1875" b="1">
                <a:solidFill>
                  <a:srgbClr val="69E0E3"/>
                </a:solidFill>
                <a:latin typeface="Aptos"/>
                <a:ea typeface="Aptos"/>
                <a:cs typeface="Aptos"/>
              </a:rPr>
              <a:t>OPTIMISATION BDD</a:t>
            </a:r>
          </a:p>
        </p:txBody>
      </p:sp>
      <p:sp>
        <p:nvSpPr>
          <p:cNvPr id="3" name="Rectangle 2">
            <a:extLst>
              <a:ext uri="{FF2B5EF4-FFF2-40B4-BE49-F238E27FC236}">
                <a16:creationId xmlns:a16="http://schemas.microsoft.com/office/drawing/2014/main" id="{A3D90A69-D45D-4507-A279-44E4FC6029CB}"/>
              </a:ext>
            </a:extLst>
          </p:cNvPr>
          <p:cNvSpPr>
            <a:spLocks noGrp="1"/>
          </p:cNvSpPr>
          <p:nvPr/>
        </p:nvSpPr>
        <p:spPr>
          <a:xfrm>
            <a:off x="666750" y="2266950"/>
            <a:ext cx="9144000" cy="2238375"/>
          </a:xfrm>
          <a:prstGeom prst="rect">
            <a:avLst/>
          </a:prstGeom>
          <a:noFill/>
          <a:ln w="0">
            <a:noFill/>
          </a:ln>
        </p:spPr>
        <p:txBody>
          <a:bodyPr>
            <a:noAutofit/>
          </a:bodyPr>
          <a:lstStyle/>
          <a:p>
            <a:pPr>
              <a:defRPr sz="4875" b="1">
                <a:solidFill>
                  <a:srgbClr val="FFFFFF"/>
                </a:solidFill>
                <a:latin typeface="Aptos"/>
                <a:ea typeface="Aptos"/>
                <a:cs typeface="Aptos"/>
              </a:defRPr>
            </a:pPr>
            <a:r>
              <a:rPr sz="4875" b="1">
                <a:solidFill>
                  <a:srgbClr val="FFFFFF"/>
                </a:solidFill>
                <a:latin typeface="Aptos"/>
                <a:ea typeface="Aptos"/>
                <a:cs typeface="Aptos"/>
              </a:rPr>
              <a:t>Indexer et faire évoluer le schéma</a:t>
            </a:r>
          </a:p>
        </p:txBody>
      </p:sp>
      <p:sp>
        <p:nvSpPr>
          <p:cNvPr id="4" name="Rectangle 3">
            <a:extLst>
              <a:ext uri="{FF2B5EF4-FFF2-40B4-BE49-F238E27FC236}">
                <a16:creationId xmlns:a16="http://schemas.microsoft.com/office/drawing/2014/main" id="{E5C29EF8-3D15-4D38-8DEF-BEF0F6D1274D}"/>
              </a:ext>
            </a:extLst>
          </p:cNvPr>
          <p:cNvSpPr>
            <a:spLocks noGrp="1"/>
          </p:cNvSpPr>
          <p:nvPr/>
        </p:nvSpPr>
        <p:spPr>
          <a:xfrm>
            <a:off x="666750" y="5286375"/>
            <a:ext cx="10191750" cy="933450"/>
          </a:xfrm>
          <a:prstGeom prst="rect">
            <a:avLst/>
          </a:prstGeom>
          <a:noFill/>
          <a:ln w="0">
            <a:noFill/>
          </a:ln>
        </p:spPr>
        <p:txBody>
          <a:bodyPr>
            <a:noAutofit/>
          </a:bodyPr>
          <a:lstStyle/>
          <a:p>
            <a:pPr>
              <a:defRPr sz="2325" b="0">
                <a:solidFill>
                  <a:srgbClr val="FFFFFF"/>
                </a:solidFill>
                <a:latin typeface="Aptos"/>
                <a:ea typeface="Aptos"/>
                <a:cs typeface="Aptos"/>
              </a:defRPr>
            </a:pPr>
            <a:r>
              <a:rPr sz="2325" b="0">
                <a:solidFill>
                  <a:srgbClr val="FFFFFF"/>
                </a:solidFill>
                <a:latin typeface="Aptos"/>
                <a:ea typeface="Aptos"/>
                <a:cs typeface="Aptos"/>
              </a:rPr>
              <a:t>Jour 2</a:t>
            </a:r>
          </a:p>
          <a:p>
            <a:pPr>
              <a:defRPr sz="2325" b="0">
                <a:solidFill>
                  <a:srgbClr val="FFFFFF"/>
                </a:solidFill>
                <a:latin typeface="Aptos"/>
                <a:ea typeface="Aptos"/>
                <a:cs typeface="Aptos"/>
              </a:defRPr>
            </a:pPr>
            <a:r>
              <a:rPr sz="2325" b="0">
                <a:solidFill>
                  <a:srgbClr val="FFFFFF"/>
                </a:solidFill>
                <a:latin typeface="Aptos"/>
                <a:ea typeface="Aptos"/>
                <a:cs typeface="Aptos"/>
              </a:rPr>
              <a:t>B-tree, index spécialisés et coût des écritures</a:t>
            </a:r>
          </a:p>
        </p:txBody>
      </p:sp>
      <p:sp>
        <p:nvSpPr>
          <p:cNvPr id="5" name="Rectangle 4">
            <a:extLst>
              <a:ext uri="{FF2B5EF4-FFF2-40B4-BE49-F238E27FC236}">
                <a16:creationId xmlns:a16="http://schemas.microsoft.com/office/drawing/2014/main" id="{13ADC54B-E7F1-46BA-934E-0F6A7E22DCBD}"/>
              </a:ext>
            </a:extLst>
          </p:cNvPr>
          <p:cNvSpPr>
            <a:spLocks noGrp="1"/>
          </p:cNvSpPr>
          <p:nvPr/>
        </p:nvSpPr>
        <p:spPr>
          <a:xfrm>
            <a:off x="666750" y="7048500"/>
            <a:ext cx="13335000" cy="476250"/>
          </a:xfrm>
          <a:prstGeom prst="rect">
            <a:avLst/>
          </a:prstGeom>
          <a:noFill/>
          <a:ln w="0">
            <a:noFill/>
          </a:ln>
        </p:spPr>
        <p:txBody>
          <a:bodyPr>
            <a:noAutofit/>
          </a:bodyPr>
          <a:lstStyle/>
          <a:p>
            <a:pPr>
              <a:defRPr sz="1800" b="0">
                <a:solidFill>
                  <a:srgbClr val="BFD8E0"/>
                </a:solidFill>
                <a:latin typeface="Aptos"/>
                <a:ea typeface="Aptos"/>
                <a:cs typeface="Aptos"/>
              </a:defRPr>
            </a:pPr>
            <a:r>
              <a:rPr lang="fr-FR" dirty="0">
                <a:solidFill>
                  <a:srgbClr val="BFD8E0"/>
                </a:solidFill>
                <a:latin typeface="Aptos"/>
                <a:ea typeface="Aptos"/>
                <a:cs typeface="Aptos"/>
              </a:rPr>
              <a:t>Bruno DERNIER</a:t>
            </a:r>
          </a:p>
          <a:p>
            <a:pPr>
              <a:defRPr sz="1800" b="0">
                <a:solidFill>
                  <a:srgbClr val="BFD8E0"/>
                </a:solidFill>
                <a:latin typeface="Aptos"/>
                <a:ea typeface="Aptos"/>
                <a:cs typeface="Aptos"/>
              </a:defRPr>
            </a:pPr>
            <a:r>
              <a:rPr lang="fr-FR" dirty="0">
                <a:solidFill>
                  <a:srgbClr val="BFD8E0"/>
                </a:solidFill>
                <a:latin typeface="Aptos"/>
                <a:ea typeface="Aptos"/>
                <a:cs typeface="Aptos"/>
              </a:rPr>
              <a:t>Mise à Jour : 01/10/2026</a:t>
            </a:r>
          </a:p>
        </p:txBody>
      </p:sp>
      <p:sp>
        <p:nvSpPr>
          <p:cNvPr id="6" name="Rectangle 5">
            <a:extLst>
              <a:ext uri="{FF2B5EF4-FFF2-40B4-BE49-F238E27FC236}">
                <a16:creationId xmlns:a16="http://schemas.microsoft.com/office/drawing/2014/main" id="{D6B148E1-8E7C-4E4D-B87C-4A9444ECC445}"/>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7" name="Rectangle 6">
            <a:extLst>
              <a:ext uri="{FF2B5EF4-FFF2-40B4-BE49-F238E27FC236}">
                <a16:creationId xmlns:a16="http://schemas.microsoft.com/office/drawing/2014/main" id="{59D301E5-5341-4E2E-AE97-6FF451876585}"/>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01 / 32</a:t>
            </a:r>
          </a:p>
        </p:txBody>
      </p:sp>
    </p:spTree>
    <p:extLst>
      <p:ext uri="{BB962C8B-B14F-4D97-AF65-F5344CB8AC3E}">
        <p14:creationId xmlns:p14="http://schemas.microsoft.com/office/powerpoint/2010/main" val="476214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057BDC87-2751-47C3-AB13-F5788B211C53}"/>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2   /   OPTIMISATION BDD</a:t>
            </a:r>
          </a:p>
        </p:txBody>
      </p:sp>
      <p:sp>
        <p:nvSpPr>
          <p:cNvPr id="3" name="Rectangle 2">
            <a:extLst>
              <a:ext uri="{FF2B5EF4-FFF2-40B4-BE49-F238E27FC236}">
                <a16:creationId xmlns:a16="http://schemas.microsoft.com/office/drawing/2014/main" id="{095C8E62-79F3-4D6D-AB7C-5ED950E2B1DC}"/>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Objectifs et preuve du jour</a:t>
            </a:r>
          </a:p>
        </p:txBody>
      </p:sp>
      <p:sp>
        <p:nvSpPr>
          <p:cNvPr id="4" name="Rectangle 3">
            <a:extLst>
              <a:ext uri="{FF2B5EF4-FFF2-40B4-BE49-F238E27FC236}">
                <a16:creationId xmlns:a16="http://schemas.microsoft.com/office/drawing/2014/main" id="{566395BC-5D2F-4ED0-BE10-6C1C77B9C9BF}"/>
              </a:ext>
            </a:extLst>
          </p:cNvPr>
          <p:cNvSpPr>
            <a:spLocks noGrp="1"/>
          </p:cNvSpPr>
          <p:nvPr/>
        </p:nvSpPr>
        <p:spPr>
          <a:xfrm>
            <a:off x="666750" y="2238375"/>
            <a:ext cx="13525500" cy="1790700"/>
          </a:xfrm>
          <a:prstGeom prst="rect">
            <a:avLst/>
          </a:prstGeom>
          <a:noFill/>
          <a:ln w="0">
            <a:noFill/>
          </a:ln>
        </p:spPr>
        <p:txBody>
          <a:bodyPr>
            <a:noAutofit/>
          </a:bodyPr>
          <a:lstStyle/>
          <a:p>
            <a:pPr>
              <a:defRPr sz="2550" b="0">
                <a:solidFill>
                  <a:srgbClr val="F6F3ED"/>
                </a:solidFill>
                <a:latin typeface="Aptos"/>
                <a:ea typeface="Aptos"/>
                <a:cs typeface="Aptos"/>
              </a:defRPr>
            </a:pPr>
            <a:r>
              <a:rPr sz="2550" b="0" dirty="0">
                <a:solidFill>
                  <a:srgbClr val="F6F3ED"/>
                </a:solidFill>
                <a:latin typeface="Aptos"/>
                <a:ea typeface="Aptos"/>
                <a:cs typeface="Aptos"/>
              </a:rPr>
              <a:t>La </a:t>
            </a:r>
            <a:r>
              <a:rPr sz="2550" b="0" dirty="0" err="1">
                <a:solidFill>
                  <a:srgbClr val="F6F3ED"/>
                </a:solidFill>
                <a:latin typeface="Aptos"/>
                <a:ea typeface="Aptos"/>
                <a:cs typeface="Aptos"/>
              </a:rPr>
              <a:t>journée</a:t>
            </a:r>
            <a:r>
              <a:rPr sz="2550" b="0" dirty="0">
                <a:solidFill>
                  <a:srgbClr val="F6F3ED"/>
                </a:solidFill>
                <a:latin typeface="Aptos"/>
                <a:ea typeface="Aptos"/>
                <a:cs typeface="Aptos"/>
              </a:rPr>
              <a:t> </a:t>
            </a:r>
            <a:r>
              <a:rPr sz="2550" b="0" dirty="0" err="1">
                <a:solidFill>
                  <a:srgbClr val="F6F3ED"/>
                </a:solidFill>
                <a:latin typeface="Aptos"/>
                <a:ea typeface="Aptos"/>
                <a:cs typeface="Aptos"/>
              </a:rPr>
              <a:t>transforme</a:t>
            </a:r>
            <a:r>
              <a:rPr sz="2550" b="0" dirty="0">
                <a:solidFill>
                  <a:srgbClr val="F6F3ED"/>
                </a:solidFill>
                <a:latin typeface="Aptos"/>
                <a:ea typeface="Aptos"/>
                <a:cs typeface="Aptos"/>
              </a:rPr>
              <a:t> un diagnostic </a:t>
            </a:r>
            <a:r>
              <a:rPr sz="2550" b="0" dirty="0" err="1">
                <a:solidFill>
                  <a:srgbClr val="F6F3ED"/>
                </a:solidFill>
                <a:latin typeface="Aptos"/>
                <a:ea typeface="Aptos"/>
                <a:cs typeface="Aptos"/>
              </a:rPr>
              <a:t>en</a:t>
            </a:r>
            <a:r>
              <a:rPr sz="2550" b="0" dirty="0">
                <a:solidFill>
                  <a:srgbClr val="F6F3ED"/>
                </a:solidFill>
                <a:latin typeface="Aptos"/>
                <a:ea typeface="Aptos"/>
                <a:cs typeface="Aptos"/>
              </a:rPr>
              <a:t> intervention. </a:t>
            </a:r>
            <a:r>
              <a:rPr lang="fr-FR" sz="2550" dirty="0">
                <a:solidFill>
                  <a:srgbClr val="F6F3ED"/>
                </a:solidFill>
                <a:latin typeface="Aptos"/>
                <a:ea typeface="Aptos"/>
                <a:cs typeface="Aptos"/>
              </a:rPr>
              <a:t>On </a:t>
            </a:r>
            <a:r>
              <a:rPr sz="2550" b="0" dirty="0" err="1">
                <a:solidFill>
                  <a:srgbClr val="F6F3ED"/>
                </a:solidFill>
                <a:latin typeface="Aptos"/>
                <a:ea typeface="Aptos"/>
                <a:cs typeface="Aptos"/>
              </a:rPr>
              <a:t>choisit</a:t>
            </a:r>
            <a:r>
              <a:rPr sz="2550" b="0" dirty="0">
                <a:solidFill>
                  <a:srgbClr val="F6F3ED"/>
                </a:solidFill>
                <a:latin typeface="Aptos"/>
                <a:ea typeface="Aptos"/>
                <a:cs typeface="Aptos"/>
              </a:rPr>
              <a:t> un index à </a:t>
            </a:r>
            <a:r>
              <a:rPr sz="2550" b="0" dirty="0" err="1">
                <a:solidFill>
                  <a:srgbClr val="F6F3ED"/>
                </a:solidFill>
                <a:latin typeface="Aptos"/>
                <a:ea typeface="Aptos"/>
                <a:cs typeface="Aptos"/>
              </a:rPr>
              <a:t>partir</a:t>
            </a:r>
            <a:r>
              <a:rPr sz="2550" b="0" dirty="0">
                <a:solidFill>
                  <a:srgbClr val="F6F3ED"/>
                </a:solidFill>
                <a:latin typeface="Aptos"/>
                <a:ea typeface="Aptos"/>
                <a:cs typeface="Aptos"/>
              </a:rPr>
              <a:t> </a:t>
            </a:r>
            <a:r>
              <a:rPr sz="2550" b="0" dirty="0" err="1">
                <a:solidFill>
                  <a:srgbClr val="F6F3ED"/>
                </a:solidFill>
                <a:latin typeface="Aptos"/>
                <a:ea typeface="Aptos"/>
                <a:cs typeface="Aptos"/>
              </a:rPr>
              <a:t>d’une</a:t>
            </a:r>
            <a:r>
              <a:rPr sz="2550" b="0" dirty="0">
                <a:solidFill>
                  <a:srgbClr val="F6F3ED"/>
                </a:solidFill>
                <a:latin typeface="Aptos"/>
                <a:ea typeface="Aptos"/>
                <a:cs typeface="Aptos"/>
              </a:rPr>
              <a:t> </a:t>
            </a:r>
            <a:r>
              <a:rPr sz="2550" b="0" dirty="0" err="1">
                <a:solidFill>
                  <a:srgbClr val="F6F3ED"/>
                </a:solidFill>
                <a:latin typeface="Aptos"/>
                <a:ea typeface="Aptos"/>
                <a:cs typeface="Aptos"/>
              </a:rPr>
              <a:t>requête</a:t>
            </a:r>
            <a:r>
              <a:rPr sz="2550" b="0" dirty="0">
                <a:solidFill>
                  <a:srgbClr val="F6F3ED"/>
                </a:solidFill>
                <a:latin typeface="Aptos"/>
                <a:ea typeface="Aptos"/>
                <a:cs typeface="Aptos"/>
              </a:rPr>
              <a:t>, </a:t>
            </a:r>
            <a:r>
              <a:rPr lang="fr-FR" sz="2550" b="0" dirty="0">
                <a:solidFill>
                  <a:srgbClr val="F6F3ED"/>
                </a:solidFill>
                <a:latin typeface="Aptos"/>
                <a:ea typeface="Aptos"/>
                <a:cs typeface="Aptos"/>
              </a:rPr>
              <a:t>on </a:t>
            </a:r>
            <a:r>
              <a:rPr sz="2550" b="0" dirty="0" err="1">
                <a:solidFill>
                  <a:srgbClr val="F6F3ED"/>
                </a:solidFill>
                <a:latin typeface="Aptos"/>
                <a:ea typeface="Aptos"/>
                <a:cs typeface="Aptos"/>
              </a:rPr>
              <a:t>explique</a:t>
            </a:r>
            <a:r>
              <a:rPr sz="2550" b="0" dirty="0">
                <a:solidFill>
                  <a:srgbClr val="F6F3ED"/>
                </a:solidFill>
                <a:latin typeface="Aptos"/>
                <a:ea typeface="Aptos"/>
                <a:cs typeface="Aptos"/>
              </a:rPr>
              <a:t> son </a:t>
            </a:r>
            <a:r>
              <a:rPr sz="2550" b="0" dirty="0" err="1">
                <a:solidFill>
                  <a:srgbClr val="F6F3ED"/>
                </a:solidFill>
                <a:latin typeface="Aptos"/>
                <a:ea typeface="Aptos"/>
                <a:cs typeface="Aptos"/>
              </a:rPr>
              <a:t>mécanisme</a:t>
            </a:r>
            <a:r>
              <a:rPr sz="2550" b="0" dirty="0">
                <a:solidFill>
                  <a:srgbClr val="F6F3ED"/>
                </a:solidFill>
                <a:latin typeface="Aptos"/>
                <a:ea typeface="Aptos"/>
                <a:cs typeface="Aptos"/>
              </a:rPr>
              <a:t>, </a:t>
            </a:r>
            <a:r>
              <a:rPr sz="2550" b="0" dirty="0" err="1">
                <a:solidFill>
                  <a:srgbClr val="F6F3ED"/>
                </a:solidFill>
                <a:latin typeface="Aptos"/>
                <a:ea typeface="Aptos"/>
                <a:cs typeface="Aptos"/>
              </a:rPr>
              <a:t>puis</a:t>
            </a:r>
            <a:r>
              <a:rPr sz="2550" b="0" dirty="0">
                <a:solidFill>
                  <a:srgbClr val="F6F3ED"/>
                </a:solidFill>
                <a:latin typeface="Aptos"/>
                <a:ea typeface="Aptos"/>
                <a:cs typeface="Aptos"/>
              </a:rPr>
              <a:t> </a:t>
            </a:r>
            <a:r>
              <a:rPr lang="fr-FR" sz="2550" b="0" dirty="0">
                <a:solidFill>
                  <a:srgbClr val="F6F3ED"/>
                </a:solidFill>
                <a:latin typeface="Aptos"/>
                <a:ea typeface="Aptos"/>
                <a:cs typeface="Aptos"/>
              </a:rPr>
              <a:t>on </a:t>
            </a:r>
            <a:r>
              <a:rPr sz="2550" b="0" dirty="0" err="1">
                <a:solidFill>
                  <a:srgbClr val="F6F3ED"/>
                </a:solidFill>
                <a:latin typeface="Aptos"/>
                <a:ea typeface="Aptos"/>
                <a:cs typeface="Aptos"/>
              </a:rPr>
              <a:t>vérifie</a:t>
            </a:r>
            <a:r>
              <a:rPr sz="2550" b="0" dirty="0">
                <a:solidFill>
                  <a:srgbClr val="F6F3ED"/>
                </a:solidFill>
                <a:latin typeface="Aptos"/>
                <a:ea typeface="Aptos"/>
                <a:cs typeface="Aptos"/>
              </a:rPr>
              <a:t> son </a:t>
            </a:r>
            <a:r>
              <a:rPr sz="2550" b="0" dirty="0" err="1">
                <a:solidFill>
                  <a:srgbClr val="F6F3ED"/>
                </a:solidFill>
                <a:latin typeface="Aptos"/>
                <a:ea typeface="Aptos"/>
                <a:cs typeface="Aptos"/>
              </a:rPr>
              <a:t>bénéfice</a:t>
            </a:r>
            <a:r>
              <a:rPr sz="2550" b="0" dirty="0">
                <a:solidFill>
                  <a:srgbClr val="F6F3ED"/>
                </a:solidFill>
                <a:latin typeface="Aptos"/>
                <a:ea typeface="Aptos"/>
                <a:cs typeface="Aptos"/>
              </a:rPr>
              <a:t> et </a:t>
            </a:r>
            <a:r>
              <a:rPr sz="2550" b="0" dirty="0" err="1">
                <a:solidFill>
                  <a:srgbClr val="F6F3ED"/>
                </a:solidFill>
                <a:latin typeface="Aptos"/>
                <a:ea typeface="Aptos"/>
                <a:cs typeface="Aptos"/>
              </a:rPr>
              <a:t>ses</a:t>
            </a:r>
            <a:r>
              <a:rPr sz="2550" b="0" dirty="0">
                <a:solidFill>
                  <a:srgbClr val="F6F3ED"/>
                </a:solidFill>
                <a:latin typeface="Aptos"/>
                <a:ea typeface="Aptos"/>
                <a:cs typeface="Aptos"/>
              </a:rPr>
              <a:t> </a:t>
            </a:r>
            <a:r>
              <a:rPr sz="2550" b="0" dirty="0" err="1">
                <a:solidFill>
                  <a:srgbClr val="F6F3ED"/>
                </a:solidFill>
                <a:latin typeface="Aptos"/>
                <a:ea typeface="Aptos"/>
                <a:cs typeface="Aptos"/>
              </a:rPr>
              <a:t>coûts</a:t>
            </a:r>
            <a:r>
              <a:rPr sz="2550" b="0" dirty="0">
                <a:solidFill>
                  <a:srgbClr val="F6F3ED"/>
                </a:solidFill>
                <a:latin typeface="Aptos"/>
                <a:ea typeface="Aptos"/>
                <a:cs typeface="Aptos"/>
              </a:rPr>
              <a:t>. Le </a:t>
            </a:r>
            <a:r>
              <a:rPr sz="2550" b="0" dirty="0" err="1">
                <a:solidFill>
                  <a:srgbClr val="F6F3ED"/>
                </a:solidFill>
                <a:latin typeface="Aptos"/>
                <a:ea typeface="Aptos"/>
                <a:cs typeface="Aptos"/>
              </a:rPr>
              <a:t>schéma</a:t>
            </a:r>
            <a:r>
              <a:rPr sz="2550" b="0" dirty="0">
                <a:solidFill>
                  <a:srgbClr val="F6F3ED"/>
                </a:solidFill>
                <a:latin typeface="Aptos"/>
                <a:ea typeface="Aptos"/>
                <a:cs typeface="Aptos"/>
              </a:rPr>
              <a:t> conserve </a:t>
            </a:r>
            <a:r>
              <a:rPr sz="2550" b="0" dirty="0" err="1">
                <a:solidFill>
                  <a:srgbClr val="F6F3ED"/>
                </a:solidFill>
                <a:latin typeface="Aptos"/>
                <a:ea typeface="Aptos"/>
                <a:cs typeface="Aptos"/>
              </a:rPr>
              <a:t>ses</a:t>
            </a:r>
            <a:r>
              <a:rPr sz="2550" b="0" dirty="0">
                <a:solidFill>
                  <a:srgbClr val="F6F3ED"/>
                </a:solidFill>
                <a:latin typeface="Aptos"/>
                <a:ea typeface="Aptos"/>
                <a:cs typeface="Aptos"/>
              </a:rPr>
              <a:t> invariants.</a:t>
            </a:r>
          </a:p>
        </p:txBody>
      </p:sp>
      <p:sp>
        <p:nvSpPr>
          <p:cNvPr id="5" name="Rectangle 4">
            <a:extLst>
              <a:ext uri="{FF2B5EF4-FFF2-40B4-BE49-F238E27FC236}">
                <a16:creationId xmlns:a16="http://schemas.microsoft.com/office/drawing/2014/main" id="{450170D7-5447-4580-A766-788056903073}"/>
              </a:ext>
            </a:extLst>
          </p:cNvPr>
          <p:cNvSpPr>
            <a:spLocks noGrp="1"/>
          </p:cNvSpPr>
          <p:nvPr/>
        </p:nvSpPr>
        <p:spPr>
          <a:xfrm>
            <a:off x="666750" y="4438650"/>
            <a:ext cx="10668000" cy="1809750"/>
          </a:xfrm>
          <a:prstGeom prst="rect">
            <a:avLst/>
          </a:prstGeom>
          <a:noFill/>
          <a:ln w="0">
            <a:noFill/>
          </a:ln>
        </p:spPr>
        <p:txBody>
          <a:bodyPr>
            <a:noAutofit/>
          </a:bodyPr>
          <a:lstStyle/>
          <a:p>
            <a:pPr>
              <a:defRPr sz="2325" b="0">
                <a:solidFill>
                  <a:srgbClr val="F6F3ED"/>
                </a:solidFill>
                <a:latin typeface="Aptos"/>
                <a:ea typeface="Aptos"/>
                <a:cs typeface="Aptos"/>
              </a:defRPr>
            </a:pPr>
            <a:r>
              <a:rPr sz="2325" b="0" dirty="0">
                <a:solidFill>
                  <a:srgbClr val="F6F3ED"/>
                </a:solidFill>
                <a:latin typeface="Aptos"/>
                <a:ea typeface="Aptos"/>
                <a:cs typeface="Aptos"/>
              </a:rPr>
              <a:t>La </a:t>
            </a:r>
            <a:r>
              <a:rPr sz="2325" b="0" dirty="0" err="1">
                <a:solidFill>
                  <a:srgbClr val="F6F3ED"/>
                </a:solidFill>
                <a:latin typeface="Aptos"/>
                <a:ea typeface="Aptos"/>
                <a:cs typeface="Aptos"/>
              </a:rPr>
              <a:t>preuve</a:t>
            </a:r>
            <a:r>
              <a:rPr lang="fr-FR" sz="2325" dirty="0">
                <a:solidFill>
                  <a:srgbClr val="F6F3ED"/>
                </a:solidFill>
                <a:latin typeface="Aptos"/>
                <a:ea typeface="Aptos"/>
                <a:cs typeface="Aptos"/>
              </a:rPr>
              <a:t> </a:t>
            </a:r>
            <a:r>
              <a:rPr sz="2325" b="0" dirty="0" err="1">
                <a:solidFill>
                  <a:srgbClr val="F6F3ED"/>
                </a:solidFill>
                <a:latin typeface="Aptos"/>
                <a:ea typeface="Aptos"/>
                <a:cs typeface="Aptos"/>
              </a:rPr>
              <a:t>comprend</a:t>
            </a:r>
            <a:r>
              <a:rPr sz="2325" b="0" dirty="0">
                <a:solidFill>
                  <a:srgbClr val="F6F3ED"/>
                </a:solidFill>
                <a:latin typeface="Aptos"/>
                <a:ea typeface="Aptos"/>
                <a:cs typeface="Aptos"/>
              </a:rPr>
              <a:t> </a:t>
            </a:r>
            <a:r>
              <a:rPr sz="2325" b="0" dirty="0" err="1">
                <a:solidFill>
                  <a:srgbClr val="F6F3ED"/>
                </a:solidFill>
                <a:latin typeface="Aptos"/>
                <a:ea typeface="Aptos"/>
                <a:cs typeface="Aptos"/>
              </a:rPr>
              <a:t>une</a:t>
            </a:r>
            <a:r>
              <a:rPr sz="2325" b="0" dirty="0">
                <a:solidFill>
                  <a:srgbClr val="F6F3ED"/>
                </a:solidFill>
                <a:latin typeface="Aptos"/>
                <a:ea typeface="Aptos"/>
                <a:cs typeface="Aptos"/>
              </a:rPr>
              <a:t> migration, un plan avant/après et </a:t>
            </a:r>
            <a:r>
              <a:rPr sz="2325" b="0" dirty="0" err="1">
                <a:solidFill>
                  <a:srgbClr val="F6F3ED"/>
                </a:solidFill>
                <a:latin typeface="Aptos"/>
                <a:ea typeface="Aptos"/>
                <a:cs typeface="Aptos"/>
              </a:rPr>
              <a:t>une</a:t>
            </a:r>
            <a:r>
              <a:rPr sz="2325" b="0" dirty="0">
                <a:solidFill>
                  <a:srgbClr val="F6F3ED"/>
                </a:solidFill>
                <a:latin typeface="Aptos"/>
                <a:ea typeface="Aptos"/>
                <a:cs typeface="Aptos"/>
              </a:rPr>
              <a:t> </a:t>
            </a:r>
            <a:r>
              <a:rPr sz="2325" b="0" dirty="0" err="1">
                <a:solidFill>
                  <a:srgbClr val="F6F3ED"/>
                </a:solidFill>
                <a:latin typeface="Aptos"/>
                <a:ea typeface="Aptos"/>
                <a:cs typeface="Aptos"/>
              </a:rPr>
              <a:t>comparaison</a:t>
            </a:r>
            <a:r>
              <a:rPr sz="2325" b="0" dirty="0">
                <a:solidFill>
                  <a:srgbClr val="F6F3ED"/>
                </a:solidFill>
                <a:latin typeface="Aptos"/>
                <a:ea typeface="Aptos"/>
                <a:cs typeface="Aptos"/>
              </a:rPr>
              <a:t> des lectures et des </a:t>
            </a:r>
            <a:r>
              <a:rPr sz="2325" b="0" dirty="0" err="1">
                <a:solidFill>
                  <a:srgbClr val="F6F3ED"/>
                </a:solidFill>
                <a:latin typeface="Aptos"/>
                <a:ea typeface="Aptos"/>
                <a:cs typeface="Aptos"/>
              </a:rPr>
              <a:t>écritures</a:t>
            </a:r>
            <a:r>
              <a:rPr sz="2325" b="0" dirty="0">
                <a:solidFill>
                  <a:srgbClr val="F6F3ED"/>
                </a:solidFill>
                <a:latin typeface="Aptos"/>
                <a:ea typeface="Aptos"/>
                <a:cs typeface="Aptos"/>
              </a:rPr>
              <a:t>. Un index </a:t>
            </a:r>
            <a:r>
              <a:rPr sz="2325" b="0" dirty="0" err="1">
                <a:solidFill>
                  <a:srgbClr val="F6F3ED"/>
                </a:solidFill>
                <a:latin typeface="Aptos"/>
                <a:ea typeface="Aptos"/>
                <a:cs typeface="Aptos"/>
              </a:rPr>
              <a:t>inutilisé</a:t>
            </a:r>
            <a:r>
              <a:rPr sz="2325" b="0" dirty="0">
                <a:solidFill>
                  <a:srgbClr val="F6F3ED"/>
                </a:solidFill>
                <a:latin typeface="Aptos"/>
                <a:ea typeface="Aptos"/>
                <a:cs typeface="Aptos"/>
              </a:rPr>
              <a:t> </a:t>
            </a:r>
            <a:r>
              <a:rPr sz="2325" b="0" dirty="0" err="1">
                <a:solidFill>
                  <a:srgbClr val="F6F3ED"/>
                </a:solidFill>
                <a:latin typeface="Aptos"/>
                <a:ea typeface="Aptos"/>
                <a:cs typeface="Aptos"/>
              </a:rPr>
              <a:t>ou</a:t>
            </a:r>
            <a:r>
              <a:rPr sz="2325" b="0" dirty="0">
                <a:solidFill>
                  <a:srgbClr val="F6F3ED"/>
                </a:solidFill>
                <a:latin typeface="Aptos"/>
                <a:ea typeface="Aptos"/>
                <a:cs typeface="Aptos"/>
              </a:rPr>
              <a:t> un gain non reproductible </a:t>
            </a:r>
            <a:r>
              <a:rPr sz="2325" b="0" dirty="0" err="1">
                <a:solidFill>
                  <a:srgbClr val="F6F3ED"/>
                </a:solidFill>
                <a:latin typeface="Aptos"/>
                <a:ea typeface="Aptos"/>
                <a:cs typeface="Aptos"/>
              </a:rPr>
              <a:t>n’est</a:t>
            </a:r>
            <a:r>
              <a:rPr sz="2325" b="0" dirty="0">
                <a:solidFill>
                  <a:srgbClr val="F6F3ED"/>
                </a:solidFill>
                <a:latin typeface="Aptos"/>
                <a:ea typeface="Aptos"/>
                <a:cs typeface="Aptos"/>
              </a:rPr>
              <a:t> pas </a:t>
            </a:r>
            <a:r>
              <a:rPr sz="2325" b="0" dirty="0" err="1">
                <a:solidFill>
                  <a:srgbClr val="F6F3ED"/>
                </a:solidFill>
                <a:latin typeface="Aptos"/>
                <a:ea typeface="Aptos"/>
                <a:cs typeface="Aptos"/>
              </a:rPr>
              <a:t>présenté</a:t>
            </a:r>
            <a:r>
              <a:rPr sz="2325" b="0" dirty="0">
                <a:solidFill>
                  <a:srgbClr val="F6F3ED"/>
                </a:solidFill>
                <a:latin typeface="Aptos"/>
                <a:ea typeface="Aptos"/>
                <a:cs typeface="Aptos"/>
              </a:rPr>
              <a:t> </a:t>
            </a:r>
            <a:r>
              <a:rPr sz="2325" b="0" dirty="0" err="1">
                <a:solidFill>
                  <a:srgbClr val="F6F3ED"/>
                </a:solidFill>
                <a:latin typeface="Aptos"/>
                <a:ea typeface="Aptos"/>
                <a:cs typeface="Aptos"/>
              </a:rPr>
              <a:t>comme</a:t>
            </a:r>
            <a:r>
              <a:rPr sz="2325" b="0" dirty="0">
                <a:solidFill>
                  <a:srgbClr val="F6F3ED"/>
                </a:solidFill>
                <a:latin typeface="Aptos"/>
                <a:ea typeface="Aptos"/>
                <a:cs typeface="Aptos"/>
              </a:rPr>
              <a:t> </a:t>
            </a:r>
            <a:r>
              <a:rPr sz="2325" b="0" dirty="0" err="1">
                <a:solidFill>
                  <a:srgbClr val="F6F3ED"/>
                </a:solidFill>
                <a:latin typeface="Aptos"/>
                <a:ea typeface="Aptos"/>
                <a:cs typeface="Aptos"/>
              </a:rPr>
              <a:t>une</a:t>
            </a:r>
            <a:r>
              <a:rPr sz="2325" b="0" dirty="0">
                <a:solidFill>
                  <a:srgbClr val="F6F3ED"/>
                </a:solidFill>
                <a:latin typeface="Aptos"/>
                <a:ea typeface="Aptos"/>
                <a:cs typeface="Aptos"/>
              </a:rPr>
              <a:t> </a:t>
            </a:r>
            <a:r>
              <a:rPr sz="2325" b="0" dirty="0" err="1">
                <a:solidFill>
                  <a:srgbClr val="F6F3ED"/>
                </a:solidFill>
                <a:latin typeface="Aptos"/>
                <a:ea typeface="Aptos"/>
                <a:cs typeface="Aptos"/>
              </a:rPr>
              <a:t>réussite</a:t>
            </a:r>
            <a:r>
              <a:rPr sz="2325" b="0" dirty="0">
                <a:solidFill>
                  <a:srgbClr val="F6F3ED"/>
                </a:solidFill>
                <a:latin typeface="Aptos"/>
                <a:ea typeface="Aptos"/>
                <a:cs typeface="Aptos"/>
              </a:rPr>
              <a:t>.</a:t>
            </a:r>
          </a:p>
        </p:txBody>
      </p:sp>
      <p:sp>
        <p:nvSpPr>
          <p:cNvPr id="6" name="Rectangle 5">
            <a:extLst>
              <a:ext uri="{FF2B5EF4-FFF2-40B4-BE49-F238E27FC236}">
                <a16:creationId xmlns:a16="http://schemas.microsoft.com/office/drawing/2014/main" id="{2B3D151E-562B-4713-AA62-29E8E8685F66}"/>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7" name="Rectangle 6">
            <a:extLst>
              <a:ext uri="{FF2B5EF4-FFF2-40B4-BE49-F238E27FC236}">
                <a16:creationId xmlns:a16="http://schemas.microsoft.com/office/drawing/2014/main" id="{445C5D14-A809-4350-9461-973956D65BDA}"/>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Priorité : l’historique du client et les filtres du catalogue.</a:t>
            </a:r>
          </a:p>
        </p:txBody>
      </p:sp>
      <p:sp>
        <p:nvSpPr>
          <p:cNvPr id="8" name="Rectangle 7">
            <a:extLst>
              <a:ext uri="{FF2B5EF4-FFF2-40B4-BE49-F238E27FC236}">
                <a16:creationId xmlns:a16="http://schemas.microsoft.com/office/drawing/2014/main" id="{0A4F80E4-A409-4D60-8B9D-4B538A40D9E4}"/>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99896EC9-50AA-4147-AD25-D83AEE687099}"/>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02 / 32</a:t>
            </a:r>
          </a:p>
        </p:txBody>
      </p:sp>
    </p:spTree>
    <p:extLst>
      <p:ext uri="{BB962C8B-B14F-4D97-AF65-F5344CB8AC3E}">
        <p14:creationId xmlns:p14="http://schemas.microsoft.com/office/powerpoint/2010/main" val="1536728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6A658D28-C7CB-4D87-9B2C-84F5B6DC446A}"/>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46811275-04F6-4138-AF80-B52BFA0C1004}"/>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Organisation de la journée</a:t>
            </a:r>
          </a:p>
        </p:txBody>
      </p:sp>
      <p:sp>
        <p:nvSpPr>
          <p:cNvPr id="4" name="Rectangle 3">
            <a:extLst>
              <a:ext uri="{FF2B5EF4-FFF2-40B4-BE49-F238E27FC236}">
                <a16:creationId xmlns:a16="http://schemas.microsoft.com/office/drawing/2014/main" id="{30A8D628-971E-43FF-8D20-275CD633A5BE}"/>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La matinée explique les chemins d’accès et l’ordre des colonnes. L’après-midi met en œuvre les index partiels, GIN et GiST, puis prépare leur déploiement.</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Les supports distinguent les essais de laboratoire des décisions de production. Les variantes sont comparées séparément pour identifier ce qui produit le gain.</a:t>
            </a:r>
          </a:p>
        </p:txBody>
      </p:sp>
      <p:graphicFrame>
        <p:nvGraphicFramePr>
          <p:cNvPr id="12" name="Tableau 11"/>
          <p:cNvGraphicFramePr/>
          <p:nvPr/>
        </p:nvGraphicFramePr>
        <p:xfrm>
          <a:off x="7334250" y="2381250"/>
          <a:ext cx="7239000" cy="3905250"/>
        </p:xfrm>
        <a:graphic>
          <a:graphicData uri="http://schemas.openxmlformats.org/drawingml/2006/table">
            <a:tbl>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650875">
                <a:tc>
                  <a:txBody>
                    <a:bodyPr/>
                    <a:lstStyle/>
                    <a:p>
                      <a:r>
                        <a:rPr sz="1800" b="1">
                          <a:solidFill>
                            <a:srgbClr val="FFFFFF"/>
                          </a:solidFill>
                          <a:latin typeface="Aptos"/>
                          <a:ea typeface="Aptos"/>
                          <a:cs typeface="Aptos"/>
                        </a:rPr>
                        <a:t>Séquence</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Durée</a:t>
                      </a:r>
                    </a:p>
                  </a:txBody>
                  <a:tcPr marL="142875" marR="142875" marT="114300" marB="114300" anchor="ctr">
                    <a:solidFill>
                      <a:srgbClr val="173C4C"/>
                    </a:solidFill>
                  </a:tcPr>
                </a:tc>
                <a:extLst>
                  <a:ext uri="{0D108BD9-81ED-4DB2-BD59-A6C34878D82A}">
                    <a16:rowId xmlns:a16="http://schemas.microsoft.com/office/drawing/2014/main" val="10000"/>
                  </a:ext>
                </a:extLst>
              </a:tr>
              <a:tr h="650875">
                <a:tc>
                  <a:txBody>
                    <a:bodyPr/>
                    <a:lstStyle/>
                    <a:p>
                      <a:r>
                        <a:rPr sz="1800">
                          <a:solidFill>
                            <a:srgbClr val="173044"/>
                          </a:solidFill>
                          <a:latin typeface="Aptos"/>
                          <a:ea typeface="Aptos"/>
                          <a:cs typeface="Aptos"/>
                        </a:rPr>
                        <a:t>B-tree et sélectivité</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 h 15</a:t>
                      </a:r>
                    </a:p>
                  </a:txBody>
                  <a:tcPr marL="142875" marR="142875" marT="114300" marB="114300" anchor="ctr">
                    <a:solidFill>
                      <a:srgbClr val="F2DEC6"/>
                    </a:solidFill>
                  </a:tcPr>
                </a:tc>
                <a:extLst>
                  <a:ext uri="{0D108BD9-81ED-4DB2-BD59-A6C34878D82A}">
                    <a16:rowId xmlns:a16="http://schemas.microsoft.com/office/drawing/2014/main" val="10001"/>
                  </a:ext>
                </a:extLst>
              </a:tr>
              <a:tr h="650875">
                <a:tc>
                  <a:txBody>
                    <a:bodyPr/>
                    <a:lstStyle/>
                    <a:p>
                      <a:r>
                        <a:rPr sz="1800">
                          <a:solidFill>
                            <a:srgbClr val="173044"/>
                          </a:solidFill>
                          <a:latin typeface="Aptos"/>
                          <a:ea typeface="Aptos"/>
                          <a:cs typeface="Aptos"/>
                        </a:rPr>
                        <a:t>Index composés et couverture</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 h 15</a:t>
                      </a:r>
                    </a:p>
                  </a:txBody>
                  <a:tcPr marL="142875" marR="142875" marT="114300" marB="114300" anchor="ctr">
                    <a:solidFill>
                      <a:srgbClr val="F2DEC6"/>
                    </a:solidFill>
                  </a:tcPr>
                </a:tc>
                <a:extLst>
                  <a:ext uri="{0D108BD9-81ED-4DB2-BD59-A6C34878D82A}">
                    <a16:rowId xmlns:a16="http://schemas.microsoft.com/office/drawing/2014/main" val="10002"/>
                  </a:ext>
                </a:extLst>
              </a:tr>
              <a:tr h="650875">
                <a:tc>
                  <a:txBody>
                    <a:bodyPr/>
                    <a:lstStyle/>
                    <a:p>
                      <a:r>
                        <a:rPr sz="1800">
                          <a:solidFill>
                            <a:srgbClr val="173044"/>
                          </a:solidFill>
                          <a:latin typeface="Aptos"/>
                          <a:ea typeface="Aptos"/>
                          <a:cs typeface="Aptos"/>
                        </a:rPr>
                        <a:t>Atelier historique</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 h 30</a:t>
                      </a:r>
                    </a:p>
                  </a:txBody>
                  <a:tcPr marL="142875" marR="142875" marT="114300" marB="114300" anchor="ctr">
                    <a:solidFill>
                      <a:srgbClr val="F2DEC6"/>
                    </a:solidFill>
                  </a:tcPr>
                </a:tc>
                <a:extLst>
                  <a:ext uri="{0D108BD9-81ED-4DB2-BD59-A6C34878D82A}">
                    <a16:rowId xmlns:a16="http://schemas.microsoft.com/office/drawing/2014/main" val="10003"/>
                  </a:ext>
                </a:extLst>
              </a:tr>
              <a:tr h="650875">
                <a:tc>
                  <a:txBody>
                    <a:bodyPr/>
                    <a:lstStyle/>
                    <a:p>
                      <a:r>
                        <a:rPr sz="1800">
                          <a:solidFill>
                            <a:srgbClr val="173044"/>
                          </a:solidFill>
                          <a:latin typeface="Aptos"/>
                          <a:ea typeface="Aptos"/>
                          <a:cs typeface="Aptos"/>
                        </a:rPr>
                        <a:t>Index spécialisés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 h 30</a:t>
                      </a:r>
                    </a:p>
                  </a:txBody>
                  <a:tcPr marL="142875" marR="142875" marT="114300" marB="114300" anchor="ctr">
                    <a:solidFill>
                      <a:srgbClr val="F2DEC6"/>
                    </a:solidFill>
                  </a:tcPr>
                </a:tc>
                <a:extLst>
                  <a:ext uri="{0D108BD9-81ED-4DB2-BD59-A6C34878D82A}">
                    <a16:rowId xmlns:a16="http://schemas.microsoft.com/office/drawing/2014/main" val="10004"/>
                  </a:ext>
                </a:extLst>
              </a:tr>
              <a:tr h="650875">
                <a:tc>
                  <a:txBody>
                    <a:bodyPr/>
                    <a:lstStyle/>
                    <a:p>
                      <a:r>
                        <a:rPr sz="1800">
                          <a:solidFill>
                            <a:srgbClr val="173044"/>
                          </a:solidFill>
                          <a:latin typeface="Aptos"/>
                          <a:ea typeface="Aptos"/>
                          <a:cs typeface="Aptos"/>
                        </a:rPr>
                        <a:t>Migration et bilan</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 h 30</a:t>
                      </a:r>
                    </a:p>
                  </a:txBody>
                  <a:tcPr marL="142875" marR="142875" marT="114300" marB="114300" anchor="ctr">
                    <a:solidFill>
                      <a:srgbClr val="F2DEC6"/>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7141CF08-317E-444F-AECF-1AEAB6476414}"/>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7" name="Rectangle 6">
            <a:extLst>
              <a:ext uri="{FF2B5EF4-FFF2-40B4-BE49-F238E27FC236}">
                <a16:creationId xmlns:a16="http://schemas.microsoft.com/office/drawing/2014/main" id="{11E38880-6CED-4147-922D-50D8A57F3681}"/>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03 / 32</a:t>
            </a:r>
          </a:p>
        </p:txBody>
      </p:sp>
    </p:spTree>
    <p:extLst>
      <p:ext uri="{BB962C8B-B14F-4D97-AF65-F5344CB8AC3E}">
        <p14:creationId xmlns:p14="http://schemas.microsoft.com/office/powerpoint/2010/main" val="1990749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9" name="Image 18"/>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26A034DC-4BF1-4EC4-A549-14366EFEBCD2}"/>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2   /   OPTIMISATION BDD</a:t>
            </a:r>
          </a:p>
        </p:txBody>
      </p:sp>
      <p:sp>
        <p:nvSpPr>
          <p:cNvPr id="3" name="Rectangle 2">
            <a:extLst>
              <a:ext uri="{FF2B5EF4-FFF2-40B4-BE49-F238E27FC236}">
                <a16:creationId xmlns:a16="http://schemas.microsoft.com/office/drawing/2014/main" id="{46562C36-174C-4B5E-AF42-DBE28851D71B}"/>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Le rôle d’un index</a:t>
            </a:r>
          </a:p>
        </p:txBody>
      </p:sp>
      <p:sp>
        <p:nvSpPr>
          <p:cNvPr id="4" name="Rectangle 3">
            <a:extLst>
              <a:ext uri="{FF2B5EF4-FFF2-40B4-BE49-F238E27FC236}">
                <a16:creationId xmlns:a16="http://schemas.microsoft.com/office/drawing/2014/main" id="{25A52F6B-7CF1-4A0E-9EBE-55BB1B85E139}"/>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F6F3ED"/>
                </a:solidFill>
                <a:latin typeface="Aptos"/>
                <a:ea typeface="Aptos"/>
                <a:cs typeface="Aptos"/>
              </a:defRPr>
            </a:pPr>
            <a:r>
              <a:rPr sz="2025" b="0">
                <a:solidFill>
                  <a:srgbClr val="F6F3ED"/>
                </a:solidFill>
                <a:latin typeface="Aptos"/>
                <a:ea typeface="Aptos"/>
                <a:cs typeface="Aptos"/>
              </a:rPr>
              <a:t>Un index conserve une organisation supplémentaire des valeurs et des références aux lignes. Il offre un chemin d’accès qui peut éviter une grande partie du parcours de table. Il utilise de l’espace et doit suivre les modifications.</a:t>
            </a:r>
          </a:p>
          <a:p>
            <a:endParaRPr sz="2025" b="0">
              <a:solidFill>
                <a:srgbClr val="F6F3ED"/>
              </a:solidFill>
              <a:latin typeface="Aptos"/>
              <a:ea typeface="Aptos"/>
              <a:cs typeface="Aptos"/>
            </a:endParaRPr>
          </a:p>
          <a:p>
            <a:pPr>
              <a:defRPr sz="2025" b="0">
                <a:solidFill>
                  <a:srgbClr val="F6F3ED"/>
                </a:solidFill>
                <a:latin typeface="Aptos"/>
                <a:ea typeface="Aptos"/>
                <a:cs typeface="Aptos"/>
              </a:defRPr>
            </a:pPr>
            <a:r>
              <a:rPr sz="2025" b="0">
                <a:solidFill>
                  <a:srgbClr val="F6F3ED"/>
                </a:solidFill>
                <a:latin typeface="Aptos"/>
                <a:ea typeface="Aptos"/>
                <a:cs typeface="Aptos"/>
              </a:rPr>
              <a:t>Créer un index constitue une hypothèse sur une charge de travail. Une table consultée par plusieurs endpoints peut exiger plusieurs chemins. Le choix dépend des filtres, des tris, des jointures et des fréquences d’accès.</a:t>
            </a:r>
          </a:p>
        </p:txBody>
      </p:sp>
      <p:sp>
        <p:nvSpPr>
          <p:cNvPr id="5" name="Rectangle : coins arrondis 4">
            <a:extLst>
              <a:ext uri="{FF2B5EF4-FFF2-40B4-BE49-F238E27FC236}">
                <a16:creationId xmlns:a16="http://schemas.microsoft.com/office/drawing/2014/main" id="{84F36F9E-599C-4712-A1D3-AAE06F63FF71}"/>
              </a:ext>
            </a:extLst>
          </p:cNvPr>
          <p:cNvSpPr>
            <a:spLocks noGrp="1"/>
          </p:cNvSpPr>
          <p:nvPr/>
        </p:nvSpPr>
        <p:spPr>
          <a:xfrm>
            <a:off x="7524750" y="2238375"/>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Filtre</a:t>
            </a:r>
          </a:p>
          <a:p>
            <a:pPr algn="ctr">
              <a:defRPr sz="1875" b="1">
                <a:solidFill>
                  <a:srgbClr val="FFFFFF"/>
                </a:solidFill>
                <a:latin typeface="Aptos"/>
                <a:ea typeface="Aptos"/>
                <a:cs typeface="Aptos"/>
              </a:defRPr>
            </a:pPr>
            <a:r>
              <a:rPr sz="1875" b="1">
                <a:solidFill>
                  <a:srgbClr val="FFFFFF"/>
                </a:solidFill>
                <a:latin typeface="Aptos"/>
                <a:ea typeface="Aptos"/>
                <a:cs typeface="Aptos"/>
              </a:rPr>
              <a:t>client = 42</a:t>
            </a:r>
          </a:p>
        </p:txBody>
      </p:sp>
      <p:sp>
        <p:nvSpPr>
          <p:cNvPr id="6" name="Rectangle : coins arrondis 5">
            <a:extLst>
              <a:ext uri="{FF2B5EF4-FFF2-40B4-BE49-F238E27FC236}">
                <a16:creationId xmlns:a16="http://schemas.microsoft.com/office/drawing/2014/main" id="{87254842-6D87-4B29-88C5-2CE9488E35A8}"/>
              </a:ext>
            </a:extLst>
          </p:cNvPr>
          <p:cNvSpPr>
            <a:spLocks noGrp="1"/>
          </p:cNvSpPr>
          <p:nvPr/>
        </p:nvSpPr>
        <p:spPr>
          <a:xfrm>
            <a:off x="11557635" y="2238375"/>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Index</a:t>
            </a:r>
          </a:p>
          <a:p>
            <a:pPr algn="ctr">
              <a:defRPr sz="1875" b="1">
                <a:solidFill>
                  <a:srgbClr val="FFFFFF"/>
                </a:solidFill>
                <a:latin typeface="Aptos"/>
                <a:ea typeface="Aptos"/>
                <a:cs typeface="Aptos"/>
              </a:defRPr>
            </a:pPr>
            <a:r>
              <a:rPr sz="1875" b="1">
                <a:solidFill>
                  <a:srgbClr val="FFFFFF"/>
                </a:solidFill>
                <a:latin typeface="Aptos"/>
                <a:ea typeface="Aptos"/>
                <a:cs typeface="Aptos"/>
              </a:rPr>
              <a:t>valeurs ordonnées</a:t>
            </a:r>
          </a:p>
        </p:txBody>
      </p:sp>
      <p:sp>
        <p:nvSpPr>
          <p:cNvPr id="7" name="Rectangle : coins arrondis 6">
            <a:extLst>
              <a:ext uri="{FF2B5EF4-FFF2-40B4-BE49-F238E27FC236}">
                <a16:creationId xmlns:a16="http://schemas.microsoft.com/office/drawing/2014/main" id="{B3DFC6CE-AA0D-4F46-B245-7134210EE65E}"/>
              </a:ext>
            </a:extLst>
          </p:cNvPr>
          <p:cNvSpPr>
            <a:spLocks noGrp="1"/>
          </p:cNvSpPr>
          <p:nvPr/>
        </p:nvSpPr>
        <p:spPr>
          <a:xfrm>
            <a:off x="11557635" y="3924300"/>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Références</a:t>
            </a:r>
          </a:p>
          <a:p>
            <a:pPr algn="ctr">
              <a:defRPr sz="1875" b="1">
                <a:solidFill>
                  <a:srgbClr val="FFFFFF"/>
                </a:solidFill>
                <a:latin typeface="Aptos"/>
                <a:ea typeface="Aptos"/>
                <a:cs typeface="Aptos"/>
              </a:defRPr>
            </a:pPr>
            <a:r>
              <a:rPr sz="1875" b="1">
                <a:solidFill>
                  <a:srgbClr val="FFFFFF"/>
                </a:solidFill>
                <a:latin typeface="Aptos"/>
                <a:ea typeface="Aptos"/>
                <a:cs typeface="Aptos"/>
              </a:rPr>
              <a:t>aux lignes</a:t>
            </a:r>
          </a:p>
        </p:txBody>
      </p:sp>
      <p:sp>
        <p:nvSpPr>
          <p:cNvPr id="8" name="Rectangle : coins arrondis 7">
            <a:extLst>
              <a:ext uri="{FF2B5EF4-FFF2-40B4-BE49-F238E27FC236}">
                <a16:creationId xmlns:a16="http://schemas.microsoft.com/office/drawing/2014/main" id="{5B23CE59-7D9A-4B5E-9A64-950AC57DCA70}"/>
              </a:ext>
            </a:extLst>
          </p:cNvPr>
          <p:cNvSpPr>
            <a:spLocks noGrp="1"/>
          </p:cNvSpPr>
          <p:nvPr/>
        </p:nvSpPr>
        <p:spPr>
          <a:xfrm>
            <a:off x="7524750" y="3924300"/>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Table</a:t>
            </a:r>
          </a:p>
          <a:p>
            <a:pPr algn="ctr">
              <a:defRPr sz="1875" b="1">
                <a:solidFill>
                  <a:srgbClr val="FFFFFF"/>
                </a:solidFill>
                <a:latin typeface="Aptos"/>
                <a:ea typeface="Aptos"/>
                <a:cs typeface="Aptos"/>
              </a:defRPr>
            </a:pPr>
            <a:r>
              <a:rPr sz="1875" b="1">
                <a:solidFill>
                  <a:srgbClr val="FFFFFF"/>
                </a:solidFill>
                <a:latin typeface="Aptos"/>
                <a:ea typeface="Aptos"/>
                <a:cs typeface="Aptos"/>
              </a:rPr>
              <a:t>commandes</a:t>
            </a:r>
          </a:p>
        </p:txBody>
      </p:sp>
      <p:sp>
        <p:nvSpPr>
          <p:cNvPr id="9" name="Flèche : droite 8">
            <a:extLst>
              <a:ext uri="{FF2B5EF4-FFF2-40B4-BE49-F238E27FC236}">
                <a16:creationId xmlns:a16="http://schemas.microsoft.com/office/drawing/2014/main" id="{B95481F3-3C79-47B5-B1A9-12794964A500}"/>
              </a:ext>
            </a:extLst>
          </p:cNvPr>
          <p:cNvSpPr>
            <a:spLocks noGrp="1"/>
          </p:cNvSpPr>
          <p:nvPr/>
        </p:nvSpPr>
        <p:spPr>
          <a:xfrm>
            <a:off x="10502265" y="2657475"/>
            <a:ext cx="998220" cy="114300"/>
          </a:xfrm>
          <a:prstGeom prst="rightArrow">
            <a:avLst/>
          </a:prstGeom>
          <a:solidFill>
            <a:srgbClr val="69E0E3"/>
          </a:solidFill>
          <a:ln w="0">
            <a:noFill/>
          </a:ln>
        </p:spPr>
        <p:txBody>
          <a:bodyPr/>
          <a:lstStyle/>
          <a:p>
            <a:endParaRPr lang="fr-FR"/>
          </a:p>
        </p:txBody>
      </p:sp>
      <p:sp>
        <p:nvSpPr>
          <p:cNvPr id="10" name="Rectangle 9">
            <a:extLst>
              <a:ext uri="{FF2B5EF4-FFF2-40B4-BE49-F238E27FC236}">
                <a16:creationId xmlns:a16="http://schemas.microsoft.com/office/drawing/2014/main" id="{C492D47A-CDAA-44E8-AD27-6F66C2ABFC48}"/>
              </a:ext>
            </a:extLst>
          </p:cNvPr>
          <p:cNvSpPr>
            <a:spLocks noGrp="1"/>
          </p:cNvSpPr>
          <p:nvPr/>
        </p:nvSpPr>
        <p:spPr>
          <a:xfrm>
            <a:off x="10429875" y="2343150"/>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recherche</a:t>
            </a:r>
          </a:p>
        </p:txBody>
      </p:sp>
      <p:sp>
        <p:nvSpPr>
          <p:cNvPr id="11" name="Flèche : droite 10">
            <a:extLst>
              <a:ext uri="{FF2B5EF4-FFF2-40B4-BE49-F238E27FC236}">
                <a16:creationId xmlns:a16="http://schemas.microsoft.com/office/drawing/2014/main" id="{E5A8FD8B-7854-48A3-9EAF-80BA4D5FB088}"/>
              </a:ext>
            </a:extLst>
          </p:cNvPr>
          <p:cNvSpPr>
            <a:spLocks noGrp="1"/>
          </p:cNvSpPr>
          <p:nvPr/>
        </p:nvSpPr>
        <p:spPr>
          <a:xfrm rot="5400000">
            <a:off x="12708255" y="3500438"/>
            <a:ext cx="619125" cy="114300"/>
          </a:xfrm>
          <a:prstGeom prst="rightArrow">
            <a:avLst/>
          </a:prstGeom>
          <a:solidFill>
            <a:srgbClr val="69E0E3"/>
          </a:solidFill>
          <a:ln w="0">
            <a:noFill/>
          </a:ln>
        </p:spPr>
        <p:txBody>
          <a:bodyPr/>
          <a:lstStyle/>
          <a:p>
            <a:endParaRPr lang="fr-FR"/>
          </a:p>
        </p:txBody>
      </p:sp>
      <p:sp>
        <p:nvSpPr>
          <p:cNvPr id="12" name="Rectangle 11">
            <a:extLst>
              <a:ext uri="{FF2B5EF4-FFF2-40B4-BE49-F238E27FC236}">
                <a16:creationId xmlns:a16="http://schemas.microsoft.com/office/drawing/2014/main" id="{2976E59C-46CE-4F0A-B894-81698865B05C}"/>
              </a:ext>
            </a:extLst>
          </p:cNvPr>
          <p:cNvSpPr>
            <a:spLocks noGrp="1"/>
          </p:cNvSpPr>
          <p:nvPr/>
        </p:nvSpPr>
        <p:spPr>
          <a:xfrm>
            <a:off x="13132118" y="3414713"/>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localisation</a:t>
            </a:r>
          </a:p>
        </p:txBody>
      </p:sp>
      <p:sp>
        <p:nvSpPr>
          <p:cNvPr id="13" name="Flèche : droite 12">
            <a:extLst>
              <a:ext uri="{FF2B5EF4-FFF2-40B4-BE49-F238E27FC236}">
                <a16:creationId xmlns:a16="http://schemas.microsoft.com/office/drawing/2014/main" id="{C0A9BC84-A448-431D-A50B-43A5BD5C92C9}"/>
              </a:ext>
            </a:extLst>
          </p:cNvPr>
          <p:cNvSpPr>
            <a:spLocks noGrp="1"/>
          </p:cNvSpPr>
          <p:nvPr/>
        </p:nvSpPr>
        <p:spPr>
          <a:xfrm rot="10800000">
            <a:off x="10502265" y="4343400"/>
            <a:ext cx="998220" cy="114300"/>
          </a:xfrm>
          <a:prstGeom prst="rightArrow">
            <a:avLst/>
          </a:prstGeom>
          <a:solidFill>
            <a:srgbClr val="69E0E3"/>
          </a:solidFill>
          <a:ln w="0">
            <a:noFill/>
          </a:ln>
        </p:spPr>
        <p:txBody>
          <a:bodyPr/>
          <a:lstStyle/>
          <a:p>
            <a:endParaRPr lang="fr-FR"/>
          </a:p>
        </p:txBody>
      </p:sp>
      <p:sp>
        <p:nvSpPr>
          <p:cNvPr id="14" name="Rectangle 13">
            <a:extLst>
              <a:ext uri="{FF2B5EF4-FFF2-40B4-BE49-F238E27FC236}">
                <a16:creationId xmlns:a16="http://schemas.microsoft.com/office/drawing/2014/main" id="{105F922B-ED2F-4C33-97FC-6216E0677999}"/>
              </a:ext>
            </a:extLst>
          </p:cNvPr>
          <p:cNvSpPr>
            <a:spLocks noGrp="1"/>
          </p:cNvSpPr>
          <p:nvPr/>
        </p:nvSpPr>
        <p:spPr>
          <a:xfrm>
            <a:off x="10429875" y="4029075"/>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lecture</a:t>
            </a:r>
          </a:p>
        </p:txBody>
      </p:sp>
      <p:sp>
        <p:nvSpPr>
          <p:cNvPr id="15" name="Rectangle 14">
            <a:extLst>
              <a:ext uri="{FF2B5EF4-FFF2-40B4-BE49-F238E27FC236}">
                <a16:creationId xmlns:a16="http://schemas.microsoft.com/office/drawing/2014/main" id="{9C24EBD3-C88A-45F5-AD55-09E4C82D3DEC}"/>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16" name="Rectangle 15">
            <a:extLst>
              <a:ext uri="{FF2B5EF4-FFF2-40B4-BE49-F238E27FC236}">
                <a16:creationId xmlns:a16="http://schemas.microsoft.com/office/drawing/2014/main" id="{238C05C4-8591-4B85-906F-61C282FB2336}"/>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La liste des requêtes utiles précède la liste des index.</a:t>
            </a:r>
          </a:p>
        </p:txBody>
      </p:sp>
      <p:sp>
        <p:nvSpPr>
          <p:cNvPr id="17" name="Rectangle 16">
            <a:extLst>
              <a:ext uri="{FF2B5EF4-FFF2-40B4-BE49-F238E27FC236}">
                <a16:creationId xmlns:a16="http://schemas.microsoft.com/office/drawing/2014/main" id="{8BC023B6-AEA2-49E9-8CC5-ADC107125A45}"/>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8" name="Rectangle 17">
            <a:extLst>
              <a:ext uri="{FF2B5EF4-FFF2-40B4-BE49-F238E27FC236}">
                <a16:creationId xmlns:a16="http://schemas.microsoft.com/office/drawing/2014/main" id="{E407EF4E-8D61-44F1-B236-AAC4E3920F21}"/>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04 / 32</a:t>
            </a:r>
          </a:p>
        </p:txBody>
      </p:sp>
    </p:spTree>
    <p:extLst>
      <p:ext uri="{BB962C8B-B14F-4D97-AF65-F5344CB8AC3E}">
        <p14:creationId xmlns:p14="http://schemas.microsoft.com/office/powerpoint/2010/main" val="1881240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63F71681-0397-4F34-800C-AA291D08291C}"/>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C9F84B3E-4A44-4788-8F85-AAD0A22F5385}"/>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Le B-tree</a:t>
            </a:r>
          </a:p>
        </p:txBody>
      </p:sp>
      <p:sp>
        <p:nvSpPr>
          <p:cNvPr id="4" name="Rectangle 3">
            <a:extLst>
              <a:ext uri="{FF2B5EF4-FFF2-40B4-BE49-F238E27FC236}">
                <a16:creationId xmlns:a16="http://schemas.microsoft.com/office/drawing/2014/main" id="{1F614F9C-1F0A-40EC-B854-3FF4321E5277}"/>
              </a:ext>
            </a:extLst>
          </p:cNvPr>
          <p:cNvSpPr>
            <a:spLocks noGrp="1"/>
          </p:cNvSpPr>
          <p:nvPr/>
        </p:nvSpPr>
        <p:spPr>
          <a:xfrm>
            <a:off x="6667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MÉCANISME</a:t>
            </a:r>
          </a:p>
        </p:txBody>
      </p:sp>
      <p:sp>
        <p:nvSpPr>
          <p:cNvPr id="5" name="Rectangle 4">
            <a:extLst>
              <a:ext uri="{FF2B5EF4-FFF2-40B4-BE49-F238E27FC236}">
                <a16:creationId xmlns:a16="http://schemas.microsoft.com/office/drawing/2014/main" id="{CF67064B-B7BC-4A25-B4A3-B7EBE79CB98B}"/>
              </a:ext>
            </a:extLst>
          </p:cNvPr>
          <p:cNvSpPr>
            <a:spLocks noGrp="1"/>
          </p:cNvSpPr>
          <p:nvPr/>
        </p:nvSpPr>
        <p:spPr>
          <a:xfrm>
            <a:off x="666750" y="2571750"/>
            <a:ext cx="6334125"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Le B-tree conserve des clés dans une structure équilibrée et ordonnée. Le moteur descend vers une plage de clés puis parcourt les entrées pertinentes. Cette organisation convient aux égalités, aux intervalles et à certains ordres de tri.</a:t>
            </a:r>
          </a:p>
        </p:txBody>
      </p:sp>
      <p:sp>
        <p:nvSpPr>
          <p:cNvPr id="6" name="Rectangle 5">
            <a:extLst>
              <a:ext uri="{FF2B5EF4-FFF2-40B4-BE49-F238E27FC236}">
                <a16:creationId xmlns:a16="http://schemas.microsoft.com/office/drawing/2014/main" id="{652CF744-66E7-4363-BEA3-D1C4895B8B45}"/>
              </a:ext>
            </a:extLst>
          </p:cNvPr>
          <p:cNvSpPr>
            <a:spLocks noGrp="1"/>
          </p:cNvSpPr>
          <p:nvPr/>
        </p:nvSpPr>
        <p:spPr>
          <a:xfrm>
            <a:off x="80962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CONSÉQUENCE APPLICATIVE</a:t>
            </a:r>
          </a:p>
        </p:txBody>
      </p:sp>
      <p:sp>
        <p:nvSpPr>
          <p:cNvPr id="7" name="Rectangle 6">
            <a:extLst>
              <a:ext uri="{FF2B5EF4-FFF2-40B4-BE49-F238E27FC236}">
                <a16:creationId xmlns:a16="http://schemas.microsoft.com/office/drawing/2014/main" id="{EEB68114-A4C0-4729-8EC5-2A6E80FA14D4}"/>
              </a:ext>
            </a:extLst>
          </p:cNvPr>
          <p:cNvSpPr>
            <a:spLocks noGrp="1"/>
          </p:cNvSpPr>
          <p:nvPr/>
        </p:nvSpPr>
        <p:spPr>
          <a:xfrm>
            <a:off x="8096250" y="2571750"/>
            <a:ext cx="6381750"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L’index de client_id regroupe les commandes par client. Un index qui ajoute created_at peut rapprocher les commandes du même client selon leur date. La structure indexe des valeurs, elle ne mémorise pas une réponse complète à chaque requête.</a:t>
            </a:r>
          </a:p>
        </p:txBody>
      </p:sp>
      <p:sp>
        <p:nvSpPr>
          <p:cNvPr id="8" name="Rectangle 7">
            <a:extLst>
              <a:ext uri="{FF2B5EF4-FFF2-40B4-BE49-F238E27FC236}">
                <a16:creationId xmlns:a16="http://schemas.microsoft.com/office/drawing/2014/main" id="{6030A655-39F7-407C-959E-382B5F0F9470}"/>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B57EAE9B-47C9-4F6E-BFF8-272893446EC7}"/>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Un index aide lorsque le travail évité dépasse son propre coût.</a:t>
            </a:r>
          </a:p>
        </p:txBody>
      </p:sp>
      <p:sp>
        <p:nvSpPr>
          <p:cNvPr id="10" name="Rectangle 9">
            <a:extLst>
              <a:ext uri="{FF2B5EF4-FFF2-40B4-BE49-F238E27FC236}">
                <a16:creationId xmlns:a16="http://schemas.microsoft.com/office/drawing/2014/main" id="{2C496C73-A290-4F54-84A3-14F862510E72}"/>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A9C7E2F2-9E6B-48DA-B072-FE82D380E9A1}"/>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05 / 32</a:t>
            </a:r>
          </a:p>
        </p:txBody>
      </p:sp>
    </p:spTree>
    <p:extLst>
      <p:ext uri="{BB962C8B-B14F-4D97-AF65-F5344CB8AC3E}">
        <p14:creationId xmlns:p14="http://schemas.microsoft.com/office/powerpoint/2010/main" val="1208764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6AE53F26-4B35-4462-9657-5B5BE37984F2}"/>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A4C9C637-19EA-4CF8-8ED3-7F05C67B6F47}"/>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Sélectivité et distribution</a:t>
            </a:r>
          </a:p>
        </p:txBody>
      </p:sp>
      <p:sp>
        <p:nvSpPr>
          <p:cNvPr id="4" name="Rectangle 3">
            <a:extLst>
              <a:ext uri="{FF2B5EF4-FFF2-40B4-BE49-F238E27FC236}">
                <a16:creationId xmlns:a16="http://schemas.microsoft.com/office/drawing/2014/main" id="{96436D97-7D8C-49FE-9AC6-759D9686A9F0}"/>
              </a:ext>
            </a:extLst>
          </p:cNvPr>
          <p:cNvSpPr>
            <a:spLocks noGrp="1"/>
          </p:cNvSpPr>
          <p:nvPr/>
        </p:nvSpPr>
        <p:spPr>
          <a:xfrm>
            <a:off x="666750" y="2105025"/>
            <a:ext cx="5762625"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La sélectivité décrit la fraction des lignes retenues par une condition. La cardinalité d’une colonne décrit son nombre de valeurs distinctes. Une colonne à forte cardinalité n’assure pas que chaque valeur soit rare.</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Dans un catalogue, un statut partagé par 90 % des produits filtre peu. Un client très actif peut posséder bien plus de commandes que les autres. On teste des paramètres courants et des cas défavorables.</a:t>
            </a:r>
          </a:p>
        </p:txBody>
      </p:sp>
      <p:sp>
        <p:nvSpPr>
          <p:cNvPr id="5" name="Rectangle 4">
            <a:extLst>
              <a:ext uri="{FF2B5EF4-FFF2-40B4-BE49-F238E27FC236}">
                <a16:creationId xmlns:a16="http://schemas.microsoft.com/office/drawing/2014/main" id="{D680501E-9EE6-4083-B2E0-AF220281608C}"/>
              </a:ext>
            </a:extLst>
          </p:cNvPr>
          <p:cNvSpPr>
            <a:spLocks noGrp="1"/>
          </p:cNvSpPr>
          <p:nvPr/>
        </p:nvSpPr>
        <p:spPr>
          <a:xfrm>
            <a:off x="7000875" y="1943100"/>
            <a:ext cx="7429500" cy="285750"/>
          </a:xfrm>
          <a:prstGeom prst="rect">
            <a:avLst/>
          </a:prstGeom>
          <a:noFill/>
          <a:ln w="0">
            <a:noFill/>
          </a:ln>
        </p:spPr>
        <p:txBody>
          <a:bodyPr>
            <a:noAutofit/>
          </a:bodyPr>
          <a:lstStyle/>
          <a:p>
            <a:pPr>
              <a:defRPr sz="1575" b="1">
                <a:solidFill>
                  <a:srgbClr val="173044"/>
                </a:solidFill>
                <a:latin typeface="Aptos"/>
                <a:ea typeface="Aptos"/>
                <a:cs typeface="Aptos"/>
              </a:defRPr>
            </a:pPr>
            <a:r>
              <a:rPr sz="1575" b="1">
                <a:solidFill>
                  <a:srgbClr val="173044"/>
                </a:solidFill>
                <a:latin typeface="Aptos"/>
                <a:ea typeface="Aptos"/>
                <a:cs typeface="Aptos"/>
              </a:rPr>
              <a:t>Lignes retenues</a:t>
            </a:r>
          </a:p>
        </p:txBody>
      </p:sp>
      <p:graphicFrame>
        <p:nvGraphicFramePr>
          <p:cNvPr id="17" name="Chart"/>
          <p:cNvGraphicFramePr/>
          <p:nvPr/>
        </p:nvGraphicFramePr>
        <p:xfrm>
          <a:off x="6953250" y="2371725"/>
          <a:ext cx="7572375" cy="3486150"/>
        </p:xfrm>
        <a:graphic>
          <a:graphicData uri="http://schemas.openxmlformats.org/drawingml/2006/chart">
            <c:chart xmlns:c="http://schemas.openxmlformats.org/drawingml/2006/chart" xmlns:r="http://schemas.openxmlformats.org/officeDocument/2006/relationships" r:id="rId4"/>
          </a:graphicData>
        </a:graphic>
      </p:graphicFrame>
      <p:sp>
        <p:nvSpPr>
          <p:cNvPr id="7" name="Rectangle 6">
            <a:extLst>
              <a:ext uri="{FF2B5EF4-FFF2-40B4-BE49-F238E27FC236}">
                <a16:creationId xmlns:a16="http://schemas.microsoft.com/office/drawing/2014/main" id="{6BED405D-E4F6-4295-BF0E-DEB27A23EC6D}"/>
              </a:ext>
            </a:extLst>
          </p:cNvPr>
          <p:cNvSpPr>
            <a:spLocks noGrp="1"/>
          </p:cNvSpPr>
          <p:nvPr/>
        </p:nvSpPr>
        <p:spPr>
          <a:xfrm>
            <a:off x="7096125" y="6019800"/>
            <a:ext cx="7239000" cy="619125"/>
          </a:xfrm>
          <a:prstGeom prst="rect">
            <a:avLst/>
          </a:prstGeom>
          <a:noFill/>
          <a:ln w="0">
            <a:noFill/>
          </a:ln>
        </p:spPr>
        <p:txBody>
          <a:bodyPr>
            <a:noAutofit/>
          </a:bodyPr>
          <a:lstStyle/>
          <a:p>
            <a:pPr>
              <a:defRPr sz="1500" b="0">
                <a:solidFill>
                  <a:srgbClr val="3F5B66"/>
                </a:solidFill>
                <a:latin typeface="Aptos"/>
                <a:ea typeface="Aptos"/>
                <a:cs typeface="Aptos"/>
              </a:defRPr>
            </a:pPr>
            <a:r>
              <a:rPr sz="1500" b="0">
                <a:solidFill>
                  <a:srgbClr val="3F5B66"/>
                </a:solidFill>
                <a:latin typeface="Aptos"/>
                <a:ea typeface="Aptos"/>
                <a:cs typeface="Aptos"/>
              </a:rPr>
              <a:t>Comptages théoriques pour une distribution fictive.</a:t>
            </a:r>
          </a:p>
        </p:txBody>
      </p:sp>
      <p:sp>
        <p:nvSpPr>
          <p:cNvPr id="8" name="Rectangle 7">
            <a:extLst>
              <a:ext uri="{FF2B5EF4-FFF2-40B4-BE49-F238E27FC236}">
                <a16:creationId xmlns:a16="http://schemas.microsoft.com/office/drawing/2014/main" id="{7535D066-6B23-40D3-8D63-894150F0B93D}"/>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D679114E-BBA6-48A3-807C-7EEA5694CBA2}"/>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Simulation sur 100 000 lignes, sans mesure de durée.</a:t>
            </a:r>
          </a:p>
        </p:txBody>
      </p:sp>
      <p:sp>
        <p:nvSpPr>
          <p:cNvPr id="10" name="Rectangle 9">
            <a:extLst>
              <a:ext uri="{FF2B5EF4-FFF2-40B4-BE49-F238E27FC236}">
                <a16:creationId xmlns:a16="http://schemas.microsoft.com/office/drawing/2014/main" id="{AAB283AF-D161-4508-9F21-B5F70B1223B2}"/>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740F244E-9FAA-44DA-B0A6-B2921FAA1124}"/>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06 / 32</a:t>
            </a:r>
          </a:p>
        </p:txBody>
      </p:sp>
    </p:spTree>
    <p:extLst>
      <p:ext uri="{BB962C8B-B14F-4D97-AF65-F5344CB8AC3E}">
        <p14:creationId xmlns:p14="http://schemas.microsoft.com/office/powerpoint/2010/main" val="42739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8254627E-DDA0-49A8-A155-854F0B4CBA7E}"/>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354578FE-EDB6-4515-9348-863E59E21472}"/>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Ordre des colonnes d’un index composé</a:t>
            </a:r>
          </a:p>
        </p:txBody>
      </p:sp>
      <p:sp>
        <p:nvSpPr>
          <p:cNvPr id="4" name="Rectangle 3">
            <a:extLst>
              <a:ext uri="{FF2B5EF4-FFF2-40B4-BE49-F238E27FC236}">
                <a16:creationId xmlns:a16="http://schemas.microsoft.com/office/drawing/2014/main" id="{955385A4-E7C8-4C2D-B991-FE0DA9C39C0E}"/>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Avec une égalité sur client_id et un tri sur created_at puis id, un index (client_id, created_at DESC, id DESC) correspond au chemin de l’historique. L’égalité borne le groupe et l’ordre facilite la lecture des premières entrées.</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L’ordre se choisit à partir des usages, pas seulement d’une règle de cardinalité. PostgreSQL peut exploiter d’autres conditions et, selon le cas, un skip scan. Un filtre sans la première colonne reste à vérifier par le plan.</a:t>
            </a:r>
          </a:p>
        </p:txBody>
      </p:sp>
      <p:sp>
        <p:nvSpPr>
          <p:cNvPr id="5" name="Rectangle 4">
            <a:extLst>
              <a:ext uri="{FF2B5EF4-FFF2-40B4-BE49-F238E27FC236}">
                <a16:creationId xmlns:a16="http://schemas.microsoft.com/office/drawing/2014/main" id="{C0F4C7C3-AE2E-441B-8CAB-157BFAAB6825}"/>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BC0001F5-6176-4B0F-9E1D-DBB5D2AEABE5}"/>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CREATE INDEX idx_hist_client</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ON commandes (</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client_id,</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created_at DESC,</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id DESC</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a:t>
            </a:r>
          </a:p>
        </p:txBody>
      </p:sp>
      <p:sp>
        <p:nvSpPr>
          <p:cNvPr id="7" name="Rectangle 6">
            <a:extLst>
              <a:ext uri="{FF2B5EF4-FFF2-40B4-BE49-F238E27FC236}">
                <a16:creationId xmlns:a16="http://schemas.microsoft.com/office/drawing/2014/main" id="{FDE4F823-BE94-42BE-A1DE-F1B2933D187B}"/>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A525D73F-44EB-432F-908B-6AD920D8AE38}"/>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 dernier id rend l’ordre déterministe lorsque plusieurs commandes ont la même date.</a:t>
            </a:r>
          </a:p>
        </p:txBody>
      </p:sp>
      <p:sp>
        <p:nvSpPr>
          <p:cNvPr id="9" name="Rectangle 8">
            <a:extLst>
              <a:ext uri="{FF2B5EF4-FFF2-40B4-BE49-F238E27FC236}">
                <a16:creationId xmlns:a16="http://schemas.microsoft.com/office/drawing/2014/main" id="{A67716E8-AB78-43F3-A237-B1A1F78D28C8}"/>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07527BFF-5D92-4B4A-89AD-73D837D1B13E}"/>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07 / 32</a:t>
            </a:r>
          </a:p>
        </p:txBody>
      </p:sp>
    </p:spTree>
    <p:extLst>
      <p:ext uri="{BB962C8B-B14F-4D97-AF65-F5344CB8AC3E}">
        <p14:creationId xmlns:p14="http://schemas.microsoft.com/office/powerpoint/2010/main" val="1432706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782D0FE2-BAA7-4A89-B436-4289367E0465}"/>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7C035E04-DF8F-4F91-A5EA-63E408650EE4}"/>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Index et ORDER BY</a:t>
            </a:r>
          </a:p>
        </p:txBody>
      </p:sp>
      <p:sp>
        <p:nvSpPr>
          <p:cNvPr id="4" name="Rectangle 3">
            <a:extLst>
              <a:ext uri="{FF2B5EF4-FFF2-40B4-BE49-F238E27FC236}">
                <a16:creationId xmlns:a16="http://schemas.microsoft.com/office/drawing/2014/main" id="{BA7695DA-06A8-4ECE-8BB5-4381289B2079}"/>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Un index ordonné peut fournir des lignes dans un ordre compatible avec la requête. Avec LIMIT, cela peut éviter de trier un grand ensemble avant de ne conserver que les premières lignes.</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Le sens ASC/DESC, les valeurs NULL et les colonnes de départ comptent. Un tri global par total ne correspond pas à l’ordre d’un index commençant par client_id. Le plan doit montrer ce que le moteur évite réellement.</a:t>
            </a:r>
          </a:p>
        </p:txBody>
      </p:sp>
      <p:sp>
        <p:nvSpPr>
          <p:cNvPr id="5" name="Rectangle 4">
            <a:extLst>
              <a:ext uri="{FF2B5EF4-FFF2-40B4-BE49-F238E27FC236}">
                <a16:creationId xmlns:a16="http://schemas.microsoft.com/office/drawing/2014/main" id="{720224A8-3123-452C-8651-97304248E318}"/>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F7C97345-E3B3-467E-9CCE-D82B9A306CFD}"/>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SELECT id, created_at, total</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FROM commandes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WHERE client_id = 42</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ORDER BY created_at DESC, id DESC</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LIMIT 20;</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Vérifier Sort, lignes et buffers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dans le plan avant/après.</a:t>
            </a:r>
          </a:p>
        </p:txBody>
      </p:sp>
      <p:sp>
        <p:nvSpPr>
          <p:cNvPr id="7" name="Rectangle 6">
            <a:extLst>
              <a:ext uri="{FF2B5EF4-FFF2-40B4-BE49-F238E27FC236}">
                <a16:creationId xmlns:a16="http://schemas.microsoft.com/office/drawing/2014/main" id="{88DC2D35-AB53-404D-896F-59E4C3873EF4}"/>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D30758EC-9783-4F9E-A688-C83C340D876F}"/>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Un index compatible n’impose pas son utilisation au planificateur.</a:t>
            </a:r>
          </a:p>
        </p:txBody>
      </p:sp>
      <p:sp>
        <p:nvSpPr>
          <p:cNvPr id="9" name="Rectangle 8">
            <a:extLst>
              <a:ext uri="{FF2B5EF4-FFF2-40B4-BE49-F238E27FC236}">
                <a16:creationId xmlns:a16="http://schemas.microsoft.com/office/drawing/2014/main" id="{5D402A5C-9A87-4AA6-BAA8-62E1070BE40F}"/>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D4A779F6-BEFA-4D7E-8B09-425C6E6CDB46}"/>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08 / 32</a:t>
            </a:r>
          </a:p>
        </p:txBody>
      </p:sp>
    </p:spTree>
    <p:extLst>
      <p:ext uri="{BB962C8B-B14F-4D97-AF65-F5344CB8AC3E}">
        <p14:creationId xmlns:p14="http://schemas.microsoft.com/office/powerpoint/2010/main" val="2118346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56F99A8E-5F03-4EFB-9EB0-3977D497D3D7}"/>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711BCF54-583C-479A-838D-92B2FCF8B51A}"/>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Index couvrant et INCLUDE</a:t>
            </a:r>
          </a:p>
        </p:txBody>
      </p:sp>
      <p:sp>
        <p:nvSpPr>
          <p:cNvPr id="4" name="Rectangle 3">
            <a:extLst>
              <a:ext uri="{FF2B5EF4-FFF2-40B4-BE49-F238E27FC236}">
                <a16:creationId xmlns:a16="http://schemas.microsoft.com/office/drawing/2014/main" id="{D6D30C3E-B4DA-445D-A96C-9672BA3E8DE3}"/>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1" i="1" dirty="0">
                <a:solidFill>
                  <a:srgbClr val="173044"/>
                </a:solidFill>
                <a:latin typeface="Aptos"/>
                <a:ea typeface="Aptos"/>
                <a:cs typeface="Aptos"/>
              </a:rPr>
              <a:t>INCLUDE </a:t>
            </a:r>
            <a:r>
              <a:rPr sz="2025" b="0" dirty="0" err="1">
                <a:solidFill>
                  <a:srgbClr val="173044"/>
                </a:solidFill>
                <a:latin typeface="Aptos"/>
                <a:ea typeface="Aptos"/>
                <a:cs typeface="Aptos"/>
              </a:rPr>
              <a:t>ajoute</a:t>
            </a:r>
            <a:r>
              <a:rPr sz="2025" b="0" dirty="0">
                <a:solidFill>
                  <a:srgbClr val="173044"/>
                </a:solidFill>
                <a:latin typeface="Aptos"/>
                <a:ea typeface="Aptos"/>
                <a:cs typeface="Aptos"/>
              </a:rPr>
              <a:t> des </a:t>
            </a:r>
            <a:r>
              <a:rPr sz="2025" b="0" dirty="0" err="1">
                <a:solidFill>
                  <a:srgbClr val="173044"/>
                </a:solidFill>
                <a:latin typeface="Aptos"/>
                <a:ea typeface="Aptos"/>
                <a:cs typeface="Aptos"/>
              </a:rPr>
              <a:t>colonnes</a:t>
            </a:r>
            <a:r>
              <a:rPr sz="2025" b="0" dirty="0">
                <a:solidFill>
                  <a:srgbClr val="173044"/>
                </a:solidFill>
                <a:latin typeface="Aptos"/>
                <a:ea typeface="Aptos"/>
                <a:cs typeface="Aptos"/>
              </a:rPr>
              <a:t> qui </a:t>
            </a:r>
            <a:r>
              <a:rPr sz="2025" b="0" dirty="0" err="1">
                <a:solidFill>
                  <a:srgbClr val="173044"/>
                </a:solidFill>
                <a:latin typeface="Aptos"/>
                <a:ea typeface="Aptos"/>
                <a:cs typeface="Aptos"/>
              </a:rPr>
              <a:t>peuvent</a:t>
            </a:r>
            <a:r>
              <a:rPr sz="2025" b="0" dirty="0">
                <a:solidFill>
                  <a:srgbClr val="173044"/>
                </a:solidFill>
                <a:latin typeface="Aptos"/>
                <a:ea typeface="Aptos"/>
                <a:cs typeface="Aptos"/>
              </a:rPr>
              <a:t> </a:t>
            </a:r>
            <a:r>
              <a:rPr sz="2025" b="0" dirty="0" err="1">
                <a:solidFill>
                  <a:srgbClr val="173044"/>
                </a:solidFill>
                <a:latin typeface="Aptos"/>
                <a:ea typeface="Aptos"/>
                <a:cs typeface="Aptos"/>
              </a:rPr>
              <a:t>fournir</a:t>
            </a:r>
            <a:r>
              <a:rPr sz="2025" b="0" dirty="0">
                <a:solidFill>
                  <a:srgbClr val="173044"/>
                </a:solidFill>
                <a:latin typeface="Aptos"/>
                <a:ea typeface="Aptos"/>
                <a:cs typeface="Aptos"/>
              </a:rPr>
              <a:t> le </a:t>
            </a:r>
            <a:r>
              <a:rPr sz="2025" b="0" dirty="0" err="1">
                <a:solidFill>
                  <a:srgbClr val="173044"/>
                </a:solidFill>
                <a:latin typeface="Aptos"/>
                <a:ea typeface="Aptos"/>
                <a:cs typeface="Aptos"/>
              </a:rPr>
              <a:t>résultat</a:t>
            </a:r>
            <a:r>
              <a:rPr sz="2025" b="0" dirty="0">
                <a:solidFill>
                  <a:srgbClr val="173044"/>
                </a:solidFill>
                <a:latin typeface="Aptos"/>
                <a:ea typeface="Aptos"/>
                <a:cs typeface="Aptos"/>
              </a:rPr>
              <a:t> sans </a:t>
            </a:r>
            <a:r>
              <a:rPr sz="2025" b="0" dirty="0" err="1">
                <a:solidFill>
                  <a:srgbClr val="173044"/>
                </a:solidFill>
                <a:latin typeface="Aptos"/>
                <a:ea typeface="Aptos"/>
                <a:cs typeface="Aptos"/>
              </a:rPr>
              <a:t>participer</a:t>
            </a:r>
            <a:r>
              <a:rPr sz="2025" b="0" dirty="0">
                <a:solidFill>
                  <a:srgbClr val="173044"/>
                </a:solidFill>
                <a:latin typeface="Aptos"/>
                <a:ea typeface="Aptos"/>
                <a:cs typeface="Aptos"/>
              </a:rPr>
              <a:t> à </a:t>
            </a:r>
            <a:r>
              <a:rPr sz="2025" b="0" dirty="0" err="1">
                <a:solidFill>
                  <a:srgbClr val="173044"/>
                </a:solidFill>
                <a:latin typeface="Aptos"/>
                <a:ea typeface="Aptos"/>
                <a:cs typeface="Aptos"/>
              </a:rPr>
              <a:t>l’ordre</a:t>
            </a:r>
            <a:r>
              <a:rPr sz="2025" b="0" dirty="0">
                <a:solidFill>
                  <a:srgbClr val="173044"/>
                </a:solidFill>
                <a:latin typeface="Aptos"/>
                <a:ea typeface="Aptos"/>
                <a:cs typeface="Aptos"/>
              </a:rPr>
              <a:t> de recherche. </a:t>
            </a:r>
            <a:r>
              <a:rPr sz="2025" b="0" dirty="0" err="1">
                <a:solidFill>
                  <a:srgbClr val="173044"/>
                </a:solidFill>
                <a:latin typeface="Aptos"/>
                <a:ea typeface="Aptos"/>
                <a:cs typeface="Aptos"/>
              </a:rPr>
              <a:t>L’index</a:t>
            </a:r>
            <a:r>
              <a:rPr sz="2025" b="0" dirty="0">
                <a:solidFill>
                  <a:srgbClr val="173044"/>
                </a:solidFill>
                <a:latin typeface="Aptos"/>
                <a:ea typeface="Aptos"/>
                <a:cs typeface="Aptos"/>
              </a:rPr>
              <a:t> de </a:t>
            </a:r>
            <a:r>
              <a:rPr sz="2025" b="0" dirty="0" err="1">
                <a:solidFill>
                  <a:srgbClr val="173044"/>
                </a:solidFill>
                <a:latin typeface="Aptos"/>
                <a:ea typeface="Aptos"/>
                <a:cs typeface="Aptos"/>
              </a:rPr>
              <a:t>l’historique</a:t>
            </a:r>
            <a:r>
              <a:rPr sz="2025" b="0" dirty="0">
                <a:solidFill>
                  <a:srgbClr val="173044"/>
                </a:solidFill>
                <a:latin typeface="Aptos"/>
                <a:ea typeface="Aptos"/>
                <a:cs typeface="Aptos"/>
              </a:rPr>
              <a:t> </a:t>
            </a:r>
            <a:r>
              <a:rPr sz="2025" b="0" dirty="0" err="1">
                <a:solidFill>
                  <a:srgbClr val="173044"/>
                </a:solidFill>
                <a:latin typeface="Aptos"/>
                <a:ea typeface="Aptos"/>
                <a:cs typeface="Aptos"/>
              </a:rPr>
              <a:t>peut</a:t>
            </a:r>
            <a:r>
              <a:rPr sz="2025" b="0" dirty="0">
                <a:solidFill>
                  <a:srgbClr val="173044"/>
                </a:solidFill>
                <a:latin typeface="Aptos"/>
                <a:ea typeface="Aptos"/>
                <a:cs typeface="Aptos"/>
              </a:rPr>
              <a:t> </a:t>
            </a:r>
            <a:r>
              <a:rPr sz="2025" b="0" dirty="0" err="1">
                <a:solidFill>
                  <a:srgbClr val="173044"/>
                </a:solidFill>
                <a:latin typeface="Aptos"/>
                <a:ea typeface="Aptos"/>
                <a:cs typeface="Aptos"/>
              </a:rPr>
              <a:t>inclure</a:t>
            </a:r>
            <a:r>
              <a:rPr sz="2025" b="0" dirty="0">
                <a:solidFill>
                  <a:srgbClr val="173044"/>
                </a:solidFill>
                <a:latin typeface="Aptos"/>
                <a:ea typeface="Aptos"/>
                <a:cs typeface="Aptos"/>
              </a:rPr>
              <a:t> </a:t>
            </a:r>
            <a:r>
              <a:rPr sz="2025" b="0" dirty="0" err="1">
                <a:solidFill>
                  <a:srgbClr val="173044"/>
                </a:solidFill>
                <a:latin typeface="Aptos"/>
                <a:ea typeface="Aptos"/>
                <a:cs typeface="Aptos"/>
              </a:rPr>
              <a:t>statut</a:t>
            </a:r>
            <a:r>
              <a:rPr sz="2025" b="0" dirty="0">
                <a:solidFill>
                  <a:srgbClr val="173044"/>
                </a:solidFill>
                <a:latin typeface="Aptos"/>
                <a:ea typeface="Aptos"/>
                <a:cs typeface="Aptos"/>
              </a:rPr>
              <a:t> et total </a:t>
            </a:r>
            <a:r>
              <a:rPr sz="2025" b="1" dirty="0" err="1">
                <a:solidFill>
                  <a:srgbClr val="173044"/>
                </a:solidFill>
                <a:latin typeface="Aptos"/>
                <a:ea typeface="Aptos"/>
                <a:cs typeface="Aptos"/>
              </a:rPr>
              <a:t>si</a:t>
            </a:r>
            <a:r>
              <a:rPr sz="2025" b="1" dirty="0">
                <a:solidFill>
                  <a:srgbClr val="173044"/>
                </a:solidFill>
                <a:latin typeface="Aptos"/>
                <a:ea typeface="Aptos"/>
                <a:cs typeface="Aptos"/>
              </a:rPr>
              <a:t> </a:t>
            </a:r>
            <a:r>
              <a:rPr sz="2025" b="1" dirty="0" err="1">
                <a:solidFill>
                  <a:srgbClr val="173044"/>
                </a:solidFill>
                <a:latin typeface="Aptos"/>
                <a:ea typeface="Aptos"/>
                <a:cs typeface="Aptos"/>
              </a:rPr>
              <a:t>ces</a:t>
            </a:r>
            <a:r>
              <a:rPr sz="2025" b="1" dirty="0">
                <a:solidFill>
                  <a:srgbClr val="173044"/>
                </a:solidFill>
                <a:latin typeface="Aptos"/>
                <a:ea typeface="Aptos"/>
                <a:cs typeface="Aptos"/>
              </a:rPr>
              <a:t> </a:t>
            </a:r>
            <a:r>
              <a:rPr sz="2025" b="1" dirty="0" err="1">
                <a:solidFill>
                  <a:srgbClr val="173044"/>
                </a:solidFill>
                <a:latin typeface="Aptos"/>
                <a:ea typeface="Aptos"/>
                <a:cs typeface="Aptos"/>
              </a:rPr>
              <a:t>valeurs</a:t>
            </a:r>
            <a:r>
              <a:rPr sz="2025" b="1" dirty="0">
                <a:solidFill>
                  <a:srgbClr val="173044"/>
                </a:solidFill>
                <a:latin typeface="Aptos"/>
                <a:ea typeface="Aptos"/>
                <a:cs typeface="Aptos"/>
              </a:rPr>
              <a:t> constituent toute la projection.</a:t>
            </a:r>
          </a:p>
          <a:p>
            <a:endParaRPr sz="2025" b="0" dirty="0">
              <a:solidFill>
                <a:srgbClr val="173044"/>
              </a:solidFill>
              <a:latin typeface="Aptos"/>
              <a:ea typeface="Aptos"/>
              <a:cs typeface="Aptos"/>
            </a:endParaRPr>
          </a:p>
          <a:p>
            <a:pPr>
              <a:defRPr sz="2025" b="0">
                <a:solidFill>
                  <a:srgbClr val="173044"/>
                </a:solidFill>
                <a:latin typeface="Aptos"/>
                <a:ea typeface="Aptos"/>
                <a:cs typeface="Aptos"/>
              </a:defRPr>
            </a:pPr>
            <a:r>
              <a:rPr sz="2025" b="0" dirty="0">
                <a:solidFill>
                  <a:srgbClr val="173044"/>
                </a:solidFill>
                <a:latin typeface="Aptos"/>
                <a:ea typeface="Aptos"/>
                <a:cs typeface="Aptos"/>
              </a:rPr>
              <a:t>Un </a:t>
            </a:r>
            <a:r>
              <a:rPr sz="2025" b="1" i="1" dirty="0">
                <a:solidFill>
                  <a:srgbClr val="173044"/>
                </a:solidFill>
                <a:latin typeface="Aptos"/>
                <a:ea typeface="Aptos"/>
                <a:cs typeface="Aptos"/>
              </a:rPr>
              <a:t>Index Only Scan </a:t>
            </a:r>
            <a:r>
              <a:rPr sz="2025" b="0" dirty="0" err="1">
                <a:solidFill>
                  <a:srgbClr val="173044"/>
                </a:solidFill>
                <a:latin typeface="Aptos"/>
                <a:ea typeface="Aptos"/>
                <a:cs typeface="Aptos"/>
              </a:rPr>
              <a:t>exige</a:t>
            </a:r>
            <a:r>
              <a:rPr sz="2025" b="0" dirty="0">
                <a:solidFill>
                  <a:srgbClr val="173044"/>
                </a:solidFill>
                <a:latin typeface="Aptos"/>
                <a:ea typeface="Aptos"/>
                <a:cs typeface="Aptos"/>
              </a:rPr>
              <a:t> </a:t>
            </a:r>
            <a:r>
              <a:rPr sz="2025" b="0" dirty="0" err="1">
                <a:solidFill>
                  <a:srgbClr val="173044"/>
                </a:solidFill>
                <a:latin typeface="Aptos"/>
                <a:ea typeface="Aptos"/>
                <a:cs typeface="Aptos"/>
              </a:rPr>
              <a:t>aussi</a:t>
            </a:r>
            <a:r>
              <a:rPr sz="2025" b="0" dirty="0">
                <a:solidFill>
                  <a:srgbClr val="173044"/>
                </a:solidFill>
                <a:latin typeface="Aptos"/>
                <a:ea typeface="Aptos"/>
                <a:cs typeface="Aptos"/>
              </a:rPr>
              <a:t> </a:t>
            </a:r>
            <a:r>
              <a:rPr sz="2025" b="0" dirty="0" err="1">
                <a:solidFill>
                  <a:srgbClr val="173044"/>
                </a:solidFill>
                <a:latin typeface="Aptos"/>
                <a:ea typeface="Aptos"/>
                <a:cs typeface="Aptos"/>
              </a:rPr>
              <a:t>que</a:t>
            </a:r>
            <a:r>
              <a:rPr sz="2025" b="0" dirty="0">
                <a:solidFill>
                  <a:srgbClr val="173044"/>
                </a:solidFill>
                <a:latin typeface="Aptos"/>
                <a:ea typeface="Aptos"/>
                <a:cs typeface="Aptos"/>
              </a:rPr>
              <a:t> les </a:t>
            </a:r>
            <a:r>
              <a:rPr sz="2025" b="0" dirty="0" err="1">
                <a:solidFill>
                  <a:srgbClr val="173044"/>
                </a:solidFill>
                <a:latin typeface="Aptos"/>
                <a:ea typeface="Aptos"/>
                <a:cs typeface="Aptos"/>
              </a:rPr>
              <a:t>informations</a:t>
            </a:r>
            <a:r>
              <a:rPr sz="2025" b="0" dirty="0">
                <a:solidFill>
                  <a:srgbClr val="173044"/>
                </a:solidFill>
                <a:latin typeface="Aptos"/>
                <a:ea typeface="Aptos"/>
                <a:cs typeface="Aptos"/>
              </a:rPr>
              <a:t> de </a:t>
            </a:r>
            <a:r>
              <a:rPr sz="2025" b="0" dirty="0" err="1">
                <a:solidFill>
                  <a:srgbClr val="173044"/>
                </a:solidFill>
                <a:latin typeface="Aptos"/>
                <a:ea typeface="Aptos"/>
                <a:cs typeface="Aptos"/>
              </a:rPr>
              <a:t>visibilité</a:t>
            </a:r>
            <a:r>
              <a:rPr sz="2025" b="0" dirty="0">
                <a:solidFill>
                  <a:srgbClr val="173044"/>
                </a:solidFill>
                <a:latin typeface="Aptos"/>
                <a:ea typeface="Aptos"/>
                <a:cs typeface="Aptos"/>
              </a:rPr>
              <a:t> </a:t>
            </a:r>
            <a:r>
              <a:rPr sz="2025" b="0" dirty="0" err="1">
                <a:solidFill>
                  <a:srgbClr val="173044"/>
                </a:solidFill>
                <a:latin typeface="Aptos"/>
                <a:ea typeface="Aptos"/>
                <a:cs typeface="Aptos"/>
              </a:rPr>
              <a:t>permettent</a:t>
            </a:r>
            <a:r>
              <a:rPr sz="2025" b="0" dirty="0">
                <a:solidFill>
                  <a:srgbClr val="173044"/>
                </a:solidFill>
                <a:latin typeface="Aptos"/>
                <a:ea typeface="Aptos"/>
                <a:cs typeface="Aptos"/>
              </a:rPr>
              <a:t> </a:t>
            </a:r>
            <a:r>
              <a:rPr sz="2025" b="0" dirty="0" err="1">
                <a:solidFill>
                  <a:srgbClr val="173044"/>
                </a:solidFill>
                <a:latin typeface="Aptos"/>
                <a:ea typeface="Aptos"/>
                <a:cs typeface="Aptos"/>
              </a:rPr>
              <a:t>d’éviter</a:t>
            </a:r>
            <a:r>
              <a:rPr sz="2025" b="0" dirty="0">
                <a:solidFill>
                  <a:srgbClr val="173044"/>
                </a:solidFill>
                <a:latin typeface="Aptos"/>
                <a:ea typeface="Aptos"/>
                <a:cs typeface="Aptos"/>
              </a:rPr>
              <a:t> </a:t>
            </a:r>
            <a:r>
              <a:rPr sz="2025" b="0" dirty="0" err="1">
                <a:solidFill>
                  <a:srgbClr val="173044"/>
                </a:solidFill>
                <a:latin typeface="Aptos"/>
                <a:ea typeface="Aptos"/>
                <a:cs typeface="Aptos"/>
              </a:rPr>
              <a:t>certaines</a:t>
            </a:r>
            <a:r>
              <a:rPr sz="2025" b="0" dirty="0">
                <a:solidFill>
                  <a:srgbClr val="173044"/>
                </a:solidFill>
                <a:latin typeface="Aptos"/>
                <a:ea typeface="Aptos"/>
                <a:cs typeface="Aptos"/>
              </a:rPr>
              <a:t> </a:t>
            </a:r>
            <a:r>
              <a:rPr sz="2025" b="0" dirty="0" err="1">
                <a:solidFill>
                  <a:srgbClr val="173044"/>
                </a:solidFill>
                <a:latin typeface="Aptos"/>
                <a:ea typeface="Aptos"/>
                <a:cs typeface="Aptos"/>
              </a:rPr>
              <a:t>visites</a:t>
            </a:r>
            <a:r>
              <a:rPr sz="2025" b="0" dirty="0">
                <a:solidFill>
                  <a:srgbClr val="173044"/>
                </a:solidFill>
                <a:latin typeface="Aptos"/>
                <a:ea typeface="Aptos"/>
                <a:cs typeface="Aptos"/>
              </a:rPr>
              <a:t> à la table. Une table très </a:t>
            </a:r>
            <a:r>
              <a:rPr sz="2025" b="0" dirty="0" err="1">
                <a:solidFill>
                  <a:srgbClr val="173044"/>
                </a:solidFill>
                <a:latin typeface="Aptos"/>
                <a:ea typeface="Aptos"/>
                <a:cs typeface="Aptos"/>
              </a:rPr>
              <a:t>modifiée</a:t>
            </a:r>
            <a:r>
              <a:rPr sz="2025" b="0" dirty="0">
                <a:solidFill>
                  <a:srgbClr val="173044"/>
                </a:solidFill>
                <a:latin typeface="Aptos"/>
                <a:ea typeface="Aptos"/>
                <a:cs typeface="Aptos"/>
              </a:rPr>
              <a:t> </a:t>
            </a:r>
            <a:r>
              <a:rPr sz="2025" b="0" dirty="0" err="1">
                <a:solidFill>
                  <a:srgbClr val="173044"/>
                </a:solidFill>
                <a:latin typeface="Aptos"/>
                <a:ea typeface="Aptos"/>
                <a:cs typeface="Aptos"/>
              </a:rPr>
              <a:t>peut</a:t>
            </a:r>
            <a:r>
              <a:rPr sz="2025" b="0" dirty="0">
                <a:solidFill>
                  <a:srgbClr val="173044"/>
                </a:solidFill>
                <a:latin typeface="Aptos"/>
                <a:ea typeface="Aptos"/>
                <a:cs typeface="Aptos"/>
              </a:rPr>
              <a:t> encore </a:t>
            </a:r>
            <a:r>
              <a:rPr sz="2025" b="0" dirty="0" err="1">
                <a:solidFill>
                  <a:srgbClr val="173044"/>
                </a:solidFill>
                <a:latin typeface="Aptos"/>
                <a:ea typeface="Aptos"/>
                <a:cs typeface="Aptos"/>
              </a:rPr>
              <a:t>provoquer</a:t>
            </a:r>
            <a:r>
              <a:rPr sz="2025" b="0" dirty="0">
                <a:solidFill>
                  <a:srgbClr val="173044"/>
                </a:solidFill>
                <a:latin typeface="Aptos"/>
                <a:ea typeface="Aptos"/>
                <a:cs typeface="Aptos"/>
              </a:rPr>
              <a:t> des Heap Fetches. </a:t>
            </a:r>
            <a:r>
              <a:rPr sz="2025" b="0" dirty="0" err="1">
                <a:solidFill>
                  <a:srgbClr val="173044"/>
                </a:solidFill>
                <a:latin typeface="Aptos"/>
                <a:ea typeface="Aptos"/>
                <a:cs typeface="Aptos"/>
              </a:rPr>
              <a:t>L’index</a:t>
            </a:r>
            <a:r>
              <a:rPr sz="2025" b="0" dirty="0">
                <a:solidFill>
                  <a:srgbClr val="173044"/>
                </a:solidFill>
                <a:latin typeface="Aptos"/>
                <a:ea typeface="Aptos"/>
                <a:cs typeface="Aptos"/>
              </a:rPr>
              <a:t> plus large </a:t>
            </a:r>
            <a:r>
              <a:rPr sz="2025" b="0" dirty="0" err="1">
                <a:solidFill>
                  <a:srgbClr val="173044"/>
                </a:solidFill>
                <a:latin typeface="Aptos"/>
                <a:ea typeface="Aptos"/>
                <a:cs typeface="Aptos"/>
              </a:rPr>
              <a:t>coûte</a:t>
            </a:r>
            <a:r>
              <a:rPr sz="2025" b="0" dirty="0">
                <a:solidFill>
                  <a:srgbClr val="173044"/>
                </a:solidFill>
                <a:latin typeface="Aptos"/>
                <a:ea typeface="Aptos"/>
                <a:cs typeface="Aptos"/>
              </a:rPr>
              <a:t> </a:t>
            </a:r>
            <a:r>
              <a:rPr sz="2025" b="0" dirty="0" err="1">
                <a:solidFill>
                  <a:srgbClr val="173044"/>
                </a:solidFill>
                <a:latin typeface="Aptos"/>
                <a:ea typeface="Aptos"/>
                <a:cs typeface="Aptos"/>
              </a:rPr>
              <a:t>davantage</a:t>
            </a:r>
            <a:r>
              <a:rPr sz="2025" b="0" dirty="0">
                <a:solidFill>
                  <a:srgbClr val="173044"/>
                </a:solidFill>
                <a:latin typeface="Aptos"/>
                <a:ea typeface="Aptos"/>
                <a:cs typeface="Aptos"/>
              </a:rPr>
              <a:t> </a:t>
            </a:r>
            <a:r>
              <a:rPr sz="2025" b="0" dirty="0" err="1">
                <a:solidFill>
                  <a:srgbClr val="173044"/>
                </a:solidFill>
                <a:latin typeface="Aptos"/>
                <a:ea typeface="Aptos"/>
                <a:cs typeface="Aptos"/>
              </a:rPr>
              <a:t>en</a:t>
            </a:r>
            <a:r>
              <a:rPr sz="2025" b="0" dirty="0">
                <a:solidFill>
                  <a:srgbClr val="173044"/>
                </a:solidFill>
                <a:latin typeface="Aptos"/>
                <a:ea typeface="Aptos"/>
                <a:cs typeface="Aptos"/>
              </a:rPr>
              <a:t> </a:t>
            </a:r>
            <a:r>
              <a:rPr sz="2025" b="0" dirty="0" err="1">
                <a:solidFill>
                  <a:srgbClr val="173044"/>
                </a:solidFill>
                <a:latin typeface="Aptos"/>
                <a:ea typeface="Aptos"/>
                <a:cs typeface="Aptos"/>
              </a:rPr>
              <a:t>espace</a:t>
            </a:r>
            <a:r>
              <a:rPr sz="2025" b="0" dirty="0">
                <a:solidFill>
                  <a:srgbClr val="173044"/>
                </a:solidFill>
                <a:latin typeface="Aptos"/>
                <a:ea typeface="Aptos"/>
                <a:cs typeface="Aptos"/>
              </a:rPr>
              <a:t> et </a:t>
            </a:r>
            <a:r>
              <a:rPr sz="2025" b="0" dirty="0" err="1">
                <a:solidFill>
                  <a:srgbClr val="173044"/>
                </a:solidFill>
                <a:latin typeface="Aptos"/>
                <a:ea typeface="Aptos"/>
                <a:cs typeface="Aptos"/>
              </a:rPr>
              <a:t>en</a:t>
            </a:r>
            <a:r>
              <a:rPr sz="2025" b="0" dirty="0">
                <a:solidFill>
                  <a:srgbClr val="173044"/>
                </a:solidFill>
                <a:latin typeface="Aptos"/>
                <a:ea typeface="Aptos"/>
                <a:cs typeface="Aptos"/>
              </a:rPr>
              <a:t> maintenance.</a:t>
            </a:r>
          </a:p>
        </p:txBody>
      </p:sp>
      <p:sp>
        <p:nvSpPr>
          <p:cNvPr id="5" name="Rectangle 4">
            <a:extLst>
              <a:ext uri="{FF2B5EF4-FFF2-40B4-BE49-F238E27FC236}">
                <a16:creationId xmlns:a16="http://schemas.microsoft.com/office/drawing/2014/main" id="{FA38924F-CD87-403E-B986-988B13EC160A}"/>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969DFA5A-D3B0-456E-82B1-AB735ABF9C8C}"/>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CREATE INDEX idx_hist_couvrant</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ON commandes (</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client_id, created_at DESC, id DESC</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INCLUDE (statut, total);</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Examiner Heap Fetches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et la taille de l’index.</a:t>
            </a:r>
          </a:p>
        </p:txBody>
      </p:sp>
      <p:sp>
        <p:nvSpPr>
          <p:cNvPr id="7" name="Rectangle 6">
            <a:extLst>
              <a:ext uri="{FF2B5EF4-FFF2-40B4-BE49-F238E27FC236}">
                <a16:creationId xmlns:a16="http://schemas.microsoft.com/office/drawing/2014/main" id="{6FC1E81C-E52F-48A9-8A4B-B530D73058B2}"/>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BDE041FD-4222-4EBB-AFEE-871CB4E41FCF}"/>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L’absence d’accès à la table ne se déduit pas de la seule présence de INCLUDE.</a:t>
            </a:r>
          </a:p>
        </p:txBody>
      </p:sp>
      <p:sp>
        <p:nvSpPr>
          <p:cNvPr id="9" name="Rectangle 8">
            <a:extLst>
              <a:ext uri="{FF2B5EF4-FFF2-40B4-BE49-F238E27FC236}">
                <a16:creationId xmlns:a16="http://schemas.microsoft.com/office/drawing/2014/main" id="{A17BC976-0527-4FFC-BFC1-A820C3300E88}"/>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D42B5DD4-9D34-4CDE-92ED-77E81D5A3D4A}"/>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09 / 32</a:t>
            </a:r>
          </a:p>
        </p:txBody>
      </p:sp>
    </p:spTree>
    <p:extLst>
      <p:ext uri="{BB962C8B-B14F-4D97-AF65-F5344CB8AC3E}">
        <p14:creationId xmlns:p14="http://schemas.microsoft.com/office/powerpoint/2010/main" val="445003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77C3DCDA-B271-4472-BB29-83EED555F075}"/>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C388D29D-7F9E-427A-977E-7EF422D67D02}"/>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Le coût d’écriture des index</a:t>
            </a:r>
          </a:p>
        </p:txBody>
      </p:sp>
      <p:sp>
        <p:nvSpPr>
          <p:cNvPr id="4" name="Rectangle 3">
            <a:extLst>
              <a:ext uri="{FF2B5EF4-FFF2-40B4-BE49-F238E27FC236}">
                <a16:creationId xmlns:a16="http://schemas.microsoft.com/office/drawing/2014/main" id="{E1378645-44D6-4066-A99A-85AF4DA760F8}"/>
              </a:ext>
            </a:extLst>
          </p:cNvPr>
          <p:cNvSpPr>
            <a:spLocks noGrp="1"/>
          </p:cNvSpPr>
          <p:nvPr/>
        </p:nvSpPr>
        <p:spPr>
          <a:xfrm>
            <a:off x="666750" y="2105025"/>
            <a:ext cx="5762625"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dirty="0">
                <a:solidFill>
                  <a:srgbClr val="173044"/>
                </a:solidFill>
                <a:latin typeface="Aptos"/>
                <a:ea typeface="Aptos"/>
                <a:cs typeface="Aptos"/>
              </a:rPr>
              <a:t>Une insertion doit </a:t>
            </a:r>
            <a:r>
              <a:rPr sz="2025" b="0" dirty="0" err="1">
                <a:solidFill>
                  <a:srgbClr val="173044"/>
                </a:solidFill>
                <a:latin typeface="Aptos"/>
                <a:ea typeface="Aptos"/>
                <a:cs typeface="Aptos"/>
              </a:rPr>
              <a:t>créer</a:t>
            </a:r>
            <a:r>
              <a:rPr sz="2025" b="0" dirty="0">
                <a:solidFill>
                  <a:srgbClr val="173044"/>
                </a:solidFill>
                <a:latin typeface="Aptos"/>
                <a:ea typeface="Aptos"/>
                <a:cs typeface="Aptos"/>
              </a:rPr>
              <a:t> la </a:t>
            </a:r>
            <a:r>
              <a:rPr sz="2025" b="0" dirty="0" err="1">
                <a:solidFill>
                  <a:srgbClr val="173044"/>
                </a:solidFill>
                <a:latin typeface="Aptos"/>
                <a:ea typeface="Aptos"/>
                <a:cs typeface="Aptos"/>
              </a:rPr>
              <a:t>ligne</a:t>
            </a:r>
            <a:r>
              <a:rPr sz="2025" b="0" dirty="0">
                <a:solidFill>
                  <a:srgbClr val="173044"/>
                </a:solidFill>
                <a:latin typeface="Aptos"/>
                <a:ea typeface="Aptos"/>
                <a:cs typeface="Aptos"/>
              </a:rPr>
              <a:t> et </a:t>
            </a:r>
            <a:r>
              <a:rPr sz="2025" b="0" dirty="0" err="1">
                <a:solidFill>
                  <a:srgbClr val="173044"/>
                </a:solidFill>
                <a:latin typeface="Aptos"/>
                <a:ea typeface="Aptos"/>
                <a:cs typeface="Aptos"/>
              </a:rPr>
              <a:t>maintenir</a:t>
            </a:r>
            <a:r>
              <a:rPr sz="2025" b="0" dirty="0">
                <a:solidFill>
                  <a:srgbClr val="173044"/>
                </a:solidFill>
                <a:latin typeface="Aptos"/>
                <a:ea typeface="Aptos"/>
                <a:cs typeface="Aptos"/>
              </a:rPr>
              <a:t> les index </a:t>
            </a:r>
            <a:r>
              <a:rPr sz="2025" b="0" dirty="0" err="1">
                <a:solidFill>
                  <a:srgbClr val="173044"/>
                </a:solidFill>
                <a:latin typeface="Aptos"/>
                <a:ea typeface="Aptos"/>
                <a:cs typeface="Aptos"/>
              </a:rPr>
              <a:t>concernés</a:t>
            </a:r>
            <a:r>
              <a:rPr sz="2025" b="0" dirty="0">
                <a:solidFill>
                  <a:srgbClr val="173044"/>
                </a:solidFill>
                <a:latin typeface="Aptos"/>
                <a:ea typeface="Aptos"/>
                <a:cs typeface="Aptos"/>
              </a:rPr>
              <a:t>. Une mise à jour </a:t>
            </a:r>
            <a:r>
              <a:rPr sz="2025" b="0" dirty="0" err="1">
                <a:solidFill>
                  <a:srgbClr val="173044"/>
                </a:solidFill>
                <a:latin typeface="Aptos"/>
                <a:ea typeface="Aptos"/>
                <a:cs typeface="Aptos"/>
              </a:rPr>
              <a:t>d’une</a:t>
            </a:r>
            <a:r>
              <a:rPr sz="2025" b="0" dirty="0">
                <a:solidFill>
                  <a:srgbClr val="173044"/>
                </a:solidFill>
                <a:latin typeface="Aptos"/>
                <a:ea typeface="Aptos"/>
                <a:cs typeface="Aptos"/>
              </a:rPr>
              <a:t> </a:t>
            </a:r>
            <a:r>
              <a:rPr sz="2025" b="0" dirty="0" err="1">
                <a:solidFill>
                  <a:srgbClr val="173044"/>
                </a:solidFill>
                <a:latin typeface="Aptos"/>
                <a:ea typeface="Aptos"/>
                <a:cs typeface="Aptos"/>
              </a:rPr>
              <a:t>valeur</a:t>
            </a:r>
            <a:r>
              <a:rPr sz="2025" b="0" dirty="0">
                <a:solidFill>
                  <a:srgbClr val="173044"/>
                </a:solidFill>
                <a:latin typeface="Aptos"/>
                <a:ea typeface="Aptos"/>
                <a:cs typeface="Aptos"/>
              </a:rPr>
              <a:t> </a:t>
            </a:r>
            <a:r>
              <a:rPr sz="2025" b="0" dirty="0" err="1">
                <a:solidFill>
                  <a:srgbClr val="173044"/>
                </a:solidFill>
                <a:latin typeface="Aptos"/>
                <a:ea typeface="Aptos"/>
                <a:cs typeface="Aptos"/>
              </a:rPr>
              <a:t>indexée</a:t>
            </a:r>
            <a:r>
              <a:rPr sz="2025" b="0" dirty="0">
                <a:solidFill>
                  <a:srgbClr val="173044"/>
                </a:solidFill>
                <a:latin typeface="Aptos"/>
                <a:ea typeface="Aptos"/>
                <a:cs typeface="Aptos"/>
              </a:rPr>
              <a:t> </a:t>
            </a:r>
            <a:r>
              <a:rPr sz="2025" b="0" dirty="0" err="1">
                <a:solidFill>
                  <a:srgbClr val="173044"/>
                </a:solidFill>
                <a:latin typeface="Aptos"/>
                <a:ea typeface="Aptos"/>
                <a:cs typeface="Aptos"/>
              </a:rPr>
              <a:t>peut</a:t>
            </a:r>
            <a:r>
              <a:rPr sz="2025" b="0" dirty="0">
                <a:solidFill>
                  <a:srgbClr val="173044"/>
                </a:solidFill>
                <a:latin typeface="Aptos"/>
                <a:ea typeface="Aptos"/>
                <a:cs typeface="Aptos"/>
              </a:rPr>
              <a:t> demander de </a:t>
            </a:r>
            <a:r>
              <a:rPr sz="2025" b="0" dirty="0" err="1">
                <a:solidFill>
                  <a:srgbClr val="173044"/>
                </a:solidFill>
                <a:latin typeface="Aptos"/>
                <a:ea typeface="Aptos"/>
                <a:cs typeface="Aptos"/>
              </a:rPr>
              <a:t>nouvelles</a:t>
            </a:r>
            <a:r>
              <a:rPr sz="2025" b="0" dirty="0">
                <a:solidFill>
                  <a:srgbClr val="173044"/>
                </a:solidFill>
                <a:latin typeface="Aptos"/>
                <a:ea typeface="Aptos"/>
                <a:cs typeface="Aptos"/>
              </a:rPr>
              <a:t> entrées. Les modifications </a:t>
            </a:r>
            <a:r>
              <a:rPr sz="2025" b="0" dirty="0" err="1">
                <a:solidFill>
                  <a:srgbClr val="173044"/>
                </a:solidFill>
                <a:latin typeface="Aptos"/>
                <a:ea typeface="Aptos"/>
                <a:cs typeface="Aptos"/>
              </a:rPr>
              <a:t>produisent</a:t>
            </a:r>
            <a:r>
              <a:rPr sz="2025" b="0" dirty="0">
                <a:solidFill>
                  <a:srgbClr val="173044"/>
                </a:solidFill>
                <a:latin typeface="Aptos"/>
                <a:ea typeface="Aptos"/>
                <a:cs typeface="Aptos"/>
              </a:rPr>
              <a:t> </a:t>
            </a:r>
            <a:r>
              <a:rPr sz="2025" b="0" dirty="0" err="1">
                <a:solidFill>
                  <a:srgbClr val="173044"/>
                </a:solidFill>
                <a:latin typeface="Aptos"/>
                <a:ea typeface="Aptos"/>
                <a:cs typeface="Aptos"/>
              </a:rPr>
              <a:t>aussi</a:t>
            </a:r>
            <a:r>
              <a:rPr sz="2025" b="0" dirty="0">
                <a:solidFill>
                  <a:srgbClr val="173044"/>
                </a:solidFill>
                <a:latin typeface="Aptos"/>
                <a:ea typeface="Aptos"/>
                <a:cs typeface="Aptos"/>
              </a:rPr>
              <a:t> du </a:t>
            </a:r>
            <a:r>
              <a:rPr sz="2025" b="1" dirty="0">
                <a:solidFill>
                  <a:srgbClr val="173044"/>
                </a:solidFill>
                <a:latin typeface="Aptos"/>
                <a:ea typeface="Aptos"/>
                <a:cs typeface="Aptos"/>
              </a:rPr>
              <a:t>WAL</a:t>
            </a:r>
            <a:r>
              <a:rPr sz="2025" b="0" dirty="0">
                <a:solidFill>
                  <a:srgbClr val="173044"/>
                </a:solidFill>
                <a:latin typeface="Aptos"/>
                <a:ea typeface="Aptos"/>
                <a:cs typeface="Aptos"/>
              </a:rPr>
              <a:t> </a:t>
            </a:r>
            <a:r>
              <a:rPr lang="fr-FR" sz="2025" dirty="0">
                <a:solidFill>
                  <a:srgbClr val="173044"/>
                </a:solidFill>
                <a:latin typeface="Aptos"/>
                <a:ea typeface="Aptos"/>
                <a:cs typeface="Aptos"/>
              </a:rPr>
              <a:t>(</a:t>
            </a:r>
            <a:r>
              <a:rPr lang="fr-FR" sz="2025" dirty="0">
                <a:solidFill>
                  <a:srgbClr val="173044"/>
                </a:solidFill>
                <a:latin typeface="Aptos"/>
              </a:rPr>
              <a:t>Write-</a:t>
            </a:r>
            <a:r>
              <a:rPr lang="fr-FR" sz="2025" dirty="0" err="1">
                <a:solidFill>
                  <a:srgbClr val="173044"/>
                </a:solidFill>
                <a:latin typeface="Aptos"/>
              </a:rPr>
              <a:t>Ahead</a:t>
            </a:r>
            <a:r>
              <a:rPr lang="fr-FR" sz="2025" dirty="0">
                <a:solidFill>
                  <a:srgbClr val="173044"/>
                </a:solidFill>
                <a:latin typeface="Aptos"/>
              </a:rPr>
              <a:t> Log) </a:t>
            </a:r>
            <a:r>
              <a:rPr sz="2025" b="0" dirty="0">
                <a:solidFill>
                  <a:srgbClr val="173044"/>
                </a:solidFill>
                <a:latin typeface="Aptos"/>
                <a:ea typeface="Aptos"/>
                <a:cs typeface="Aptos"/>
              </a:rPr>
              <a:t>et </a:t>
            </a:r>
            <a:r>
              <a:rPr sz="2025" b="0" dirty="0" err="1">
                <a:solidFill>
                  <a:srgbClr val="173044"/>
                </a:solidFill>
                <a:latin typeface="Aptos"/>
                <a:ea typeface="Aptos"/>
                <a:cs typeface="Aptos"/>
              </a:rPr>
              <a:t>consomment</a:t>
            </a:r>
            <a:r>
              <a:rPr sz="2025" b="0" dirty="0">
                <a:solidFill>
                  <a:srgbClr val="173044"/>
                </a:solidFill>
                <a:latin typeface="Aptos"/>
                <a:ea typeface="Aptos"/>
                <a:cs typeface="Aptos"/>
              </a:rPr>
              <a:t> de la </a:t>
            </a:r>
            <a:r>
              <a:rPr sz="2025" b="0" dirty="0" err="1">
                <a:solidFill>
                  <a:srgbClr val="173044"/>
                </a:solidFill>
                <a:latin typeface="Aptos"/>
                <a:ea typeface="Aptos"/>
                <a:cs typeface="Aptos"/>
              </a:rPr>
              <a:t>mémoire</a:t>
            </a:r>
            <a:r>
              <a:rPr sz="2025" b="0" dirty="0">
                <a:solidFill>
                  <a:srgbClr val="173044"/>
                </a:solidFill>
                <a:latin typeface="Aptos"/>
                <a:ea typeface="Aptos"/>
                <a:cs typeface="Aptos"/>
              </a:rPr>
              <a:t> et du stockage.</a:t>
            </a:r>
          </a:p>
          <a:p>
            <a:endParaRPr sz="2025" b="0" dirty="0">
              <a:solidFill>
                <a:srgbClr val="173044"/>
              </a:solidFill>
              <a:latin typeface="Aptos"/>
              <a:ea typeface="Aptos"/>
              <a:cs typeface="Aptos"/>
            </a:endParaRPr>
          </a:p>
          <a:p>
            <a:pPr>
              <a:defRPr sz="2025" b="0">
                <a:solidFill>
                  <a:srgbClr val="173044"/>
                </a:solidFill>
                <a:latin typeface="Aptos"/>
                <a:ea typeface="Aptos"/>
                <a:cs typeface="Aptos"/>
              </a:defRPr>
            </a:pPr>
            <a:r>
              <a:rPr sz="2025" b="0" dirty="0">
                <a:solidFill>
                  <a:srgbClr val="173044"/>
                </a:solidFill>
                <a:latin typeface="Aptos"/>
                <a:ea typeface="Aptos"/>
                <a:cs typeface="Aptos"/>
              </a:rPr>
              <a:t>On </a:t>
            </a:r>
            <a:r>
              <a:rPr sz="2025" b="0" dirty="0" err="1">
                <a:solidFill>
                  <a:srgbClr val="173044"/>
                </a:solidFill>
                <a:latin typeface="Aptos"/>
                <a:ea typeface="Aptos"/>
                <a:cs typeface="Aptos"/>
              </a:rPr>
              <a:t>évalue</a:t>
            </a:r>
            <a:r>
              <a:rPr sz="2025" b="0" dirty="0">
                <a:solidFill>
                  <a:srgbClr val="173044"/>
                </a:solidFill>
                <a:latin typeface="Aptos"/>
                <a:ea typeface="Aptos"/>
                <a:cs typeface="Aptos"/>
              </a:rPr>
              <a:t> </a:t>
            </a:r>
            <a:r>
              <a:rPr sz="2025" b="0" dirty="0" err="1">
                <a:solidFill>
                  <a:srgbClr val="173044"/>
                </a:solidFill>
                <a:latin typeface="Aptos"/>
                <a:ea typeface="Aptos"/>
                <a:cs typeface="Aptos"/>
              </a:rPr>
              <a:t>donc</a:t>
            </a:r>
            <a:r>
              <a:rPr sz="2025" b="0" dirty="0">
                <a:solidFill>
                  <a:srgbClr val="173044"/>
                </a:solidFill>
                <a:latin typeface="Aptos"/>
                <a:ea typeface="Aptos"/>
                <a:cs typeface="Aptos"/>
              </a:rPr>
              <a:t> le </a:t>
            </a:r>
            <a:r>
              <a:rPr sz="2025" b="0" dirty="0" err="1">
                <a:solidFill>
                  <a:srgbClr val="173044"/>
                </a:solidFill>
                <a:latin typeface="Aptos"/>
                <a:ea typeface="Aptos"/>
                <a:cs typeface="Aptos"/>
              </a:rPr>
              <a:t>bénéfice</a:t>
            </a:r>
            <a:r>
              <a:rPr sz="2025" b="0" dirty="0">
                <a:solidFill>
                  <a:srgbClr val="173044"/>
                </a:solidFill>
                <a:latin typeface="Aptos"/>
                <a:ea typeface="Aptos"/>
                <a:cs typeface="Aptos"/>
              </a:rPr>
              <a:t> de lecture face à la </a:t>
            </a:r>
            <a:r>
              <a:rPr sz="2025" b="0" dirty="0" err="1">
                <a:solidFill>
                  <a:srgbClr val="173044"/>
                </a:solidFill>
                <a:latin typeface="Aptos"/>
                <a:ea typeface="Aptos"/>
                <a:cs typeface="Aptos"/>
              </a:rPr>
              <a:t>fréquence</a:t>
            </a:r>
            <a:r>
              <a:rPr sz="2025" b="0" dirty="0">
                <a:solidFill>
                  <a:srgbClr val="173044"/>
                </a:solidFill>
                <a:latin typeface="Aptos"/>
                <a:ea typeface="Aptos"/>
                <a:cs typeface="Aptos"/>
              </a:rPr>
              <a:t> </a:t>
            </a:r>
            <a:r>
              <a:rPr sz="2025" b="0" dirty="0" err="1">
                <a:solidFill>
                  <a:srgbClr val="173044"/>
                </a:solidFill>
                <a:latin typeface="Aptos"/>
                <a:ea typeface="Aptos"/>
                <a:cs typeface="Aptos"/>
              </a:rPr>
              <a:t>d’écriture</a:t>
            </a:r>
            <a:r>
              <a:rPr sz="2025" b="0" dirty="0">
                <a:solidFill>
                  <a:srgbClr val="173044"/>
                </a:solidFill>
                <a:latin typeface="Aptos"/>
                <a:ea typeface="Aptos"/>
                <a:cs typeface="Aptos"/>
              </a:rPr>
              <a:t>. Dix index </a:t>
            </a:r>
            <a:r>
              <a:rPr sz="2025" b="0" dirty="0" err="1">
                <a:solidFill>
                  <a:srgbClr val="173044"/>
                </a:solidFill>
                <a:latin typeface="Aptos"/>
                <a:ea typeface="Aptos"/>
                <a:cs typeface="Aptos"/>
              </a:rPr>
              <a:t>utiles</a:t>
            </a:r>
            <a:r>
              <a:rPr sz="2025" b="0" dirty="0">
                <a:solidFill>
                  <a:srgbClr val="173044"/>
                </a:solidFill>
                <a:latin typeface="Aptos"/>
                <a:ea typeface="Aptos"/>
                <a:cs typeface="Aptos"/>
              </a:rPr>
              <a:t> à dix </a:t>
            </a:r>
            <a:r>
              <a:rPr sz="2025" b="0" dirty="0" err="1">
                <a:solidFill>
                  <a:srgbClr val="173044"/>
                </a:solidFill>
                <a:latin typeface="Aptos"/>
                <a:ea typeface="Aptos"/>
                <a:cs typeface="Aptos"/>
              </a:rPr>
              <a:t>requêtes</a:t>
            </a:r>
            <a:r>
              <a:rPr sz="2025" b="0" dirty="0">
                <a:solidFill>
                  <a:srgbClr val="173044"/>
                </a:solidFill>
                <a:latin typeface="Aptos"/>
                <a:ea typeface="Aptos"/>
                <a:cs typeface="Aptos"/>
              </a:rPr>
              <a:t> </a:t>
            </a:r>
            <a:r>
              <a:rPr sz="2025" b="0" dirty="0" err="1">
                <a:solidFill>
                  <a:srgbClr val="173044"/>
                </a:solidFill>
                <a:latin typeface="Aptos"/>
                <a:ea typeface="Aptos"/>
                <a:cs typeface="Aptos"/>
              </a:rPr>
              <a:t>rares</a:t>
            </a:r>
            <a:r>
              <a:rPr sz="2025" b="0" dirty="0">
                <a:solidFill>
                  <a:srgbClr val="173044"/>
                </a:solidFill>
                <a:latin typeface="Aptos"/>
                <a:ea typeface="Aptos"/>
                <a:cs typeface="Aptos"/>
              </a:rPr>
              <a:t> </a:t>
            </a:r>
            <a:r>
              <a:rPr sz="2025" b="0" dirty="0" err="1">
                <a:solidFill>
                  <a:srgbClr val="173044"/>
                </a:solidFill>
                <a:latin typeface="Aptos"/>
                <a:ea typeface="Aptos"/>
                <a:cs typeface="Aptos"/>
              </a:rPr>
              <a:t>peuvent</a:t>
            </a:r>
            <a:r>
              <a:rPr sz="2025" b="0" dirty="0">
                <a:solidFill>
                  <a:srgbClr val="173044"/>
                </a:solidFill>
                <a:latin typeface="Aptos"/>
                <a:ea typeface="Aptos"/>
                <a:cs typeface="Aptos"/>
              </a:rPr>
              <a:t> </a:t>
            </a:r>
            <a:r>
              <a:rPr sz="2025" b="0" dirty="0" err="1">
                <a:solidFill>
                  <a:srgbClr val="173044"/>
                </a:solidFill>
                <a:latin typeface="Aptos"/>
                <a:ea typeface="Aptos"/>
                <a:cs typeface="Aptos"/>
              </a:rPr>
              <a:t>pénaliser</a:t>
            </a:r>
            <a:r>
              <a:rPr sz="2025" b="0" dirty="0">
                <a:solidFill>
                  <a:srgbClr val="173044"/>
                </a:solidFill>
                <a:latin typeface="Aptos"/>
                <a:ea typeface="Aptos"/>
                <a:cs typeface="Aptos"/>
              </a:rPr>
              <a:t> un flux </a:t>
            </a:r>
            <a:r>
              <a:rPr sz="2025" b="0" dirty="0" err="1">
                <a:solidFill>
                  <a:srgbClr val="173044"/>
                </a:solidFill>
                <a:latin typeface="Aptos"/>
                <a:ea typeface="Aptos"/>
                <a:cs typeface="Aptos"/>
              </a:rPr>
              <a:t>d’import</a:t>
            </a:r>
            <a:r>
              <a:rPr sz="2025" b="0" dirty="0">
                <a:solidFill>
                  <a:srgbClr val="173044"/>
                </a:solidFill>
                <a:latin typeface="Aptos"/>
                <a:ea typeface="Aptos"/>
                <a:cs typeface="Aptos"/>
              </a:rPr>
              <a:t> important. Une </a:t>
            </a:r>
            <a:r>
              <a:rPr sz="2025" b="0" dirty="0" err="1">
                <a:solidFill>
                  <a:srgbClr val="173044"/>
                </a:solidFill>
                <a:latin typeface="Aptos"/>
                <a:ea typeface="Aptos"/>
                <a:cs typeface="Aptos"/>
              </a:rPr>
              <a:t>décision</a:t>
            </a:r>
            <a:r>
              <a:rPr sz="2025" b="0" dirty="0">
                <a:solidFill>
                  <a:srgbClr val="173044"/>
                </a:solidFill>
                <a:latin typeface="Aptos"/>
                <a:ea typeface="Aptos"/>
                <a:cs typeface="Aptos"/>
              </a:rPr>
              <a:t> doit </a:t>
            </a:r>
            <a:r>
              <a:rPr sz="2025" b="0" dirty="0" err="1">
                <a:solidFill>
                  <a:srgbClr val="173044"/>
                </a:solidFill>
                <a:latin typeface="Aptos"/>
                <a:ea typeface="Aptos"/>
                <a:cs typeface="Aptos"/>
              </a:rPr>
              <a:t>considérer</a:t>
            </a:r>
            <a:r>
              <a:rPr sz="2025" b="0" dirty="0">
                <a:solidFill>
                  <a:srgbClr val="173044"/>
                </a:solidFill>
                <a:latin typeface="Aptos"/>
                <a:ea typeface="Aptos"/>
                <a:cs typeface="Aptos"/>
              </a:rPr>
              <a:t> la charge </a:t>
            </a:r>
            <a:r>
              <a:rPr sz="2025" b="0" dirty="0" err="1">
                <a:solidFill>
                  <a:srgbClr val="173044"/>
                </a:solidFill>
                <a:latin typeface="Aptos"/>
                <a:ea typeface="Aptos"/>
                <a:cs typeface="Aptos"/>
              </a:rPr>
              <a:t>complète</a:t>
            </a:r>
            <a:r>
              <a:rPr sz="2025" b="0" dirty="0">
                <a:solidFill>
                  <a:srgbClr val="173044"/>
                </a:solidFill>
                <a:latin typeface="Aptos"/>
                <a:ea typeface="Aptos"/>
                <a:cs typeface="Aptos"/>
              </a:rPr>
              <a:t>.</a:t>
            </a:r>
          </a:p>
        </p:txBody>
      </p:sp>
      <p:sp>
        <p:nvSpPr>
          <p:cNvPr id="5" name="Rectangle 4">
            <a:extLst>
              <a:ext uri="{FF2B5EF4-FFF2-40B4-BE49-F238E27FC236}">
                <a16:creationId xmlns:a16="http://schemas.microsoft.com/office/drawing/2014/main" id="{11490DC9-3F2F-47F7-9E94-528B2B57A1A4}"/>
              </a:ext>
            </a:extLst>
          </p:cNvPr>
          <p:cNvSpPr>
            <a:spLocks noGrp="1"/>
          </p:cNvSpPr>
          <p:nvPr/>
        </p:nvSpPr>
        <p:spPr>
          <a:xfrm>
            <a:off x="7000875" y="1943100"/>
            <a:ext cx="7429500" cy="285750"/>
          </a:xfrm>
          <a:prstGeom prst="rect">
            <a:avLst/>
          </a:prstGeom>
          <a:noFill/>
          <a:ln w="0">
            <a:noFill/>
          </a:ln>
        </p:spPr>
        <p:txBody>
          <a:bodyPr>
            <a:noAutofit/>
          </a:bodyPr>
          <a:lstStyle/>
          <a:p>
            <a:pPr>
              <a:defRPr sz="1575" b="1">
                <a:solidFill>
                  <a:srgbClr val="173044"/>
                </a:solidFill>
                <a:latin typeface="Aptos"/>
                <a:ea typeface="Aptos"/>
                <a:cs typeface="Aptos"/>
              </a:defRPr>
            </a:pPr>
            <a:r>
              <a:rPr sz="1575" b="1">
                <a:solidFill>
                  <a:srgbClr val="173044"/>
                </a:solidFill>
                <a:latin typeface="Aptos"/>
                <a:ea typeface="Aptos"/>
                <a:cs typeface="Aptos"/>
              </a:rPr>
              <a:t>Durée d’un lot en ms</a:t>
            </a:r>
          </a:p>
        </p:txBody>
      </p:sp>
      <p:graphicFrame>
        <p:nvGraphicFramePr>
          <p:cNvPr id="17" name="Chart"/>
          <p:cNvGraphicFramePr/>
          <p:nvPr/>
        </p:nvGraphicFramePr>
        <p:xfrm>
          <a:off x="6953250" y="2371725"/>
          <a:ext cx="7572375" cy="3486150"/>
        </p:xfrm>
        <a:graphic>
          <a:graphicData uri="http://schemas.openxmlformats.org/drawingml/2006/chart">
            <c:chart xmlns:c="http://schemas.openxmlformats.org/drawingml/2006/chart" xmlns:r="http://schemas.openxmlformats.org/officeDocument/2006/relationships" r:id="rId4"/>
          </a:graphicData>
        </a:graphic>
      </p:graphicFrame>
      <p:sp>
        <p:nvSpPr>
          <p:cNvPr id="7" name="Rectangle 6">
            <a:extLst>
              <a:ext uri="{FF2B5EF4-FFF2-40B4-BE49-F238E27FC236}">
                <a16:creationId xmlns:a16="http://schemas.microsoft.com/office/drawing/2014/main" id="{A40C755E-AF9D-4A33-AA1A-7D519332DE3A}"/>
              </a:ext>
            </a:extLst>
          </p:cNvPr>
          <p:cNvSpPr>
            <a:spLocks noGrp="1"/>
          </p:cNvSpPr>
          <p:nvPr/>
        </p:nvSpPr>
        <p:spPr>
          <a:xfrm>
            <a:off x="7096125" y="6019800"/>
            <a:ext cx="7239000" cy="619125"/>
          </a:xfrm>
          <a:prstGeom prst="rect">
            <a:avLst/>
          </a:prstGeom>
          <a:noFill/>
          <a:ln w="0">
            <a:noFill/>
          </a:ln>
        </p:spPr>
        <p:txBody>
          <a:bodyPr>
            <a:noAutofit/>
          </a:bodyPr>
          <a:lstStyle/>
          <a:p>
            <a:pPr>
              <a:defRPr sz="1500" b="0">
                <a:solidFill>
                  <a:srgbClr val="3F5B66"/>
                </a:solidFill>
                <a:latin typeface="Aptos"/>
                <a:ea typeface="Aptos"/>
                <a:cs typeface="Aptos"/>
              </a:defRPr>
            </a:pPr>
            <a:r>
              <a:rPr sz="1500" b="0">
                <a:solidFill>
                  <a:srgbClr val="3F5B66"/>
                </a:solidFill>
                <a:latin typeface="Aptos"/>
                <a:ea typeface="Aptos"/>
                <a:cs typeface="Aptos"/>
              </a:rPr>
              <a:t>Valeurs fictives de démonstration. Aucune mesure exécutée.</a:t>
            </a:r>
          </a:p>
        </p:txBody>
      </p:sp>
      <p:sp>
        <p:nvSpPr>
          <p:cNvPr id="8" name="Rectangle 7">
            <a:extLst>
              <a:ext uri="{FF2B5EF4-FFF2-40B4-BE49-F238E27FC236}">
                <a16:creationId xmlns:a16="http://schemas.microsoft.com/office/drawing/2014/main" id="{8DE09576-686D-46FF-A7BF-5CB6FBF22E05}"/>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F3E17C9E-E9FC-44AD-9188-C5588DABFD46}"/>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Valeurs fictives pour illustrer le compromis, sans résultat de benchmark.</a:t>
            </a:r>
          </a:p>
        </p:txBody>
      </p:sp>
      <p:sp>
        <p:nvSpPr>
          <p:cNvPr id="10" name="Rectangle 9">
            <a:extLst>
              <a:ext uri="{FF2B5EF4-FFF2-40B4-BE49-F238E27FC236}">
                <a16:creationId xmlns:a16="http://schemas.microsoft.com/office/drawing/2014/main" id="{05A1B572-16F0-43CD-B3A9-90727789BCAE}"/>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F69E0DE8-3540-47BC-ADC8-51B53534A3E4}"/>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10 / 32</a:t>
            </a:r>
          </a:p>
        </p:txBody>
      </p:sp>
    </p:spTree>
    <p:extLst>
      <p:ext uri="{BB962C8B-B14F-4D97-AF65-F5344CB8AC3E}">
        <p14:creationId xmlns:p14="http://schemas.microsoft.com/office/powerpoint/2010/main" val="97927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86772B72-71F1-4114-964F-0D12506B1C20}"/>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913BEF87-682A-491D-BED2-2416B162D1B7}"/>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Index redondants et index inutilisés</a:t>
            </a:r>
          </a:p>
        </p:txBody>
      </p:sp>
      <p:sp>
        <p:nvSpPr>
          <p:cNvPr id="4" name="Rectangle 3">
            <a:extLst>
              <a:ext uri="{FF2B5EF4-FFF2-40B4-BE49-F238E27FC236}">
                <a16:creationId xmlns:a16="http://schemas.microsoft.com/office/drawing/2014/main" id="{2A7C33B9-83CE-4175-AE39-37EE997F29D9}"/>
              </a:ext>
            </a:extLst>
          </p:cNvPr>
          <p:cNvSpPr>
            <a:spLocks noGrp="1"/>
          </p:cNvSpPr>
          <p:nvPr/>
        </p:nvSpPr>
        <p:spPr>
          <a:xfrm>
            <a:off x="6667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MÉCANISME</a:t>
            </a:r>
          </a:p>
        </p:txBody>
      </p:sp>
      <p:sp>
        <p:nvSpPr>
          <p:cNvPr id="5" name="Rectangle 4">
            <a:extLst>
              <a:ext uri="{FF2B5EF4-FFF2-40B4-BE49-F238E27FC236}">
                <a16:creationId xmlns:a16="http://schemas.microsoft.com/office/drawing/2014/main" id="{4865534D-5463-4340-99E7-447CBF253E2F}"/>
              </a:ext>
            </a:extLst>
          </p:cNvPr>
          <p:cNvSpPr>
            <a:spLocks noGrp="1"/>
          </p:cNvSpPr>
          <p:nvPr/>
        </p:nvSpPr>
        <p:spPr>
          <a:xfrm>
            <a:off x="666750" y="2571750"/>
            <a:ext cx="6334125"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Deux index qui partagent un préfixe peuvent se recouvrir, sans être parfaitement équivalents. Leurs tailles, l’unicité, les prédicats et les colonnes incluses peuvent justifier leur coexistence.</a:t>
            </a:r>
          </a:p>
        </p:txBody>
      </p:sp>
      <p:sp>
        <p:nvSpPr>
          <p:cNvPr id="6" name="Rectangle 5">
            <a:extLst>
              <a:ext uri="{FF2B5EF4-FFF2-40B4-BE49-F238E27FC236}">
                <a16:creationId xmlns:a16="http://schemas.microsoft.com/office/drawing/2014/main" id="{38573B76-D377-4738-B125-AFA8C76E7870}"/>
              </a:ext>
            </a:extLst>
          </p:cNvPr>
          <p:cNvSpPr>
            <a:spLocks noGrp="1"/>
          </p:cNvSpPr>
          <p:nvPr/>
        </p:nvSpPr>
        <p:spPr>
          <a:xfrm>
            <a:off x="80962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CONSÉQUENCE APPLICATIVE</a:t>
            </a:r>
          </a:p>
        </p:txBody>
      </p:sp>
      <p:sp>
        <p:nvSpPr>
          <p:cNvPr id="7" name="Rectangle 6">
            <a:extLst>
              <a:ext uri="{FF2B5EF4-FFF2-40B4-BE49-F238E27FC236}">
                <a16:creationId xmlns:a16="http://schemas.microsoft.com/office/drawing/2014/main" id="{3C39F132-C42C-4F5B-A2B8-3B0CBC4BAC1C}"/>
              </a:ext>
            </a:extLst>
          </p:cNvPr>
          <p:cNvSpPr>
            <a:spLocks noGrp="1"/>
          </p:cNvSpPr>
          <p:nvPr/>
        </p:nvSpPr>
        <p:spPr>
          <a:xfrm>
            <a:off x="8096250" y="2571750"/>
            <a:ext cx="6381750"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Un compteur d’utilisation nul sur une courte fenêtre ne prouve pas qu’un index soit inutile. Il peut protéger une contrainte ou servir à une opération mensuelle. On observe une période représentative et on vérifie les usages avant suppression.</a:t>
            </a:r>
          </a:p>
        </p:txBody>
      </p:sp>
      <p:sp>
        <p:nvSpPr>
          <p:cNvPr id="8" name="Rectangle 7">
            <a:extLst>
              <a:ext uri="{FF2B5EF4-FFF2-40B4-BE49-F238E27FC236}">
                <a16:creationId xmlns:a16="http://schemas.microsoft.com/office/drawing/2014/main" id="{5048FA24-E3F6-437A-B1E1-D40F7EAB9639}"/>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3D126667-C341-403D-BAB1-7258566530F0}"/>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La migration conserve un retour arrière et documente les requêtes concernées.</a:t>
            </a:r>
          </a:p>
        </p:txBody>
      </p:sp>
      <p:sp>
        <p:nvSpPr>
          <p:cNvPr id="10" name="Rectangle 9">
            <a:extLst>
              <a:ext uri="{FF2B5EF4-FFF2-40B4-BE49-F238E27FC236}">
                <a16:creationId xmlns:a16="http://schemas.microsoft.com/office/drawing/2014/main" id="{E1CBA71A-0FF6-41DC-AFAE-7E3A73180BC6}"/>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FBCB6FC5-1A4B-48B2-878D-C917D60F3F5C}"/>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11 / 32</a:t>
            </a:r>
          </a:p>
        </p:txBody>
      </p:sp>
    </p:spTree>
    <p:extLst>
      <p:ext uri="{BB962C8B-B14F-4D97-AF65-F5344CB8AC3E}">
        <p14:creationId xmlns:p14="http://schemas.microsoft.com/office/powerpoint/2010/main" val="1876395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16B063D5-F33E-4318-BB82-938DCB9174DC}"/>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2   /   OPTIMISATION BDD</a:t>
            </a:r>
          </a:p>
        </p:txBody>
      </p:sp>
      <p:sp>
        <p:nvSpPr>
          <p:cNvPr id="3" name="Rectangle 2">
            <a:extLst>
              <a:ext uri="{FF2B5EF4-FFF2-40B4-BE49-F238E27FC236}">
                <a16:creationId xmlns:a16="http://schemas.microsoft.com/office/drawing/2014/main" id="{E70D4F5B-D9B3-49D0-A3D2-5E0DEC01168E}"/>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Atelier 3 : l’historique client</a:t>
            </a:r>
          </a:p>
        </p:txBody>
      </p:sp>
      <p:sp>
        <p:nvSpPr>
          <p:cNvPr id="4" name="Rectangle 3">
            <a:extLst>
              <a:ext uri="{FF2B5EF4-FFF2-40B4-BE49-F238E27FC236}">
                <a16:creationId xmlns:a16="http://schemas.microsoft.com/office/drawing/2014/main" id="{8D750311-C5DB-4041-B9FE-D2813ACB5785}"/>
              </a:ext>
            </a:extLst>
          </p:cNvPr>
          <p:cNvSpPr>
            <a:spLocks noGrp="1"/>
          </p:cNvSpPr>
          <p:nvPr/>
        </p:nvSpPr>
        <p:spPr>
          <a:xfrm>
            <a:off x="666750" y="2143125"/>
            <a:ext cx="6191250" cy="304800"/>
          </a:xfrm>
          <a:prstGeom prst="rect">
            <a:avLst/>
          </a:prstGeom>
          <a:noFill/>
          <a:ln w="0">
            <a:noFill/>
          </a:ln>
        </p:spPr>
        <p:txBody>
          <a:bodyPr>
            <a:noAutofit/>
          </a:bodyPr>
          <a:lstStyle/>
          <a:p>
            <a:pPr>
              <a:defRPr sz="1500" b="1">
                <a:solidFill>
                  <a:srgbClr val="69E0E3"/>
                </a:solidFill>
                <a:latin typeface="Aptos"/>
                <a:ea typeface="Aptos"/>
                <a:cs typeface="Aptos"/>
              </a:defRPr>
            </a:pPr>
            <a:r>
              <a:rPr sz="1500" b="1">
                <a:solidFill>
                  <a:srgbClr val="69E0E3"/>
                </a:solidFill>
                <a:latin typeface="Aptos"/>
                <a:ea typeface="Aptos"/>
                <a:cs typeface="Aptos"/>
              </a:rPr>
              <a:t>MANIPULATION GUIDÉE</a:t>
            </a:r>
          </a:p>
        </p:txBody>
      </p:sp>
      <p:sp>
        <p:nvSpPr>
          <p:cNvPr id="5" name="Rectangle 4">
            <a:extLst>
              <a:ext uri="{FF2B5EF4-FFF2-40B4-BE49-F238E27FC236}">
                <a16:creationId xmlns:a16="http://schemas.microsoft.com/office/drawing/2014/main" id="{94BB8225-5F40-43DC-ADD6-CC625FD3504C}"/>
              </a:ext>
            </a:extLst>
          </p:cNvPr>
          <p:cNvSpPr>
            <a:spLocks noGrp="1"/>
          </p:cNvSpPr>
          <p:nvPr/>
        </p:nvSpPr>
        <p:spPr>
          <a:xfrm>
            <a:off x="666750" y="2667000"/>
            <a:ext cx="6334125" cy="3429000"/>
          </a:xfrm>
          <a:prstGeom prst="rect">
            <a:avLst/>
          </a:prstGeom>
          <a:noFill/>
          <a:ln w="0">
            <a:noFill/>
          </a:ln>
        </p:spPr>
        <p:txBody>
          <a:bodyPr>
            <a:noAutofit/>
          </a:bodyPr>
          <a:lstStyle/>
          <a:p>
            <a:pPr>
              <a:defRPr sz="2325" b="0">
                <a:solidFill>
                  <a:srgbClr val="F6F3ED"/>
                </a:solidFill>
                <a:latin typeface="Aptos"/>
                <a:ea typeface="Aptos"/>
                <a:cs typeface="Aptos"/>
              </a:defRPr>
            </a:pPr>
            <a:r>
              <a:rPr sz="2325" b="0">
                <a:solidFill>
                  <a:srgbClr val="F6F3ED"/>
                </a:solidFill>
                <a:latin typeface="Aptos"/>
                <a:ea typeface="Aptos"/>
                <a:cs typeface="Aptos"/>
              </a:rPr>
              <a:t>Comparer la base initiale, un index simple sur client_id, l’index composé et sa variante couvrante. Tester plusieurs clients, dont le client 42. Réinitialiser les variantes pour éviter leur concurrence dans le plan.</a:t>
            </a:r>
          </a:p>
        </p:txBody>
      </p:sp>
      <p:sp>
        <p:nvSpPr>
          <p:cNvPr id="6" name="Rectangle 5">
            <a:extLst>
              <a:ext uri="{FF2B5EF4-FFF2-40B4-BE49-F238E27FC236}">
                <a16:creationId xmlns:a16="http://schemas.microsoft.com/office/drawing/2014/main" id="{A11CF538-69E5-4476-9889-1260AE55358B}"/>
              </a:ext>
            </a:extLst>
          </p:cNvPr>
          <p:cNvSpPr>
            <a:spLocks noGrp="1"/>
          </p:cNvSpPr>
          <p:nvPr/>
        </p:nvSpPr>
        <p:spPr>
          <a:xfrm>
            <a:off x="8096250" y="2143125"/>
            <a:ext cx="6191250" cy="304800"/>
          </a:xfrm>
          <a:prstGeom prst="rect">
            <a:avLst/>
          </a:prstGeom>
          <a:noFill/>
          <a:ln w="0">
            <a:noFill/>
          </a:ln>
        </p:spPr>
        <p:txBody>
          <a:bodyPr>
            <a:noAutofit/>
          </a:bodyPr>
          <a:lstStyle/>
          <a:p>
            <a:pPr>
              <a:defRPr sz="1500" b="1">
                <a:solidFill>
                  <a:srgbClr val="69E0E3"/>
                </a:solidFill>
                <a:latin typeface="Aptos"/>
                <a:ea typeface="Aptos"/>
                <a:cs typeface="Aptos"/>
              </a:defRPr>
            </a:pPr>
            <a:r>
              <a:rPr sz="1500" b="1">
                <a:solidFill>
                  <a:srgbClr val="69E0E3"/>
                </a:solidFill>
                <a:latin typeface="Aptos"/>
                <a:ea typeface="Aptos"/>
                <a:cs typeface="Aptos"/>
              </a:rPr>
              <a:t>PREUVES À CONSERVER</a:t>
            </a:r>
          </a:p>
        </p:txBody>
      </p:sp>
      <p:sp>
        <p:nvSpPr>
          <p:cNvPr id="7" name="Rectangle 6">
            <a:extLst>
              <a:ext uri="{FF2B5EF4-FFF2-40B4-BE49-F238E27FC236}">
                <a16:creationId xmlns:a16="http://schemas.microsoft.com/office/drawing/2014/main" id="{1DFC4FBE-BDAB-4BC4-85E8-12B7DC73708B}"/>
              </a:ext>
            </a:extLst>
          </p:cNvPr>
          <p:cNvSpPr>
            <a:spLocks noGrp="1"/>
          </p:cNvSpPr>
          <p:nvPr/>
        </p:nvSpPr>
        <p:spPr>
          <a:xfrm>
            <a:off x="8096250" y="2667000"/>
            <a:ext cx="6381750" cy="3429000"/>
          </a:xfrm>
          <a:prstGeom prst="rect">
            <a:avLst/>
          </a:prstGeom>
          <a:noFill/>
          <a:ln w="0">
            <a:noFill/>
          </a:ln>
        </p:spPr>
        <p:txBody>
          <a:bodyPr>
            <a:noAutofit/>
          </a:bodyPr>
          <a:lstStyle/>
          <a:p>
            <a:pPr>
              <a:defRPr sz="2325" b="0">
                <a:solidFill>
                  <a:srgbClr val="F6F3ED"/>
                </a:solidFill>
                <a:latin typeface="Aptos"/>
                <a:ea typeface="Aptos"/>
                <a:cs typeface="Aptos"/>
              </a:defRPr>
            </a:pPr>
            <a:r>
              <a:rPr sz="2325" b="0">
                <a:solidFill>
                  <a:srgbClr val="F6F3ED"/>
                </a:solidFill>
                <a:latin typeface="Aptos"/>
                <a:ea typeface="Aptos"/>
                <a:cs typeface="Aptos"/>
              </a:rPr>
              <a:t>Conserver la requête, le plan, les buffers, la taille des index et les répétitions. Comparer aussi un lot d’insertion dans une transaction de laboratoire. Expliquer le gain ou l’absence de gain.</a:t>
            </a:r>
          </a:p>
        </p:txBody>
      </p:sp>
      <p:sp>
        <p:nvSpPr>
          <p:cNvPr id="8" name="Rectangle 7">
            <a:extLst>
              <a:ext uri="{FF2B5EF4-FFF2-40B4-BE49-F238E27FC236}">
                <a16:creationId xmlns:a16="http://schemas.microsoft.com/office/drawing/2014/main" id="{C6ED68DC-B9F0-4438-A228-64BC33BAD99D}"/>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9" name="Rectangle 8">
            <a:extLst>
              <a:ext uri="{FF2B5EF4-FFF2-40B4-BE49-F238E27FC236}">
                <a16:creationId xmlns:a16="http://schemas.microsoft.com/office/drawing/2014/main" id="{7B8DC429-F0BB-478F-A8C4-1F5D613A94D2}"/>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Livrable : un tableau de décision. Temps prévu : 1 h 30.</a:t>
            </a:r>
          </a:p>
        </p:txBody>
      </p:sp>
      <p:sp>
        <p:nvSpPr>
          <p:cNvPr id="10" name="Rectangle 9">
            <a:extLst>
              <a:ext uri="{FF2B5EF4-FFF2-40B4-BE49-F238E27FC236}">
                <a16:creationId xmlns:a16="http://schemas.microsoft.com/office/drawing/2014/main" id="{AE46B029-C6AC-4500-B8EB-60AE82E8A96C}"/>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C4C0D7D9-92A4-494F-B918-0120B4750F3B}"/>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12 / 32</a:t>
            </a:r>
          </a:p>
        </p:txBody>
      </p:sp>
    </p:spTree>
    <p:extLst>
      <p:ext uri="{BB962C8B-B14F-4D97-AF65-F5344CB8AC3E}">
        <p14:creationId xmlns:p14="http://schemas.microsoft.com/office/powerpoint/2010/main" val="3519321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5E601E05-42CE-474E-8ED4-527566881250}"/>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33667349-9404-4E1C-86D3-33CFECFEE360}"/>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L’index partiel</a:t>
            </a:r>
          </a:p>
        </p:txBody>
      </p:sp>
      <p:sp>
        <p:nvSpPr>
          <p:cNvPr id="4" name="Rectangle 3">
            <a:extLst>
              <a:ext uri="{FF2B5EF4-FFF2-40B4-BE49-F238E27FC236}">
                <a16:creationId xmlns:a16="http://schemas.microsoft.com/office/drawing/2014/main" id="{91E4DC0F-ECB6-414F-B6D9-28805BA0C189}"/>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Un index partiel ne contient que les lignes qui satisfont un prédicat. Il peut être pertinent pour un sous-ensemble souvent consulté, comme les commandes à traiter, tout en limitant la taille de l’index.</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La requête doit permettre au planificateur de reconnaître que sa condition implique le prédicat. Certains plans génériques paramétrés ne permettent pas cette preuve. La compatibilité se teste avec le SQL réellement émis par l’application.</a:t>
            </a:r>
          </a:p>
        </p:txBody>
      </p:sp>
      <p:sp>
        <p:nvSpPr>
          <p:cNvPr id="5" name="Rectangle 4">
            <a:extLst>
              <a:ext uri="{FF2B5EF4-FFF2-40B4-BE49-F238E27FC236}">
                <a16:creationId xmlns:a16="http://schemas.microsoft.com/office/drawing/2014/main" id="{E9BA8D5A-526E-4052-B8E8-AC839658F982}"/>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6F11843D-8C68-45A4-9C43-3F26176AD2BB}"/>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CREATE INDEX idx_attente</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ON commandes (created_at, id)</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WHERE statut = 'en_attente';</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SELECT id FROM commandes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WHERE statut = 'en_attente'</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ORDER BY created_at, id</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LIMIT 100;</a:t>
            </a:r>
          </a:p>
        </p:txBody>
      </p:sp>
      <p:sp>
        <p:nvSpPr>
          <p:cNvPr id="7" name="Rectangle 6">
            <a:extLst>
              <a:ext uri="{FF2B5EF4-FFF2-40B4-BE49-F238E27FC236}">
                <a16:creationId xmlns:a16="http://schemas.microsoft.com/office/drawing/2014/main" id="{E4C7F0C4-36BC-436C-A9FA-0ECF0382966A}"/>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341C2CB9-67E0-4CA9-9E34-CD7BB95C3701}"/>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 statut du laboratoire comprend payee, en_attente et annulee.</a:t>
            </a:r>
          </a:p>
        </p:txBody>
      </p:sp>
      <p:sp>
        <p:nvSpPr>
          <p:cNvPr id="9" name="Rectangle 8">
            <a:extLst>
              <a:ext uri="{FF2B5EF4-FFF2-40B4-BE49-F238E27FC236}">
                <a16:creationId xmlns:a16="http://schemas.microsoft.com/office/drawing/2014/main" id="{2B5A5B6D-3665-44B9-A4E3-489F4CCE60DA}"/>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D606A0C7-07C5-4EEF-9A0E-A2C890AD77EC}"/>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13 / 32</a:t>
            </a:r>
          </a:p>
        </p:txBody>
      </p:sp>
    </p:spTree>
    <p:extLst>
      <p:ext uri="{BB962C8B-B14F-4D97-AF65-F5344CB8AC3E}">
        <p14:creationId xmlns:p14="http://schemas.microsoft.com/office/powerpoint/2010/main" val="649975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70010CD7-372E-4239-993C-14D6CB96A721}"/>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2   /   OPTIMISATION BDD</a:t>
            </a:r>
          </a:p>
        </p:txBody>
      </p:sp>
      <p:sp>
        <p:nvSpPr>
          <p:cNvPr id="3" name="Rectangle 2">
            <a:extLst>
              <a:ext uri="{FF2B5EF4-FFF2-40B4-BE49-F238E27FC236}">
                <a16:creationId xmlns:a16="http://schemas.microsoft.com/office/drawing/2014/main" id="{A26CDB93-07D7-455D-9F1E-B6C5D4F0E04F}"/>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Un index partiel sur le bon sous-ensemble</a:t>
            </a:r>
          </a:p>
        </p:txBody>
      </p:sp>
      <p:sp>
        <p:nvSpPr>
          <p:cNvPr id="4" name="Rectangle 3">
            <a:extLst>
              <a:ext uri="{FF2B5EF4-FFF2-40B4-BE49-F238E27FC236}">
                <a16:creationId xmlns:a16="http://schemas.microsoft.com/office/drawing/2014/main" id="{657C81E1-4035-40B4-8522-51780210A085}"/>
              </a:ext>
            </a:extLst>
          </p:cNvPr>
          <p:cNvSpPr>
            <a:spLocks noGrp="1"/>
          </p:cNvSpPr>
          <p:nvPr/>
        </p:nvSpPr>
        <p:spPr>
          <a:xfrm>
            <a:off x="666750" y="2076450"/>
            <a:ext cx="13335000" cy="304800"/>
          </a:xfrm>
          <a:prstGeom prst="rect">
            <a:avLst/>
          </a:prstGeom>
          <a:noFill/>
          <a:ln w="0">
            <a:noFill/>
          </a:ln>
        </p:spPr>
        <p:txBody>
          <a:bodyPr>
            <a:noAutofit/>
          </a:bodyPr>
          <a:lstStyle/>
          <a:p>
            <a:pPr>
              <a:defRPr sz="1425" b="1">
                <a:solidFill>
                  <a:srgbClr val="69E0E3"/>
                </a:solidFill>
                <a:latin typeface="Aptos"/>
                <a:ea typeface="Aptos"/>
                <a:cs typeface="Aptos"/>
              </a:defRPr>
            </a:pPr>
            <a:r>
              <a:rPr sz="1425" b="1">
                <a:solidFill>
                  <a:srgbClr val="69E0E3"/>
                </a:solidFill>
                <a:latin typeface="Aptos"/>
                <a:ea typeface="Aptos"/>
                <a:cs typeface="Aptos"/>
              </a:rPr>
              <a:t>SITUATION ET RAISONNEMENT</a:t>
            </a:r>
          </a:p>
        </p:txBody>
      </p:sp>
      <p:sp>
        <p:nvSpPr>
          <p:cNvPr id="5" name="Rectangle 4">
            <a:extLst>
              <a:ext uri="{FF2B5EF4-FFF2-40B4-BE49-F238E27FC236}">
                <a16:creationId xmlns:a16="http://schemas.microsoft.com/office/drawing/2014/main" id="{460A39C1-0BF0-421F-B4FC-675EB8F0F6CE}"/>
              </a:ext>
            </a:extLst>
          </p:cNvPr>
          <p:cNvSpPr>
            <a:spLocks noGrp="1"/>
          </p:cNvSpPr>
          <p:nvPr/>
        </p:nvSpPr>
        <p:spPr>
          <a:xfrm>
            <a:off x="666750" y="2590800"/>
            <a:ext cx="13525500" cy="1666875"/>
          </a:xfrm>
          <a:prstGeom prst="rect">
            <a:avLst/>
          </a:prstGeom>
          <a:noFill/>
          <a:ln w="0">
            <a:noFill/>
          </a:ln>
        </p:spPr>
        <p:txBody>
          <a:bodyPr>
            <a:noAutofit/>
          </a:bodyPr>
          <a:lstStyle/>
          <a:p>
            <a:pPr>
              <a:defRPr sz="2475" b="0">
                <a:solidFill>
                  <a:srgbClr val="F6F3ED"/>
                </a:solidFill>
                <a:latin typeface="Aptos"/>
                <a:ea typeface="Aptos"/>
                <a:cs typeface="Aptos"/>
              </a:defRPr>
            </a:pPr>
            <a:r>
              <a:rPr sz="2475" b="0">
                <a:solidFill>
                  <a:srgbClr val="F6F3ED"/>
                </a:solidFill>
                <a:latin typeface="Aptos"/>
                <a:ea typeface="Aptos"/>
                <a:cs typeface="Aptos"/>
              </a:rPr>
              <a:t>Un prédicat stable et utile définit un périmètre clair. L’index des commandes en attente suit les changements de statut. Son intérêt dépend de leur proportion et de la fréquence du traitement.</a:t>
            </a:r>
          </a:p>
        </p:txBody>
      </p:sp>
      <p:sp>
        <p:nvSpPr>
          <p:cNvPr id="6" name="Rectangle 5">
            <a:extLst>
              <a:ext uri="{FF2B5EF4-FFF2-40B4-BE49-F238E27FC236}">
                <a16:creationId xmlns:a16="http://schemas.microsoft.com/office/drawing/2014/main" id="{5CEAC521-C6F9-49DF-B4E3-CB922C305D0B}"/>
              </a:ext>
            </a:extLst>
          </p:cNvPr>
          <p:cNvSpPr>
            <a:spLocks noGrp="1"/>
          </p:cNvSpPr>
          <p:nvPr/>
        </p:nvSpPr>
        <p:spPr>
          <a:xfrm>
            <a:off x="666750" y="4591050"/>
            <a:ext cx="9144000" cy="1905000"/>
          </a:xfrm>
          <a:prstGeom prst="rect">
            <a:avLst/>
          </a:prstGeom>
          <a:noFill/>
          <a:ln w="0">
            <a:noFill/>
          </a:ln>
        </p:spPr>
        <p:txBody>
          <a:bodyPr>
            <a:noAutofit/>
          </a:bodyPr>
          <a:lstStyle/>
          <a:p>
            <a:pPr>
              <a:defRPr sz="2175" b="0">
                <a:solidFill>
                  <a:srgbClr val="F6F3ED"/>
                </a:solidFill>
                <a:latin typeface="Aptos"/>
                <a:ea typeface="Aptos"/>
                <a:cs typeface="Aptos"/>
              </a:defRPr>
            </a:pPr>
            <a:r>
              <a:rPr sz="2175" b="0">
                <a:solidFill>
                  <a:srgbClr val="F6F3ED"/>
                </a:solidFill>
                <a:latin typeface="Aptos"/>
                <a:ea typeface="Aptos"/>
                <a:cs typeface="Aptos"/>
              </a:rPr>
              <a:t>Un index fondé sur « les sept derniers jours » avec now() dans le prédicat pose notamment un problème d’immuabilité. La date relative change sans écriture des lignes. Le partitionnement ou un filtre explicite peuvent mieux répondre au besoin.</a:t>
            </a:r>
          </a:p>
        </p:txBody>
      </p:sp>
      <p:sp>
        <p:nvSpPr>
          <p:cNvPr id="7" name="Rectangle 6">
            <a:extLst>
              <a:ext uri="{FF2B5EF4-FFF2-40B4-BE49-F238E27FC236}">
                <a16:creationId xmlns:a16="http://schemas.microsoft.com/office/drawing/2014/main" id="{09A17F5B-4647-4C1F-9A4B-336CA129ADE8}"/>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8" name="Rectangle 7">
            <a:extLst>
              <a:ext uri="{FF2B5EF4-FFF2-40B4-BE49-F238E27FC236}">
                <a16:creationId xmlns:a16="http://schemas.microsoft.com/office/drawing/2014/main" id="{E8EA3377-43BC-4A69-A57B-7DA6290C17E2}"/>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Une règle temporelle dynamique ne devient pas automatiquement un prédicat d’index valide.</a:t>
            </a:r>
          </a:p>
        </p:txBody>
      </p:sp>
      <p:sp>
        <p:nvSpPr>
          <p:cNvPr id="9" name="Rectangle 8">
            <a:extLst>
              <a:ext uri="{FF2B5EF4-FFF2-40B4-BE49-F238E27FC236}">
                <a16:creationId xmlns:a16="http://schemas.microsoft.com/office/drawing/2014/main" id="{EEEC7E58-FC0F-4D80-99F1-7B3A4181E459}"/>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B3CFD3B2-04DA-4F6F-8B15-0DC76F7721D1}"/>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14 / 32</a:t>
            </a:r>
          </a:p>
        </p:txBody>
      </p:sp>
    </p:spTree>
    <p:extLst>
      <p:ext uri="{BB962C8B-B14F-4D97-AF65-F5344CB8AC3E}">
        <p14:creationId xmlns:p14="http://schemas.microsoft.com/office/powerpoint/2010/main" val="3398126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66295977-9415-40AC-9E86-2867F792C965}"/>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17EDAB6B-A392-4484-ACDC-52E96244BB07}"/>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Index d’expression</a:t>
            </a:r>
          </a:p>
        </p:txBody>
      </p:sp>
      <p:sp>
        <p:nvSpPr>
          <p:cNvPr id="4" name="Rectangle 3">
            <a:extLst>
              <a:ext uri="{FF2B5EF4-FFF2-40B4-BE49-F238E27FC236}">
                <a16:creationId xmlns:a16="http://schemas.microsoft.com/office/drawing/2014/main" id="{EAD93A5F-A9DE-4562-83E3-49C467EC1445}"/>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Un index d’expression conserve la valeur calculée d’une expression. Pour une recherche insensible à la casse sur l’email, on peut indexer lower(email), puis utiliser cette expression dans la requête.</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L’expression doit respecter les exigences du moteur, notamment l’immuabilité des fonctions utilisées. La transformation doit aussi correspondre au métier : règles de casse et de comparaison ne signifient pas toujours identité des valeurs.</a:t>
            </a:r>
          </a:p>
        </p:txBody>
      </p:sp>
      <p:sp>
        <p:nvSpPr>
          <p:cNvPr id="5" name="Rectangle 4">
            <a:extLst>
              <a:ext uri="{FF2B5EF4-FFF2-40B4-BE49-F238E27FC236}">
                <a16:creationId xmlns:a16="http://schemas.microsoft.com/office/drawing/2014/main" id="{6A659E88-4DD4-4EAA-B10D-F8FC1760000A}"/>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9C3B35C5-D0F6-4A88-88B2-FEC11E2DEC0A}"/>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CREATE INDEX idx_email_min</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ON clients (lower(email));</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SELECT id FROM clients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WHERE lower(email) =</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lower('ETUDIANT42@EXAMPLE.TEST');</a:t>
            </a:r>
          </a:p>
        </p:txBody>
      </p:sp>
      <p:sp>
        <p:nvSpPr>
          <p:cNvPr id="7" name="Rectangle 6">
            <a:extLst>
              <a:ext uri="{FF2B5EF4-FFF2-40B4-BE49-F238E27FC236}">
                <a16:creationId xmlns:a16="http://schemas.microsoft.com/office/drawing/2014/main" id="{1B0F4B77-35B8-4829-B40E-04053D9367B1}"/>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D2E9EC7E-3C89-43BA-A02C-FCBE91B5FC8D}"/>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La variante ci-contre accélère la recherche. Une contrainte d’unicité demande une décision supplémentaire.</a:t>
            </a:r>
          </a:p>
        </p:txBody>
      </p:sp>
      <p:sp>
        <p:nvSpPr>
          <p:cNvPr id="9" name="Rectangle 8">
            <a:extLst>
              <a:ext uri="{FF2B5EF4-FFF2-40B4-BE49-F238E27FC236}">
                <a16:creationId xmlns:a16="http://schemas.microsoft.com/office/drawing/2014/main" id="{57F7C9C6-8C3E-4DEA-AF50-BABDA1B76646}"/>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4FE0EB94-6F91-4D36-841E-0911AB1556F1}"/>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15 / 32</a:t>
            </a:r>
          </a:p>
        </p:txBody>
      </p:sp>
    </p:spTree>
    <p:extLst>
      <p:ext uri="{BB962C8B-B14F-4D97-AF65-F5344CB8AC3E}">
        <p14:creationId xmlns:p14="http://schemas.microsoft.com/office/powerpoint/2010/main" val="16628143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7EE8EDDF-B6D7-45CF-A6BE-14B1450778FB}"/>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C8D016F4-F9DD-4969-897E-0A87DE3FDC4D}"/>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GIN : un index inversé</a:t>
            </a:r>
          </a:p>
        </p:txBody>
      </p:sp>
      <p:sp>
        <p:nvSpPr>
          <p:cNvPr id="4" name="Rectangle 3">
            <a:extLst>
              <a:ext uri="{FF2B5EF4-FFF2-40B4-BE49-F238E27FC236}">
                <a16:creationId xmlns:a16="http://schemas.microsoft.com/office/drawing/2014/main" id="{C3E23354-3631-44D4-8AB3-B8D735283D28}"/>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GIN associe des éléments à des ensembles de lignes. Il convient à des valeurs composées que l’on interroge par appartenance ou présence, par exemple un document de recherche ou certaines opérations JSONB.</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Dans produits.attributs, la requête peut chercher la présence d’une paire catégorie/valeur. La classe d’opérateurs détermine les conditions prises en charge. Un GIN n’accélère pas toutes les fonctions JSON ni un tri arbitraire.</a:t>
            </a:r>
          </a:p>
        </p:txBody>
      </p:sp>
      <p:sp>
        <p:nvSpPr>
          <p:cNvPr id="5" name="Rectangle 4">
            <a:extLst>
              <a:ext uri="{FF2B5EF4-FFF2-40B4-BE49-F238E27FC236}">
                <a16:creationId xmlns:a16="http://schemas.microsoft.com/office/drawing/2014/main" id="{EFA365B9-7336-4799-93FF-6082FA151B04}"/>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84E6895E-058A-4998-9AF1-9657133C4331}"/>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CREATE INDEX idx_attributs_gin</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ON produits USING gin (attributs);</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SELECT id, nom FROM produits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WHERE attributs @&gt;</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'{"categorie":"livre"}'::jsonb;</a:t>
            </a:r>
          </a:p>
        </p:txBody>
      </p:sp>
      <p:sp>
        <p:nvSpPr>
          <p:cNvPr id="7" name="Rectangle 6">
            <a:extLst>
              <a:ext uri="{FF2B5EF4-FFF2-40B4-BE49-F238E27FC236}">
                <a16:creationId xmlns:a16="http://schemas.microsoft.com/office/drawing/2014/main" id="{CB9E3A2B-C057-40BD-99C1-0825A60CFC31}"/>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7BFA4133-AEE4-4A76-88DD-8B114A904ED4}"/>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L’index jsonb_ops par défaut est utilisé dans cet exemple.</a:t>
            </a:r>
          </a:p>
        </p:txBody>
      </p:sp>
      <p:sp>
        <p:nvSpPr>
          <p:cNvPr id="9" name="Rectangle 8">
            <a:extLst>
              <a:ext uri="{FF2B5EF4-FFF2-40B4-BE49-F238E27FC236}">
                <a16:creationId xmlns:a16="http://schemas.microsoft.com/office/drawing/2014/main" id="{6016A4D9-7D68-4262-9787-39CF2995B674}"/>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33BAC490-1793-4034-B2F9-EEBC8F5ED87C}"/>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16 / 32</a:t>
            </a:r>
          </a:p>
        </p:txBody>
      </p:sp>
    </p:spTree>
    <p:extLst>
      <p:ext uri="{BB962C8B-B14F-4D97-AF65-F5344CB8AC3E}">
        <p14:creationId xmlns:p14="http://schemas.microsoft.com/office/powerpoint/2010/main" val="18528223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841D6C98-7C9B-476B-8A8A-081C5DE51A50}"/>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F5044839-C669-421C-8CA3-9A423441B52E}"/>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GIN et le coût du modèle JSON</a:t>
            </a:r>
          </a:p>
        </p:txBody>
      </p:sp>
      <p:sp>
        <p:nvSpPr>
          <p:cNvPr id="4" name="Rectangle 3">
            <a:extLst>
              <a:ext uri="{FF2B5EF4-FFF2-40B4-BE49-F238E27FC236}">
                <a16:creationId xmlns:a16="http://schemas.microsoft.com/office/drawing/2014/main" id="{E66C778B-AF96-4630-81F1-85808A8BAF0C}"/>
              </a:ext>
            </a:extLst>
          </p:cNvPr>
          <p:cNvSpPr>
            <a:spLocks noGrp="1"/>
          </p:cNvSpPr>
          <p:nvPr/>
        </p:nvSpPr>
        <p:spPr>
          <a:xfrm>
            <a:off x="6667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MÉCANISME</a:t>
            </a:r>
          </a:p>
        </p:txBody>
      </p:sp>
      <p:sp>
        <p:nvSpPr>
          <p:cNvPr id="5" name="Rectangle 4">
            <a:extLst>
              <a:ext uri="{FF2B5EF4-FFF2-40B4-BE49-F238E27FC236}">
                <a16:creationId xmlns:a16="http://schemas.microsoft.com/office/drawing/2014/main" id="{F06A5268-F329-413B-9D5C-5A1DC37EEB39}"/>
              </a:ext>
            </a:extLst>
          </p:cNvPr>
          <p:cNvSpPr>
            <a:spLocks noGrp="1"/>
          </p:cNvSpPr>
          <p:nvPr/>
        </p:nvSpPr>
        <p:spPr>
          <a:xfrm>
            <a:off x="666750" y="2571750"/>
            <a:ext cx="6334125"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JSONB autorise des attributs variables sans créer une colonne pour chacun. Une propriété structurante, très utilisée dans les filtres ou les contraintes, peut cependant mériter une colonne typée.</a:t>
            </a:r>
          </a:p>
        </p:txBody>
      </p:sp>
      <p:sp>
        <p:nvSpPr>
          <p:cNvPr id="6" name="Rectangle 5">
            <a:extLst>
              <a:ext uri="{FF2B5EF4-FFF2-40B4-BE49-F238E27FC236}">
                <a16:creationId xmlns:a16="http://schemas.microsoft.com/office/drawing/2014/main" id="{E80A6473-C1B7-4B3A-B442-82045D48C8BA}"/>
              </a:ext>
            </a:extLst>
          </p:cNvPr>
          <p:cNvSpPr>
            <a:spLocks noGrp="1"/>
          </p:cNvSpPr>
          <p:nvPr/>
        </p:nvSpPr>
        <p:spPr>
          <a:xfrm>
            <a:off x="80962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CONSÉQUENCE APPLICATIVE</a:t>
            </a:r>
          </a:p>
        </p:txBody>
      </p:sp>
      <p:sp>
        <p:nvSpPr>
          <p:cNvPr id="7" name="Rectangle 6">
            <a:extLst>
              <a:ext uri="{FF2B5EF4-FFF2-40B4-BE49-F238E27FC236}">
                <a16:creationId xmlns:a16="http://schemas.microsoft.com/office/drawing/2014/main" id="{9FCFF86A-94E2-4C7D-929A-04D2F9EE4E32}"/>
              </a:ext>
            </a:extLst>
          </p:cNvPr>
          <p:cNvSpPr>
            <a:spLocks noGrp="1"/>
          </p:cNvSpPr>
          <p:nvPr/>
        </p:nvSpPr>
        <p:spPr>
          <a:xfrm>
            <a:off x="8096250" y="2571750"/>
            <a:ext cx="6381750"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Un index sur tout le document peut être plus lourd qu’un index ciblé. Les changements d’attributs exigent sa maintenance. On compare une colonne categorie, une expression et un GIN selon les requêtes, les écritures et l’évolution du modèle.</a:t>
            </a:r>
          </a:p>
        </p:txBody>
      </p:sp>
      <p:sp>
        <p:nvSpPr>
          <p:cNvPr id="8" name="Rectangle 7">
            <a:extLst>
              <a:ext uri="{FF2B5EF4-FFF2-40B4-BE49-F238E27FC236}">
                <a16:creationId xmlns:a16="http://schemas.microsoft.com/office/drawing/2014/main" id="{5ADFD8EB-5508-442D-8BE2-A0D65765C9EB}"/>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2775A2D1-27C0-4E36-BA53-EA2CDA2F53E8}"/>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Dans ShopFlow, le prix et le stock restent des colonnes typées. Les caractéristiques secondaires peuvent être JSONB.</a:t>
            </a:r>
          </a:p>
        </p:txBody>
      </p:sp>
      <p:sp>
        <p:nvSpPr>
          <p:cNvPr id="10" name="Rectangle 9">
            <a:extLst>
              <a:ext uri="{FF2B5EF4-FFF2-40B4-BE49-F238E27FC236}">
                <a16:creationId xmlns:a16="http://schemas.microsoft.com/office/drawing/2014/main" id="{A27126C8-2D9E-4850-8462-C79F8A378491}"/>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0CB34B4B-A79A-4397-B9E7-FEA659EC3D9F}"/>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17 / 32</a:t>
            </a:r>
          </a:p>
        </p:txBody>
      </p:sp>
    </p:spTree>
    <p:extLst>
      <p:ext uri="{BB962C8B-B14F-4D97-AF65-F5344CB8AC3E}">
        <p14:creationId xmlns:p14="http://schemas.microsoft.com/office/powerpoint/2010/main" val="2007977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3446C8B6-A8A0-4BBF-84AC-543678A6233A}"/>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2D8616D1-EF57-425E-A341-84CE30E45628}"/>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GiST : des recherches spécialisées</a:t>
            </a:r>
          </a:p>
        </p:txBody>
      </p:sp>
      <p:sp>
        <p:nvSpPr>
          <p:cNvPr id="4" name="Rectangle 3">
            <a:extLst>
              <a:ext uri="{FF2B5EF4-FFF2-40B4-BE49-F238E27FC236}">
                <a16:creationId xmlns:a16="http://schemas.microsoft.com/office/drawing/2014/main" id="{D4462628-9B86-4A19-B891-5A701570F1DA}"/>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GiST fournit un cadre d’indexation extensible pour des opérateurs spécialisés. Selon la classe d’opérateurs, il peut servir aux intervalles, à la recherche spatiale ou à la proximité. Ce n’est pas un index réservé à la géographie.</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Dans une réservation, un intervalle représente une période occupée. Une condition de chevauchement répond au besoin de conflit. L’index doit prendre en charge l’opérateur employé.</a:t>
            </a:r>
          </a:p>
        </p:txBody>
      </p:sp>
      <p:sp>
        <p:nvSpPr>
          <p:cNvPr id="5" name="Rectangle 4">
            <a:extLst>
              <a:ext uri="{FF2B5EF4-FFF2-40B4-BE49-F238E27FC236}">
                <a16:creationId xmlns:a16="http://schemas.microsoft.com/office/drawing/2014/main" id="{AB4C8F95-3BF3-4C73-8CE6-666A98DD8D35}"/>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2834D819-D2C1-47D4-A7F8-09F3838377B1}"/>
              </a:ext>
            </a:extLst>
          </p:cNvPr>
          <p:cNvSpPr>
            <a:spLocks noGrp="1"/>
          </p:cNvSpPr>
          <p:nvPr/>
        </p:nvSpPr>
        <p:spPr>
          <a:xfrm>
            <a:off x="7524750" y="2476500"/>
            <a:ext cx="7000875" cy="4000500"/>
          </a:xfrm>
          <a:prstGeom prst="rect">
            <a:avLst/>
          </a:prstGeom>
          <a:noFill/>
          <a:ln w="0">
            <a:noFill/>
          </a:ln>
        </p:spPr>
        <p:txBody>
          <a:bodyPr lIns="91440" tIns="45720" rIns="91440" bIns="45720" anchor="t">
            <a:noAutofit/>
          </a:bodyPr>
          <a:lstStyle/>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CREATE TABLE reservations (</a:t>
            </a:r>
          </a:p>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 id </a:t>
            </a:r>
            <a:r>
              <a:rPr sz="1800" b="0" dirty="0" err="1">
                <a:solidFill>
                  <a:srgbClr val="173044"/>
                </a:solidFill>
                <a:latin typeface="Consolas"/>
                <a:ea typeface="Consolas"/>
                <a:cs typeface="Consolas"/>
              </a:rPr>
              <a:t>bigint</a:t>
            </a:r>
            <a:r>
              <a:rPr sz="1800" b="0" dirty="0">
                <a:solidFill>
                  <a:srgbClr val="173044"/>
                </a:solidFill>
                <a:latin typeface="Consolas"/>
                <a:ea typeface="Consolas"/>
                <a:cs typeface="Consolas"/>
              </a:rPr>
              <a:t> PRIMARY KEY,</a:t>
            </a:r>
          </a:p>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 </a:t>
            </a:r>
            <a:r>
              <a:rPr sz="1800" b="0" dirty="0" err="1">
                <a:solidFill>
                  <a:srgbClr val="173044"/>
                </a:solidFill>
                <a:latin typeface="Consolas"/>
                <a:ea typeface="Consolas"/>
                <a:cs typeface="Consolas"/>
              </a:rPr>
              <a:t>periode</a:t>
            </a:r>
            <a:r>
              <a:rPr sz="1800" b="0" dirty="0">
                <a:solidFill>
                  <a:srgbClr val="173044"/>
                </a:solidFill>
                <a:latin typeface="Consolas"/>
                <a:ea typeface="Consolas"/>
                <a:cs typeface="Consolas"/>
              </a:rPr>
              <a:t> </a:t>
            </a:r>
            <a:r>
              <a:rPr sz="1800" b="0" dirty="0" err="1">
                <a:solidFill>
                  <a:srgbClr val="173044"/>
                </a:solidFill>
                <a:latin typeface="Consolas"/>
                <a:ea typeface="Consolas"/>
                <a:cs typeface="Consolas"/>
              </a:rPr>
              <a:t>tstzrange</a:t>
            </a:r>
            <a:r>
              <a:rPr sz="1800" b="0" dirty="0">
                <a:solidFill>
                  <a:srgbClr val="173044"/>
                </a:solidFill>
                <a:latin typeface="Consolas"/>
                <a:ea typeface="Consolas"/>
                <a:cs typeface="Consolas"/>
              </a:rPr>
              <a:t> NOT NULL</a:t>
            </a:r>
          </a:p>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a:t>
            </a:r>
          </a:p>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CREATE INDEX </a:t>
            </a:r>
            <a:r>
              <a:rPr sz="1800" b="0" dirty="0" err="1">
                <a:solidFill>
                  <a:srgbClr val="173044"/>
                </a:solidFill>
                <a:latin typeface="Consolas"/>
                <a:ea typeface="Consolas"/>
                <a:cs typeface="Consolas"/>
              </a:rPr>
              <a:t>idx_periode</a:t>
            </a:r>
          </a:p>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ON reservations USING gist (</a:t>
            </a:r>
            <a:r>
              <a:rPr sz="1800" b="0" dirty="0" err="1">
                <a:solidFill>
                  <a:srgbClr val="173044"/>
                </a:solidFill>
                <a:latin typeface="Consolas"/>
                <a:ea typeface="Consolas"/>
                <a:cs typeface="Consolas"/>
              </a:rPr>
              <a:t>periode</a:t>
            </a:r>
            <a:r>
              <a:rPr sz="1800" b="0" dirty="0">
                <a:solidFill>
                  <a:srgbClr val="173044"/>
                </a:solidFill>
                <a:latin typeface="Consolas"/>
                <a:ea typeface="Consolas"/>
                <a:cs typeface="Consolas"/>
              </a:rPr>
              <a:t>);</a:t>
            </a:r>
          </a:p>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 </a:t>
            </a:r>
            <a:r>
              <a:rPr sz="1800" b="0" dirty="0" err="1">
                <a:solidFill>
                  <a:srgbClr val="173044"/>
                </a:solidFill>
                <a:latin typeface="Consolas"/>
                <a:ea typeface="Consolas"/>
                <a:cs typeface="Consolas"/>
              </a:rPr>
              <a:t>Opérateur</a:t>
            </a:r>
            <a:r>
              <a:rPr sz="1800" b="0" dirty="0">
                <a:solidFill>
                  <a:srgbClr val="173044"/>
                </a:solidFill>
                <a:latin typeface="Consolas"/>
                <a:ea typeface="Consolas"/>
                <a:cs typeface="Consolas"/>
              </a:rPr>
              <a:t> &amp;&amp; : </a:t>
            </a:r>
            <a:r>
              <a:rPr sz="1800" b="0" dirty="0" err="1">
                <a:solidFill>
                  <a:srgbClr val="173044"/>
                </a:solidFill>
                <a:latin typeface="Consolas"/>
                <a:ea typeface="Consolas"/>
                <a:cs typeface="Consolas"/>
              </a:rPr>
              <a:t>chevauchement</a:t>
            </a:r>
          </a:p>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 entre deux </a:t>
            </a:r>
            <a:r>
              <a:rPr sz="1800" b="0" dirty="0" err="1">
                <a:solidFill>
                  <a:srgbClr val="173044"/>
                </a:solidFill>
                <a:latin typeface="Consolas"/>
                <a:ea typeface="Consolas"/>
                <a:cs typeface="Consolas"/>
              </a:rPr>
              <a:t>intervalles</a:t>
            </a:r>
            <a:r>
              <a:rPr sz="1800" b="0" dirty="0">
                <a:solidFill>
                  <a:srgbClr val="173044"/>
                </a:solidFill>
                <a:latin typeface="Consolas"/>
                <a:ea typeface="Consolas"/>
                <a:cs typeface="Consolas"/>
              </a:rPr>
              <a:t>.</a:t>
            </a:r>
          </a:p>
          <a:p>
            <a:pPr>
              <a:defRPr sz="1800" b="0">
                <a:solidFill>
                  <a:srgbClr val="173044"/>
                </a:solidFill>
                <a:latin typeface="Consolas"/>
                <a:ea typeface="Consolas"/>
                <a:cs typeface="Consolas"/>
              </a:defRPr>
            </a:pPr>
            <a:endParaRPr lang="fr-FR" dirty="0">
              <a:solidFill>
                <a:srgbClr val="173044"/>
              </a:solidFill>
              <a:latin typeface="Consolas"/>
              <a:ea typeface="Consolas"/>
              <a:cs typeface="Consolas"/>
            </a:endParaRPr>
          </a:p>
          <a:p>
            <a:pPr>
              <a:defRPr sz="1800" b="0">
                <a:solidFill>
                  <a:srgbClr val="173044"/>
                </a:solidFill>
                <a:latin typeface="Consolas"/>
                <a:ea typeface="Consolas"/>
                <a:cs typeface="Consolas"/>
              </a:defRPr>
            </a:pPr>
            <a:r>
              <a:rPr lang="en-US" dirty="0">
                <a:solidFill>
                  <a:srgbClr val="173044"/>
                </a:solidFill>
                <a:ea typeface="+mn-lt"/>
                <a:cs typeface="+mn-lt"/>
              </a:rPr>
              <a:t>SELECT *</a:t>
            </a:r>
            <a:endParaRPr lang="fr-FR" dirty="0"/>
          </a:p>
          <a:p>
            <a:pPr>
              <a:defRPr sz="1800" b="0">
                <a:solidFill>
                  <a:srgbClr val="173044"/>
                </a:solidFill>
                <a:latin typeface="Consolas"/>
                <a:ea typeface="Consolas"/>
                <a:cs typeface="Consolas"/>
              </a:defRPr>
            </a:pPr>
            <a:r>
              <a:rPr lang="en-US" dirty="0">
                <a:solidFill>
                  <a:srgbClr val="173044"/>
                </a:solidFill>
                <a:ea typeface="+mn-lt"/>
                <a:cs typeface="+mn-lt"/>
              </a:rPr>
              <a:t>FROM reservations</a:t>
            </a:r>
            <a:endParaRPr lang="fr-FR" dirty="0"/>
          </a:p>
          <a:p>
            <a:pPr>
              <a:defRPr sz="1800" b="0">
                <a:solidFill>
                  <a:srgbClr val="173044"/>
                </a:solidFill>
                <a:latin typeface="Consolas"/>
                <a:ea typeface="Consolas"/>
                <a:cs typeface="Consolas"/>
              </a:defRPr>
            </a:pPr>
            <a:r>
              <a:rPr lang="en-US" dirty="0">
                <a:solidFill>
                  <a:srgbClr val="173044"/>
                </a:solidFill>
                <a:ea typeface="+mn-lt"/>
                <a:cs typeface="+mn-lt"/>
              </a:rPr>
              <a:t>WHERE </a:t>
            </a:r>
            <a:r>
              <a:rPr lang="en-US" dirty="0" err="1">
                <a:solidFill>
                  <a:srgbClr val="173044"/>
                </a:solidFill>
                <a:ea typeface="+mn-lt"/>
                <a:cs typeface="+mn-lt"/>
              </a:rPr>
              <a:t>periode</a:t>
            </a:r>
            <a:r>
              <a:rPr lang="en-US" dirty="0">
                <a:solidFill>
                  <a:srgbClr val="173044"/>
                </a:solidFill>
                <a:ea typeface="+mn-lt"/>
                <a:cs typeface="+mn-lt"/>
              </a:rPr>
              <a:t> &amp;&amp; </a:t>
            </a:r>
            <a:r>
              <a:rPr lang="en-US" dirty="0" err="1">
                <a:solidFill>
                  <a:srgbClr val="173044"/>
                </a:solidFill>
                <a:ea typeface="+mn-lt"/>
                <a:cs typeface="+mn-lt"/>
              </a:rPr>
              <a:t>tstzrange</a:t>
            </a:r>
            <a:r>
              <a:rPr lang="en-US" dirty="0">
                <a:solidFill>
                  <a:srgbClr val="173044"/>
                </a:solidFill>
                <a:ea typeface="+mn-lt"/>
                <a:cs typeface="+mn-lt"/>
              </a:rPr>
              <a:t>(</a:t>
            </a:r>
            <a:endParaRPr lang="fr-FR" dirty="0"/>
          </a:p>
          <a:p>
            <a:pPr>
              <a:defRPr sz="1800" b="0">
                <a:solidFill>
                  <a:srgbClr val="173044"/>
                </a:solidFill>
                <a:latin typeface="Consolas"/>
                <a:ea typeface="Consolas"/>
                <a:cs typeface="Consolas"/>
              </a:defRPr>
            </a:pPr>
            <a:r>
              <a:rPr lang="en-US" dirty="0">
                <a:solidFill>
                  <a:srgbClr val="173044"/>
                </a:solidFill>
                <a:ea typeface="+mn-lt"/>
                <a:cs typeface="+mn-lt"/>
              </a:rPr>
              <a:t>  '2026-10-10 14:00+02',</a:t>
            </a:r>
            <a:endParaRPr lang="fr-FR" dirty="0"/>
          </a:p>
          <a:p>
            <a:pPr>
              <a:defRPr sz="1800" b="0">
                <a:solidFill>
                  <a:srgbClr val="173044"/>
                </a:solidFill>
                <a:latin typeface="Consolas"/>
                <a:ea typeface="Consolas"/>
                <a:cs typeface="Consolas"/>
              </a:defRPr>
            </a:pPr>
            <a:r>
              <a:rPr lang="en-US" dirty="0">
                <a:solidFill>
                  <a:srgbClr val="173044"/>
                </a:solidFill>
                <a:ea typeface="+mn-lt"/>
                <a:cs typeface="+mn-lt"/>
              </a:rPr>
              <a:t>  '2026-10-10 16:00+02'</a:t>
            </a:r>
            <a:endParaRPr lang="fr-FR" dirty="0"/>
          </a:p>
          <a:p>
            <a:pPr>
              <a:defRPr sz="1800" b="0">
                <a:solidFill>
                  <a:srgbClr val="173044"/>
                </a:solidFill>
                <a:latin typeface="Consolas"/>
                <a:ea typeface="Consolas"/>
                <a:cs typeface="Consolas"/>
              </a:defRPr>
            </a:pPr>
            <a:r>
              <a:rPr lang="en-US" dirty="0">
                <a:solidFill>
                  <a:srgbClr val="173044"/>
                </a:solidFill>
                <a:ea typeface="+mn-lt"/>
                <a:cs typeface="+mn-lt"/>
              </a:rPr>
              <a:t>);</a:t>
            </a:r>
            <a:endParaRPr lang="fr-FR" dirty="0"/>
          </a:p>
        </p:txBody>
      </p:sp>
      <p:sp>
        <p:nvSpPr>
          <p:cNvPr id="7" name="Rectangle 6">
            <a:extLst>
              <a:ext uri="{FF2B5EF4-FFF2-40B4-BE49-F238E27FC236}">
                <a16:creationId xmlns:a16="http://schemas.microsoft.com/office/drawing/2014/main" id="{27507855-0B80-4178-B179-FAD0AC42C15D}"/>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2BF9FD9A-EDD1-4EE6-AADC-CDB65D958DB2}"/>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L’exemple indépendant du fil rouge utilise le type tstzrange natif.</a:t>
            </a:r>
          </a:p>
        </p:txBody>
      </p:sp>
      <p:sp>
        <p:nvSpPr>
          <p:cNvPr id="9" name="Rectangle 8">
            <a:extLst>
              <a:ext uri="{FF2B5EF4-FFF2-40B4-BE49-F238E27FC236}">
                <a16:creationId xmlns:a16="http://schemas.microsoft.com/office/drawing/2014/main" id="{EC0A4AD0-FF93-4B30-AD83-77F5E661FA9B}"/>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28999F40-FA47-4780-871E-5AE6EC93426E}"/>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18 / 32</a:t>
            </a:r>
          </a:p>
        </p:txBody>
      </p:sp>
    </p:spTree>
    <p:extLst>
      <p:ext uri="{BB962C8B-B14F-4D97-AF65-F5344CB8AC3E}">
        <p14:creationId xmlns:p14="http://schemas.microsoft.com/office/powerpoint/2010/main" val="1118749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CBCDBEE4-FD37-40FB-B53F-10D02C388C38}"/>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9F2FF764-1377-4E06-B936-0F81D7605AAA}"/>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BRIN et organisation physique</a:t>
            </a:r>
          </a:p>
        </p:txBody>
      </p:sp>
      <p:sp>
        <p:nvSpPr>
          <p:cNvPr id="4" name="Rectangle 3">
            <a:extLst>
              <a:ext uri="{FF2B5EF4-FFF2-40B4-BE49-F238E27FC236}">
                <a16:creationId xmlns:a16="http://schemas.microsoft.com/office/drawing/2014/main" id="{AF1E4416-E3F0-4A84-B4EB-2C7E12E17E09}"/>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BRIN conserve des résumés de plages de blocs. Il peut être compact et utile quand une valeur suit assez bien l’ordre physique des lignes, par exemple des événements ajoutés par date.</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Si les valeurs sont dispersées au hasard dans les pages, les résumés éliminent moins de plages. BRIN ne remplace pas une recherche ciblée par identifiant. La corrélation physique et le volume expliquent son intérêt.</a:t>
            </a:r>
          </a:p>
        </p:txBody>
      </p:sp>
      <p:sp>
        <p:nvSpPr>
          <p:cNvPr id="5" name="Rectangle 4">
            <a:extLst>
              <a:ext uri="{FF2B5EF4-FFF2-40B4-BE49-F238E27FC236}">
                <a16:creationId xmlns:a16="http://schemas.microsoft.com/office/drawing/2014/main" id="{9FF5C662-C01D-444E-A739-7A1577386414}"/>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11C36CB2-9AC3-4F6F-A711-EE07895427DB}"/>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CREATE INDEX idx_date_brin</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ON commandes USING brin (created_at);</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Mesurer un intervalle de dates.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Comparer aux parcours réellement</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observés, sans imposer le BRIN.</a:t>
            </a:r>
          </a:p>
        </p:txBody>
      </p:sp>
      <p:sp>
        <p:nvSpPr>
          <p:cNvPr id="7" name="Rectangle 6">
            <a:extLst>
              <a:ext uri="{FF2B5EF4-FFF2-40B4-BE49-F238E27FC236}">
                <a16:creationId xmlns:a16="http://schemas.microsoft.com/office/drawing/2014/main" id="{CCDE27FF-15AC-45F7-A22C-E6AA1817ADEB}"/>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A6F02C21-6B11-4BD0-9760-443F9D37A5D2}"/>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Notre jeu mélange les dates par identifiant. Il fournit un contre-exemple possible à un BRIN efficace.</a:t>
            </a:r>
          </a:p>
        </p:txBody>
      </p:sp>
      <p:sp>
        <p:nvSpPr>
          <p:cNvPr id="9" name="Rectangle 8">
            <a:extLst>
              <a:ext uri="{FF2B5EF4-FFF2-40B4-BE49-F238E27FC236}">
                <a16:creationId xmlns:a16="http://schemas.microsoft.com/office/drawing/2014/main" id="{3F8450AF-5EA0-4E3A-8FA3-893FA4F4B2AD}"/>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379FA569-AAA1-4212-96D8-DCC68E298F57}"/>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19 / 32</a:t>
            </a:r>
          </a:p>
        </p:txBody>
      </p:sp>
    </p:spTree>
    <p:extLst>
      <p:ext uri="{BB962C8B-B14F-4D97-AF65-F5344CB8AC3E}">
        <p14:creationId xmlns:p14="http://schemas.microsoft.com/office/powerpoint/2010/main" val="1383094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9" name="Image 8"/>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7C5C2F01-5E7C-4197-B5DD-9828F5D84B8C}"/>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4CF1E7E1-4CE5-487C-A658-BCC31459F484}"/>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Comparaison des familles d’index</a:t>
            </a:r>
          </a:p>
        </p:txBody>
      </p:sp>
      <p:sp>
        <p:nvSpPr>
          <p:cNvPr id="4" name="Rectangle 3">
            <a:extLst>
              <a:ext uri="{FF2B5EF4-FFF2-40B4-BE49-F238E27FC236}">
                <a16:creationId xmlns:a16="http://schemas.microsoft.com/office/drawing/2014/main" id="{059AAA5F-D4FE-4DE2-B7C1-975388110177}"/>
              </a:ext>
            </a:extLst>
          </p:cNvPr>
          <p:cNvSpPr>
            <a:spLocks noGrp="1"/>
          </p:cNvSpPr>
          <p:nvPr/>
        </p:nvSpPr>
        <p:spPr>
          <a:xfrm>
            <a:off x="666750" y="2038350"/>
            <a:ext cx="13525500" cy="164782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Le type d’index découle des opérateurs et des chemins d’accès. B-tree, GIN, GiST et BRIN ne proposent pas la même organisation. Le moteur doit pouvoir associer la condition à la classe d’opérateurs.</a:t>
            </a:r>
          </a:p>
          <a:p>
            <a:pPr>
              <a:defRPr sz="2025" b="0">
                <a:solidFill>
                  <a:srgbClr val="173044"/>
                </a:solidFill>
                <a:latin typeface="Aptos"/>
                <a:ea typeface="Aptos"/>
                <a:cs typeface="Aptos"/>
              </a:defRPr>
            </a:pPr>
            <a:r>
              <a:rPr sz="2025" b="0">
                <a:solidFill>
                  <a:srgbClr val="173044"/>
                </a:solidFill>
                <a:latin typeface="Aptos"/>
                <a:ea typeface="Aptos"/>
                <a:cs typeface="Aptos"/>
              </a:rPr>
              <a:t>Le tableau sert de point de départ. La décision finale repose sur le plan et la charge réelle. Les index partiels et les colonnes INCLUDE sont des choix supplémentaires, pas des familles concurrentes.</a:t>
            </a:r>
          </a:p>
        </p:txBody>
      </p:sp>
      <p:graphicFrame>
        <p:nvGraphicFramePr>
          <p:cNvPr id="13" name="Tableau 12"/>
          <p:cNvGraphicFramePr/>
          <p:nvPr/>
        </p:nvGraphicFramePr>
        <p:xfrm>
          <a:off x="666750" y="3857625"/>
          <a:ext cx="13811250" cy="3333750"/>
        </p:xfrm>
        <a:graphic>
          <a:graphicData uri="http://schemas.openxmlformats.org/drawingml/2006/table">
            <a:tbl>
              <a:tblPr/>
              <a:tblGrid>
                <a:gridCol w="4603750">
                  <a:extLst>
                    <a:ext uri="{9D8B030D-6E8A-4147-A177-3AD203B41FA5}">
                      <a16:colId xmlns:a16="http://schemas.microsoft.com/office/drawing/2014/main" val="20000"/>
                    </a:ext>
                  </a:extLst>
                </a:gridCol>
                <a:gridCol w="4603750">
                  <a:extLst>
                    <a:ext uri="{9D8B030D-6E8A-4147-A177-3AD203B41FA5}">
                      <a16:colId xmlns:a16="http://schemas.microsoft.com/office/drawing/2014/main" val="20001"/>
                    </a:ext>
                  </a:extLst>
                </a:gridCol>
                <a:gridCol w="4603750">
                  <a:extLst>
                    <a:ext uri="{9D8B030D-6E8A-4147-A177-3AD203B41FA5}">
                      <a16:colId xmlns:a16="http://schemas.microsoft.com/office/drawing/2014/main" val="20002"/>
                    </a:ext>
                  </a:extLst>
                </a:gridCol>
              </a:tblGrid>
              <a:tr h="555625">
                <a:tc>
                  <a:txBody>
                    <a:bodyPr/>
                    <a:lstStyle/>
                    <a:p>
                      <a:r>
                        <a:rPr sz="1800" b="1">
                          <a:solidFill>
                            <a:srgbClr val="FFFFFF"/>
                          </a:solidFill>
                          <a:latin typeface="Aptos"/>
                          <a:ea typeface="Aptos"/>
                          <a:cs typeface="Aptos"/>
                        </a:rPr>
                        <a:t>Choix</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Accès typique</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Coût ou limite</a:t>
                      </a:r>
                    </a:p>
                  </a:txBody>
                  <a:tcPr marL="142875" marR="142875" marT="114300" marB="114300" anchor="ctr">
                    <a:solidFill>
                      <a:srgbClr val="173C4C"/>
                    </a:solidFill>
                  </a:tcPr>
                </a:tc>
                <a:extLst>
                  <a:ext uri="{0D108BD9-81ED-4DB2-BD59-A6C34878D82A}">
                    <a16:rowId xmlns:a16="http://schemas.microsoft.com/office/drawing/2014/main" val="10000"/>
                  </a:ext>
                </a:extLst>
              </a:tr>
              <a:tr h="555625">
                <a:tc>
                  <a:txBody>
                    <a:bodyPr/>
                    <a:lstStyle/>
                    <a:p>
                      <a:r>
                        <a:rPr sz="1800">
                          <a:solidFill>
                            <a:srgbClr val="173044"/>
                          </a:solidFill>
                          <a:latin typeface="Aptos"/>
                          <a:ea typeface="Aptos"/>
                          <a:cs typeface="Aptos"/>
                        </a:rPr>
                        <a:t>B-tree</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Égalité, intervalle, tri</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Taille et écritures</a:t>
                      </a:r>
                    </a:p>
                  </a:txBody>
                  <a:tcPr marL="142875" marR="142875" marT="114300" marB="114300" anchor="ctr">
                    <a:solidFill>
                      <a:srgbClr val="F2DEC6"/>
                    </a:solidFill>
                  </a:tcPr>
                </a:tc>
                <a:extLst>
                  <a:ext uri="{0D108BD9-81ED-4DB2-BD59-A6C34878D82A}">
                    <a16:rowId xmlns:a16="http://schemas.microsoft.com/office/drawing/2014/main" val="10001"/>
                  </a:ext>
                </a:extLst>
              </a:tr>
              <a:tr h="555625">
                <a:tc>
                  <a:txBody>
                    <a:bodyPr/>
                    <a:lstStyle/>
                    <a:p>
                      <a:r>
                        <a:rPr sz="1800">
                          <a:solidFill>
                            <a:srgbClr val="173044"/>
                          </a:solidFill>
                          <a:latin typeface="Aptos"/>
                          <a:ea typeface="Aptos"/>
                          <a:cs typeface="Aptos"/>
                        </a:rPr>
                        <a:t>GIN</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Présence dans une valeur composée</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Maintenance et opérateurs</a:t>
                      </a:r>
                    </a:p>
                  </a:txBody>
                  <a:tcPr marL="142875" marR="142875" marT="114300" marB="114300" anchor="ctr">
                    <a:solidFill>
                      <a:srgbClr val="F2DEC6"/>
                    </a:solidFill>
                  </a:tcPr>
                </a:tc>
                <a:extLst>
                  <a:ext uri="{0D108BD9-81ED-4DB2-BD59-A6C34878D82A}">
                    <a16:rowId xmlns:a16="http://schemas.microsoft.com/office/drawing/2014/main" val="10002"/>
                  </a:ext>
                </a:extLst>
              </a:tr>
              <a:tr h="555625">
                <a:tc>
                  <a:txBody>
                    <a:bodyPr/>
                    <a:lstStyle/>
                    <a:p>
                      <a:r>
                        <a:rPr sz="1800">
                          <a:solidFill>
                            <a:srgbClr val="173044"/>
                          </a:solidFill>
                          <a:latin typeface="Aptos"/>
                          <a:ea typeface="Aptos"/>
                          <a:cs typeface="Aptos"/>
                        </a:rPr>
                        <a:t>GiST</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Intervalles, proximité selon classe</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Opérateurs spécialisés</a:t>
                      </a:r>
                    </a:p>
                  </a:txBody>
                  <a:tcPr marL="142875" marR="142875" marT="114300" marB="114300" anchor="ctr">
                    <a:solidFill>
                      <a:srgbClr val="F2DEC6"/>
                    </a:solidFill>
                  </a:tcPr>
                </a:tc>
                <a:extLst>
                  <a:ext uri="{0D108BD9-81ED-4DB2-BD59-A6C34878D82A}">
                    <a16:rowId xmlns:a16="http://schemas.microsoft.com/office/drawing/2014/main" val="10003"/>
                  </a:ext>
                </a:extLst>
              </a:tr>
              <a:tr h="555625">
                <a:tc>
                  <a:txBody>
                    <a:bodyPr/>
                    <a:lstStyle/>
                    <a:p>
                      <a:r>
                        <a:rPr sz="1800">
                          <a:solidFill>
                            <a:srgbClr val="173044"/>
                          </a:solidFill>
                          <a:latin typeface="Aptos"/>
                          <a:ea typeface="Aptos"/>
                          <a:cs typeface="Aptos"/>
                        </a:rPr>
                        <a:t>BRIN</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Plages corrélées aux blocs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Dispersion physique</a:t>
                      </a:r>
                    </a:p>
                  </a:txBody>
                  <a:tcPr marL="142875" marR="142875" marT="114300" marB="114300" anchor="ctr">
                    <a:solidFill>
                      <a:srgbClr val="F2DEC6"/>
                    </a:solidFill>
                  </a:tcPr>
                </a:tc>
                <a:extLst>
                  <a:ext uri="{0D108BD9-81ED-4DB2-BD59-A6C34878D82A}">
                    <a16:rowId xmlns:a16="http://schemas.microsoft.com/office/drawing/2014/main" val="10004"/>
                  </a:ext>
                </a:extLst>
              </a:tr>
              <a:tr h="555625">
                <a:tc>
                  <a:txBody>
                    <a:bodyPr/>
                    <a:lstStyle/>
                    <a:p>
                      <a:r>
                        <a:rPr sz="1800">
                          <a:solidFill>
                            <a:srgbClr val="173044"/>
                          </a:solidFill>
                          <a:latin typeface="Aptos"/>
                          <a:ea typeface="Aptos"/>
                          <a:cs typeface="Aptos"/>
                        </a:rPr>
                        <a:t>Partiel</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Sous-ensemble identifié</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Preuve du prédicat</a:t>
                      </a:r>
                    </a:p>
                  </a:txBody>
                  <a:tcPr marL="142875" marR="142875" marT="114300" marB="114300" anchor="ctr">
                    <a:solidFill>
                      <a:srgbClr val="F2DEC6"/>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10DAB8A3-CFBD-4312-9DB1-A4E028C72C32}"/>
              </a:ext>
            </a:extLst>
          </p:cNvPr>
          <p:cNvSpPr>
            <a:spLocks noGrp="1"/>
          </p:cNvSpPr>
          <p:nvPr/>
        </p:nvSpPr>
        <p:spPr>
          <a:xfrm>
            <a:off x="666750" y="7477125"/>
            <a:ext cx="13525500" cy="533400"/>
          </a:xfrm>
          <a:prstGeom prst="rect">
            <a:avLst/>
          </a:prstGeom>
          <a:noFill/>
          <a:ln w="0">
            <a:noFill/>
          </a:ln>
        </p:spPr>
        <p:txBody>
          <a:bodyPr>
            <a:noAutofit/>
          </a:bodyPr>
          <a:lstStyle/>
          <a:p>
            <a:pPr>
              <a:defRPr sz="1725" b="0">
                <a:solidFill>
                  <a:srgbClr val="173044"/>
                </a:solidFill>
                <a:latin typeface="Aptos"/>
                <a:ea typeface="Aptos"/>
                <a:cs typeface="Aptos"/>
              </a:defRPr>
            </a:pPr>
            <a:r>
              <a:rPr sz="1725" b="0">
                <a:solidFill>
                  <a:srgbClr val="173044"/>
                </a:solidFill>
                <a:latin typeface="Aptos"/>
                <a:ea typeface="Aptos"/>
                <a:cs typeface="Aptos"/>
              </a:rPr>
              <a:t>Un index partiel peut être un B-tree limité aux commandes en attente.</a:t>
            </a:r>
          </a:p>
        </p:txBody>
      </p:sp>
      <p:sp>
        <p:nvSpPr>
          <p:cNvPr id="7" name="Rectangle 6">
            <a:extLst>
              <a:ext uri="{FF2B5EF4-FFF2-40B4-BE49-F238E27FC236}">
                <a16:creationId xmlns:a16="http://schemas.microsoft.com/office/drawing/2014/main" id="{177144D3-5320-4604-B9BB-3DCB5471086D}"/>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8" name="Rectangle 7">
            <a:extLst>
              <a:ext uri="{FF2B5EF4-FFF2-40B4-BE49-F238E27FC236}">
                <a16:creationId xmlns:a16="http://schemas.microsoft.com/office/drawing/2014/main" id="{4C21FE0A-D5FD-4ADE-B477-A984B70AC714}"/>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20 / 32</a:t>
            </a:r>
          </a:p>
        </p:txBody>
      </p:sp>
    </p:spTree>
    <p:extLst>
      <p:ext uri="{BB962C8B-B14F-4D97-AF65-F5344CB8AC3E}">
        <p14:creationId xmlns:p14="http://schemas.microsoft.com/office/powerpoint/2010/main" val="944923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17BE2DB4-FA55-42DB-AA31-6B79B47CA49F}"/>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31A73835-84B5-44A2-9F18-51835EAE7327}"/>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Une contrainte et un index</a:t>
            </a:r>
          </a:p>
        </p:txBody>
      </p:sp>
      <p:sp>
        <p:nvSpPr>
          <p:cNvPr id="4" name="Rectangle 3">
            <a:extLst>
              <a:ext uri="{FF2B5EF4-FFF2-40B4-BE49-F238E27FC236}">
                <a16:creationId xmlns:a16="http://schemas.microsoft.com/office/drawing/2014/main" id="{B4B3153E-3E2F-4941-A769-4A1FD43CFEA4}"/>
              </a:ext>
            </a:extLst>
          </p:cNvPr>
          <p:cNvSpPr>
            <a:spLocks noGrp="1"/>
          </p:cNvSpPr>
          <p:nvPr/>
        </p:nvSpPr>
        <p:spPr>
          <a:xfrm>
            <a:off x="6667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MÉCANISME</a:t>
            </a:r>
          </a:p>
        </p:txBody>
      </p:sp>
      <p:sp>
        <p:nvSpPr>
          <p:cNvPr id="5" name="Rectangle 4">
            <a:extLst>
              <a:ext uri="{FF2B5EF4-FFF2-40B4-BE49-F238E27FC236}">
                <a16:creationId xmlns:a16="http://schemas.microsoft.com/office/drawing/2014/main" id="{97C8E16A-2C02-4A47-8B45-76D7C09DAC8A}"/>
              </a:ext>
            </a:extLst>
          </p:cNvPr>
          <p:cNvSpPr>
            <a:spLocks noGrp="1"/>
          </p:cNvSpPr>
          <p:nvPr/>
        </p:nvSpPr>
        <p:spPr>
          <a:xfrm>
            <a:off x="666750" y="2571750"/>
            <a:ext cx="6334125"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Une clé primaire et une contrainte UNIQUE s’appuient sur un index pour identifier les doublons. Leur rôle dépasse la performance. Les retirer peut supprimer une garantie métier essentielle.</a:t>
            </a:r>
          </a:p>
        </p:txBody>
      </p:sp>
      <p:sp>
        <p:nvSpPr>
          <p:cNvPr id="6" name="Rectangle 5">
            <a:extLst>
              <a:ext uri="{FF2B5EF4-FFF2-40B4-BE49-F238E27FC236}">
                <a16:creationId xmlns:a16="http://schemas.microsoft.com/office/drawing/2014/main" id="{0F901D11-4427-49A5-9704-754C70801C19}"/>
              </a:ext>
            </a:extLst>
          </p:cNvPr>
          <p:cNvSpPr>
            <a:spLocks noGrp="1"/>
          </p:cNvSpPr>
          <p:nvPr/>
        </p:nvSpPr>
        <p:spPr>
          <a:xfrm>
            <a:off x="80962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CONSÉQUENCE APPLICATIVE</a:t>
            </a:r>
          </a:p>
        </p:txBody>
      </p:sp>
      <p:sp>
        <p:nvSpPr>
          <p:cNvPr id="7" name="Rectangle 6">
            <a:extLst>
              <a:ext uri="{FF2B5EF4-FFF2-40B4-BE49-F238E27FC236}">
                <a16:creationId xmlns:a16="http://schemas.microsoft.com/office/drawing/2014/main" id="{1D6E486C-423B-48ED-B9C0-A2550B97CFD4}"/>
              </a:ext>
            </a:extLst>
          </p:cNvPr>
          <p:cNvSpPr>
            <a:spLocks noGrp="1"/>
          </p:cNvSpPr>
          <p:nvPr/>
        </p:nvSpPr>
        <p:spPr>
          <a:xfrm>
            <a:off x="8096250" y="2571750"/>
            <a:ext cx="6381750"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PostgreSQL ne crée pas automatiquement un index sur chaque côté référençant d’une clé étrangère. Un accès à commandes.client_id ou une opération sur le client peut donc nécessiter un index supplémentaire, selon les usages.</a:t>
            </a:r>
          </a:p>
        </p:txBody>
      </p:sp>
      <p:sp>
        <p:nvSpPr>
          <p:cNvPr id="8" name="Rectangle 7">
            <a:extLst>
              <a:ext uri="{FF2B5EF4-FFF2-40B4-BE49-F238E27FC236}">
                <a16:creationId xmlns:a16="http://schemas.microsoft.com/office/drawing/2014/main" id="{85553594-3A0A-4885-B1B6-8160AA8C5655}"/>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CAB25400-823B-413D-A3B5-73B8DBC010F3}"/>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La lecture du DDL révèle les garanties déjà présentes avant toute optimisation.</a:t>
            </a:r>
          </a:p>
        </p:txBody>
      </p:sp>
      <p:sp>
        <p:nvSpPr>
          <p:cNvPr id="10" name="Rectangle 9">
            <a:extLst>
              <a:ext uri="{FF2B5EF4-FFF2-40B4-BE49-F238E27FC236}">
                <a16:creationId xmlns:a16="http://schemas.microsoft.com/office/drawing/2014/main" id="{BFE59D5A-A5E6-4C9E-B918-4029BEDCBEB6}"/>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6A560720-19C0-468F-872C-40BC8BCC093E}"/>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21 / 32</a:t>
            </a:r>
          </a:p>
        </p:txBody>
      </p:sp>
    </p:spTree>
    <p:extLst>
      <p:ext uri="{BB962C8B-B14F-4D97-AF65-F5344CB8AC3E}">
        <p14:creationId xmlns:p14="http://schemas.microsoft.com/office/powerpoint/2010/main" val="9055518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4" name="Image 13"/>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C94D7295-BD14-4D05-95AE-DB0E7EA0CE79}"/>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2   /   OPTIMISATION BDD</a:t>
            </a:r>
          </a:p>
        </p:txBody>
      </p:sp>
      <p:sp>
        <p:nvSpPr>
          <p:cNvPr id="3" name="Rectangle 2">
            <a:extLst>
              <a:ext uri="{FF2B5EF4-FFF2-40B4-BE49-F238E27FC236}">
                <a16:creationId xmlns:a16="http://schemas.microsoft.com/office/drawing/2014/main" id="{681D620E-0C71-42F7-8461-13C782D9E42C}"/>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Décomposition verticale</a:t>
            </a:r>
          </a:p>
        </p:txBody>
      </p:sp>
      <p:sp>
        <p:nvSpPr>
          <p:cNvPr id="4" name="Rectangle 3">
            <a:extLst>
              <a:ext uri="{FF2B5EF4-FFF2-40B4-BE49-F238E27FC236}">
                <a16:creationId xmlns:a16="http://schemas.microsoft.com/office/drawing/2014/main" id="{4496F479-1A23-43F0-82B6-6A52E839ECB3}"/>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F6F3ED"/>
                </a:solidFill>
                <a:latin typeface="Aptos"/>
                <a:ea typeface="Aptos"/>
                <a:cs typeface="Aptos"/>
              </a:defRPr>
            </a:pPr>
            <a:r>
              <a:rPr sz="2025" b="0">
                <a:solidFill>
                  <a:srgbClr val="F6F3ED"/>
                </a:solidFill>
                <a:latin typeface="Aptos"/>
                <a:ea typeface="Aptos"/>
                <a:cs typeface="Aptos"/>
              </a:rPr>
              <a:t>Une table peut séparer ses colonnes fréquemment consultées de valeurs volumineuses rarement utiles. Par exemple, une fiche produit courte et une table de descriptions longues peuvent éviter de charger ces descriptions dans une liste.</a:t>
            </a:r>
          </a:p>
          <a:p>
            <a:endParaRPr sz="2025" b="0">
              <a:solidFill>
                <a:srgbClr val="F6F3ED"/>
              </a:solidFill>
              <a:latin typeface="Aptos"/>
              <a:ea typeface="Aptos"/>
              <a:cs typeface="Aptos"/>
            </a:endParaRPr>
          </a:p>
          <a:p>
            <a:pPr>
              <a:defRPr sz="2025" b="0">
                <a:solidFill>
                  <a:srgbClr val="F6F3ED"/>
                </a:solidFill>
                <a:latin typeface="Aptos"/>
                <a:ea typeface="Aptos"/>
                <a:cs typeface="Aptos"/>
              </a:defRPr>
            </a:pPr>
            <a:r>
              <a:rPr sz="2025" b="0">
                <a:solidFill>
                  <a:srgbClr val="F6F3ED"/>
                </a:solidFill>
                <a:latin typeface="Aptos"/>
                <a:ea typeface="Aptos"/>
                <a:cs typeface="Aptos"/>
              </a:rPr>
              <a:t>La décomposition verticale introduit un accès ou une jointure supplémentaire pour le détail. Elle n’est pas la création de plusieurs partitions temporelles. On justifie la séparation par les chemins d’accès et la taille des valeurs.</a:t>
            </a:r>
          </a:p>
        </p:txBody>
      </p:sp>
      <p:sp>
        <p:nvSpPr>
          <p:cNvPr id="5" name="Rectangle : coins arrondis 4">
            <a:extLst>
              <a:ext uri="{FF2B5EF4-FFF2-40B4-BE49-F238E27FC236}">
                <a16:creationId xmlns:a16="http://schemas.microsoft.com/office/drawing/2014/main" id="{86E77E92-3CFC-4453-A2F0-C44ADA9AC0E5}"/>
              </a:ext>
            </a:extLst>
          </p:cNvPr>
          <p:cNvSpPr>
            <a:spLocks noGrp="1"/>
          </p:cNvSpPr>
          <p:nvPr/>
        </p:nvSpPr>
        <p:spPr>
          <a:xfrm>
            <a:off x="7524750" y="3095625"/>
            <a:ext cx="2781300"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produits</a:t>
            </a:r>
          </a:p>
          <a:p>
            <a:pPr algn="ctr">
              <a:defRPr sz="1875" b="1">
                <a:solidFill>
                  <a:srgbClr val="FFFFFF"/>
                </a:solidFill>
                <a:latin typeface="Aptos"/>
                <a:ea typeface="Aptos"/>
                <a:cs typeface="Aptos"/>
              </a:defRPr>
            </a:pPr>
            <a:r>
              <a:rPr sz="1875" b="1">
                <a:solidFill>
                  <a:srgbClr val="FFFFFF"/>
                </a:solidFill>
                <a:latin typeface="Aptos"/>
                <a:ea typeface="Aptos"/>
                <a:cs typeface="Aptos"/>
              </a:rPr>
              <a:t>id, nom, prix</a:t>
            </a:r>
          </a:p>
        </p:txBody>
      </p:sp>
      <p:sp>
        <p:nvSpPr>
          <p:cNvPr id="6" name="Rectangle : coins arrondis 5">
            <a:extLst>
              <a:ext uri="{FF2B5EF4-FFF2-40B4-BE49-F238E27FC236}">
                <a16:creationId xmlns:a16="http://schemas.microsoft.com/office/drawing/2014/main" id="{72A09D7B-3AAA-4A2C-85A7-A780CB930BD5}"/>
              </a:ext>
            </a:extLst>
          </p:cNvPr>
          <p:cNvSpPr>
            <a:spLocks noGrp="1"/>
          </p:cNvSpPr>
          <p:nvPr/>
        </p:nvSpPr>
        <p:spPr>
          <a:xfrm>
            <a:off x="11696700" y="3095625"/>
            <a:ext cx="2781300"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descriptions</a:t>
            </a:r>
          </a:p>
          <a:p>
            <a:pPr algn="ctr">
              <a:defRPr sz="1875" b="1">
                <a:solidFill>
                  <a:srgbClr val="FFFFFF"/>
                </a:solidFill>
                <a:latin typeface="Aptos"/>
                <a:ea typeface="Aptos"/>
                <a:cs typeface="Aptos"/>
              </a:defRPr>
            </a:pPr>
            <a:r>
              <a:rPr sz="1875" b="1">
                <a:solidFill>
                  <a:srgbClr val="FFFFFF"/>
                </a:solidFill>
                <a:latin typeface="Aptos"/>
                <a:ea typeface="Aptos"/>
                <a:cs typeface="Aptos"/>
              </a:rPr>
              <a:t>produit_id, texte</a:t>
            </a:r>
          </a:p>
        </p:txBody>
      </p:sp>
      <p:sp>
        <p:nvSpPr>
          <p:cNvPr id="7" name="Flèche : droite 6">
            <a:extLst>
              <a:ext uri="{FF2B5EF4-FFF2-40B4-BE49-F238E27FC236}">
                <a16:creationId xmlns:a16="http://schemas.microsoft.com/office/drawing/2014/main" id="{0D329008-9A34-452C-9AB1-91CE4EBB971B}"/>
              </a:ext>
            </a:extLst>
          </p:cNvPr>
          <p:cNvSpPr>
            <a:spLocks noGrp="1"/>
          </p:cNvSpPr>
          <p:nvPr/>
        </p:nvSpPr>
        <p:spPr>
          <a:xfrm>
            <a:off x="10363200" y="3514725"/>
            <a:ext cx="1276350" cy="114300"/>
          </a:xfrm>
          <a:prstGeom prst="rightArrow">
            <a:avLst/>
          </a:prstGeom>
          <a:solidFill>
            <a:srgbClr val="69E0E3"/>
          </a:solidFill>
          <a:ln w="0">
            <a:noFill/>
          </a:ln>
        </p:spPr>
        <p:txBody>
          <a:bodyPr/>
          <a:lstStyle/>
          <a:p>
            <a:endParaRPr lang="fr-FR"/>
          </a:p>
        </p:txBody>
      </p:sp>
      <p:sp>
        <p:nvSpPr>
          <p:cNvPr id="8" name="Rectangle 7">
            <a:extLst>
              <a:ext uri="{FF2B5EF4-FFF2-40B4-BE49-F238E27FC236}">
                <a16:creationId xmlns:a16="http://schemas.microsoft.com/office/drawing/2014/main" id="{1AA3694B-855B-41F5-A15A-630E55E19118}"/>
              </a:ext>
            </a:extLst>
          </p:cNvPr>
          <p:cNvSpPr>
            <a:spLocks noGrp="1"/>
          </p:cNvSpPr>
          <p:nvPr/>
        </p:nvSpPr>
        <p:spPr>
          <a:xfrm>
            <a:off x="10429875" y="3200400"/>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clé commune</a:t>
            </a:r>
          </a:p>
        </p:txBody>
      </p:sp>
      <p:sp>
        <p:nvSpPr>
          <p:cNvPr id="9" name="Rectangle 8">
            <a:extLst>
              <a:ext uri="{FF2B5EF4-FFF2-40B4-BE49-F238E27FC236}">
                <a16:creationId xmlns:a16="http://schemas.microsoft.com/office/drawing/2014/main" id="{B788082A-AB92-41C2-94A7-F83E2C9FB80A}"/>
              </a:ext>
            </a:extLst>
          </p:cNvPr>
          <p:cNvSpPr>
            <a:spLocks noGrp="1"/>
          </p:cNvSpPr>
          <p:nvPr/>
        </p:nvSpPr>
        <p:spPr>
          <a:xfrm>
            <a:off x="7524750" y="5924550"/>
            <a:ext cx="6953250" cy="609600"/>
          </a:xfrm>
          <a:prstGeom prst="rect">
            <a:avLst/>
          </a:prstGeom>
          <a:noFill/>
          <a:ln w="0">
            <a:noFill/>
          </a:ln>
        </p:spPr>
        <p:txBody>
          <a:bodyPr>
            <a:noAutofit/>
          </a:bodyPr>
          <a:lstStyle/>
          <a:p>
            <a:pPr>
              <a:defRPr sz="1575" b="0">
                <a:solidFill>
                  <a:srgbClr val="BBD5DB"/>
                </a:solidFill>
                <a:latin typeface="Aptos"/>
                <a:ea typeface="Aptos"/>
                <a:cs typeface="Aptos"/>
              </a:defRPr>
            </a:pPr>
            <a:r>
              <a:rPr sz="1575" b="0">
                <a:solidFill>
                  <a:srgbClr val="BBD5DB"/>
                </a:solidFill>
                <a:latin typeface="Aptos"/>
                <a:ea typeface="Aptos"/>
                <a:cs typeface="Aptos"/>
              </a:rPr>
              <a:t>Séparation de colonnes. Toutes les lignes métier restent représentées.</a:t>
            </a:r>
          </a:p>
        </p:txBody>
      </p:sp>
      <p:sp>
        <p:nvSpPr>
          <p:cNvPr id="10" name="Rectangle 9">
            <a:extLst>
              <a:ext uri="{FF2B5EF4-FFF2-40B4-BE49-F238E27FC236}">
                <a16:creationId xmlns:a16="http://schemas.microsoft.com/office/drawing/2014/main" id="{7997F1F1-02F6-4050-86B7-23192699898A}"/>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11" name="Rectangle 10">
            <a:extLst>
              <a:ext uri="{FF2B5EF4-FFF2-40B4-BE49-F238E27FC236}">
                <a16:creationId xmlns:a16="http://schemas.microsoft.com/office/drawing/2014/main" id="{2C5B32B2-E011-4DD5-9914-22F089F4529D}"/>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Le maintien d’une clé commune préserve le lien entre les deux ensembles.</a:t>
            </a:r>
          </a:p>
        </p:txBody>
      </p:sp>
      <p:sp>
        <p:nvSpPr>
          <p:cNvPr id="12" name="Rectangle 11">
            <a:extLst>
              <a:ext uri="{FF2B5EF4-FFF2-40B4-BE49-F238E27FC236}">
                <a16:creationId xmlns:a16="http://schemas.microsoft.com/office/drawing/2014/main" id="{7E4F31C2-8139-4733-B2C9-6FFF8939616D}"/>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3" name="Rectangle 12">
            <a:extLst>
              <a:ext uri="{FF2B5EF4-FFF2-40B4-BE49-F238E27FC236}">
                <a16:creationId xmlns:a16="http://schemas.microsoft.com/office/drawing/2014/main" id="{7585A0EC-CABF-4EAA-9EF0-4AD2FDB74DCB}"/>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22 / 32</a:t>
            </a:r>
          </a:p>
        </p:txBody>
      </p:sp>
    </p:spTree>
    <p:extLst>
      <p:ext uri="{BB962C8B-B14F-4D97-AF65-F5344CB8AC3E}">
        <p14:creationId xmlns:p14="http://schemas.microsoft.com/office/powerpoint/2010/main" val="5069463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DFF0C339-5AE7-43A0-8902-728DCB236405}"/>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2   /   OPTIMISATION BDD</a:t>
            </a:r>
          </a:p>
        </p:txBody>
      </p:sp>
      <p:sp>
        <p:nvSpPr>
          <p:cNvPr id="3" name="Rectangle 2">
            <a:extLst>
              <a:ext uri="{FF2B5EF4-FFF2-40B4-BE49-F238E27FC236}">
                <a16:creationId xmlns:a16="http://schemas.microsoft.com/office/drawing/2014/main" id="{1F40C36D-60D3-4835-91D9-E53F7FF331CC}"/>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Dénormalisation et données dérivées</a:t>
            </a:r>
          </a:p>
        </p:txBody>
      </p:sp>
      <p:sp>
        <p:nvSpPr>
          <p:cNvPr id="4" name="Rectangle 3">
            <a:extLst>
              <a:ext uri="{FF2B5EF4-FFF2-40B4-BE49-F238E27FC236}">
                <a16:creationId xmlns:a16="http://schemas.microsoft.com/office/drawing/2014/main" id="{BB472A65-A28A-4977-B8C6-16580C3304EC}"/>
              </a:ext>
            </a:extLst>
          </p:cNvPr>
          <p:cNvSpPr>
            <a:spLocks noGrp="1"/>
          </p:cNvSpPr>
          <p:nvPr/>
        </p:nvSpPr>
        <p:spPr>
          <a:xfrm>
            <a:off x="666750" y="2076450"/>
            <a:ext cx="13335000" cy="304800"/>
          </a:xfrm>
          <a:prstGeom prst="rect">
            <a:avLst/>
          </a:prstGeom>
          <a:noFill/>
          <a:ln w="0">
            <a:noFill/>
          </a:ln>
        </p:spPr>
        <p:txBody>
          <a:bodyPr>
            <a:noAutofit/>
          </a:bodyPr>
          <a:lstStyle/>
          <a:p>
            <a:pPr>
              <a:defRPr sz="1425" b="1">
                <a:solidFill>
                  <a:srgbClr val="69E0E3"/>
                </a:solidFill>
                <a:latin typeface="Aptos"/>
                <a:ea typeface="Aptos"/>
                <a:cs typeface="Aptos"/>
              </a:defRPr>
            </a:pPr>
            <a:r>
              <a:rPr sz="1425" b="1">
                <a:solidFill>
                  <a:srgbClr val="69E0E3"/>
                </a:solidFill>
                <a:latin typeface="Aptos"/>
                <a:ea typeface="Aptos"/>
                <a:cs typeface="Aptos"/>
              </a:rPr>
              <a:t>SITUATION ET RAISONNEMENT</a:t>
            </a:r>
          </a:p>
        </p:txBody>
      </p:sp>
      <p:sp>
        <p:nvSpPr>
          <p:cNvPr id="5" name="Rectangle 4">
            <a:extLst>
              <a:ext uri="{FF2B5EF4-FFF2-40B4-BE49-F238E27FC236}">
                <a16:creationId xmlns:a16="http://schemas.microsoft.com/office/drawing/2014/main" id="{11E2CA6B-E48A-4BF5-8F93-67E79094BFC9}"/>
              </a:ext>
            </a:extLst>
          </p:cNvPr>
          <p:cNvSpPr>
            <a:spLocks noGrp="1"/>
          </p:cNvSpPr>
          <p:nvPr/>
        </p:nvSpPr>
        <p:spPr>
          <a:xfrm>
            <a:off x="666750" y="2590800"/>
            <a:ext cx="13525500" cy="1666875"/>
          </a:xfrm>
          <a:prstGeom prst="rect">
            <a:avLst/>
          </a:prstGeom>
          <a:noFill/>
          <a:ln w="0">
            <a:noFill/>
          </a:ln>
        </p:spPr>
        <p:txBody>
          <a:bodyPr>
            <a:noAutofit/>
          </a:bodyPr>
          <a:lstStyle/>
          <a:p>
            <a:pPr>
              <a:defRPr sz="2475" b="0">
                <a:solidFill>
                  <a:srgbClr val="F6F3ED"/>
                </a:solidFill>
                <a:latin typeface="Aptos"/>
                <a:ea typeface="Aptos"/>
                <a:cs typeface="Aptos"/>
              </a:defRPr>
            </a:pPr>
            <a:r>
              <a:rPr sz="2475" b="0">
                <a:solidFill>
                  <a:srgbClr val="F6F3ED"/>
                </a:solidFill>
                <a:latin typeface="Aptos"/>
                <a:ea typeface="Aptos"/>
                <a:cs typeface="Aptos"/>
              </a:rPr>
              <a:t>Une valeur dérivée peut éviter un calcul fréquent, à condition de définir son actualisation. Un compteur de commandes par client demande une règle lors d’une création, d’une annulation ou d’une correction.</a:t>
            </a:r>
          </a:p>
        </p:txBody>
      </p:sp>
      <p:sp>
        <p:nvSpPr>
          <p:cNvPr id="6" name="Rectangle 5">
            <a:extLst>
              <a:ext uri="{FF2B5EF4-FFF2-40B4-BE49-F238E27FC236}">
                <a16:creationId xmlns:a16="http://schemas.microsoft.com/office/drawing/2014/main" id="{771D8002-7662-41EA-8AC2-8AD74EF59297}"/>
              </a:ext>
            </a:extLst>
          </p:cNvPr>
          <p:cNvSpPr>
            <a:spLocks noGrp="1"/>
          </p:cNvSpPr>
          <p:nvPr/>
        </p:nvSpPr>
        <p:spPr>
          <a:xfrm>
            <a:off x="666750" y="4591050"/>
            <a:ext cx="9144000" cy="1905000"/>
          </a:xfrm>
          <a:prstGeom prst="rect">
            <a:avLst/>
          </a:prstGeom>
          <a:noFill/>
          <a:ln w="0">
            <a:noFill/>
          </a:ln>
        </p:spPr>
        <p:txBody>
          <a:bodyPr>
            <a:noAutofit/>
          </a:bodyPr>
          <a:lstStyle/>
          <a:p>
            <a:pPr>
              <a:defRPr sz="2175" b="0">
                <a:solidFill>
                  <a:srgbClr val="F6F3ED"/>
                </a:solidFill>
                <a:latin typeface="Aptos"/>
                <a:ea typeface="Aptos"/>
                <a:cs typeface="Aptos"/>
              </a:defRPr>
            </a:pPr>
            <a:r>
              <a:rPr sz="2175" b="0">
                <a:solidFill>
                  <a:srgbClr val="F6F3ED"/>
                </a:solidFill>
                <a:latin typeface="Aptos"/>
                <a:ea typeface="Aptos"/>
                <a:cs typeface="Aptos"/>
              </a:rPr>
              <a:t>L’application, un trigger ou un traitement asynchrone peut maintenir cette valeur. Chacun introduit un coût et un mode d’échec. Le dossier précise la source de vérité et une procédure de recalcul.</a:t>
            </a:r>
          </a:p>
        </p:txBody>
      </p:sp>
      <p:sp>
        <p:nvSpPr>
          <p:cNvPr id="7" name="Rectangle 6">
            <a:extLst>
              <a:ext uri="{FF2B5EF4-FFF2-40B4-BE49-F238E27FC236}">
                <a16:creationId xmlns:a16="http://schemas.microsoft.com/office/drawing/2014/main" id="{CB697261-7935-47DB-B255-B13665FED1A2}"/>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8" name="Rectangle 7">
            <a:extLst>
              <a:ext uri="{FF2B5EF4-FFF2-40B4-BE49-F238E27FC236}">
                <a16:creationId xmlns:a16="http://schemas.microsoft.com/office/drawing/2014/main" id="{2EF8C0D7-7106-4DCC-8562-3F2D936DA05C}"/>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Un cache et une vue matérialisée posent aussi la question de la fraîcheur des copies.</a:t>
            </a:r>
          </a:p>
        </p:txBody>
      </p:sp>
      <p:sp>
        <p:nvSpPr>
          <p:cNvPr id="9" name="Rectangle 8">
            <a:extLst>
              <a:ext uri="{FF2B5EF4-FFF2-40B4-BE49-F238E27FC236}">
                <a16:creationId xmlns:a16="http://schemas.microsoft.com/office/drawing/2014/main" id="{690D7AE0-932B-41AA-9801-D6E311E8E448}"/>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228C3DCD-3F5B-4B93-8CC0-81C3D68E0119}"/>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23 / 32</a:t>
            </a:r>
          </a:p>
        </p:txBody>
      </p:sp>
    </p:spTree>
    <p:extLst>
      <p:ext uri="{BB962C8B-B14F-4D97-AF65-F5344CB8AC3E}">
        <p14:creationId xmlns:p14="http://schemas.microsoft.com/office/powerpoint/2010/main" val="1011700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9" name="Image 18"/>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0ED03091-2F3B-4E77-8306-38FFC8A78C87}"/>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2   /   OPTIMISATION BDD</a:t>
            </a:r>
          </a:p>
        </p:txBody>
      </p:sp>
      <p:sp>
        <p:nvSpPr>
          <p:cNvPr id="3" name="Rectangle 2">
            <a:extLst>
              <a:ext uri="{FF2B5EF4-FFF2-40B4-BE49-F238E27FC236}">
                <a16:creationId xmlns:a16="http://schemas.microsoft.com/office/drawing/2014/main" id="{7350F350-CB0D-496A-918C-CCD106BFA3D3}"/>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Migration de schéma compatible</a:t>
            </a:r>
          </a:p>
        </p:txBody>
      </p:sp>
      <p:sp>
        <p:nvSpPr>
          <p:cNvPr id="4" name="Rectangle 3">
            <a:extLst>
              <a:ext uri="{FF2B5EF4-FFF2-40B4-BE49-F238E27FC236}">
                <a16:creationId xmlns:a16="http://schemas.microsoft.com/office/drawing/2014/main" id="{567E1685-9CF3-4843-AF2E-A5CBC8552A2C}"/>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F6F3ED"/>
                </a:solidFill>
                <a:latin typeface="Aptos"/>
                <a:ea typeface="Aptos"/>
                <a:cs typeface="Aptos"/>
              </a:defRPr>
            </a:pPr>
            <a:r>
              <a:rPr sz="2025" b="0">
                <a:solidFill>
                  <a:srgbClr val="F6F3ED"/>
                </a:solidFill>
                <a:latin typeface="Aptos"/>
                <a:ea typeface="Aptos"/>
                <a:cs typeface="Aptos"/>
              </a:rPr>
              <a:t>Une migration progressive maintient une compatibilité temporaire entre les versions de l’application. Pour une nouvelle colonne, on peut ajouter la structure, adapter le code, remplir les anciennes lignes et renforcer ensuite les contraintes.</a:t>
            </a:r>
          </a:p>
          <a:p>
            <a:endParaRPr sz="2025" b="0">
              <a:solidFill>
                <a:srgbClr val="F6F3ED"/>
              </a:solidFill>
              <a:latin typeface="Aptos"/>
              <a:ea typeface="Aptos"/>
              <a:cs typeface="Aptos"/>
            </a:endParaRPr>
          </a:p>
          <a:p>
            <a:pPr>
              <a:defRPr sz="2025" b="0">
                <a:solidFill>
                  <a:srgbClr val="F6F3ED"/>
                </a:solidFill>
                <a:latin typeface="Aptos"/>
                <a:ea typeface="Aptos"/>
                <a:cs typeface="Aptos"/>
              </a:defRPr>
            </a:pPr>
            <a:r>
              <a:rPr sz="2025" b="0">
                <a:solidFill>
                  <a:srgbClr val="F6F3ED"/>
                </a:solidFill>
                <a:latin typeface="Aptos"/>
                <a:ea typeface="Aptos"/>
                <a:cs typeface="Aptos"/>
              </a:rPr>
              <a:t>Une opération sur une grande table peut attendre un verrou ou consommer des ressources. La migration prévoit une fenêtre, une surveillance et un retour arrière. Le SQL qui réussit sur 1 000 lignes n’est pas une preuve suffisante pour un volume de production.</a:t>
            </a:r>
          </a:p>
        </p:txBody>
      </p:sp>
      <p:sp>
        <p:nvSpPr>
          <p:cNvPr id="5" name="Rectangle : coins arrondis 4">
            <a:extLst>
              <a:ext uri="{FF2B5EF4-FFF2-40B4-BE49-F238E27FC236}">
                <a16:creationId xmlns:a16="http://schemas.microsoft.com/office/drawing/2014/main" id="{B96B18E9-1721-41C3-B616-8D1DD541E2BD}"/>
              </a:ext>
            </a:extLst>
          </p:cNvPr>
          <p:cNvSpPr>
            <a:spLocks noGrp="1"/>
          </p:cNvSpPr>
          <p:nvPr/>
        </p:nvSpPr>
        <p:spPr>
          <a:xfrm>
            <a:off x="7524750" y="2238375"/>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Ajout</a:t>
            </a:r>
          </a:p>
          <a:p>
            <a:pPr algn="ctr">
              <a:defRPr sz="1875" b="1">
                <a:solidFill>
                  <a:srgbClr val="FFFFFF"/>
                </a:solidFill>
                <a:latin typeface="Aptos"/>
                <a:ea typeface="Aptos"/>
                <a:cs typeface="Aptos"/>
              </a:defRPr>
            </a:pPr>
            <a:r>
              <a:rPr sz="1875" b="1">
                <a:solidFill>
                  <a:srgbClr val="FFFFFF"/>
                </a:solidFill>
                <a:latin typeface="Aptos"/>
                <a:ea typeface="Aptos"/>
                <a:cs typeface="Aptos"/>
              </a:rPr>
              <a:t>compatible</a:t>
            </a:r>
          </a:p>
        </p:txBody>
      </p:sp>
      <p:sp>
        <p:nvSpPr>
          <p:cNvPr id="6" name="Rectangle : coins arrondis 5">
            <a:extLst>
              <a:ext uri="{FF2B5EF4-FFF2-40B4-BE49-F238E27FC236}">
                <a16:creationId xmlns:a16="http://schemas.microsoft.com/office/drawing/2014/main" id="{03131222-8A16-4F8B-AFE7-9E63F436DB1D}"/>
              </a:ext>
            </a:extLst>
          </p:cNvPr>
          <p:cNvSpPr>
            <a:spLocks noGrp="1"/>
          </p:cNvSpPr>
          <p:nvPr/>
        </p:nvSpPr>
        <p:spPr>
          <a:xfrm>
            <a:off x="11557635" y="2238375"/>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Code</a:t>
            </a:r>
          </a:p>
          <a:p>
            <a:pPr algn="ctr">
              <a:defRPr sz="1875" b="1">
                <a:solidFill>
                  <a:srgbClr val="FFFFFF"/>
                </a:solidFill>
                <a:latin typeface="Aptos"/>
                <a:ea typeface="Aptos"/>
                <a:cs typeface="Aptos"/>
              </a:defRPr>
            </a:pPr>
            <a:r>
              <a:rPr sz="1875" b="1">
                <a:solidFill>
                  <a:srgbClr val="FFFFFF"/>
                </a:solidFill>
                <a:latin typeface="Aptos"/>
                <a:ea typeface="Aptos"/>
                <a:cs typeface="Aptos"/>
              </a:rPr>
              <a:t>adapté</a:t>
            </a:r>
          </a:p>
        </p:txBody>
      </p:sp>
      <p:sp>
        <p:nvSpPr>
          <p:cNvPr id="7" name="Rectangle : coins arrondis 6">
            <a:extLst>
              <a:ext uri="{FF2B5EF4-FFF2-40B4-BE49-F238E27FC236}">
                <a16:creationId xmlns:a16="http://schemas.microsoft.com/office/drawing/2014/main" id="{E91873FD-6C58-4F17-8F56-8C67567C5771}"/>
              </a:ext>
            </a:extLst>
          </p:cNvPr>
          <p:cNvSpPr>
            <a:spLocks noGrp="1"/>
          </p:cNvSpPr>
          <p:nvPr/>
        </p:nvSpPr>
        <p:spPr>
          <a:xfrm>
            <a:off x="11557635" y="3924300"/>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Remplissage</a:t>
            </a:r>
          </a:p>
          <a:p>
            <a:pPr algn="ctr">
              <a:defRPr sz="1875" b="1">
                <a:solidFill>
                  <a:srgbClr val="FFFFFF"/>
                </a:solidFill>
                <a:latin typeface="Aptos"/>
                <a:ea typeface="Aptos"/>
                <a:cs typeface="Aptos"/>
              </a:defRPr>
            </a:pPr>
            <a:r>
              <a:rPr sz="1875" b="1">
                <a:solidFill>
                  <a:srgbClr val="FFFFFF"/>
                </a:solidFill>
                <a:latin typeface="Aptos"/>
                <a:ea typeface="Aptos"/>
                <a:cs typeface="Aptos"/>
              </a:rPr>
              <a:t>contrôlé</a:t>
            </a:r>
          </a:p>
        </p:txBody>
      </p:sp>
      <p:sp>
        <p:nvSpPr>
          <p:cNvPr id="8" name="Rectangle : coins arrondis 7">
            <a:extLst>
              <a:ext uri="{FF2B5EF4-FFF2-40B4-BE49-F238E27FC236}">
                <a16:creationId xmlns:a16="http://schemas.microsoft.com/office/drawing/2014/main" id="{F96F4832-B715-4DCE-93F1-DE26CB6FE74D}"/>
              </a:ext>
            </a:extLst>
          </p:cNvPr>
          <p:cNvSpPr>
            <a:spLocks noGrp="1"/>
          </p:cNvSpPr>
          <p:nvPr/>
        </p:nvSpPr>
        <p:spPr>
          <a:xfrm>
            <a:off x="7524750" y="3924300"/>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Contrainte</a:t>
            </a:r>
          </a:p>
          <a:p>
            <a:pPr algn="ctr">
              <a:defRPr sz="1875" b="1">
                <a:solidFill>
                  <a:srgbClr val="FFFFFF"/>
                </a:solidFill>
                <a:latin typeface="Aptos"/>
                <a:ea typeface="Aptos"/>
                <a:cs typeface="Aptos"/>
              </a:defRPr>
            </a:pPr>
            <a:r>
              <a:rPr sz="1875" b="1">
                <a:solidFill>
                  <a:srgbClr val="FFFFFF"/>
                </a:solidFill>
                <a:latin typeface="Aptos"/>
                <a:ea typeface="Aptos"/>
                <a:cs typeface="Aptos"/>
              </a:rPr>
              <a:t>validée</a:t>
            </a:r>
          </a:p>
        </p:txBody>
      </p:sp>
      <p:sp>
        <p:nvSpPr>
          <p:cNvPr id="9" name="Flèche : droite 8">
            <a:extLst>
              <a:ext uri="{FF2B5EF4-FFF2-40B4-BE49-F238E27FC236}">
                <a16:creationId xmlns:a16="http://schemas.microsoft.com/office/drawing/2014/main" id="{5E744478-F48C-4B6F-B9A8-71800239B592}"/>
              </a:ext>
            </a:extLst>
          </p:cNvPr>
          <p:cNvSpPr>
            <a:spLocks noGrp="1"/>
          </p:cNvSpPr>
          <p:nvPr/>
        </p:nvSpPr>
        <p:spPr>
          <a:xfrm>
            <a:off x="10502265" y="2657475"/>
            <a:ext cx="998220" cy="114300"/>
          </a:xfrm>
          <a:prstGeom prst="rightArrow">
            <a:avLst/>
          </a:prstGeom>
          <a:solidFill>
            <a:srgbClr val="69E0E3"/>
          </a:solidFill>
          <a:ln w="0">
            <a:noFill/>
          </a:ln>
        </p:spPr>
        <p:txBody>
          <a:bodyPr/>
          <a:lstStyle/>
          <a:p>
            <a:endParaRPr lang="fr-FR"/>
          </a:p>
        </p:txBody>
      </p:sp>
      <p:sp>
        <p:nvSpPr>
          <p:cNvPr id="10" name="Rectangle 9">
            <a:extLst>
              <a:ext uri="{FF2B5EF4-FFF2-40B4-BE49-F238E27FC236}">
                <a16:creationId xmlns:a16="http://schemas.microsoft.com/office/drawing/2014/main" id="{521C24B0-9B37-4816-996D-600BFE1CC133}"/>
              </a:ext>
            </a:extLst>
          </p:cNvPr>
          <p:cNvSpPr>
            <a:spLocks noGrp="1"/>
          </p:cNvSpPr>
          <p:nvPr/>
        </p:nvSpPr>
        <p:spPr>
          <a:xfrm>
            <a:off x="10429875" y="2343150"/>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version</a:t>
            </a:r>
          </a:p>
        </p:txBody>
      </p:sp>
      <p:sp>
        <p:nvSpPr>
          <p:cNvPr id="11" name="Flèche : droite 10">
            <a:extLst>
              <a:ext uri="{FF2B5EF4-FFF2-40B4-BE49-F238E27FC236}">
                <a16:creationId xmlns:a16="http://schemas.microsoft.com/office/drawing/2014/main" id="{5424446A-3820-4910-87F4-3CED9B201241}"/>
              </a:ext>
            </a:extLst>
          </p:cNvPr>
          <p:cNvSpPr>
            <a:spLocks noGrp="1"/>
          </p:cNvSpPr>
          <p:nvPr/>
        </p:nvSpPr>
        <p:spPr>
          <a:xfrm rot="5400000">
            <a:off x="12708255" y="3500438"/>
            <a:ext cx="619125" cy="114300"/>
          </a:xfrm>
          <a:prstGeom prst="rightArrow">
            <a:avLst/>
          </a:prstGeom>
          <a:solidFill>
            <a:srgbClr val="69E0E3"/>
          </a:solidFill>
          <a:ln w="0">
            <a:noFill/>
          </a:ln>
        </p:spPr>
        <p:txBody>
          <a:bodyPr/>
          <a:lstStyle/>
          <a:p>
            <a:endParaRPr lang="fr-FR"/>
          </a:p>
        </p:txBody>
      </p:sp>
      <p:sp>
        <p:nvSpPr>
          <p:cNvPr id="12" name="Rectangle 11">
            <a:extLst>
              <a:ext uri="{FF2B5EF4-FFF2-40B4-BE49-F238E27FC236}">
                <a16:creationId xmlns:a16="http://schemas.microsoft.com/office/drawing/2014/main" id="{D599625F-2BC1-4CF8-A9D2-AC6CC404F725}"/>
              </a:ext>
            </a:extLst>
          </p:cNvPr>
          <p:cNvSpPr>
            <a:spLocks noGrp="1"/>
          </p:cNvSpPr>
          <p:nvPr/>
        </p:nvSpPr>
        <p:spPr>
          <a:xfrm>
            <a:off x="13132118" y="3414713"/>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lots</a:t>
            </a:r>
          </a:p>
        </p:txBody>
      </p:sp>
      <p:sp>
        <p:nvSpPr>
          <p:cNvPr id="13" name="Flèche : droite 12">
            <a:extLst>
              <a:ext uri="{FF2B5EF4-FFF2-40B4-BE49-F238E27FC236}">
                <a16:creationId xmlns:a16="http://schemas.microsoft.com/office/drawing/2014/main" id="{0976909D-12F2-4ED1-8CAF-C738CEBF12F1}"/>
              </a:ext>
            </a:extLst>
          </p:cNvPr>
          <p:cNvSpPr>
            <a:spLocks noGrp="1"/>
          </p:cNvSpPr>
          <p:nvPr/>
        </p:nvSpPr>
        <p:spPr>
          <a:xfrm rot="10800000">
            <a:off x="10502265" y="4343400"/>
            <a:ext cx="998220" cy="114300"/>
          </a:xfrm>
          <a:prstGeom prst="rightArrow">
            <a:avLst/>
          </a:prstGeom>
          <a:solidFill>
            <a:srgbClr val="69E0E3"/>
          </a:solidFill>
          <a:ln w="0">
            <a:noFill/>
          </a:ln>
        </p:spPr>
        <p:txBody>
          <a:bodyPr/>
          <a:lstStyle/>
          <a:p>
            <a:endParaRPr lang="fr-FR"/>
          </a:p>
        </p:txBody>
      </p:sp>
      <p:sp>
        <p:nvSpPr>
          <p:cNvPr id="14" name="Rectangle 13">
            <a:extLst>
              <a:ext uri="{FF2B5EF4-FFF2-40B4-BE49-F238E27FC236}">
                <a16:creationId xmlns:a16="http://schemas.microsoft.com/office/drawing/2014/main" id="{80442F00-BBA5-4CFC-8F51-DF30EBFE5CB5}"/>
              </a:ext>
            </a:extLst>
          </p:cNvPr>
          <p:cNvSpPr>
            <a:spLocks noGrp="1"/>
          </p:cNvSpPr>
          <p:nvPr/>
        </p:nvSpPr>
        <p:spPr>
          <a:xfrm>
            <a:off x="10429875" y="4029075"/>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vérification</a:t>
            </a:r>
          </a:p>
        </p:txBody>
      </p:sp>
      <p:sp>
        <p:nvSpPr>
          <p:cNvPr id="15" name="Rectangle 14">
            <a:extLst>
              <a:ext uri="{FF2B5EF4-FFF2-40B4-BE49-F238E27FC236}">
                <a16:creationId xmlns:a16="http://schemas.microsoft.com/office/drawing/2014/main" id="{47687FCF-A525-4707-AD91-BC9BB24AC5E3}"/>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16" name="Rectangle 15">
            <a:extLst>
              <a:ext uri="{FF2B5EF4-FFF2-40B4-BE49-F238E27FC236}">
                <a16:creationId xmlns:a16="http://schemas.microsoft.com/office/drawing/2014/main" id="{9F3303F9-2A84-4FE3-8BE6-E2A30F70F781}"/>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Les étapes et les contraintes sont documentées avec le déploiement.</a:t>
            </a:r>
          </a:p>
        </p:txBody>
      </p:sp>
      <p:sp>
        <p:nvSpPr>
          <p:cNvPr id="17" name="Rectangle 16">
            <a:extLst>
              <a:ext uri="{FF2B5EF4-FFF2-40B4-BE49-F238E27FC236}">
                <a16:creationId xmlns:a16="http://schemas.microsoft.com/office/drawing/2014/main" id="{3085E4E4-8F68-474A-8A9E-857F11DB1DDD}"/>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8" name="Rectangle 17">
            <a:extLst>
              <a:ext uri="{FF2B5EF4-FFF2-40B4-BE49-F238E27FC236}">
                <a16:creationId xmlns:a16="http://schemas.microsoft.com/office/drawing/2014/main" id="{668D99D1-A04D-4D61-8DCF-0A54C7FB5D52}"/>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24 / 32</a:t>
            </a:r>
          </a:p>
        </p:txBody>
      </p:sp>
    </p:spTree>
    <p:extLst>
      <p:ext uri="{BB962C8B-B14F-4D97-AF65-F5344CB8AC3E}">
        <p14:creationId xmlns:p14="http://schemas.microsoft.com/office/powerpoint/2010/main" val="20305120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05B5FCE6-E43A-4ECA-8265-4A3A4FFE6987}"/>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7E2F48A8-EC36-49D8-B7DC-EFF7AE9DA160}"/>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CREATE INDEX CONCURRENTLY</a:t>
            </a:r>
          </a:p>
        </p:txBody>
      </p:sp>
      <p:sp>
        <p:nvSpPr>
          <p:cNvPr id="4" name="Rectangle 3">
            <a:extLst>
              <a:ext uri="{FF2B5EF4-FFF2-40B4-BE49-F238E27FC236}">
                <a16:creationId xmlns:a16="http://schemas.microsoft.com/office/drawing/2014/main" id="{0F013543-3DBB-4B7C-AD45-21E26FB6C851}"/>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La création concurrente évite de bloquer les écritures comme une construction ordinaire, mais demande davantage de travail et présente des contraintes. Elle ne s’exécute pas dans un bloc de transaction utilisateur.</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Une construction interrompue peut laisser un index invalide. Le déploiement vérifie son état, les erreurs et la pression sur les ressources. Une commande concurrente n’est pas une promesse d’absence d’impact.</a:t>
            </a:r>
          </a:p>
        </p:txBody>
      </p:sp>
      <p:sp>
        <p:nvSpPr>
          <p:cNvPr id="5" name="Rectangle 4">
            <a:extLst>
              <a:ext uri="{FF2B5EF4-FFF2-40B4-BE49-F238E27FC236}">
                <a16:creationId xmlns:a16="http://schemas.microsoft.com/office/drawing/2014/main" id="{8216DA3B-6BC4-4B0D-8AA1-D0EC24256DFE}"/>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D779A06E-09BC-4AEC-A2E9-508CAC45247F}"/>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CREATE INDEX CONCURRENTLY</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idx_hist_prod ON commandes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(client_id, created_at DESC, id DESC);</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Exécuter hors BEGIN/COMMIT.</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Contrôler ensuite la validité</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et l’usage attendu.</a:t>
            </a:r>
          </a:p>
        </p:txBody>
      </p:sp>
      <p:sp>
        <p:nvSpPr>
          <p:cNvPr id="7" name="Rectangle 6">
            <a:extLst>
              <a:ext uri="{FF2B5EF4-FFF2-40B4-BE49-F238E27FC236}">
                <a16:creationId xmlns:a16="http://schemas.microsoft.com/office/drawing/2014/main" id="{587B7FFC-82BE-4BE9-93D2-76D0197F01CB}"/>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639528DA-314B-4A1B-8E3D-96DB73A64D9F}"/>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 laboratoire peut utiliser CREATE INDEX ordinaire. La variante concurrente relève de la procédure de déploiement.</a:t>
            </a:r>
          </a:p>
        </p:txBody>
      </p:sp>
      <p:sp>
        <p:nvSpPr>
          <p:cNvPr id="9" name="Rectangle 8">
            <a:extLst>
              <a:ext uri="{FF2B5EF4-FFF2-40B4-BE49-F238E27FC236}">
                <a16:creationId xmlns:a16="http://schemas.microsoft.com/office/drawing/2014/main" id="{6E17E5BB-B804-48C9-B02B-A7F078333B6D}"/>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9C97AA61-BD89-4AA4-924A-C019D1F18A24}"/>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25 / 32</a:t>
            </a:r>
          </a:p>
        </p:txBody>
      </p:sp>
    </p:spTree>
    <p:extLst>
      <p:ext uri="{BB962C8B-B14F-4D97-AF65-F5344CB8AC3E}">
        <p14:creationId xmlns:p14="http://schemas.microsoft.com/office/powerpoint/2010/main" val="2737949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BB124A88-8647-4523-A9D7-930A8D217A4C}"/>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A3B374DA-2B2D-473A-9817-B81E2FDA0A31}"/>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Verrous pendant une évolution</a:t>
            </a:r>
          </a:p>
        </p:txBody>
      </p:sp>
      <p:sp>
        <p:nvSpPr>
          <p:cNvPr id="4" name="Rectangle 3">
            <a:extLst>
              <a:ext uri="{FF2B5EF4-FFF2-40B4-BE49-F238E27FC236}">
                <a16:creationId xmlns:a16="http://schemas.microsoft.com/office/drawing/2014/main" id="{30D387C7-233A-4865-AAFE-B493F0FF6656}"/>
              </a:ext>
            </a:extLst>
          </p:cNvPr>
          <p:cNvSpPr>
            <a:spLocks noGrp="1"/>
          </p:cNvSpPr>
          <p:nvPr/>
        </p:nvSpPr>
        <p:spPr>
          <a:xfrm>
            <a:off x="666750" y="2209800"/>
            <a:ext cx="13525500" cy="1762125"/>
          </a:xfrm>
          <a:prstGeom prst="rect">
            <a:avLst/>
          </a:prstGeom>
          <a:noFill/>
          <a:ln w="0">
            <a:noFill/>
          </a:ln>
        </p:spPr>
        <p:txBody>
          <a:bodyPr>
            <a:noAutofit/>
          </a:bodyPr>
          <a:lstStyle/>
          <a:p>
            <a:pPr>
              <a:defRPr sz="2550" b="0">
                <a:solidFill>
                  <a:srgbClr val="173044"/>
                </a:solidFill>
                <a:latin typeface="Aptos"/>
                <a:ea typeface="Aptos"/>
                <a:cs typeface="Aptos"/>
              </a:defRPr>
            </a:pPr>
            <a:r>
              <a:rPr sz="2550" b="0">
                <a:solidFill>
                  <a:srgbClr val="173044"/>
                </a:solidFill>
                <a:latin typeface="Aptos"/>
                <a:ea typeface="Aptos"/>
                <a:cs typeface="Aptos"/>
              </a:rPr>
              <a:t>Un DDL peut demander un verrou incompatible avec les opérations en cours. Une transaction oubliée peut prolonger l’attente, puis une file d’autres opérations peut s’accumuler. Le risque dépend du type d’opération.</a:t>
            </a:r>
          </a:p>
        </p:txBody>
      </p:sp>
      <p:sp>
        <p:nvSpPr>
          <p:cNvPr id="5" name="Rectangle 4">
            <a:extLst>
              <a:ext uri="{FF2B5EF4-FFF2-40B4-BE49-F238E27FC236}">
                <a16:creationId xmlns:a16="http://schemas.microsoft.com/office/drawing/2014/main" id="{0492C1C1-037A-442D-B6BB-24299161BCE7}"/>
              </a:ext>
            </a:extLst>
          </p:cNvPr>
          <p:cNvSpPr>
            <a:spLocks noGrp="1"/>
          </p:cNvSpPr>
          <p:nvPr/>
        </p:nvSpPr>
        <p:spPr>
          <a:xfrm>
            <a:off x="3714750" y="4343400"/>
            <a:ext cx="10715625" cy="1981200"/>
          </a:xfrm>
          <a:prstGeom prst="rect">
            <a:avLst/>
          </a:prstGeom>
          <a:noFill/>
          <a:ln w="0">
            <a:noFill/>
          </a:ln>
        </p:spPr>
        <p:txBody>
          <a:bodyPr>
            <a:noAutofit/>
          </a:bodyPr>
          <a:lstStyle/>
          <a:p>
            <a:pPr>
              <a:defRPr sz="2250" b="0">
                <a:solidFill>
                  <a:srgbClr val="173044"/>
                </a:solidFill>
                <a:latin typeface="Aptos"/>
                <a:ea typeface="Aptos"/>
                <a:cs typeface="Aptos"/>
              </a:defRPr>
            </a:pPr>
            <a:r>
              <a:rPr sz="2250" b="0">
                <a:solidFill>
                  <a:srgbClr val="173044"/>
                </a:solidFill>
                <a:latin typeface="Aptos"/>
                <a:ea typeface="Aptos"/>
                <a:cs typeface="Aptos"/>
              </a:rPr>
              <a:t>La procédure définit une limite d’attente et une possibilité d’abandon. On observe les sessions et les bloqueurs avant d’accuser la nouvelle requête. Une migration réussie conserve la disponibilité attendue.</a:t>
            </a:r>
          </a:p>
        </p:txBody>
      </p:sp>
      <p:sp>
        <p:nvSpPr>
          <p:cNvPr id="6" name="Rectangle 5">
            <a:extLst>
              <a:ext uri="{FF2B5EF4-FFF2-40B4-BE49-F238E27FC236}">
                <a16:creationId xmlns:a16="http://schemas.microsoft.com/office/drawing/2014/main" id="{D0BEE8A9-72FC-4084-BAA5-40E1FDB85442}"/>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8AC88394-DD99-4083-9FF4-2EF78ACE7C6F}"/>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 niveau de verrou exact se vérifie pour la commande choisie et la version utilisée.</a:t>
            </a:r>
          </a:p>
        </p:txBody>
      </p:sp>
      <p:sp>
        <p:nvSpPr>
          <p:cNvPr id="8" name="Rectangle 7">
            <a:extLst>
              <a:ext uri="{FF2B5EF4-FFF2-40B4-BE49-F238E27FC236}">
                <a16:creationId xmlns:a16="http://schemas.microsoft.com/office/drawing/2014/main" id="{55EEB65F-F7C6-4828-97F1-D15BAD04EDCC}"/>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CF4413DB-EA13-46CF-8688-B2CCAC28B450}"/>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26 / 32</a:t>
            </a:r>
          </a:p>
        </p:txBody>
      </p:sp>
    </p:spTree>
    <p:extLst>
      <p:ext uri="{BB962C8B-B14F-4D97-AF65-F5344CB8AC3E}">
        <p14:creationId xmlns:p14="http://schemas.microsoft.com/office/powerpoint/2010/main" val="10485411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41980D0C-8E04-4F29-A60A-FD16A4BBE945}"/>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2   /   OPTIMISATION BDD</a:t>
            </a:r>
          </a:p>
        </p:txBody>
      </p:sp>
      <p:sp>
        <p:nvSpPr>
          <p:cNvPr id="3" name="Rectangle 2">
            <a:extLst>
              <a:ext uri="{FF2B5EF4-FFF2-40B4-BE49-F238E27FC236}">
                <a16:creationId xmlns:a16="http://schemas.microsoft.com/office/drawing/2014/main" id="{9E36252A-67F7-425F-BE05-B3B4A5404678}"/>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Atelier 4 : index spécialisés</a:t>
            </a:r>
          </a:p>
        </p:txBody>
      </p:sp>
      <p:sp>
        <p:nvSpPr>
          <p:cNvPr id="4" name="Rectangle 3">
            <a:extLst>
              <a:ext uri="{FF2B5EF4-FFF2-40B4-BE49-F238E27FC236}">
                <a16:creationId xmlns:a16="http://schemas.microsoft.com/office/drawing/2014/main" id="{01BC4056-B2EC-4B7A-AEDA-AB8DF56D81D6}"/>
              </a:ext>
            </a:extLst>
          </p:cNvPr>
          <p:cNvSpPr>
            <a:spLocks noGrp="1"/>
          </p:cNvSpPr>
          <p:nvPr/>
        </p:nvSpPr>
        <p:spPr>
          <a:xfrm>
            <a:off x="666750" y="2143125"/>
            <a:ext cx="6191250" cy="304800"/>
          </a:xfrm>
          <a:prstGeom prst="rect">
            <a:avLst/>
          </a:prstGeom>
          <a:noFill/>
          <a:ln w="0">
            <a:noFill/>
          </a:ln>
        </p:spPr>
        <p:txBody>
          <a:bodyPr>
            <a:noAutofit/>
          </a:bodyPr>
          <a:lstStyle/>
          <a:p>
            <a:pPr>
              <a:defRPr sz="1500" b="1">
                <a:solidFill>
                  <a:srgbClr val="69E0E3"/>
                </a:solidFill>
                <a:latin typeface="Aptos"/>
                <a:ea typeface="Aptos"/>
                <a:cs typeface="Aptos"/>
              </a:defRPr>
            </a:pPr>
            <a:r>
              <a:rPr sz="1500" b="1">
                <a:solidFill>
                  <a:srgbClr val="69E0E3"/>
                </a:solidFill>
                <a:latin typeface="Aptos"/>
                <a:ea typeface="Aptos"/>
                <a:cs typeface="Aptos"/>
              </a:rPr>
              <a:t>MANIPULATION GUIDÉE</a:t>
            </a:r>
          </a:p>
        </p:txBody>
      </p:sp>
      <p:sp>
        <p:nvSpPr>
          <p:cNvPr id="5" name="Rectangle 4">
            <a:extLst>
              <a:ext uri="{FF2B5EF4-FFF2-40B4-BE49-F238E27FC236}">
                <a16:creationId xmlns:a16="http://schemas.microsoft.com/office/drawing/2014/main" id="{C476783F-CA3B-4A46-9148-8AA92D83A9EB}"/>
              </a:ext>
            </a:extLst>
          </p:cNvPr>
          <p:cNvSpPr>
            <a:spLocks noGrp="1"/>
          </p:cNvSpPr>
          <p:nvPr/>
        </p:nvSpPr>
        <p:spPr>
          <a:xfrm>
            <a:off x="666750" y="2667000"/>
            <a:ext cx="6334125" cy="3429000"/>
          </a:xfrm>
          <a:prstGeom prst="rect">
            <a:avLst/>
          </a:prstGeom>
          <a:noFill/>
          <a:ln w="0">
            <a:noFill/>
          </a:ln>
        </p:spPr>
        <p:txBody>
          <a:bodyPr>
            <a:noAutofit/>
          </a:bodyPr>
          <a:lstStyle/>
          <a:p>
            <a:pPr>
              <a:defRPr sz="2325" b="0">
                <a:solidFill>
                  <a:srgbClr val="F6F3ED"/>
                </a:solidFill>
                <a:latin typeface="Aptos"/>
                <a:ea typeface="Aptos"/>
                <a:cs typeface="Aptos"/>
              </a:defRPr>
            </a:pPr>
            <a:r>
              <a:rPr sz="2325" b="0">
                <a:solidFill>
                  <a:srgbClr val="F6F3ED"/>
                </a:solidFill>
                <a:latin typeface="Aptos"/>
                <a:ea typeface="Aptos"/>
                <a:cs typeface="Aptos"/>
              </a:rPr>
              <a:t>Créer les variantes partielle et GIN dans le laboratoire. Comparer leurs requêtes avec un filtre qui correspond au prédicat et un filtre qui ne correspond pas. Observer la taille et l’usage des index.</a:t>
            </a:r>
          </a:p>
        </p:txBody>
      </p:sp>
      <p:sp>
        <p:nvSpPr>
          <p:cNvPr id="6" name="Rectangle 5">
            <a:extLst>
              <a:ext uri="{FF2B5EF4-FFF2-40B4-BE49-F238E27FC236}">
                <a16:creationId xmlns:a16="http://schemas.microsoft.com/office/drawing/2014/main" id="{795F1293-1B2C-4A32-9665-C6E7AC189608}"/>
              </a:ext>
            </a:extLst>
          </p:cNvPr>
          <p:cNvSpPr>
            <a:spLocks noGrp="1"/>
          </p:cNvSpPr>
          <p:nvPr/>
        </p:nvSpPr>
        <p:spPr>
          <a:xfrm>
            <a:off x="8096250" y="2143125"/>
            <a:ext cx="6191250" cy="304800"/>
          </a:xfrm>
          <a:prstGeom prst="rect">
            <a:avLst/>
          </a:prstGeom>
          <a:noFill/>
          <a:ln w="0">
            <a:noFill/>
          </a:ln>
        </p:spPr>
        <p:txBody>
          <a:bodyPr>
            <a:noAutofit/>
          </a:bodyPr>
          <a:lstStyle/>
          <a:p>
            <a:pPr>
              <a:defRPr sz="1500" b="1">
                <a:solidFill>
                  <a:srgbClr val="69E0E3"/>
                </a:solidFill>
                <a:latin typeface="Aptos"/>
                <a:ea typeface="Aptos"/>
                <a:cs typeface="Aptos"/>
              </a:defRPr>
            </a:pPr>
            <a:r>
              <a:rPr sz="1500" b="1">
                <a:solidFill>
                  <a:srgbClr val="69E0E3"/>
                </a:solidFill>
                <a:latin typeface="Aptos"/>
                <a:ea typeface="Aptos"/>
                <a:cs typeface="Aptos"/>
              </a:rPr>
              <a:t>PREUVES À CONSERVER</a:t>
            </a:r>
          </a:p>
        </p:txBody>
      </p:sp>
      <p:sp>
        <p:nvSpPr>
          <p:cNvPr id="7" name="Rectangle 6">
            <a:extLst>
              <a:ext uri="{FF2B5EF4-FFF2-40B4-BE49-F238E27FC236}">
                <a16:creationId xmlns:a16="http://schemas.microsoft.com/office/drawing/2014/main" id="{AE32824C-E3C2-4157-8316-9BE22ABBF6B1}"/>
              </a:ext>
            </a:extLst>
          </p:cNvPr>
          <p:cNvSpPr>
            <a:spLocks noGrp="1"/>
          </p:cNvSpPr>
          <p:nvPr/>
        </p:nvSpPr>
        <p:spPr>
          <a:xfrm>
            <a:off x="8096250" y="2667000"/>
            <a:ext cx="6381750" cy="3429000"/>
          </a:xfrm>
          <a:prstGeom prst="rect">
            <a:avLst/>
          </a:prstGeom>
          <a:noFill/>
          <a:ln w="0">
            <a:noFill/>
          </a:ln>
        </p:spPr>
        <p:txBody>
          <a:bodyPr>
            <a:noAutofit/>
          </a:bodyPr>
          <a:lstStyle/>
          <a:p>
            <a:pPr>
              <a:defRPr sz="2325" b="0">
                <a:solidFill>
                  <a:srgbClr val="F6F3ED"/>
                </a:solidFill>
                <a:latin typeface="Aptos"/>
                <a:ea typeface="Aptos"/>
                <a:cs typeface="Aptos"/>
              </a:defRPr>
            </a:pPr>
            <a:r>
              <a:rPr sz="2325" b="0">
                <a:solidFill>
                  <a:srgbClr val="F6F3ED"/>
                </a:solidFill>
                <a:latin typeface="Aptos"/>
                <a:ea typeface="Aptos"/>
                <a:cs typeface="Aptos"/>
              </a:rPr>
              <a:t>Sur la petite table produits, un Seq Scan peut rester rationnel. Expliquer ce résultat et proposer un test à plus grand volume. Pour GiST, créer deux périodes qui se chevauchent et une période disjointe.</a:t>
            </a:r>
          </a:p>
        </p:txBody>
      </p:sp>
      <p:sp>
        <p:nvSpPr>
          <p:cNvPr id="8" name="Rectangle 7">
            <a:extLst>
              <a:ext uri="{FF2B5EF4-FFF2-40B4-BE49-F238E27FC236}">
                <a16:creationId xmlns:a16="http://schemas.microsoft.com/office/drawing/2014/main" id="{C56CB1B5-1933-4F55-BD7D-EDA5AD5AAE3A}"/>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9" name="Rectangle 8">
            <a:extLst>
              <a:ext uri="{FF2B5EF4-FFF2-40B4-BE49-F238E27FC236}">
                <a16:creationId xmlns:a16="http://schemas.microsoft.com/office/drawing/2014/main" id="{D9F472C2-D8EF-4178-ADB5-D6B556FC6B13}"/>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Livrable : choix d’index, opérateurs, résultats et conditions. Temps prévu : 1 h.</a:t>
            </a:r>
          </a:p>
        </p:txBody>
      </p:sp>
      <p:sp>
        <p:nvSpPr>
          <p:cNvPr id="10" name="Rectangle 9">
            <a:extLst>
              <a:ext uri="{FF2B5EF4-FFF2-40B4-BE49-F238E27FC236}">
                <a16:creationId xmlns:a16="http://schemas.microsoft.com/office/drawing/2014/main" id="{3BDF0C6E-760D-409E-A15A-AB270C001AAD}"/>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E73E2591-38CD-4BC4-BA1D-D52984A82CD8}"/>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27 / 32</a:t>
            </a:r>
          </a:p>
        </p:txBody>
      </p:sp>
    </p:spTree>
    <p:extLst>
      <p:ext uri="{BB962C8B-B14F-4D97-AF65-F5344CB8AC3E}">
        <p14:creationId xmlns:p14="http://schemas.microsoft.com/office/powerpoint/2010/main" val="876373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4EB37D9D-A4BE-4316-B4CF-0676E7057563}"/>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7C551F7E-268E-4D3E-9EC2-B65413147681}"/>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Un plan de décision pour ShopFlow</a:t>
            </a:r>
          </a:p>
        </p:txBody>
      </p:sp>
      <p:sp>
        <p:nvSpPr>
          <p:cNvPr id="4" name="Rectangle 3">
            <a:extLst>
              <a:ext uri="{FF2B5EF4-FFF2-40B4-BE49-F238E27FC236}">
                <a16:creationId xmlns:a16="http://schemas.microsoft.com/office/drawing/2014/main" id="{CF8217E3-9439-4962-912C-7EA28EF15254}"/>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L’historique donne une hypothèse d’index composé. Le traitement des commandes en attente donne une hypothèse partielle. Le catalogue flexible donne une hypothèse GIN. Chaque hypothèse répond à une requête distincte.</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Le choix final tient compte de la fréquence des appels, du coût des écritures, de la taille et des contraintes. On peut garder moins d’index que dans le laboratoire si les bénéfices ne compensent pas les coûts.</a:t>
            </a:r>
          </a:p>
        </p:txBody>
      </p:sp>
      <p:graphicFrame>
        <p:nvGraphicFramePr>
          <p:cNvPr id="14" name="Tableau 13"/>
          <p:cNvGraphicFramePr/>
          <p:nvPr/>
        </p:nvGraphicFramePr>
        <p:xfrm>
          <a:off x="7334250" y="2381250"/>
          <a:ext cx="7239000" cy="3714750"/>
        </p:xfrm>
        <a:graphic>
          <a:graphicData uri="http://schemas.openxmlformats.org/drawingml/2006/table">
            <a:tbl>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742950">
                <a:tc>
                  <a:txBody>
                    <a:bodyPr/>
                    <a:lstStyle/>
                    <a:p>
                      <a:r>
                        <a:rPr sz="1800" b="1">
                          <a:solidFill>
                            <a:srgbClr val="FFFFFF"/>
                          </a:solidFill>
                          <a:latin typeface="Aptos"/>
                          <a:ea typeface="Aptos"/>
                          <a:cs typeface="Aptos"/>
                        </a:rPr>
                        <a:t>Besoin</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Option à tester</a:t>
                      </a:r>
                    </a:p>
                  </a:txBody>
                  <a:tcPr marL="142875" marR="142875" marT="114300" marB="114300" anchor="ctr">
                    <a:solidFill>
                      <a:srgbClr val="173C4C"/>
                    </a:solidFill>
                  </a:tcPr>
                </a:tc>
                <a:extLst>
                  <a:ext uri="{0D108BD9-81ED-4DB2-BD59-A6C34878D82A}">
                    <a16:rowId xmlns:a16="http://schemas.microsoft.com/office/drawing/2014/main" val="10000"/>
                  </a:ext>
                </a:extLst>
              </a:tr>
              <a:tr h="742950">
                <a:tc>
                  <a:txBody>
                    <a:bodyPr/>
                    <a:lstStyle/>
                    <a:p>
                      <a:r>
                        <a:rPr sz="1800">
                          <a:solidFill>
                            <a:srgbClr val="173044"/>
                          </a:solidFill>
                          <a:latin typeface="Aptos"/>
                          <a:ea typeface="Aptos"/>
                          <a:cs typeface="Aptos"/>
                        </a:rPr>
                        <a:t>Historique client</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B-tree composé</a:t>
                      </a:r>
                    </a:p>
                  </a:txBody>
                  <a:tcPr marL="142875" marR="142875" marT="114300" marB="114300" anchor="ctr">
                    <a:solidFill>
                      <a:srgbClr val="F2DEC6"/>
                    </a:solidFill>
                  </a:tcPr>
                </a:tc>
                <a:extLst>
                  <a:ext uri="{0D108BD9-81ED-4DB2-BD59-A6C34878D82A}">
                    <a16:rowId xmlns:a16="http://schemas.microsoft.com/office/drawing/2014/main" val="10001"/>
                  </a:ext>
                </a:extLst>
              </a:tr>
              <a:tr h="742950">
                <a:tc>
                  <a:txBody>
                    <a:bodyPr/>
                    <a:lstStyle/>
                    <a:p>
                      <a:r>
                        <a:rPr sz="1800">
                          <a:solidFill>
                            <a:srgbClr val="173044"/>
                          </a:solidFill>
                          <a:latin typeface="Aptos"/>
                          <a:ea typeface="Aptos"/>
                          <a:cs typeface="Aptos"/>
                        </a:rPr>
                        <a:t>File à traiter</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Index partiel</a:t>
                      </a:r>
                    </a:p>
                  </a:txBody>
                  <a:tcPr marL="142875" marR="142875" marT="114300" marB="114300" anchor="ctr">
                    <a:solidFill>
                      <a:srgbClr val="F2DEC6"/>
                    </a:solidFill>
                  </a:tcPr>
                </a:tc>
                <a:extLst>
                  <a:ext uri="{0D108BD9-81ED-4DB2-BD59-A6C34878D82A}">
                    <a16:rowId xmlns:a16="http://schemas.microsoft.com/office/drawing/2014/main" val="10002"/>
                  </a:ext>
                </a:extLst>
              </a:tr>
              <a:tr h="742950">
                <a:tc>
                  <a:txBody>
                    <a:bodyPr/>
                    <a:lstStyle/>
                    <a:p>
                      <a:r>
                        <a:rPr sz="1800">
                          <a:solidFill>
                            <a:srgbClr val="173044"/>
                          </a:solidFill>
                          <a:latin typeface="Aptos"/>
                          <a:ea typeface="Aptos"/>
                          <a:cs typeface="Aptos"/>
                        </a:rPr>
                        <a:t>Attributs flexibles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GIN ou colonne typée</a:t>
                      </a:r>
                    </a:p>
                  </a:txBody>
                  <a:tcPr marL="142875" marR="142875" marT="114300" marB="114300" anchor="ctr">
                    <a:solidFill>
                      <a:srgbClr val="F2DEC6"/>
                    </a:solidFill>
                  </a:tcPr>
                </a:tc>
                <a:extLst>
                  <a:ext uri="{0D108BD9-81ED-4DB2-BD59-A6C34878D82A}">
                    <a16:rowId xmlns:a16="http://schemas.microsoft.com/office/drawing/2014/main" val="10003"/>
                  </a:ext>
                </a:extLst>
              </a:tr>
              <a:tr h="742950">
                <a:tc>
                  <a:txBody>
                    <a:bodyPr/>
                    <a:lstStyle/>
                    <a:p>
                      <a:r>
                        <a:rPr sz="1800">
                          <a:solidFill>
                            <a:srgbClr val="173044"/>
                          </a:solidFill>
                          <a:latin typeface="Aptos"/>
                          <a:ea typeface="Aptos"/>
                          <a:cs typeface="Aptos"/>
                        </a:rPr>
                        <a:t>Import fréquent</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Limiter les index</a:t>
                      </a:r>
                    </a:p>
                  </a:txBody>
                  <a:tcPr marL="142875" marR="142875" marT="114300" marB="114300" anchor="ctr">
                    <a:solidFill>
                      <a:srgbClr val="F2DEC6"/>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A1798EC2-C23F-48B8-B30B-79F100AE0714}"/>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C62DF0F9-3B1F-41F8-ADE6-CAC31E6801A9}"/>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 dossier présente aussi les variantes rejetées et leur raison.</a:t>
            </a:r>
          </a:p>
        </p:txBody>
      </p:sp>
      <p:sp>
        <p:nvSpPr>
          <p:cNvPr id="8" name="Rectangle 7">
            <a:extLst>
              <a:ext uri="{FF2B5EF4-FFF2-40B4-BE49-F238E27FC236}">
                <a16:creationId xmlns:a16="http://schemas.microsoft.com/office/drawing/2014/main" id="{BB85BE86-FAC7-48B5-98B5-66B5AFF33E0D}"/>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38FD9024-CB23-434E-A63E-246712ADF65A}"/>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28 / 32</a:t>
            </a:r>
          </a:p>
        </p:txBody>
      </p:sp>
    </p:spTree>
    <p:extLst>
      <p:ext uri="{BB962C8B-B14F-4D97-AF65-F5344CB8AC3E}">
        <p14:creationId xmlns:p14="http://schemas.microsoft.com/office/powerpoint/2010/main" val="7325529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102C892A-7F63-45E4-A1D5-3C7E43CA00A4}"/>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7D2D9D6E-30A7-42AE-BA28-46D5A5F60157}"/>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Une comparaison honnête des résultats</a:t>
            </a:r>
          </a:p>
        </p:txBody>
      </p:sp>
      <p:sp>
        <p:nvSpPr>
          <p:cNvPr id="4" name="Rectangle 3">
            <a:extLst>
              <a:ext uri="{FF2B5EF4-FFF2-40B4-BE49-F238E27FC236}">
                <a16:creationId xmlns:a16="http://schemas.microsoft.com/office/drawing/2014/main" id="{B1EB49DE-85C5-469D-B5F1-89A0444B4383}"/>
              </a:ext>
            </a:extLst>
          </p:cNvPr>
          <p:cNvSpPr>
            <a:spLocks noGrp="1"/>
          </p:cNvSpPr>
          <p:nvPr/>
        </p:nvSpPr>
        <p:spPr>
          <a:xfrm>
            <a:off x="6667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MÉCANISME</a:t>
            </a:r>
          </a:p>
        </p:txBody>
      </p:sp>
      <p:sp>
        <p:nvSpPr>
          <p:cNvPr id="5" name="Rectangle 4">
            <a:extLst>
              <a:ext uri="{FF2B5EF4-FFF2-40B4-BE49-F238E27FC236}">
                <a16:creationId xmlns:a16="http://schemas.microsoft.com/office/drawing/2014/main" id="{BEFC44EE-0D64-4596-963E-FAE0ABDECD7A}"/>
              </a:ext>
            </a:extLst>
          </p:cNvPr>
          <p:cNvSpPr>
            <a:spLocks noGrp="1"/>
          </p:cNvSpPr>
          <p:nvPr/>
        </p:nvSpPr>
        <p:spPr>
          <a:xfrm>
            <a:off x="666750" y="2571750"/>
            <a:ext cx="6334125"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Un plan modifié est un mécanisme observé. Une durée réduite est un effet mesuré. La démonstration relie les deux sans annoncer un pourcentage universel. Les résultats dépendent du jeu, du cache et de la charge.</a:t>
            </a:r>
          </a:p>
        </p:txBody>
      </p:sp>
      <p:sp>
        <p:nvSpPr>
          <p:cNvPr id="6" name="Rectangle 5">
            <a:extLst>
              <a:ext uri="{FF2B5EF4-FFF2-40B4-BE49-F238E27FC236}">
                <a16:creationId xmlns:a16="http://schemas.microsoft.com/office/drawing/2014/main" id="{21BD8654-0004-4446-A25B-2F2575D8C727}"/>
              </a:ext>
            </a:extLst>
          </p:cNvPr>
          <p:cNvSpPr>
            <a:spLocks noGrp="1"/>
          </p:cNvSpPr>
          <p:nvPr/>
        </p:nvSpPr>
        <p:spPr>
          <a:xfrm>
            <a:off x="80962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CONSÉQUENCE APPLICATIVE</a:t>
            </a:r>
          </a:p>
        </p:txBody>
      </p:sp>
      <p:sp>
        <p:nvSpPr>
          <p:cNvPr id="7" name="Rectangle 6">
            <a:extLst>
              <a:ext uri="{FF2B5EF4-FFF2-40B4-BE49-F238E27FC236}">
                <a16:creationId xmlns:a16="http://schemas.microsoft.com/office/drawing/2014/main" id="{B056BDBB-9401-4529-A005-E878602C4E7B}"/>
              </a:ext>
            </a:extLst>
          </p:cNvPr>
          <p:cNvSpPr>
            <a:spLocks noGrp="1"/>
          </p:cNvSpPr>
          <p:nvPr/>
        </p:nvSpPr>
        <p:spPr>
          <a:xfrm>
            <a:off x="8096250" y="2571750"/>
            <a:ext cx="6381750"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Si la médiane s’améliore et que le p95 se dégrade, on recherche la variabilité ou les attentes. Si les écritures ralentissent, on expose ce compromis au lieu de ne présenter que la lecture la plus favorable.</a:t>
            </a:r>
          </a:p>
        </p:txBody>
      </p:sp>
      <p:sp>
        <p:nvSpPr>
          <p:cNvPr id="8" name="Rectangle 7">
            <a:extLst>
              <a:ext uri="{FF2B5EF4-FFF2-40B4-BE49-F238E27FC236}">
                <a16:creationId xmlns:a16="http://schemas.microsoft.com/office/drawing/2014/main" id="{0C700A3E-DC70-4A50-8DAF-73DE0D96AF57}"/>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6F4C2CCB-ACED-4CE6-B43B-A8C04C6D2083}"/>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Les graphiques du dossier portent leurs unités, leur protocole et la mention de leur origine.</a:t>
            </a:r>
          </a:p>
        </p:txBody>
      </p:sp>
      <p:sp>
        <p:nvSpPr>
          <p:cNvPr id="10" name="Rectangle 9">
            <a:extLst>
              <a:ext uri="{FF2B5EF4-FFF2-40B4-BE49-F238E27FC236}">
                <a16:creationId xmlns:a16="http://schemas.microsoft.com/office/drawing/2014/main" id="{1E099678-EFA9-4464-B697-25F1FCDC34F9}"/>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979F03F8-5BE3-4130-A8BB-D0030254F745}"/>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29 / 32</a:t>
            </a:r>
          </a:p>
        </p:txBody>
      </p:sp>
    </p:spTree>
    <p:extLst>
      <p:ext uri="{BB962C8B-B14F-4D97-AF65-F5344CB8AC3E}">
        <p14:creationId xmlns:p14="http://schemas.microsoft.com/office/powerpoint/2010/main" val="19212906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127FA96B-5053-41AD-9375-350BE78B02F0}"/>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75F00F99-6DF3-447E-B11C-EFC718CE79D5}"/>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Questions sur les index</a:t>
            </a:r>
          </a:p>
        </p:txBody>
      </p:sp>
      <p:sp>
        <p:nvSpPr>
          <p:cNvPr id="4" name="Rectangle 3">
            <a:extLst>
              <a:ext uri="{FF2B5EF4-FFF2-40B4-BE49-F238E27FC236}">
                <a16:creationId xmlns:a16="http://schemas.microsoft.com/office/drawing/2014/main" id="{E88B8E55-E3FA-4253-94C3-85B5C82A58DE}"/>
              </a:ext>
            </a:extLst>
          </p:cNvPr>
          <p:cNvSpPr>
            <a:spLocks noGrp="1"/>
          </p:cNvSpPr>
          <p:nvPr/>
        </p:nvSpPr>
        <p:spPr>
          <a:xfrm>
            <a:off x="666750" y="2209800"/>
            <a:ext cx="13525500" cy="1762125"/>
          </a:xfrm>
          <a:prstGeom prst="rect">
            <a:avLst/>
          </a:prstGeom>
          <a:noFill/>
          <a:ln w="0">
            <a:noFill/>
          </a:ln>
        </p:spPr>
        <p:txBody>
          <a:bodyPr>
            <a:noAutofit/>
          </a:bodyPr>
          <a:lstStyle/>
          <a:p>
            <a:pPr>
              <a:defRPr sz="2550" b="0">
                <a:solidFill>
                  <a:srgbClr val="173044"/>
                </a:solidFill>
                <a:latin typeface="Aptos"/>
                <a:ea typeface="Aptos"/>
                <a:cs typeface="Aptos"/>
              </a:defRPr>
            </a:pPr>
            <a:r>
              <a:rPr sz="2550" b="0">
                <a:solidFill>
                  <a:srgbClr val="173044"/>
                </a:solidFill>
                <a:latin typeface="Aptos"/>
                <a:ea typeface="Aptos"/>
                <a:cs typeface="Aptos"/>
              </a:rPr>
              <a:t>1. Pourquoi l’index composé commence-t-il par client_id ?</a:t>
            </a:r>
          </a:p>
          <a:p>
            <a:pPr>
              <a:defRPr sz="2550" b="0">
                <a:solidFill>
                  <a:srgbClr val="173044"/>
                </a:solidFill>
                <a:latin typeface="Aptos"/>
                <a:ea typeface="Aptos"/>
                <a:cs typeface="Aptos"/>
              </a:defRPr>
            </a:pPr>
            <a:r>
              <a:rPr sz="2550" b="0">
                <a:solidFill>
                  <a:srgbClr val="173044"/>
                </a:solidFill>
                <a:latin typeface="Aptos"/>
                <a:ea typeface="Aptos"/>
                <a:cs typeface="Aptos"/>
              </a:rPr>
              <a:t>2. Pourquoi INCLUDE ne garantit-il pas zéro Heap Fetches ?</a:t>
            </a:r>
          </a:p>
          <a:p>
            <a:pPr>
              <a:defRPr sz="2550" b="0">
                <a:solidFill>
                  <a:srgbClr val="173044"/>
                </a:solidFill>
                <a:latin typeface="Aptos"/>
                <a:ea typeface="Aptos"/>
                <a:cs typeface="Aptos"/>
              </a:defRPr>
            </a:pPr>
            <a:r>
              <a:rPr sz="2550" b="0">
                <a:solidFill>
                  <a:srgbClr val="173044"/>
                </a:solidFill>
                <a:latin typeface="Aptos"/>
                <a:ea typeface="Aptos"/>
                <a:cs typeface="Aptos"/>
              </a:rPr>
              <a:t>3. Quelle différence entre un index partiel et une partition ?</a:t>
            </a:r>
          </a:p>
        </p:txBody>
      </p:sp>
      <p:sp>
        <p:nvSpPr>
          <p:cNvPr id="5" name="Rectangle 4">
            <a:extLst>
              <a:ext uri="{FF2B5EF4-FFF2-40B4-BE49-F238E27FC236}">
                <a16:creationId xmlns:a16="http://schemas.microsoft.com/office/drawing/2014/main" id="{89BB1506-0CD8-4B88-BEC5-D6E0F1BB083D}"/>
              </a:ext>
            </a:extLst>
          </p:cNvPr>
          <p:cNvSpPr>
            <a:spLocks noGrp="1"/>
          </p:cNvSpPr>
          <p:nvPr/>
        </p:nvSpPr>
        <p:spPr>
          <a:xfrm>
            <a:off x="3714750" y="4343400"/>
            <a:ext cx="10715625" cy="1981200"/>
          </a:xfrm>
          <a:prstGeom prst="rect">
            <a:avLst/>
          </a:prstGeom>
          <a:noFill/>
          <a:ln w="0">
            <a:noFill/>
          </a:ln>
        </p:spPr>
        <p:txBody>
          <a:bodyPr>
            <a:noAutofit/>
          </a:bodyPr>
          <a:lstStyle/>
          <a:p>
            <a:pPr>
              <a:defRPr sz="2250" b="0">
                <a:solidFill>
                  <a:srgbClr val="173044"/>
                </a:solidFill>
                <a:latin typeface="Aptos"/>
                <a:ea typeface="Aptos"/>
                <a:cs typeface="Aptos"/>
              </a:defRPr>
            </a:pPr>
            <a:r>
              <a:rPr sz="2250" b="0">
                <a:solidFill>
                  <a:srgbClr val="173044"/>
                </a:solidFill>
                <a:latin typeface="Aptos"/>
                <a:ea typeface="Aptos"/>
                <a:cs typeface="Aptos"/>
              </a:rPr>
              <a:t>4. Pourquoi un index GIN ne remplace-t-il pas tous les filtres JSON ?</a:t>
            </a:r>
          </a:p>
          <a:p>
            <a:pPr>
              <a:defRPr sz="2250" b="0">
                <a:solidFill>
                  <a:srgbClr val="173044"/>
                </a:solidFill>
                <a:latin typeface="Aptos"/>
                <a:ea typeface="Aptos"/>
                <a:cs typeface="Aptos"/>
              </a:defRPr>
            </a:pPr>
            <a:r>
              <a:rPr sz="2250" b="0">
                <a:solidFill>
                  <a:srgbClr val="173044"/>
                </a:solidFill>
                <a:latin typeface="Aptos"/>
                <a:ea typeface="Aptos"/>
                <a:cs typeface="Aptos"/>
              </a:rPr>
              <a:t>5. Quel coût observe-t-on sur les écritures ?</a:t>
            </a:r>
          </a:p>
          <a:p>
            <a:pPr>
              <a:defRPr sz="2250" b="0">
                <a:solidFill>
                  <a:srgbClr val="173044"/>
                </a:solidFill>
                <a:latin typeface="Aptos"/>
                <a:ea typeface="Aptos"/>
                <a:cs typeface="Aptos"/>
              </a:defRPr>
            </a:pPr>
            <a:r>
              <a:rPr sz="2250" b="0">
                <a:solidFill>
                  <a:srgbClr val="173044"/>
                </a:solidFill>
                <a:latin typeface="Aptos"/>
                <a:ea typeface="Aptos"/>
                <a:cs typeface="Aptos"/>
              </a:rPr>
              <a:t>6. Pourquoi un compteur d’usage nul ne suffit-il pas à supprimer un index ?</a:t>
            </a:r>
          </a:p>
        </p:txBody>
      </p:sp>
      <p:sp>
        <p:nvSpPr>
          <p:cNvPr id="6" name="Rectangle 5">
            <a:extLst>
              <a:ext uri="{FF2B5EF4-FFF2-40B4-BE49-F238E27FC236}">
                <a16:creationId xmlns:a16="http://schemas.microsoft.com/office/drawing/2014/main" id="{44B88DF7-4074-46D8-AA92-F4115866343B}"/>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0C3F8D99-D16A-42C9-9B21-6BE9D5D2C881}"/>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Donner un exemple de requête pour chaque réponse.</a:t>
            </a:r>
          </a:p>
        </p:txBody>
      </p:sp>
      <p:sp>
        <p:nvSpPr>
          <p:cNvPr id="8" name="Rectangle 7">
            <a:extLst>
              <a:ext uri="{FF2B5EF4-FFF2-40B4-BE49-F238E27FC236}">
                <a16:creationId xmlns:a16="http://schemas.microsoft.com/office/drawing/2014/main" id="{A930E04F-9995-417C-ADF2-DC98835E14CA}"/>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AA601B2C-6CC7-48C9-9477-2A287AD423A5}"/>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30 / 32</a:t>
            </a:r>
          </a:p>
        </p:txBody>
      </p:sp>
    </p:spTree>
    <p:extLst>
      <p:ext uri="{BB962C8B-B14F-4D97-AF65-F5344CB8AC3E}">
        <p14:creationId xmlns:p14="http://schemas.microsoft.com/office/powerpoint/2010/main" val="12901314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2E2311C5-4C85-43A5-B7DB-9E92E389801D}"/>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2   /   OPTIMISATION BDD</a:t>
            </a:r>
          </a:p>
        </p:txBody>
      </p:sp>
      <p:sp>
        <p:nvSpPr>
          <p:cNvPr id="3" name="Rectangle 2">
            <a:extLst>
              <a:ext uri="{FF2B5EF4-FFF2-40B4-BE49-F238E27FC236}">
                <a16:creationId xmlns:a16="http://schemas.microsoft.com/office/drawing/2014/main" id="{4222270F-C7DD-4BB6-B1CB-8428BAC296BA}"/>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Correction et limites</a:t>
            </a:r>
          </a:p>
        </p:txBody>
      </p:sp>
      <p:sp>
        <p:nvSpPr>
          <p:cNvPr id="4" name="Rectangle 3">
            <a:extLst>
              <a:ext uri="{FF2B5EF4-FFF2-40B4-BE49-F238E27FC236}">
                <a16:creationId xmlns:a16="http://schemas.microsoft.com/office/drawing/2014/main" id="{750DE249-3F5C-47A3-9E56-F95BC430CF57}"/>
              </a:ext>
            </a:extLst>
          </p:cNvPr>
          <p:cNvSpPr>
            <a:spLocks noGrp="1"/>
          </p:cNvSpPr>
          <p:nvPr/>
        </p:nvSpPr>
        <p:spPr>
          <a:xfrm>
            <a:off x="666750" y="2238375"/>
            <a:ext cx="13525500" cy="1790700"/>
          </a:xfrm>
          <a:prstGeom prst="rect">
            <a:avLst/>
          </a:prstGeom>
          <a:noFill/>
          <a:ln w="0">
            <a:noFill/>
          </a:ln>
        </p:spPr>
        <p:txBody>
          <a:bodyPr>
            <a:noAutofit/>
          </a:bodyPr>
          <a:lstStyle/>
          <a:p>
            <a:pPr>
              <a:defRPr sz="2550" b="0">
                <a:solidFill>
                  <a:srgbClr val="F6F3ED"/>
                </a:solidFill>
                <a:latin typeface="Aptos"/>
                <a:ea typeface="Aptos"/>
                <a:cs typeface="Aptos"/>
              </a:defRPr>
            </a:pPr>
            <a:r>
              <a:rPr sz="2550" b="0">
                <a:solidFill>
                  <a:srgbClr val="F6F3ED"/>
                </a:solidFill>
                <a:latin typeface="Aptos"/>
                <a:ea typeface="Aptos"/>
                <a:cs typeface="Aptos"/>
              </a:rPr>
              <a:t>Le groupe client borne l’historique avant son tri. INCLUDE fournit des valeurs, tandis que la visibilité peut encore imposer des visites à la table. Un index partiel ajoute un accès sur un sous-ensemble, une partition sépare le stockage des lignes.</a:t>
            </a:r>
          </a:p>
        </p:txBody>
      </p:sp>
      <p:sp>
        <p:nvSpPr>
          <p:cNvPr id="5" name="Rectangle 4">
            <a:extLst>
              <a:ext uri="{FF2B5EF4-FFF2-40B4-BE49-F238E27FC236}">
                <a16:creationId xmlns:a16="http://schemas.microsoft.com/office/drawing/2014/main" id="{B713B333-CBE6-47BC-B7FD-D9D83032EDCF}"/>
              </a:ext>
            </a:extLst>
          </p:cNvPr>
          <p:cNvSpPr>
            <a:spLocks noGrp="1"/>
          </p:cNvSpPr>
          <p:nvPr/>
        </p:nvSpPr>
        <p:spPr>
          <a:xfrm>
            <a:off x="666750" y="4438650"/>
            <a:ext cx="10668000" cy="1809750"/>
          </a:xfrm>
          <a:prstGeom prst="rect">
            <a:avLst/>
          </a:prstGeom>
          <a:noFill/>
          <a:ln w="0">
            <a:noFill/>
          </a:ln>
        </p:spPr>
        <p:txBody>
          <a:bodyPr>
            <a:noAutofit/>
          </a:bodyPr>
          <a:lstStyle/>
          <a:p>
            <a:pPr>
              <a:defRPr sz="2325" b="0">
                <a:solidFill>
                  <a:srgbClr val="F6F3ED"/>
                </a:solidFill>
                <a:latin typeface="Aptos"/>
                <a:ea typeface="Aptos"/>
                <a:cs typeface="Aptos"/>
              </a:defRPr>
            </a:pPr>
            <a:r>
              <a:rPr sz="2325" b="0">
                <a:solidFill>
                  <a:srgbClr val="F6F3ED"/>
                </a:solidFill>
                <a:latin typeface="Aptos"/>
                <a:ea typeface="Aptos"/>
                <a:cs typeface="Aptos"/>
              </a:rPr>
              <a:t>Les opérateurs conditionnent GIN. Les écritures maintiennent les index. Un index peut protéger une contrainte ou servir à un usage rare. Ces réponses rendent la décision de schéma vérifiable et maintenable.</a:t>
            </a:r>
          </a:p>
        </p:txBody>
      </p:sp>
      <p:sp>
        <p:nvSpPr>
          <p:cNvPr id="6" name="Rectangle 5">
            <a:extLst>
              <a:ext uri="{FF2B5EF4-FFF2-40B4-BE49-F238E27FC236}">
                <a16:creationId xmlns:a16="http://schemas.microsoft.com/office/drawing/2014/main" id="{2AC17E3A-ACDB-4FA9-AE1D-6786E159ADB1}"/>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7" name="Rectangle 6">
            <a:extLst>
              <a:ext uri="{FF2B5EF4-FFF2-40B4-BE49-F238E27FC236}">
                <a16:creationId xmlns:a16="http://schemas.microsoft.com/office/drawing/2014/main" id="{8101BD35-291A-42F3-911A-EE2C87E5616C}"/>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Les mesures du laboratoire doivent accompagner ces explications.</a:t>
            </a:r>
          </a:p>
        </p:txBody>
      </p:sp>
      <p:sp>
        <p:nvSpPr>
          <p:cNvPr id="8" name="Rectangle 7">
            <a:extLst>
              <a:ext uri="{FF2B5EF4-FFF2-40B4-BE49-F238E27FC236}">
                <a16:creationId xmlns:a16="http://schemas.microsoft.com/office/drawing/2014/main" id="{7064AF88-EFDE-4447-A348-FE89C9B765DA}"/>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748648EA-62EA-471A-95E5-A2AB04174825}"/>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31 / 32</a:t>
            </a:r>
          </a:p>
        </p:txBody>
      </p:sp>
    </p:spTree>
    <p:extLst>
      <p:ext uri="{BB962C8B-B14F-4D97-AF65-F5344CB8AC3E}">
        <p14:creationId xmlns:p14="http://schemas.microsoft.com/office/powerpoint/2010/main" val="9920018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59D5C8AB-2973-44A0-84AB-2C4E35506821}"/>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2   /   OPTIMISATION BDD</a:t>
            </a:r>
          </a:p>
        </p:txBody>
      </p:sp>
      <p:sp>
        <p:nvSpPr>
          <p:cNvPr id="3" name="Rectangle 2">
            <a:extLst>
              <a:ext uri="{FF2B5EF4-FFF2-40B4-BE49-F238E27FC236}">
                <a16:creationId xmlns:a16="http://schemas.microsoft.com/office/drawing/2014/main" id="{A9EF53A0-FB49-4C3C-ABD4-C55B8DAD2D90}"/>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Preuve B4C8 à conserver</a:t>
            </a:r>
          </a:p>
        </p:txBody>
      </p:sp>
      <p:sp>
        <p:nvSpPr>
          <p:cNvPr id="4" name="Rectangle 3">
            <a:extLst>
              <a:ext uri="{FF2B5EF4-FFF2-40B4-BE49-F238E27FC236}">
                <a16:creationId xmlns:a16="http://schemas.microsoft.com/office/drawing/2014/main" id="{D1DDD267-F500-48B8-AA13-E7B39D6F34B1}"/>
              </a:ext>
            </a:extLst>
          </p:cNvPr>
          <p:cNvSpPr>
            <a:spLocks noGrp="1"/>
          </p:cNvSpPr>
          <p:nvPr/>
        </p:nvSpPr>
        <p:spPr>
          <a:xfrm>
            <a:off x="666750" y="2238375"/>
            <a:ext cx="13525500" cy="1790700"/>
          </a:xfrm>
          <a:prstGeom prst="rect">
            <a:avLst/>
          </a:prstGeom>
          <a:noFill/>
          <a:ln w="0">
            <a:noFill/>
          </a:ln>
        </p:spPr>
        <p:txBody>
          <a:bodyPr>
            <a:noAutofit/>
          </a:bodyPr>
          <a:lstStyle/>
          <a:p>
            <a:pPr>
              <a:defRPr sz="2550" b="0">
                <a:solidFill>
                  <a:srgbClr val="F6F3ED"/>
                </a:solidFill>
                <a:latin typeface="Aptos"/>
                <a:ea typeface="Aptos"/>
                <a:cs typeface="Aptos"/>
              </a:defRPr>
            </a:pPr>
            <a:r>
              <a:rPr sz="2550" b="0">
                <a:solidFill>
                  <a:srgbClr val="F6F3ED"/>
                </a:solidFill>
                <a:latin typeface="Aptos"/>
                <a:ea typeface="Aptos"/>
                <a:cs typeface="Aptos"/>
              </a:rPr>
              <a:t>Le dossier du jour comprend le besoin applicatif, le SQL initial, le DDL de migration et les plans avant/après. Il présente les mêmes résultats fonctionnels, les mesures de lecture et un coût d’écriture.</a:t>
            </a:r>
          </a:p>
        </p:txBody>
      </p:sp>
      <p:sp>
        <p:nvSpPr>
          <p:cNvPr id="5" name="Rectangle 4">
            <a:extLst>
              <a:ext uri="{FF2B5EF4-FFF2-40B4-BE49-F238E27FC236}">
                <a16:creationId xmlns:a16="http://schemas.microsoft.com/office/drawing/2014/main" id="{770E480C-F193-4E07-8AC3-22CAE7B700B5}"/>
              </a:ext>
            </a:extLst>
          </p:cNvPr>
          <p:cNvSpPr>
            <a:spLocks noGrp="1"/>
          </p:cNvSpPr>
          <p:nvPr/>
        </p:nvSpPr>
        <p:spPr>
          <a:xfrm>
            <a:off x="666750" y="4438650"/>
            <a:ext cx="10668000" cy="1809750"/>
          </a:xfrm>
          <a:prstGeom prst="rect">
            <a:avLst/>
          </a:prstGeom>
          <a:noFill/>
          <a:ln w="0">
            <a:noFill/>
          </a:ln>
        </p:spPr>
        <p:txBody>
          <a:bodyPr>
            <a:noAutofit/>
          </a:bodyPr>
          <a:lstStyle/>
          <a:p>
            <a:pPr>
              <a:defRPr sz="2325" b="0">
                <a:solidFill>
                  <a:srgbClr val="F6F3ED"/>
                </a:solidFill>
                <a:latin typeface="Aptos"/>
                <a:ea typeface="Aptos"/>
                <a:cs typeface="Aptos"/>
              </a:defRPr>
            </a:pPr>
            <a:r>
              <a:rPr sz="2325" b="0">
                <a:solidFill>
                  <a:srgbClr val="F6F3ED"/>
                </a:solidFill>
                <a:latin typeface="Aptos"/>
                <a:ea typeface="Aptos"/>
                <a:cs typeface="Aptos"/>
              </a:rPr>
              <a:t>La justification explique le type d’index, l’ordre des colonnes, sa taille et le déploiement. La prochaine journée étudie ce qui se passe lorsque plusieurs opérations modifient les mêmes données et lorsque le volume augmente.</a:t>
            </a:r>
          </a:p>
        </p:txBody>
      </p:sp>
      <p:sp>
        <p:nvSpPr>
          <p:cNvPr id="6" name="Rectangle 5">
            <a:extLst>
              <a:ext uri="{FF2B5EF4-FFF2-40B4-BE49-F238E27FC236}">
                <a16:creationId xmlns:a16="http://schemas.microsoft.com/office/drawing/2014/main" id="{4DBDA1C0-E716-4868-BD9A-973BAA316389}"/>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7" name="Rectangle 6">
            <a:extLst>
              <a:ext uri="{FF2B5EF4-FFF2-40B4-BE49-F238E27FC236}">
                <a16:creationId xmlns:a16="http://schemas.microsoft.com/office/drawing/2014/main" id="{161DAB92-9405-46D3-AE53-7BDE298A08C2}"/>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Sources : PostgreSQL 18, familles d’index, index composés, partiels, couverture et CREATE INDEX.</a:t>
            </a:r>
          </a:p>
        </p:txBody>
      </p:sp>
      <p:sp>
        <p:nvSpPr>
          <p:cNvPr id="8" name="Rectangle 7">
            <a:extLst>
              <a:ext uri="{FF2B5EF4-FFF2-40B4-BE49-F238E27FC236}">
                <a16:creationId xmlns:a16="http://schemas.microsoft.com/office/drawing/2014/main" id="{6634ACD4-6EB2-45F3-96D5-1D18B8EF3269}"/>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ACD0EE23-EFB9-48D3-AA8D-B11FC34ABDC1}"/>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32 / 32</a:t>
            </a:r>
          </a:p>
        </p:txBody>
      </p:sp>
    </p:spTree>
    <p:extLst>
      <p:ext uri="{BB962C8B-B14F-4D97-AF65-F5344CB8AC3E}">
        <p14:creationId xmlns:p14="http://schemas.microsoft.com/office/powerpoint/2010/main" val="23734987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EE0088B-CE81-4574-AFBF-EEDE0B55677E}">
  <we:reference id="wa200010215" version="2.0.0.1" store="en-US" storeType="OMEX"/>
  <we:alternateReferences>
    <we:reference id="wa200010215" version="2.0.0.1" store="" storeType="OMEX"/>
  </we:alternateReferences>
  <we:properties>
    <we:property name="bps.codex_control.document_id" value="&quot;d5904ec4-bfac-4043-bf36-e269a45417c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9204</Words>
  <Application>Microsoft Office PowerPoint</Application>
  <DocSecurity>0</DocSecurity>
  <PresentationFormat>Personnalisé</PresentationFormat>
  <Paragraphs>696</Paragraphs>
  <Slides>32</Slides>
  <Notes>32</Notes>
  <HiddenSlides>0</HiddenSlides>
  <MMClips>0</MMClips>
  <ScaleCrop>false</ScaleCrop>
  <HeadingPairs>
    <vt:vector size="4" baseType="variant">
      <vt:variant>
        <vt:lpstr>Thème</vt:lpstr>
      </vt:variant>
      <vt:variant>
        <vt:i4>1</vt:i4>
      </vt:variant>
      <vt:variant>
        <vt:lpstr>Titres des diapositives</vt:lpstr>
      </vt:variant>
      <vt:variant>
        <vt:i4>32</vt:i4>
      </vt:variant>
    </vt:vector>
  </HeadingPairs>
  <TitlesOfParts>
    <vt:vector size="33" baseType="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bruno dernier</cp:lastModifiedBy>
  <cp:revision>3</cp:revision>
  <dcterms:created xsi:type="dcterms:W3CDTF">2026-10-01T16:04:55Z</dcterms:created>
  <dcterms:modified xsi:type="dcterms:W3CDTF">2026-10-05T10:29:35Z</dcterms:modified>
</cp:coreProperties>
</file>
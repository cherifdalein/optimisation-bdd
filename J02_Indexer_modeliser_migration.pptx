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5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91" r:id="rId25"/>
    <p:sldId id="278" r:id="rId26"/>
    <p:sldId id="292" r:id="rId27"/>
    <p:sldId id="282" r:id="rId28"/>
    <p:sldId id="279" r:id="rId29"/>
    <p:sldId id="293" r:id="rId30"/>
    <p:sldId id="280" r:id="rId31"/>
    <p:sldId id="298" r:id="rId32"/>
    <p:sldId id="296" r:id="rId33"/>
    <p:sldId id="297" r:id="rId34"/>
    <p:sldId id="310" r:id="rId35"/>
    <p:sldId id="300" r:id="rId36"/>
    <p:sldId id="301" r:id="rId37"/>
    <p:sldId id="302" r:id="rId38"/>
    <p:sldId id="303" r:id="rId39"/>
    <p:sldId id="309" r:id="rId40"/>
    <p:sldId id="304" r:id="rId41"/>
    <p:sldId id="305" r:id="rId42"/>
    <p:sldId id="306" r:id="rId43"/>
    <p:sldId id="307" r:id="rId44"/>
    <p:sldId id="308" r:id="rId45"/>
    <p:sldId id="283" r:id="rId46"/>
    <p:sldId id="284" r:id="rId47"/>
    <p:sldId id="285" r:id="rId48"/>
    <p:sldId id="286" r:id="rId49"/>
    <p:sldId id="287" r:id="rId50"/>
  </p:sldIdLst>
  <p:sldSz cx="15240000" cy="85725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39E791-E2B7-457D-8119-439831DC8030}" v="3" dt="2026-10-05T20:50:11.202"/>
    <p1510:client id="{84BD7847-5B73-474E-8EBD-CC6F3FFA3369}" v="14" dt="2026-10-05T13:25:43.0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97" d="100"/>
          <a:sy n="97" d="100"/>
        </p:scale>
        <p:origin x="142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microsoft.com/office/2015/10/relationships/revisionInfo" Target="revisionInfo.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o dernier" userId="0b849cd58950a972" providerId="LiveId" clId="{D3882F65-1598-4E5F-B3AD-5CD47B29D372}"/>
    <pc:docChg chg="custSel addSld delSld modSld">
      <pc:chgData name="bruno dernier" userId="0b849cd58950a972" providerId="LiveId" clId="{D3882F65-1598-4E5F-B3AD-5CD47B29D372}" dt="2026-10-05T20:59:03.202" v="50"/>
      <pc:docMkLst>
        <pc:docMk/>
      </pc:docMkLst>
      <pc:sldChg chg="modSp mod">
        <pc:chgData name="bruno dernier" userId="0b849cd58950a972" providerId="LiveId" clId="{D3882F65-1598-4E5F-B3AD-5CD47B29D372}" dt="2026-10-05T20:58:16.735" v="1"/>
        <pc:sldMkLst>
          <pc:docMk/>
          <pc:sldMk cId="476214205" sldId="256"/>
        </pc:sldMkLst>
        <pc:spChg chg="mod">
          <ac:chgData name="bruno dernier" userId="0b849cd58950a972" providerId="LiveId" clId="{D3882F65-1598-4E5F-B3AD-5CD47B29D372}" dt="2026-10-05T20:58:16.735" v="1"/>
          <ac:spMkLst>
            <pc:docMk/>
            <pc:sldMk cId="476214205" sldId="256"/>
            <ac:spMk id="7" creationId="{59D301E5-5341-4E2E-AE97-6FF451876585}"/>
          </ac:spMkLst>
        </pc:spChg>
      </pc:sldChg>
      <pc:sldChg chg="modSp mod">
        <pc:chgData name="bruno dernier" userId="0b849cd58950a972" providerId="LiveId" clId="{D3882F65-1598-4E5F-B3AD-5CD47B29D372}" dt="2026-10-05T20:58:16.736" v="2"/>
        <pc:sldMkLst>
          <pc:docMk/>
          <pc:sldMk cId="1536728329" sldId="257"/>
        </pc:sldMkLst>
        <pc:spChg chg="mod">
          <ac:chgData name="bruno dernier" userId="0b849cd58950a972" providerId="LiveId" clId="{D3882F65-1598-4E5F-B3AD-5CD47B29D372}" dt="2026-10-05T20:58:16.736" v="2"/>
          <ac:spMkLst>
            <pc:docMk/>
            <pc:sldMk cId="1536728329" sldId="257"/>
            <ac:spMk id="9" creationId="{99896EC9-50AA-4147-AD25-D83AEE687099}"/>
          </ac:spMkLst>
        </pc:spChg>
      </pc:sldChg>
      <pc:sldChg chg="modSp mod">
        <pc:chgData name="bruno dernier" userId="0b849cd58950a972" providerId="LiveId" clId="{D3882F65-1598-4E5F-B3AD-5CD47B29D372}" dt="2026-10-05T20:58:16.737" v="3"/>
        <pc:sldMkLst>
          <pc:docMk/>
          <pc:sldMk cId="1990749281" sldId="258"/>
        </pc:sldMkLst>
        <pc:spChg chg="mod">
          <ac:chgData name="bruno dernier" userId="0b849cd58950a972" providerId="LiveId" clId="{D3882F65-1598-4E5F-B3AD-5CD47B29D372}" dt="2026-10-05T20:58:16.737" v="3"/>
          <ac:spMkLst>
            <pc:docMk/>
            <pc:sldMk cId="1990749281" sldId="258"/>
            <ac:spMk id="7" creationId="{11E38880-6CED-4147-922D-50D8A57F3681}"/>
          </ac:spMkLst>
        </pc:spChg>
      </pc:sldChg>
      <pc:sldChg chg="modSp mod">
        <pc:chgData name="bruno dernier" userId="0b849cd58950a972" providerId="LiveId" clId="{D3882F65-1598-4E5F-B3AD-5CD47B29D372}" dt="2026-10-05T20:58:16.738" v="4"/>
        <pc:sldMkLst>
          <pc:docMk/>
          <pc:sldMk cId="1881240505" sldId="259"/>
        </pc:sldMkLst>
        <pc:spChg chg="mod">
          <ac:chgData name="bruno dernier" userId="0b849cd58950a972" providerId="LiveId" clId="{D3882F65-1598-4E5F-B3AD-5CD47B29D372}" dt="2026-10-05T20:58:16.738" v="4"/>
          <ac:spMkLst>
            <pc:docMk/>
            <pc:sldMk cId="1881240505" sldId="259"/>
            <ac:spMk id="18" creationId="{E407EF4E-8D61-44F1-B236-AAC4E3920F21}"/>
          </ac:spMkLst>
        </pc:spChg>
      </pc:sldChg>
      <pc:sldChg chg="modSp mod">
        <pc:chgData name="bruno dernier" userId="0b849cd58950a972" providerId="LiveId" clId="{D3882F65-1598-4E5F-B3AD-5CD47B29D372}" dt="2026-10-05T20:58:16.739" v="5"/>
        <pc:sldMkLst>
          <pc:docMk/>
          <pc:sldMk cId="1208764316" sldId="260"/>
        </pc:sldMkLst>
        <pc:spChg chg="mod">
          <ac:chgData name="bruno dernier" userId="0b849cd58950a972" providerId="LiveId" clId="{D3882F65-1598-4E5F-B3AD-5CD47B29D372}" dt="2026-10-05T20:58:16.739" v="5"/>
          <ac:spMkLst>
            <pc:docMk/>
            <pc:sldMk cId="1208764316" sldId="260"/>
            <ac:spMk id="11" creationId="{A9C7E2F2-9E6B-48DA-B072-FE82D380E9A1}"/>
          </ac:spMkLst>
        </pc:spChg>
      </pc:sldChg>
      <pc:sldChg chg="modSp mod">
        <pc:chgData name="bruno dernier" userId="0b849cd58950a972" providerId="LiveId" clId="{D3882F65-1598-4E5F-B3AD-5CD47B29D372}" dt="2026-10-05T20:58:16.739" v="6"/>
        <pc:sldMkLst>
          <pc:docMk/>
          <pc:sldMk cId="42739573" sldId="261"/>
        </pc:sldMkLst>
        <pc:spChg chg="mod">
          <ac:chgData name="bruno dernier" userId="0b849cd58950a972" providerId="LiveId" clId="{D3882F65-1598-4E5F-B3AD-5CD47B29D372}" dt="2026-10-05T20:58:16.739" v="6"/>
          <ac:spMkLst>
            <pc:docMk/>
            <pc:sldMk cId="42739573" sldId="261"/>
            <ac:spMk id="11" creationId="{740F244E-9FAA-44DA-B0A6-B2921FAA1124}"/>
          </ac:spMkLst>
        </pc:spChg>
      </pc:sldChg>
      <pc:sldChg chg="modSp mod">
        <pc:chgData name="bruno dernier" userId="0b849cd58950a972" providerId="LiveId" clId="{D3882F65-1598-4E5F-B3AD-5CD47B29D372}" dt="2026-10-05T20:58:16.740" v="7"/>
        <pc:sldMkLst>
          <pc:docMk/>
          <pc:sldMk cId="1432706879" sldId="262"/>
        </pc:sldMkLst>
        <pc:spChg chg="mod">
          <ac:chgData name="bruno dernier" userId="0b849cd58950a972" providerId="LiveId" clId="{D3882F65-1598-4E5F-B3AD-5CD47B29D372}" dt="2026-10-05T20:58:16.740" v="7"/>
          <ac:spMkLst>
            <pc:docMk/>
            <pc:sldMk cId="1432706879" sldId="262"/>
            <ac:spMk id="10" creationId="{07527BFF-5D92-4B4A-89AD-73D837D1B13E}"/>
          </ac:spMkLst>
        </pc:spChg>
      </pc:sldChg>
      <pc:sldChg chg="modSp mod">
        <pc:chgData name="bruno dernier" userId="0b849cd58950a972" providerId="LiveId" clId="{D3882F65-1598-4E5F-B3AD-5CD47B29D372}" dt="2026-10-05T20:58:16.741" v="8"/>
        <pc:sldMkLst>
          <pc:docMk/>
          <pc:sldMk cId="2118346578" sldId="263"/>
        </pc:sldMkLst>
        <pc:spChg chg="mod">
          <ac:chgData name="bruno dernier" userId="0b849cd58950a972" providerId="LiveId" clId="{D3882F65-1598-4E5F-B3AD-5CD47B29D372}" dt="2026-10-05T20:58:16.741" v="8"/>
          <ac:spMkLst>
            <pc:docMk/>
            <pc:sldMk cId="2118346578" sldId="263"/>
            <ac:spMk id="10" creationId="{D4A779F6-BEFA-4D7E-8B09-425C6E6CDB46}"/>
          </ac:spMkLst>
        </pc:spChg>
      </pc:sldChg>
      <pc:sldChg chg="modSp mod">
        <pc:chgData name="bruno dernier" userId="0b849cd58950a972" providerId="LiveId" clId="{D3882F65-1598-4E5F-B3AD-5CD47B29D372}" dt="2026-10-05T20:58:16.742" v="9"/>
        <pc:sldMkLst>
          <pc:docMk/>
          <pc:sldMk cId="445003619" sldId="264"/>
        </pc:sldMkLst>
        <pc:spChg chg="mod">
          <ac:chgData name="bruno dernier" userId="0b849cd58950a972" providerId="LiveId" clId="{D3882F65-1598-4E5F-B3AD-5CD47B29D372}" dt="2026-10-05T20:58:16.742" v="9"/>
          <ac:spMkLst>
            <pc:docMk/>
            <pc:sldMk cId="445003619" sldId="264"/>
            <ac:spMk id="10" creationId="{D42B5DD4-9D34-4CDE-92ED-77E81D5A3D4A}"/>
          </ac:spMkLst>
        </pc:spChg>
      </pc:sldChg>
      <pc:sldChg chg="modSp mod">
        <pc:chgData name="bruno dernier" userId="0b849cd58950a972" providerId="LiveId" clId="{D3882F65-1598-4E5F-B3AD-5CD47B29D372}" dt="2026-10-05T20:58:16.743" v="10"/>
        <pc:sldMkLst>
          <pc:docMk/>
          <pc:sldMk cId="97927106" sldId="265"/>
        </pc:sldMkLst>
        <pc:spChg chg="mod">
          <ac:chgData name="bruno dernier" userId="0b849cd58950a972" providerId="LiveId" clId="{D3882F65-1598-4E5F-B3AD-5CD47B29D372}" dt="2026-10-05T20:58:16.743" v="10"/>
          <ac:spMkLst>
            <pc:docMk/>
            <pc:sldMk cId="97927106" sldId="265"/>
            <ac:spMk id="11" creationId="{F69E0DE8-3540-47BC-ADC8-51B53534A3E4}"/>
          </ac:spMkLst>
        </pc:spChg>
      </pc:sldChg>
      <pc:sldChg chg="modSp mod">
        <pc:chgData name="bruno dernier" userId="0b849cd58950a972" providerId="LiveId" clId="{D3882F65-1598-4E5F-B3AD-5CD47B29D372}" dt="2026-10-05T20:58:16.744" v="11"/>
        <pc:sldMkLst>
          <pc:docMk/>
          <pc:sldMk cId="1876395488" sldId="266"/>
        </pc:sldMkLst>
        <pc:spChg chg="mod">
          <ac:chgData name="bruno dernier" userId="0b849cd58950a972" providerId="LiveId" clId="{D3882F65-1598-4E5F-B3AD-5CD47B29D372}" dt="2026-10-05T20:58:16.744" v="11"/>
          <ac:spMkLst>
            <pc:docMk/>
            <pc:sldMk cId="1876395488" sldId="266"/>
            <ac:spMk id="11" creationId="{FBCB6FC5-1A4B-48B2-878D-C917D60F3F5C}"/>
          </ac:spMkLst>
        </pc:spChg>
      </pc:sldChg>
      <pc:sldChg chg="modSp mod">
        <pc:chgData name="bruno dernier" userId="0b849cd58950a972" providerId="LiveId" clId="{D3882F65-1598-4E5F-B3AD-5CD47B29D372}" dt="2026-10-05T20:58:16.744" v="12"/>
        <pc:sldMkLst>
          <pc:docMk/>
          <pc:sldMk cId="351932157" sldId="267"/>
        </pc:sldMkLst>
        <pc:spChg chg="mod">
          <ac:chgData name="bruno dernier" userId="0b849cd58950a972" providerId="LiveId" clId="{D3882F65-1598-4E5F-B3AD-5CD47B29D372}" dt="2026-10-05T20:58:16.744" v="12"/>
          <ac:spMkLst>
            <pc:docMk/>
            <pc:sldMk cId="351932157" sldId="267"/>
            <ac:spMk id="11" creationId="{C4C0D7D9-92A4-494F-B918-0120B4750F3B}"/>
          </ac:spMkLst>
        </pc:spChg>
      </pc:sldChg>
      <pc:sldChg chg="modSp mod">
        <pc:chgData name="bruno dernier" userId="0b849cd58950a972" providerId="LiveId" clId="{D3882F65-1598-4E5F-B3AD-5CD47B29D372}" dt="2026-10-05T20:58:16.745" v="13"/>
        <pc:sldMkLst>
          <pc:docMk/>
          <pc:sldMk cId="649975738" sldId="268"/>
        </pc:sldMkLst>
        <pc:spChg chg="mod">
          <ac:chgData name="bruno dernier" userId="0b849cd58950a972" providerId="LiveId" clId="{D3882F65-1598-4E5F-B3AD-5CD47B29D372}" dt="2026-10-05T20:58:16.745" v="13"/>
          <ac:spMkLst>
            <pc:docMk/>
            <pc:sldMk cId="649975738" sldId="268"/>
            <ac:spMk id="10" creationId="{D606A0C7-07C5-4EEF-9A0E-A2C890AD77EC}"/>
          </ac:spMkLst>
        </pc:spChg>
      </pc:sldChg>
      <pc:sldChg chg="modSp mod">
        <pc:chgData name="bruno dernier" userId="0b849cd58950a972" providerId="LiveId" clId="{D3882F65-1598-4E5F-B3AD-5CD47B29D372}" dt="2026-10-05T20:58:16.746" v="14"/>
        <pc:sldMkLst>
          <pc:docMk/>
          <pc:sldMk cId="339812683" sldId="269"/>
        </pc:sldMkLst>
        <pc:spChg chg="mod">
          <ac:chgData name="bruno dernier" userId="0b849cd58950a972" providerId="LiveId" clId="{D3882F65-1598-4E5F-B3AD-5CD47B29D372}" dt="2026-10-05T20:58:16.746" v="14"/>
          <ac:spMkLst>
            <pc:docMk/>
            <pc:sldMk cId="339812683" sldId="269"/>
            <ac:spMk id="10" creationId="{B3CFD3B2-04DA-4F6F-8B15-0DC76F7721D1}"/>
          </ac:spMkLst>
        </pc:spChg>
      </pc:sldChg>
      <pc:sldChg chg="modSp mod">
        <pc:chgData name="bruno dernier" userId="0b849cd58950a972" providerId="LiveId" clId="{D3882F65-1598-4E5F-B3AD-5CD47B29D372}" dt="2026-10-05T20:58:16.747" v="15"/>
        <pc:sldMkLst>
          <pc:docMk/>
          <pc:sldMk cId="1662814370" sldId="270"/>
        </pc:sldMkLst>
        <pc:spChg chg="mod">
          <ac:chgData name="bruno dernier" userId="0b849cd58950a972" providerId="LiveId" clId="{D3882F65-1598-4E5F-B3AD-5CD47B29D372}" dt="2026-10-05T20:58:16.747" v="15"/>
          <ac:spMkLst>
            <pc:docMk/>
            <pc:sldMk cId="1662814370" sldId="270"/>
            <ac:spMk id="10" creationId="{4FE0EB94-6F91-4D36-841E-0911AB1556F1}"/>
          </ac:spMkLst>
        </pc:spChg>
      </pc:sldChg>
      <pc:sldChg chg="modSp mod">
        <pc:chgData name="bruno dernier" userId="0b849cd58950a972" providerId="LiveId" clId="{D3882F65-1598-4E5F-B3AD-5CD47B29D372}" dt="2026-10-05T20:58:16.748" v="16"/>
        <pc:sldMkLst>
          <pc:docMk/>
          <pc:sldMk cId="1852822321" sldId="271"/>
        </pc:sldMkLst>
        <pc:spChg chg="mod">
          <ac:chgData name="bruno dernier" userId="0b849cd58950a972" providerId="LiveId" clId="{D3882F65-1598-4E5F-B3AD-5CD47B29D372}" dt="2026-10-05T20:58:16.748" v="16"/>
          <ac:spMkLst>
            <pc:docMk/>
            <pc:sldMk cId="1852822321" sldId="271"/>
            <ac:spMk id="10" creationId="{33BAC490-1793-4034-B2F9-EEBC8F5ED87C}"/>
          </ac:spMkLst>
        </pc:spChg>
      </pc:sldChg>
      <pc:sldChg chg="modSp mod">
        <pc:chgData name="bruno dernier" userId="0b849cd58950a972" providerId="LiveId" clId="{D3882F65-1598-4E5F-B3AD-5CD47B29D372}" dt="2026-10-05T20:58:16.749" v="17"/>
        <pc:sldMkLst>
          <pc:docMk/>
          <pc:sldMk cId="2007977460" sldId="272"/>
        </pc:sldMkLst>
        <pc:spChg chg="mod">
          <ac:chgData name="bruno dernier" userId="0b849cd58950a972" providerId="LiveId" clId="{D3882F65-1598-4E5F-B3AD-5CD47B29D372}" dt="2026-10-05T20:58:16.749" v="17"/>
          <ac:spMkLst>
            <pc:docMk/>
            <pc:sldMk cId="2007977460" sldId="272"/>
            <ac:spMk id="11" creationId="{0CB34B4B-A79A-4397-B9E7-FEA659EC3D9F}"/>
          </ac:spMkLst>
        </pc:spChg>
      </pc:sldChg>
      <pc:sldChg chg="modSp mod">
        <pc:chgData name="bruno dernier" userId="0b849cd58950a972" providerId="LiveId" clId="{D3882F65-1598-4E5F-B3AD-5CD47B29D372}" dt="2026-10-05T20:58:16.749" v="18"/>
        <pc:sldMkLst>
          <pc:docMk/>
          <pc:sldMk cId="1118749878" sldId="273"/>
        </pc:sldMkLst>
        <pc:spChg chg="mod">
          <ac:chgData name="bruno dernier" userId="0b849cd58950a972" providerId="LiveId" clId="{D3882F65-1598-4E5F-B3AD-5CD47B29D372}" dt="2026-10-05T20:58:16.749" v="18"/>
          <ac:spMkLst>
            <pc:docMk/>
            <pc:sldMk cId="1118749878" sldId="273"/>
            <ac:spMk id="10" creationId="{28999F40-FA47-4780-871E-5AE6EC93426E}"/>
          </ac:spMkLst>
        </pc:spChg>
      </pc:sldChg>
      <pc:sldChg chg="modSp mod">
        <pc:chgData name="bruno dernier" userId="0b849cd58950a972" providerId="LiveId" clId="{D3882F65-1598-4E5F-B3AD-5CD47B29D372}" dt="2026-10-05T20:58:16.750" v="19"/>
        <pc:sldMkLst>
          <pc:docMk/>
          <pc:sldMk cId="1383094734" sldId="274"/>
        </pc:sldMkLst>
        <pc:spChg chg="mod">
          <ac:chgData name="bruno dernier" userId="0b849cd58950a972" providerId="LiveId" clId="{D3882F65-1598-4E5F-B3AD-5CD47B29D372}" dt="2026-10-05T20:58:16.750" v="19"/>
          <ac:spMkLst>
            <pc:docMk/>
            <pc:sldMk cId="1383094734" sldId="274"/>
            <ac:spMk id="10" creationId="{379FA569-AAA1-4212-96D8-DCC68E298F57}"/>
          </ac:spMkLst>
        </pc:spChg>
      </pc:sldChg>
      <pc:sldChg chg="modSp mod">
        <pc:chgData name="bruno dernier" userId="0b849cd58950a972" providerId="LiveId" clId="{D3882F65-1598-4E5F-B3AD-5CD47B29D372}" dt="2026-10-05T20:58:16.751" v="20"/>
        <pc:sldMkLst>
          <pc:docMk/>
          <pc:sldMk cId="944923216" sldId="275"/>
        </pc:sldMkLst>
        <pc:spChg chg="mod">
          <ac:chgData name="bruno dernier" userId="0b849cd58950a972" providerId="LiveId" clId="{D3882F65-1598-4E5F-B3AD-5CD47B29D372}" dt="2026-10-05T20:58:16.751" v="20"/>
          <ac:spMkLst>
            <pc:docMk/>
            <pc:sldMk cId="944923216" sldId="275"/>
            <ac:spMk id="8" creationId="{4C21FE0A-D5FD-4ADE-B477-A984B70AC714}"/>
          </ac:spMkLst>
        </pc:spChg>
      </pc:sldChg>
      <pc:sldChg chg="modSp mod">
        <pc:chgData name="bruno dernier" userId="0b849cd58950a972" providerId="LiveId" clId="{D3882F65-1598-4E5F-B3AD-5CD47B29D372}" dt="2026-10-05T20:58:16.752" v="21"/>
        <pc:sldMkLst>
          <pc:docMk/>
          <pc:sldMk cId="905551807" sldId="276"/>
        </pc:sldMkLst>
        <pc:spChg chg="mod">
          <ac:chgData name="bruno dernier" userId="0b849cd58950a972" providerId="LiveId" clId="{D3882F65-1598-4E5F-B3AD-5CD47B29D372}" dt="2026-10-05T20:58:16.752" v="21"/>
          <ac:spMkLst>
            <pc:docMk/>
            <pc:sldMk cId="905551807" sldId="276"/>
            <ac:spMk id="11" creationId="{6A560720-19C0-468F-872C-40BC8BCC093E}"/>
          </ac:spMkLst>
        </pc:spChg>
      </pc:sldChg>
      <pc:sldChg chg="modSp mod">
        <pc:chgData name="bruno dernier" userId="0b849cd58950a972" providerId="LiveId" clId="{D3882F65-1598-4E5F-B3AD-5CD47B29D372}" dt="2026-10-05T20:58:16.753" v="22"/>
        <pc:sldMkLst>
          <pc:docMk/>
          <pc:sldMk cId="506946342" sldId="277"/>
        </pc:sldMkLst>
        <pc:spChg chg="mod">
          <ac:chgData name="bruno dernier" userId="0b849cd58950a972" providerId="LiveId" clId="{D3882F65-1598-4E5F-B3AD-5CD47B29D372}" dt="2026-10-05T20:58:16.753" v="22"/>
          <ac:spMkLst>
            <pc:docMk/>
            <pc:sldMk cId="506946342" sldId="277"/>
            <ac:spMk id="13" creationId="{7585A0EC-CABF-4EAA-9EF0-4AD2FDB74DCB}"/>
          </ac:spMkLst>
        </pc:spChg>
      </pc:sldChg>
      <pc:sldChg chg="modSp mod">
        <pc:chgData name="bruno dernier" userId="0b849cd58950a972" providerId="LiveId" clId="{D3882F65-1598-4E5F-B3AD-5CD47B29D372}" dt="2026-10-05T20:58:16.755" v="24"/>
        <pc:sldMkLst>
          <pc:docMk/>
          <pc:sldMk cId="1011700270" sldId="278"/>
        </pc:sldMkLst>
        <pc:spChg chg="mod">
          <ac:chgData name="bruno dernier" userId="0b849cd58950a972" providerId="LiveId" clId="{D3882F65-1598-4E5F-B3AD-5CD47B29D372}" dt="2026-10-05T20:58:16.755" v="24"/>
          <ac:spMkLst>
            <pc:docMk/>
            <pc:sldMk cId="1011700270" sldId="278"/>
            <ac:spMk id="10" creationId="{228C3DCD-3F5B-4B93-8CC0-81C3D68E0119}"/>
          </ac:spMkLst>
        </pc:spChg>
      </pc:sldChg>
      <pc:sldChg chg="modSp mod">
        <pc:chgData name="bruno dernier" userId="0b849cd58950a972" providerId="LiveId" clId="{D3882F65-1598-4E5F-B3AD-5CD47B29D372}" dt="2026-10-05T20:58:16.758" v="27"/>
        <pc:sldMkLst>
          <pc:docMk/>
          <pc:sldMk cId="2030512054" sldId="279"/>
        </pc:sldMkLst>
        <pc:spChg chg="mod">
          <ac:chgData name="bruno dernier" userId="0b849cd58950a972" providerId="LiveId" clId="{D3882F65-1598-4E5F-B3AD-5CD47B29D372}" dt="2026-10-05T20:58:16.758" v="27"/>
          <ac:spMkLst>
            <pc:docMk/>
            <pc:sldMk cId="2030512054" sldId="279"/>
            <ac:spMk id="18" creationId="{668D99D1-A04D-4D61-8DCF-0A54C7FB5D52}"/>
          </ac:spMkLst>
        </pc:spChg>
      </pc:sldChg>
      <pc:sldChg chg="modSp mod">
        <pc:chgData name="bruno dernier" userId="0b849cd58950a972" providerId="LiveId" clId="{D3882F65-1598-4E5F-B3AD-5CD47B29D372}" dt="2026-10-05T20:58:16.760" v="29"/>
        <pc:sldMkLst>
          <pc:docMk/>
          <pc:sldMk cId="273794986" sldId="280"/>
        </pc:sldMkLst>
        <pc:spChg chg="mod">
          <ac:chgData name="bruno dernier" userId="0b849cd58950a972" providerId="LiveId" clId="{D3882F65-1598-4E5F-B3AD-5CD47B29D372}" dt="2026-10-05T20:58:16.760" v="29"/>
          <ac:spMkLst>
            <pc:docMk/>
            <pc:sldMk cId="273794986" sldId="280"/>
            <ac:spMk id="10" creationId="{9C97AA61-BD89-4AA4-924A-C019D1F18A24}"/>
          </ac:spMkLst>
        </pc:spChg>
      </pc:sldChg>
      <pc:sldChg chg="modSp mod">
        <pc:chgData name="bruno dernier" userId="0b849cd58950a972" providerId="LiveId" clId="{D3882F65-1598-4E5F-B3AD-5CD47B29D372}" dt="2026-10-05T20:58:16.757" v="26"/>
        <pc:sldMkLst>
          <pc:docMk/>
          <pc:sldMk cId="87637334" sldId="282"/>
        </pc:sldMkLst>
        <pc:spChg chg="mod">
          <ac:chgData name="bruno dernier" userId="0b849cd58950a972" providerId="LiveId" clId="{D3882F65-1598-4E5F-B3AD-5CD47B29D372}" dt="2026-10-05T20:58:16.757" v="26"/>
          <ac:spMkLst>
            <pc:docMk/>
            <pc:sldMk cId="87637334" sldId="282"/>
            <ac:spMk id="11" creationId="{E73E2591-38CD-4BC4-BA1D-D52984A82CD8}"/>
          </ac:spMkLst>
        </pc:spChg>
      </pc:sldChg>
      <pc:sldChg chg="modSp mod">
        <pc:chgData name="bruno dernier" userId="0b849cd58950a972" providerId="LiveId" clId="{D3882F65-1598-4E5F-B3AD-5CD47B29D372}" dt="2026-10-05T20:58:16.777" v="44"/>
        <pc:sldMkLst>
          <pc:docMk/>
          <pc:sldMk cId="732552993" sldId="283"/>
        </pc:sldMkLst>
        <pc:spChg chg="mod">
          <ac:chgData name="bruno dernier" userId="0b849cd58950a972" providerId="LiveId" clId="{D3882F65-1598-4E5F-B3AD-5CD47B29D372}" dt="2026-10-05T20:58:16.777" v="44"/>
          <ac:spMkLst>
            <pc:docMk/>
            <pc:sldMk cId="732552993" sldId="283"/>
            <ac:spMk id="9" creationId="{38FD9024-CB23-434E-A63E-246712ADF65A}"/>
          </ac:spMkLst>
        </pc:spChg>
      </pc:sldChg>
      <pc:sldChg chg="modSp mod">
        <pc:chgData name="bruno dernier" userId="0b849cd58950a972" providerId="LiveId" clId="{D3882F65-1598-4E5F-B3AD-5CD47B29D372}" dt="2026-10-05T20:58:16.778" v="45"/>
        <pc:sldMkLst>
          <pc:docMk/>
          <pc:sldMk cId="1921290679" sldId="284"/>
        </pc:sldMkLst>
        <pc:spChg chg="mod">
          <ac:chgData name="bruno dernier" userId="0b849cd58950a972" providerId="LiveId" clId="{D3882F65-1598-4E5F-B3AD-5CD47B29D372}" dt="2026-10-05T20:58:16.778" v="45"/>
          <ac:spMkLst>
            <pc:docMk/>
            <pc:sldMk cId="1921290679" sldId="284"/>
            <ac:spMk id="11" creationId="{979F03F8-5BE3-4130-A8BB-D0030254F745}"/>
          </ac:spMkLst>
        </pc:spChg>
      </pc:sldChg>
      <pc:sldChg chg="modSp mod">
        <pc:chgData name="bruno dernier" userId="0b849cd58950a972" providerId="LiveId" clId="{D3882F65-1598-4E5F-B3AD-5CD47B29D372}" dt="2026-10-05T20:58:16.780" v="46"/>
        <pc:sldMkLst>
          <pc:docMk/>
          <pc:sldMk cId="1290131498" sldId="285"/>
        </pc:sldMkLst>
        <pc:spChg chg="mod">
          <ac:chgData name="bruno dernier" userId="0b849cd58950a972" providerId="LiveId" clId="{D3882F65-1598-4E5F-B3AD-5CD47B29D372}" dt="2026-10-05T20:58:16.780" v="46"/>
          <ac:spMkLst>
            <pc:docMk/>
            <pc:sldMk cId="1290131498" sldId="285"/>
            <ac:spMk id="9" creationId="{AA601B2C-6CC7-48C9-9477-2A287AD423A5}"/>
          </ac:spMkLst>
        </pc:spChg>
      </pc:sldChg>
      <pc:sldChg chg="modSp mod">
        <pc:chgData name="bruno dernier" userId="0b849cd58950a972" providerId="LiveId" clId="{D3882F65-1598-4E5F-B3AD-5CD47B29D372}" dt="2026-10-05T20:58:16.781" v="47"/>
        <pc:sldMkLst>
          <pc:docMk/>
          <pc:sldMk cId="992001802" sldId="286"/>
        </pc:sldMkLst>
        <pc:spChg chg="mod">
          <ac:chgData name="bruno dernier" userId="0b849cd58950a972" providerId="LiveId" clId="{D3882F65-1598-4E5F-B3AD-5CD47B29D372}" dt="2026-10-05T20:58:16.781" v="47"/>
          <ac:spMkLst>
            <pc:docMk/>
            <pc:sldMk cId="992001802" sldId="286"/>
            <ac:spMk id="9" creationId="{748648EA-62EA-471A-95E5-A2AB04174825}"/>
          </ac:spMkLst>
        </pc:spChg>
      </pc:sldChg>
      <pc:sldChg chg="modSp mod">
        <pc:chgData name="bruno dernier" userId="0b849cd58950a972" providerId="LiveId" clId="{D3882F65-1598-4E5F-B3AD-5CD47B29D372}" dt="2026-10-05T20:58:16.783" v="48"/>
        <pc:sldMkLst>
          <pc:docMk/>
          <pc:sldMk cId="237349875" sldId="287"/>
        </pc:sldMkLst>
        <pc:spChg chg="mod">
          <ac:chgData name="bruno dernier" userId="0b849cd58950a972" providerId="LiveId" clId="{D3882F65-1598-4E5F-B3AD-5CD47B29D372}" dt="2026-10-05T20:58:16.783" v="48"/>
          <ac:spMkLst>
            <pc:docMk/>
            <pc:sldMk cId="237349875" sldId="287"/>
            <ac:spMk id="9" creationId="{ACD0EE23-EFB9-48D3-AA8D-B11FC34ABDC1}"/>
          </ac:spMkLst>
        </pc:spChg>
      </pc:sldChg>
      <pc:sldChg chg="modSp mod">
        <pc:chgData name="bruno dernier" userId="0b849cd58950a972" providerId="LiveId" clId="{D3882F65-1598-4E5F-B3AD-5CD47B29D372}" dt="2026-10-05T20:58:16.754" v="23"/>
        <pc:sldMkLst>
          <pc:docMk/>
          <pc:sldMk cId="62765529" sldId="291"/>
        </pc:sldMkLst>
        <pc:spChg chg="mod">
          <ac:chgData name="bruno dernier" userId="0b849cd58950a972" providerId="LiveId" clId="{D3882F65-1598-4E5F-B3AD-5CD47B29D372}" dt="2026-10-05T20:58:16.754" v="23"/>
          <ac:spMkLst>
            <pc:docMk/>
            <pc:sldMk cId="62765529" sldId="291"/>
            <ac:spMk id="10" creationId="{9C97AA61-BD89-4AA4-924A-C019D1F18A24}"/>
          </ac:spMkLst>
        </pc:spChg>
      </pc:sldChg>
      <pc:sldChg chg="modSp mod">
        <pc:chgData name="bruno dernier" userId="0b849cd58950a972" providerId="LiveId" clId="{D3882F65-1598-4E5F-B3AD-5CD47B29D372}" dt="2026-10-05T20:58:16.756" v="25"/>
        <pc:sldMkLst>
          <pc:docMk/>
          <pc:sldMk cId="1653783146" sldId="292"/>
        </pc:sldMkLst>
        <pc:spChg chg="mod">
          <ac:chgData name="bruno dernier" userId="0b849cd58950a972" providerId="LiveId" clId="{D3882F65-1598-4E5F-B3AD-5CD47B29D372}" dt="2026-10-05T20:58:16.756" v="25"/>
          <ac:spMkLst>
            <pc:docMk/>
            <pc:sldMk cId="1653783146" sldId="292"/>
            <ac:spMk id="10" creationId="{9C97AA61-BD89-4AA4-924A-C019D1F18A24}"/>
          </ac:spMkLst>
        </pc:spChg>
      </pc:sldChg>
      <pc:sldChg chg="modSp mod">
        <pc:chgData name="bruno dernier" userId="0b849cd58950a972" providerId="LiveId" clId="{D3882F65-1598-4E5F-B3AD-5CD47B29D372}" dt="2026-10-05T20:58:16.759" v="28"/>
        <pc:sldMkLst>
          <pc:docMk/>
          <pc:sldMk cId="651159411" sldId="293"/>
        </pc:sldMkLst>
        <pc:spChg chg="mod">
          <ac:chgData name="bruno dernier" userId="0b849cd58950a972" providerId="LiveId" clId="{D3882F65-1598-4E5F-B3AD-5CD47B29D372}" dt="2026-10-05T20:58:16.759" v="28"/>
          <ac:spMkLst>
            <pc:docMk/>
            <pc:sldMk cId="651159411" sldId="293"/>
            <ac:spMk id="10" creationId="{9C97AA61-BD89-4AA4-924A-C019D1F18A24}"/>
          </ac:spMkLst>
        </pc:spChg>
      </pc:sldChg>
      <pc:sldChg chg="modSp mod">
        <pc:chgData name="bruno dernier" userId="0b849cd58950a972" providerId="LiveId" clId="{D3882F65-1598-4E5F-B3AD-5CD47B29D372}" dt="2026-10-05T20:58:16.762" v="31"/>
        <pc:sldMkLst>
          <pc:docMk/>
          <pc:sldMk cId="52375097" sldId="296"/>
        </pc:sldMkLst>
        <pc:spChg chg="mod">
          <ac:chgData name="bruno dernier" userId="0b849cd58950a972" providerId="LiveId" clId="{D3882F65-1598-4E5F-B3AD-5CD47B29D372}" dt="2026-10-05T20:58:16.762" v="31"/>
          <ac:spMkLst>
            <pc:docMk/>
            <pc:sldMk cId="52375097" sldId="296"/>
            <ac:spMk id="9" creationId="{CF4413DB-EA13-46CF-8688-B2CCAC28B450}"/>
          </ac:spMkLst>
        </pc:spChg>
      </pc:sldChg>
      <pc:sldChg chg="modSp mod">
        <pc:chgData name="bruno dernier" userId="0b849cd58950a972" providerId="LiveId" clId="{D3882F65-1598-4E5F-B3AD-5CD47B29D372}" dt="2026-10-05T20:58:16.763" v="32"/>
        <pc:sldMkLst>
          <pc:docMk/>
          <pc:sldMk cId="2442318092" sldId="297"/>
        </pc:sldMkLst>
        <pc:spChg chg="mod">
          <ac:chgData name="bruno dernier" userId="0b849cd58950a972" providerId="LiveId" clId="{D3882F65-1598-4E5F-B3AD-5CD47B29D372}" dt="2026-10-05T20:58:16.763" v="32"/>
          <ac:spMkLst>
            <pc:docMk/>
            <pc:sldMk cId="2442318092" sldId="297"/>
            <ac:spMk id="9" creationId="{CF4413DB-EA13-46CF-8688-B2CCAC28B450}"/>
          </ac:spMkLst>
        </pc:spChg>
      </pc:sldChg>
      <pc:sldChg chg="modSp mod">
        <pc:chgData name="bruno dernier" userId="0b849cd58950a972" providerId="LiveId" clId="{D3882F65-1598-4E5F-B3AD-5CD47B29D372}" dt="2026-10-05T20:58:16.761" v="30"/>
        <pc:sldMkLst>
          <pc:docMk/>
          <pc:sldMk cId="2443747933" sldId="298"/>
        </pc:sldMkLst>
        <pc:spChg chg="mod">
          <ac:chgData name="bruno dernier" userId="0b849cd58950a972" providerId="LiveId" clId="{D3882F65-1598-4E5F-B3AD-5CD47B29D372}" dt="2026-10-05T20:58:16.761" v="30"/>
          <ac:spMkLst>
            <pc:docMk/>
            <pc:sldMk cId="2443747933" sldId="298"/>
            <ac:spMk id="9" creationId="{CF4413DB-EA13-46CF-8688-B2CCAC28B450}"/>
          </ac:spMkLst>
        </pc:spChg>
      </pc:sldChg>
      <pc:sldChg chg="modSp del mod">
        <pc:chgData name="bruno dernier" userId="0b849cd58950a972" providerId="LiveId" clId="{D3882F65-1598-4E5F-B3AD-5CD47B29D372}" dt="2026-10-05T20:59:03.202" v="50"/>
        <pc:sldMkLst>
          <pc:docMk/>
          <pc:sldMk cId="1471597824" sldId="299"/>
        </pc:sldMkLst>
        <pc:spChg chg="mod">
          <ac:chgData name="bruno dernier" userId="0b849cd58950a972" providerId="LiveId" clId="{D3882F65-1598-4E5F-B3AD-5CD47B29D372}" dt="2026-10-05T20:58:16.765" v="33"/>
          <ac:spMkLst>
            <pc:docMk/>
            <pc:sldMk cId="1471597824" sldId="299"/>
            <ac:spMk id="11" creationId="{A8E7613B-4862-43E2-97A5-4F8733E82FBD}"/>
          </ac:spMkLst>
        </pc:spChg>
      </pc:sldChg>
      <pc:sldChg chg="modSp mod">
        <pc:chgData name="bruno dernier" userId="0b849cd58950a972" providerId="LiveId" clId="{D3882F65-1598-4E5F-B3AD-5CD47B29D372}" dt="2026-10-05T20:58:16.766" v="34"/>
        <pc:sldMkLst>
          <pc:docMk/>
          <pc:sldMk cId="5224163" sldId="300"/>
        </pc:sldMkLst>
        <pc:spChg chg="mod">
          <ac:chgData name="bruno dernier" userId="0b849cd58950a972" providerId="LiveId" clId="{D3882F65-1598-4E5F-B3AD-5CD47B29D372}" dt="2026-10-05T20:58:16.766" v="34"/>
          <ac:spMkLst>
            <pc:docMk/>
            <pc:sldMk cId="5224163" sldId="300"/>
            <ac:spMk id="11" creationId="{5189F3DE-5824-430F-8F9A-F4140D9F23E3}"/>
          </ac:spMkLst>
        </pc:spChg>
      </pc:sldChg>
      <pc:sldChg chg="modSp mod">
        <pc:chgData name="bruno dernier" userId="0b849cd58950a972" providerId="LiveId" clId="{D3882F65-1598-4E5F-B3AD-5CD47B29D372}" dt="2026-10-05T20:58:16.767" v="35"/>
        <pc:sldMkLst>
          <pc:docMk/>
          <pc:sldMk cId="322201481" sldId="301"/>
        </pc:sldMkLst>
        <pc:spChg chg="mod">
          <ac:chgData name="bruno dernier" userId="0b849cd58950a972" providerId="LiveId" clId="{D3882F65-1598-4E5F-B3AD-5CD47B29D372}" dt="2026-10-05T20:58:16.767" v="35"/>
          <ac:spMkLst>
            <pc:docMk/>
            <pc:sldMk cId="322201481" sldId="301"/>
            <ac:spMk id="11" creationId="{8F4C024D-9052-476E-B06F-45E935737E2B}"/>
          </ac:spMkLst>
        </pc:spChg>
      </pc:sldChg>
      <pc:sldChg chg="modSp mod">
        <pc:chgData name="bruno dernier" userId="0b849cd58950a972" providerId="LiveId" clId="{D3882F65-1598-4E5F-B3AD-5CD47B29D372}" dt="2026-10-05T20:58:16.768" v="36"/>
        <pc:sldMkLst>
          <pc:docMk/>
          <pc:sldMk cId="1264312751" sldId="302"/>
        </pc:sldMkLst>
        <pc:spChg chg="mod">
          <ac:chgData name="bruno dernier" userId="0b849cd58950a972" providerId="LiveId" clId="{D3882F65-1598-4E5F-B3AD-5CD47B29D372}" dt="2026-10-05T20:58:16.768" v="36"/>
          <ac:spMkLst>
            <pc:docMk/>
            <pc:sldMk cId="1264312751" sldId="302"/>
            <ac:spMk id="11" creationId="{46669C86-3F97-4BDB-A582-503A756ECA6D}"/>
          </ac:spMkLst>
        </pc:spChg>
      </pc:sldChg>
      <pc:sldChg chg="modSp mod">
        <pc:chgData name="bruno dernier" userId="0b849cd58950a972" providerId="LiveId" clId="{D3882F65-1598-4E5F-B3AD-5CD47B29D372}" dt="2026-10-05T20:58:16.769" v="37"/>
        <pc:sldMkLst>
          <pc:docMk/>
          <pc:sldMk cId="742834151" sldId="303"/>
        </pc:sldMkLst>
        <pc:spChg chg="mod">
          <ac:chgData name="bruno dernier" userId="0b849cd58950a972" providerId="LiveId" clId="{D3882F65-1598-4E5F-B3AD-5CD47B29D372}" dt="2026-10-05T20:58:16.769" v="37"/>
          <ac:spMkLst>
            <pc:docMk/>
            <pc:sldMk cId="742834151" sldId="303"/>
            <ac:spMk id="11" creationId="{EC4B658B-A5C3-4D6B-9649-1F98682CC4BE}"/>
          </ac:spMkLst>
        </pc:spChg>
      </pc:sldChg>
      <pc:sldChg chg="modSp mod">
        <pc:chgData name="bruno dernier" userId="0b849cd58950a972" providerId="LiveId" clId="{D3882F65-1598-4E5F-B3AD-5CD47B29D372}" dt="2026-10-05T20:58:16.771" v="39"/>
        <pc:sldMkLst>
          <pc:docMk/>
          <pc:sldMk cId="168002010" sldId="304"/>
        </pc:sldMkLst>
        <pc:spChg chg="mod">
          <ac:chgData name="bruno dernier" userId="0b849cd58950a972" providerId="LiveId" clId="{D3882F65-1598-4E5F-B3AD-5CD47B29D372}" dt="2026-10-05T20:58:16.771" v="39"/>
          <ac:spMkLst>
            <pc:docMk/>
            <pc:sldMk cId="168002010" sldId="304"/>
            <ac:spMk id="11" creationId="{4F72E282-FBA8-4FA4-B734-DCE0521B3B1A}"/>
          </ac:spMkLst>
        </pc:spChg>
      </pc:sldChg>
      <pc:sldChg chg="modSp mod">
        <pc:chgData name="bruno dernier" userId="0b849cd58950a972" providerId="LiveId" clId="{D3882F65-1598-4E5F-B3AD-5CD47B29D372}" dt="2026-10-05T20:58:16.772" v="40"/>
        <pc:sldMkLst>
          <pc:docMk/>
          <pc:sldMk cId="73982020" sldId="305"/>
        </pc:sldMkLst>
        <pc:spChg chg="mod">
          <ac:chgData name="bruno dernier" userId="0b849cd58950a972" providerId="LiveId" clId="{D3882F65-1598-4E5F-B3AD-5CD47B29D372}" dt="2026-10-05T20:58:16.772" v="40"/>
          <ac:spMkLst>
            <pc:docMk/>
            <pc:sldMk cId="73982020" sldId="305"/>
            <ac:spMk id="11" creationId="{2AF11DEB-5037-4DE0-985F-EFEC5E5B206D}"/>
          </ac:spMkLst>
        </pc:spChg>
      </pc:sldChg>
      <pc:sldChg chg="modSp mod">
        <pc:chgData name="bruno dernier" userId="0b849cd58950a972" providerId="LiveId" clId="{D3882F65-1598-4E5F-B3AD-5CD47B29D372}" dt="2026-10-05T20:58:16.773" v="41"/>
        <pc:sldMkLst>
          <pc:docMk/>
          <pc:sldMk cId="779735359" sldId="306"/>
        </pc:sldMkLst>
        <pc:spChg chg="mod">
          <ac:chgData name="bruno dernier" userId="0b849cd58950a972" providerId="LiveId" clId="{D3882F65-1598-4E5F-B3AD-5CD47B29D372}" dt="2026-10-05T20:58:16.773" v="41"/>
          <ac:spMkLst>
            <pc:docMk/>
            <pc:sldMk cId="779735359" sldId="306"/>
            <ac:spMk id="11" creationId="{B8950CE4-F56A-4150-B2DF-028FB35F3E00}"/>
          </ac:spMkLst>
        </pc:spChg>
      </pc:sldChg>
      <pc:sldChg chg="modSp mod">
        <pc:chgData name="bruno dernier" userId="0b849cd58950a972" providerId="LiveId" clId="{D3882F65-1598-4E5F-B3AD-5CD47B29D372}" dt="2026-10-05T20:58:16.774" v="42"/>
        <pc:sldMkLst>
          <pc:docMk/>
          <pc:sldMk cId="228476239" sldId="307"/>
        </pc:sldMkLst>
        <pc:spChg chg="mod">
          <ac:chgData name="bruno dernier" userId="0b849cd58950a972" providerId="LiveId" clId="{D3882F65-1598-4E5F-B3AD-5CD47B29D372}" dt="2026-10-05T20:58:16.774" v="42"/>
          <ac:spMkLst>
            <pc:docMk/>
            <pc:sldMk cId="228476239" sldId="307"/>
            <ac:spMk id="11" creationId="{54325033-81D8-4FED-9A97-2DA4B8AF77E9}"/>
          </ac:spMkLst>
        </pc:spChg>
      </pc:sldChg>
      <pc:sldChg chg="modSp mod">
        <pc:chgData name="bruno dernier" userId="0b849cd58950a972" providerId="LiveId" clId="{D3882F65-1598-4E5F-B3AD-5CD47B29D372}" dt="2026-10-05T20:58:16.775" v="43"/>
        <pc:sldMkLst>
          <pc:docMk/>
          <pc:sldMk cId="708994066" sldId="308"/>
        </pc:sldMkLst>
        <pc:spChg chg="mod">
          <ac:chgData name="bruno dernier" userId="0b849cd58950a972" providerId="LiveId" clId="{D3882F65-1598-4E5F-B3AD-5CD47B29D372}" dt="2026-10-05T20:58:16.775" v="43"/>
          <ac:spMkLst>
            <pc:docMk/>
            <pc:sldMk cId="708994066" sldId="308"/>
            <ac:spMk id="11" creationId="{F3BBC99D-FDA9-4919-AAF8-BF3DAAC642FD}"/>
          </ac:spMkLst>
        </pc:spChg>
      </pc:sldChg>
      <pc:sldChg chg="modSp mod">
        <pc:chgData name="bruno dernier" userId="0b849cd58950a972" providerId="LiveId" clId="{D3882F65-1598-4E5F-B3AD-5CD47B29D372}" dt="2026-10-05T20:58:16.770" v="38"/>
        <pc:sldMkLst>
          <pc:docMk/>
          <pc:sldMk cId="913752932" sldId="309"/>
        </pc:sldMkLst>
        <pc:spChg chg="mod">
          <ac:chgData name="bruno dernier" userId="0b849cd58950a972" providerId="LiveId" clId="{D3882F65-1598-4E5F-B3AD-5CD47B29D372}" dt="2026-10-05T20:58:16.770" v="38"/>
          <ac:spMkLst>
            <pc:docMk/>
            <pc:sldMk cId="913752932" sldId="309"/>
            <ac:spMk id="11" creationId="{BACE8920-E402-156C-2379-8E4A1B59050C}"/>
          </ac:spMkLst>
        </pc:spChg>
      </pc:sldChg>
      <pc:sldChg chg="add">
        <pc:chgData name="bruno dernier" userId="0b849cd58950a972" providerId="LiveId" clId="{D3882F65-1598-4E5F-B3AD-5CD47B29D372}" dt="2026-10-05T20:59:02.724" v="49"/>
        <pc:sldMkLst>
          <pc:docMk/>
          <pc:sldMk cId="495319588" sldId="31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Lignes retenues</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id unique</c:v>
                </c:pt>
                <c:pt idx="1">
                  <c:v>client courant</c:v>
                </c:pt>
                <c:pt idx="2">
                  <c:v>statut majoritaire</c:v>
                </c:pt>
              </c:strCache>
            </c:strRef>
          </c:cat>
          <c:val>
            <c:numRef>
              <c:f>'Chart Data'!$B$2:$B$4</c:f>
              <c:numCache>
                <c:formatCode>General</c:formatCode>
                <c:ptCount val="3"/>
                <c:pt idx="0">
                  <c:v>1</c:v>
                </c:pt>
                <c:pt idx="1">
                  <c:v>100</c:v>
                </c:pt>
                <c:pt idx="2">
                  <c:v>90000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826-4F7B-8991-531FCBCCB27C}"/>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Durée d’un lot en ms</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0 index ajouté</c:v>
                </c:pt>
                <c:pt idx="1">
                  <c:v>1 index ajouté</c:v>
                </c:pt>
                <c:pt idx="2">
                  <c:v>4 index ajoutés</c:v>
                </c:pt>
              </c:strCache>
            </c:strRef>
          </c:cat>
          <c:val>
            <c:numRef>
              <c:f>'Chart Data'!$B$2:$B$4</c:f>
              <c:numCache>
                <c:formatCode>General</c:formatCode>
                <c:ptCount val="3"/>
                <c:pt idx="0">
                  <c:v>110</c:v>
                </c:pt>
                <c:pt idx="1">
                  <c:v>145</c:v>
                </c:pt>
                <c:pt idx="2">
                  <c:v>250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B00-4C18-89D1-C77E338143B4}"/>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Descriptif DEV - RNCP 40166 - M2 - OPTIMISATION BDD - M2.pdf fourni, p. 1-2. Séquence conçue pour 35 heures.</a:t>
            </a:r>
          </a:p>
          <a:p>
            <a:r>
              <a:t>Cours de référence : Formation_NoSQL_2026. Thème et illustrations existantes réutilisés.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journée transforme un diagnostic en intervention. L’étudiant choisit un index à partir d’une requête, explique son mécanisme, puis vérifie son bénéfice et ses coûts. Le schéma conserve ses invariants.</a:t>
            </a:r>
          </a:p>
          <a:p>
            <a:r>
              <a:t>La preuve B4C8 comprend une migration, un plan avant/après et une comparaison des lectures et des écritures. Un index inutilisé ou un gain non reproductible n’est pas présenté comme une réussite.</a:t>
            </a:r>
          </a:p>
          <a:p>
            <a:r>
              <a:t>Priorité : l’historique du client et les filtres du catalogue.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matinée explique les chemins d’accès et l’ordre des colonnes. L’après-midi met en œuvre les index partiels, GIN et GiST, puis prépare leur déploiement.</a:t>
            </a:r>
          </a:p>
          <a:p>
            <a:r>
              <a:t>Les supports distinguent les essais de laboratoire des décisions de production. Les variantes sont comparées séparément pour identifier ce qui produit le gain.</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conserve une organisation supplémentaire des valeurs et des références aux lignes. Il offre un chemin d’accès qui peut éviter une grande partie du parcours de table. Il utilise de l’espace et doit suivre les modifications.</a:t>
            </a:r>
          </a:p>
          <a:p>
            <a:r>
              <a:t>Créer un index constitue une hypothèse sur une charge de travail. Une table consultée par plusieurs endpoints peut exiger plusieurs chemins. Le choix dépend des filtres, des tris, des jointures et des fréquences d’accès.</a:t>
            </a:r>
          </a:p>
          <a:p>
            <a:r>
              <a:t>La liste des requêtes utiles précède la liste des index.</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B-tree conserve des clés dans une structure équilibrée et ordonnée. Le moteur descend vers une plage de clés puis parcourt les entrées pertinentes. Cette organisation convient aux égalités, aux intervalles et à certains ordres de tri.</a:t>
            </a:r>
          </a:p>
          <a:p>
            <a:r>
              <a:t>L’index de client_id regroupe les commandes par client. Un index qui ajoute created_at peut rapprocher les commandes du même client selon leur date. La structure indexe des valeurs, elle ne mémorise pas une réponse complète à chaque requête.</a:t>
            </a:r>
          </a:p>
          <a:p>
            <a:r>
              <a:t>Un index aide lorsque le travail évité dépasse son propre coût.</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sélectivité décrit la fraction des lignes retenues par une condition. La cardinalité d’une colonne décrit son nombre de valeurs distinctes. Une colonne à forte cardinalité n’assure pas que chaque valeur soit rare.</a:t>
            </a:r>
          </a:p>
          <a:p>
            <a:r>
              <a:t>Dans un catalogue, un statut partagé par 90 % des produits filtre peu. Un client très actif peut posséder bien plus de commandes que les autres. On teste des paramètres courants et des cas défavorables.</a:t>
            </a:r>
          </a:p>
          <a:p>
            <a:r>
              <a:t>Simulation sur 100 000 lignes, sans mesure de durée.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Avec une égalité sur client_id et un tri sur created_at puis id, un index (client_id, created_at DESC, id DESC) correspond au chemin de l’historique. L’égalité borne le groupe et l’ordre facilite la lecture des premières entrées.</a:t>
            </a:r>
          </a:p>
          <a:p>
            <a:r>
              <a:t>L’ordre se choisit à partir des usages, pas seulement d’une règle de cardinalité. PostgreSQL peut exploiter d’autres conditions et, selon le cas, un skip scan. Un filtre sans la première colonne reste à vérifier par le plan.</a:t>
            </a:r>
          </a:p>
          <a:p>
            <a:r>
              <a:t>Le dernier id rend l’ordre déterministe lorsque plusieurs commandes ont la même date.</a:t>
            </a:r>
          </a:p>
          <a:p>
            <a:endParaRPr/>
          </a:p>
          <a:p>
            <a:r>
              <a:t>Descriptif DEV - RNCP 40166 - M2 - OPTIMISATION BDD - M2.pdf fourni, p. 1-2. Séquence conçue pour 35 heures.</a:t>
            </a:r>
          </a:p>
          <a:p>
            <a:r>
              <a:t>Sources techniques : https://www.postgresql.org/docs/18/indexes-multicolumn.html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ordonné peut fournir des lignes dans un ordre compatible avec la requête. Avec LIMIT, cela peut éviter de trier un grand ensemble avant de ne conserver que les premières lignes.</a:t>
            </a:r>
          </a:p>
          <a:p>
            <a:r>
              <a:t>Le sens ASC/DESC, les valeurs NULL et les colonnes de départ comptent. Un tri global par total ne correspond pas à l’ordre d’un index commençant par client_id. Le plan doit montrer ce que le moteur évite réellement.</a:t>
            </a:r>
          </a:p>
          <a:p>
            <a:r>
              <a:t>Un index compatible n’impose pas son utilisation au planificateur.</a:t>
            </a:r>
          </a:p>
          <a:p>
            <a:endParaRPr/>
          </a:p>
          <a:p>
            <a:r>
              <a:t>Descriptif DEV - RNCP 40166 - M2 - OPTIMISATION BDD - M2.pdf fourni, p. 1-2. Séquence conçue pour 35 heures.</a:t>
            </a:r>
          </a:p>
          <a:p>
            <a:r>
              <a:t>Sources techniques : https://www.postgresql.org/docs/18/indexes-multicolumn.html</a:t>
            </a:r>
          </a:p>
          <a:p>
            <a:r>
              <a:t>https://www.postgresql.org/docs/18/using-explain.html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INCLUDE ajoute des colonnes qui peuvent fournir le résultat sans participer à l’ordre de recherche. L’index de l’historique peut inclure statut et total si ces valeurs constituent toute la projection.</a:t>
            </a:r>
          </a:p>
          <a:p>
            <a:r>
              <a:t>Un Index Only Scan exige aussi que les informations de visibilité permettent d’éviter certaines visites à la table. Une table très modifiée peut encore provoquer des Heap Fetches. L’index plus large coûte davantage en espace et en maintenance.</a:t>
            </a:r>
          </a:p>
          <a:p>
            <a:r>
              <a:t>L’absence d’accès à la table ne se déduit pas de la seule présence de INCLUDE.</a:t>
            </a:r>
          </a:p>
          <a:p>
            <a:endParaRPr/>
          </a:p>
          <a:p>
            <a:r>
              <a:t>Descriptif DEV - RNCP 40166 - M2 - OPTIMISATION BDD - M2.pdf fourni, p. 1-2. Séquence conçue pour 35 heures.</a:t>
            </a:r>
          </a:p>
          <a:p>
            <a:r>
              <a:t>Sources techniques : https://www.postgresql.org/docs/18/indexes-index-only-scans.html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insertion doit créer la ligne et maintenir les index concernés. Une mise à jour d’une valeur indexée peut demander de nouvelles entrées. Les modifications produisent aussi du WAL et consomment de la mémoire et du stockage.</a:t>
            </a:r>
          </a:p>
          <a:p>
            <a:r>
              <a:t>On évalue donc le bénéfice de lecture face à la fréquence d’écriture. Dix index utiles à dix requêtes rares peuvent pénaliser un flux d’import important. Une décision doit considérer la charge complète.</a:t>
            </a:r>
          </a:p>
          <a:p>
            <a:r>
              <a:t>Valeurs fictives pour illustrer le compromis, sans résultat de benchmark.</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Deux index qui partagent un préfixe peuvent se recouvrir, sans être parfaitement équivalents. Leurs tailles, l’unicité, les prédicats et les colonnes incluses peuvent justifier leur coexistence.</a:t>
            </a:r>
          </a:p>
          <a:p>
            <a:r>
              <a:t>Un compteur d’utilisation nul sur une courte fenêtre ne prouve pas qu’un index soit inutile. Il peut protéger une contrainte ou servir à une opération mensuelle. On observe une période représentative et on vérifie les usages avant suppression.</a:t>
            </a:r>
          </a:p>
          <a:p>
            <a:r>
              <a:t>La migration conserve un retour arrière et documente les requêtes concernées.</a:t>
            </a:r>
          </a:p>
          <a:p>
            <a:endParaRPr/>
          </a:p>
          <a:p>
            <a:r>
              <a:t>Descriptif DEV - RNCP 40166 - M2 - OPTIMISATION BDD - M2.pdf fourni, p. 1-2. Séquence conçue pour 35 heures.</a:t>
            </a:r>
          </a:p>
          <a:p>
            <a:r>
              <a:t>Sources techniques : https://www.postgresql.org/docs/18/monitoring-stats.html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Comparer la base initiale, un index simple sur client_id, l’index composé et sa variante couvrante. Tester plusieurs clients, dont le client 42. Réinitialiser les variantes pour éviter leur concurrence dans le plan.</a:t>
            </a:r>
          </a:p>
          <a:p>
            <a:r>
              <a:t>Conserver la requête, le plan, les buffers, la taille des index et les répétitions. Comparer aussi un lot d’insertion dans une transaction de laboratoire. Expliquer le gain ou l’absence de gain.</a:t>
            </a:r>
          </a:p>
          <a:p>
            <a:r>
              <a:t>Livrable : un tableau de décision. Temps prévu : 1 h 30.</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partiel ne contient que les lignes qui satisfont un prédicat. Il peut être pertinent pour un sous-ensemble souvent consulté, comme les commandes à traiter, tout en limitant la taille de l’index.</a:t>
            </a:r>
          </a:p>
          <a:p>
            <a:r>
              <a:t>La requête doit permettre au planificateur de reconnaître que sa condition implique le prédicat. Certains plans génériques paramétrés ne permettent pas cette preuve. La compatibilité se teste avec le SQL réellement émis par l’application.</a:t>
            </a:r>
          </a:p>
          <a:p>
            <a:r>
              <a:t>Le statut du laboratoire comprend payee, en_attente et annulee.</a:t>
            </a:r>
          </a:p>
          <a:p>
            <a:endParaRPr/>
          </a:p>
          <a:p>
            <a:r>
              <a:t>Descriptif DEV - RNCP 40166 - M2 - OPTIMISATION BDD - M2.pdf fourni, p. 1-2. Séquence conçue pour 35 heures.</a:t>
            </a:r>
          </a:p>
          <a:p>
            <a:r>
              <a:t>Sources techniques : https://www.postgresql.org/docs/18/indexes-partial.html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prédicat stable et utile définit un périmètre clair. L’index des commandes en attente suit les changements de statut. Son intérêt dépend de leur proportion et de la fréquence du traitement.</a:t>
            </a:r>
          </a:p>
          <a:p>
            <a:r>
              <a:t>Un index fondé sur « les sept derniers jours » avec now() dans le prédicat pose notamment un problème d’immuabilité. La date relative change sans écriture des lignes. Le partitionnement ou un filtre explicite peuvent mieux répondre au besoin.</a:t>
            </a:r>
          </a:p>
          <a:p>
            <a:r>
              <a:t>Une règle temporelle dynamique ne devient pas automatiquement un prédicat d’index valide.</a:t>
            </a:r>
          </a:p>
          <a:p>
            <a:endParaRPr/>
          </a:p>
          <a:p>
            <a:r>
              <a:t>Descriptif DEV - RNCP 40166 - M2 - OPTIMISATION BDD - M2.pdf fourni, p. 1-2. Séquence conçue pour 35 heures.</a:t>
            </a:r>
          </a:p>
          <a:p>
            <a:r>
              <a:t>Sources techniques : https://www.postgresql.org/docs/18/indexes-partial.html</a:t>
            </a:r>
          </a:p>
          <a:p>
            <a:r>
              <a:t>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index d’expression conserve la valeur calculée d’une expression. Pour une recherche insensible à la casse sur l’email, on peut indexer lower(email), puis utiliser cette expression dans la requête.</a:t>
            </a:r>
          </a:p>
          <a:p>
            <a:r>
              <a:t>L’expression doit respecter les exigences du moteur, notamment l’immuabilité des fonctions utilisées. La transformation doit aussi correspondre au métier : règles de casse et de comparaison ne signifient pas toujours identité des valeurs.</a:t>
            </a:r>
          </a:p>
          <a:p>
            <a:r>
              <a:t>La variante ci-contre accélère la recherche. Une contrainte d’unicité demande une décision supplémentaire.</a:t>
            </a:r>
          </a:p>
          <a:p>
            <a:endParaRPr/>
          </a:p>
          <a:p>
            <a:r>
              <a:t>Descriptif DEV - RNCP 40166 - M2 - OPTIMISATION BDD - M2.pdf fourni, p. 1-2. Séquence conçue pour 35 heures.</a:t>
            </a:r>
          </a:p>
          <a:p>
            <a:r>
              <a:t>Sources techniques : 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GIN associe des éléments à des ensembles de lignes. Il convient à des valeurs composées que l’on interroge par appartenance ou présence, par exemple un document de recherche ou certaines opérations JSONB.</a:t>
            </a:r>
          </a:p>
          <a:p>
            <a:r>
              <a:t>Dans produits.attributs, la requête peut chercher la présence d’une paire catégorie/valeur. La classe d’opérateurs détermine les conditions prises en charge. Un GIN n’accélère pas toutes les fonctions JSON ni un tri arbitraire.</a:t>
            </a:r>
          </a:p>
          <a:p>
            <a:r>
              <a:t>L’index jsonb_ops par défaut est utilisé dans cet exemple.</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JSONB autorise des attributs variables sans créer une colonne pour chacun. Une propriété structurante, très utilisée dans les filtres ou les contraintes, peut cependant mériter une colonne typée.</a:t>
            </a:r>
          </a:p>
          <a:p>
            <a:r>
              <a:t>Un index sur tout le document peut être plus lourd qu’un index ciblé. Les changements d’attributs exigent sa maintenance. On compare une colonne categorie, une expression et un GIN selon les requêtes, les écritures et l’évolution du modèle.</a:t>
            </a:r>
          </a:p>
          <a:p>
            <a:r>
              <a:t>Dans ShopFlow, le prix et le stock restent des colonnes typées. Les caractéristiques secondaires peuvent être JSONB.</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GiST fournit un cadre d’indexation extensible pour des opérateurs spécialisés. Selon la classe d’opérateurs, il peut servir aux intervalles, à la recherche spatiale ou à la proximité. Ce n’est pas un index réservé à la géographie.</a:t>
            </a:r>
          </a:p>
          <a:p>
            <a:r>
              <a:t>Dans une réservation, un intervalle représente une période occupée. Une condition de chevauchement répond au besoin de conflit. L’index doit prendre en charge l’opérateur employé.</a:t>
            </a:r>
          </a:p>
          <a:p>
            <a:r>
              <a:t>L’exemple indépendant du fil rouge utilise le type tstzrange natif.</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BRIN conserve des résumés de plages de blocs. Il peut être compact et utile quand une valeur suit assez bien l’ordre physique des lignes, par exemple des événements ajoutés par date.</a:t>
            </a:r>
          </a:p>
          <a:p>
            <a:r>
              <a:t>Si les valeurs sont dispersées au hasard dans les pages, les résumés éliminent moins de plages. BRIN ne remplace pas une recherche ciblée par identifiant. La corrélation physique et le volume expliquent son intérêt.</a:t>
            </a:r>
          </a:p>
          <a:p>
            <a:r>
              <a:t>Notre jeu mélange les dates par identifiant. Il fournit un contre-exemple possible à un BRIN efficace.</a:t>
            </a:r>
          </a:p>
          <a:p>
            <a:endParaRPr/>
          </a:p>
          <a:p>
            <a:r>
              <a:t>Descriptif DEV - RNCP 40166 - M2 - OPTIMISATION BDD - M2.pdf fourni, p. 1-2. Séquence conçue pour 35 heures.</a:t>
            </a:r>
          </a:p>
          <a:p>
            <a:r>
              <a:t>Sources techniques : 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type d’index découle des opérateurs et des chemins d’accès. B-tree, GIN, GiST et BRIN ne proposent pas la même organisation. Le moteur doit pouvoir associer la condition à la classe d’opérateurs.</a:t>
            </a:r>
          </a:p>
          <a:p>
            <a:r>
              <a:t>Le tableau sert de point de départ. La décision finale repose sur le plan et la charge réelle. Les index partiels et les colonnes INCLUDE sont des choix supplémentaires, pas des familles concurrentes.</a:t>
            </a:r>
          </a:p>
          <a:p>
            <a:r>
              <a:t>Un index partiel peut être un B-tree limité aux commandes en attente.</a:t>
            </a:r>
          </a:p>
          <a:p>
            <a:endParaRPr/>
          </a:p>
          <a:p>
            <a:r>
              <a:t>Descriptif DEV - RNCP 40166 - M2 - OPTIMISATION BDD - M2.pdf fourni, p. 1-2. Séquence conçue pour 35 heures.</a:t>
            </a:r>
          </a:p>
          <a:p>
            <a:r>
              <a:t>Sources techniques : https://www.postgresql.org/docs/18/indexes-types.html</a:t>
            </a:r>
          </a:p>
          <a:p>
            <a:r>
              <a:t>https://www.postgresql.org/docs/18/indexes-partial.html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clé primaire et une contrainte UNIQUE s’appuient sur un index pour identifier les doublons. Leur rôle dépasse la performance. Les retirer peut supprimer une garantie métier essentielle.</a:t>
            </a:r>
          </a:p>
          <a:p>
            <a:r>
              <a:t>PostgreSQL ne crée pas automatiquement un index sur chaque côté référençant d’une clé étrangère. Un accès à commandes.client_id ou une opération sur le client peut donc nécessiter un index supplémentaire, selon les usages.</a:t>
            </a:r>
          </a:p>
          <a:p>
            <a:r>
              <a:t>La lecture du DDL révèle les garanties déjà présentes avant toute optimisation.</a:t>
            </a:r>
          </a:p>
          <a:p>
            <a:endParaRPr/>
          </a:p>
          <a:p>
            <a:r>
              <a:t>Descriptif DEV - RNCP 40166 - M2 - OPTIMISATION BDD - M2.pdf fourni, p. 1-2. Séquence conçue pour 35 heures.</a:t>
            </a:r>
          </a:p>
          <a:p>
            <a:r>
              <a:t>Sources techniques : 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table peut séparer ses colonnes fréquemment consultées de valeurs volumineuses rarement utiles. Par exemple, une fiche produit courte et une table de descriptions longues peuvent éviter de charger ces descriptions dans une liste.</a:t>
            </a:r>
          </a:p>
          <a:p>
            <a:r>
              <a:t>La décomposition verticale introduit un accès ou une jointure supplémentaire pour le détail. Elle n’est pas la création de plusieurs partitions temporelles. On justifie la séparation par les chemins d’accès et la taille des valeurs.</a:t>
            </a:r>
          </a:p>
          <a:p>
            <a:r>
              <a:t>Le maintien d’une clé commune préserve le lien entre les deux ensembles.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Exemple hors Shopflow : dans une bibliothèque, les listes consultent livres(id, titre), tandis que livres_details(livre_id, resume) conserve les valeurs longues consultées au détail.</a:t>
            </a:r>
          </a:p>
          <a:p>
            <a:r>
              <a:t>Le PRIMARY KEY de livres_details empêche plusieurs lignes de détail par livre ; REFERENCES livres(id) relie la ligne au livre. Vérifier les plans et le coût de la jointure pour les accès au détail.</a:t>
            </a:r>
          </a:p>
          <a:p>
            <a:r>
              <a:t>La requête SELECT id, titre FROM livres illustre la lecture sans résumé. Il ne s’agit pas d’un benchmark : la séparation doit être justifiée par la charge réelle.</a:t>
            </a:r>
          </a:p>
          <a:p>
            <a:endParaRPr/>
          </a:p>
          <a:p>
            <a:r>
              <a:t>Descriptif DEV - RNCP 40166 - M2 - OPTIMISATION BDD - M2.pdf fourni, p. 1-2. Séquence conçue pour 35 heures.</a:t>
            </a:r>
          </a:p>
          <a:p>
            <a:r>
              <a:t>Sources techniques : https://www.postgresql.org/docs/18/ddl-constraints.html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valeur dérivée peut éviter un calcul fréquent, à condition de définir son actualisation. Un compteur de commandes par client demande une règle lors d’une création, d’une annulation ou d’une correction.</a:t>
            </a:r>
          </a:p>
          <a:p>
            <a:r>
              <a:t>L’application, un trigger ou un traitement asynchrone peut maintenir cette valeur. Chacun introduit un coût et un mode d’échec. Le dossier précise la source de vérité et une procédure de recalcul.</a:t>
            </a:r>
          </a:p>
          <a:p>
            <a:r>
              <a:t>Un cache et une vue matérialisée posent aussi la question de la fraîcheur des copies.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Exemple hors Shopflow : films et avis forment la source de vérité ; la vue matérialisée stats_films stocke le nombre d’avis par film.</a:t>
            </a:r>
          </a:p>
          <a:p>
            <a:r>
              <a:t>Le LEFT JOIN et count(a.id) conservent les films sans avis avec un compte de zéro. Le résultat stocké est périmé entre deux rafraîchissements ; planifier REFRESH et vérifier la fraîcheur admissible.</a:t>
            </a:r>
          </a:p>
          <a:p>
            <a:r>
              <a:t>Ce SQL montre le mécanisme, sans garantir un gain : comparer les coûts de lecture et de rafraîchissement selon la charge.</a:t>
            </a:r>
          </a:p>
          <a:p>
            <a:endParaRPr/>
          </a:p>
          <a:p>
            <a:r>
              <a:t>Descriptif DEV - RNCP 40166 - M2 - OPTIMISATION BDD - M2.pdf fourni, p. 1-2. Séquence conçue pour 35 heures.</a:t>
            </a:r>
          </a:p>
          <a:p>
            <a:r>
              <a:t>Sources techniques : https://www.postgresql.org/docs/18/rules-materializedviews.html ; https://www.postgresql.org/docs/18/sql-refreshmaterializedview.html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Créer les variantes partielle et GIN dans le laboratoire. Comparer leurs requêtes avec un filtre qui correspond au prédicat et un filtre qui ne correspond pas. Observer la taille et l’usage des index.</a:t>
            </a:r>
          </a:p>
          <a:p>
            <a:r>
              <a:t>Sur la petite table produits, un Seq Scan peut rester rationnel. Expliquer ce résultat et proposer un test à plus grand volume. Pour GiST, créer deux périodes qui se chevauchent et une période disjointe.</a:t>
            </a:r>
          </a:p>
          <a:p>
            <a:r>
              <a:t>Livrable : choix d’index, opérateurs, résultats et conditions. Temps prévu : 1 h.</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migration progressive maintient une compatibilité temporaire entre les versions de l’application. Pour une nouvelle colonne, on peut ajouter la structure, adapter le code, remplir les anciennes lignes et renforcer ensuite les contraintes.</a:t>
            </a:r>
          </a:p>
          <a:p>
            <a:r>
              <a:t>Une opération sur une grande table peut attendre un verrou ou consommer des ressources. La migration prévoit une fenêtre, une surveillance et un retour arrière. Le SQL qui réussit sur 1 000 lignes n’est pas une preuve suffisante pour un volume de production.</a:t>
            </a:r>
          </a:p>
          <a:p>
            <a:r>
              <a:t>Les étapes et les contraintes sont documentées avec le déploiement.</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Exemple hors Shopflow : les lecteurs d’une bibliothèque reçoivent newsletter_ok, initialement nullable afin de déployer le schéma sans imposer immédiatement la nouvelle contrainte.</a:t>
            </a:r>
          </a:p>
          <a:p>
            <a:r>
              <a:t>La nouvelle application doit gérer NULL temporairement puis écrire explicitement les valeurs. Après remplissage et contrôle des lignes, définir DEFAULT false et NOT NULL ; les usagers existants ne sont pas inscrits par défaut.</a:t>
            </a:r>
          </a:p>
          <a:p>
            <a:r>
              <a:t>Le UPDATE global est un exemple pédagogique : en production, traiter les gros volumes par lots, contrôler le résultat puis évaluer les verrous de ALTER TABLE.</a:t>
            </a:r>
          </a:p>
          <a:p>
            <a:endParaRPr/>
          </a:p>
          <a:p>
            <a:r>
              <a:t>Descriptif DEV - RNCP 40166 - M2 - OPTIMISATION BDD - M2.pdf fourni, p. 1-2. Séquence conçue pour 35 heures.</a:t>
            </a:r>
          </a:p>
          <a:p>
            <a:r>
              <a:t>Sources techniques : https://www.postgresql.org/docs/18/sql-altertable.html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création concurrente évite de bloquer les écritures comme une construction ordinaire, mais demande davantage de travail et présente des contraintes. Elle ne s’exécute pas dans un bloc de transaction utilisateur.</a:t>
            </a:r>
          </a:p>
          <a:p>
            <a:r>
              <a:t>Une construction interrompue peut laisser un index invalide. Le déploiement vérifie son état, les erreurs et la pression sur les ressources. Une commande concurrente n’est pas une promesse d’absence d’impact.</a:t>
            </a:r>
          </a:p>
          <a:p>
            <a:r>
              <a:t>Le laboratoire peut utiliser CREATE INDEX ordinaire. La variante concurrente relève de la procédure de déploiement.</a:t>
            </a:r>
          </a:p>
          <a:p>
            <a:endParaRPr/>
          </a:p>
          <a:p>
            <a:r>
              <a:t>Descriptif DEV - RNCP 40166 - M2 - OPTIMISATION BDD - M2.pdf fourni, p. 1-2. Séquence conçue pour 35 heures.</a:t>
            </a:r>
          </a:p>
          <a:p>
            <a:r>
              <a:t>Sources techniques : https://www.postgresql.org/docs/18/sql-createindex.html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DDL (Data Definition Language) désigne les instructions qui définissent ou modifient la structure de la base ; ALTER TABLE en est un exemple. Ce support illustre une variante qui demande ACCESS EXCLUSIVE : le niveau de verrou varie selon l’opération.</a:t>
            </a:r>
          </a:p>
          <a:p>
            <a:r>
              <a:t>Un SELECT ordinaire prend ACCESS SHARE sur la table. Plusieurs lectures peuvent coexister, mais ce mode entre en conflit avec ACCESS EXCLUSIVE. Si une transaction conserve son verrou, le DDL attend ; une lecture arrivée ensuite peut être mise en attente derrière le DDL.</a:t>
            </a:r>
          </a:p>
          <a:p>
            <a:r>
              <a:t>COMMIT termine la transaction et libère normalement les verrous détenus. Dans le schéma suivant, A détient ACCESS SHARE, B attend ACCESS EXCLUSIVE et C est une lecture arrivée après B.</a:t>
            </a:r>
          </a:p>
          <a:p>
            <a:endParaRPr/>
          </a:p>
          <a:p>
            <a:r>
              <a:t>Descriptif DEV - RNCP 40166 - M2 - OPTIMISATION BDD - M2.pdf fourni, p. 1-2. Séquence conçue pour 35 heures.</a:t>
            </a:r>
          </a:p>
          <a:p>
            <a:r>
              <a:t>Sources techniques : https://www.postgresql.org/docs/18/explicit-locking.html ; https://www.postgresql.org/docs/18/sql-altertable.html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Schéma de principe, cas illustratif : A conserve ACCESS SHARE sur lecteurs dans une transaction encore ouverte. B, ALTER TABLE exigeant ACCESS EXCLUSIVE, attend la libération du verrou.</a:t>
            </a:r>
          </a:p>
          <a:p>
            <a:r>
              <a:t>C est une lecture arrivée après B. Elle peut attendre derrière B même si sa lecture serait compatible avec le verrou déjà détenu par A. Les flèches décrivent un ordre d’arrivée et de dépendance, pas une transmission de verrou.</a:t>
            </a:r>
          </a:p>
          <a:p>
            <a:r>
              <a:t>À la fin de A, B peut obtenir ACCESS EXCLUSIVE ; C repart après la fin de B. Toujours vérifier les modes de verrou pour le DDL concret.</a:t>
            </a:r>
          </a:p>
          <a:p>
            <a:endParaRPr/>
          </a:p>
          <a:p>
            <a:r>
              <a:t>Descriptif DEV - RNCP 40166 - M2 - OPTIMISATION BDD - M2.pdf fourni, p. 1-2. Séquence conçue pour 35 heures.</a:t>
            </a:r>
          </a:p>
          <a:p>
            <a:r>
              <a:t>Sources techniques : https://www.postgresql.org/docs/18/explicit-locking.html ; https://www.postgresql.org/docs/18/monitoring-locks.html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procédure de migration commence par identifier les transactions ouvertes et les sessions en attente. La colonne wait_event et pg_blocking_pids peuvent aider à diagnostiquer les bloqueurs.</a:t>
            </a:r>
          </a:p>
          <a:p>
            <a:r>
              <a:t>SET lock_timeout = '2s' sur la session qui lance le DDL borne l’attente d’un verrou. Si la limite est atteinte, la commande échoue et peut être retentée après analyse dans une fenêtre appropriée. Ne pas annuler une session tierce sans procédure.</a:t>
            </a:r>
          </a:p>
          <a:p>
            <a:r>
              <a:t>lock_timeout ne limite pas la durée totale du DDL après l’acquisition du verrou. Adapter la valeur d’exemple au service et à la procédure de déploiement.</a:t>
            </a:r>
          </a:p>
          <a:p>
            <a:endParaRPr/>
          </a:p>
          <a:p>
            <a:r>
              <a:t>Descriptif DEV - RNCP 40166 - M2 - OPTIMISATION BDD - M2.pdf fourni, p. 1-2. Séquence conçue pour 35 heures.</a:t>
            </a:r>
          </a:p>
          <a:p>
            <a:r>
              <a:t>Sources techniques : https://www.postgresql.org/docs/18/runtime-config-client.html ; https://www.postgresql.org/docs/18/monitoring-stats.html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TP complète les ateliers 3 et 4 sans les remplacer. Règle métier pour cet exercice : absence de consentement = false. Le laboratoire simule les versions applicatives avec des requêtes SQL, sans déployer une API. La comparaison de performance reste dans les ateliers d’indexation. Les 60 minutes s’insèrent dans le créneau existant de 90 minutes « Migration et bilan ».</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Fichier 01_preparation.sql. Le script crée aussi clients_migration_reference_tp. Ne pas supprimer une table déjà présente pour faire disparaître une erreur. Après le retour arrière, reprendre à 02 pour rejouer le TP avec la même copie. Les identifiants de test 1001 et 1002 supposent le jeu initial de 1000 clients.</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nouvelle colonne n’a pas encore de défaut ni de NOT NULL. PostgreSQL prend un verrou ACCESS EXCLUSIVE pour cette opération. Une opération courte peut tout de même attendre une transaction ouverte. Si le délai expire, conserver la trace puis rechercher la cause avant de réessayer.</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blocs de test complets se trouvent dans 03_compatibilite.sql. Avant SET DEFAULT, l’ancien écrivain qui omet la nouvelle colonne produit NULL. Le nouveau écrivain fournit explicitement false. Après SET DEFAULT, une ancienne insertion qui omet la colonne reçoit false. Une application qui écrit explicitement NULL reste incompatible avec la contrainte finale. Simulation SQL uniquement.</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pas placer toutes les répétitions dans une seule transaction : cela conserverait les verrous jusqu’au dernier COMMIT. Les lots rendent la reprise possible. Le petit volume sert à observer les étapes. Il ne valide ni la durée ni la charge d’une migration de production. Le défaut false n’interdit pas un NULL explicite tant que la contrainte n’existe pas.</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AAD52-8656-7A6B-0EEA-B0BEE7AA5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A8223-B208-E07A-A4FD-27BF0D352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BED87-AD43-FCDD-B68A-413659FD27DA}"/>
              </a:ext>
            </a:extLst>
          </p:cNvPr>
          <p:cNvSpPr>
            <a:spLocks noGrp="1"/>
          </p:cNvSpPr>
          <p:nvPr>
            <p:ph type="body" idx="1"/>
          </p:nvPr>
        </p:nvSpPr>
        <p:spPr/>
        <p:txBody>
          <a:bodyPr/>
          <a:lstStyle/>
          <a:p>
            <a:r>
              <a:t>Ne pas placer toutes les répétitions dans une seule transaction : cela conserverait les verrous jusqu’au dernier COMMIT. Les lots rendent la reprise possible. Le petit volume sert à observer les étapes. Il ne valide ni la durée ni la charge d’une migration de production. Le défaut false n’interdit pas un NULL explicite tant que la contrainte n’existe pas.</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a:extLst>
              <a:ext uri="{FF2B5EF4-FFF2-40B4-BE49-F238E27FC236}">
                <a16:creationId xmlns:a16="http://schemas.microsoft.com/office/drawing/2014/main" id="{1D1B4DC8-9D8E-2D2F-25F4-1FF7CEEA4EA1}"/>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Tree>
    <p:extLst>
      <p:ext uri="{BB962C8B-B14F-4D97-AF65-F5344CB8AC3E}">
        <p14:creationId xmlns:p14="http://schemas.microsoft.com/office/powerpoint/2010/main" val="423668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VALID ne désactive pas le CHECK sur les nouvelles insertions et mises à jour. L’ajout du CHECK prend un verrou fort, même si le scan initial n’a pas lieu. Dans le scénario, les lots précèdent le CHECK et les écrivains compatibles utilisent le défaut ou une valeur explicite.</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VALIDATE CONSTRAINT prend SHARE UPDATE EXCLUSIVE. Le CHECK valide permet à SET NOT NULL d’éviter de rescanner les lignes, mais SET NOT NULL demande encore ACCESS EXCLUSIVE. Les contrôles de 07 utilisent EXCEPT ALL dans les deux sens et vérifient id, email et nom. L’insertion de test est annulée par ROLLBACK. Après une erreur dans une transaction ouverte, ROLLBACK est nécessaire avant la reprise.</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Deux onglets ne suffisent que s’ils ouvrent réellement deux connexions indépendantes. A détient ACCESS SHARE jusqu’au COMMIT. B demande ACCESS EXCLUSIVE et atteint lock_timeout. B doit être en autocommit. Si B utilise une transaction explicite, ROLLBACK après l’erreur. Le délai observé peut varier légèrement. Sur un environnement sans deux connexions, produire une chronologie analysée et identifier cette preuve comme non exécutée.</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retour de structure n’est pas une restauration universelle des données. On teste ici le retrait sur une copie synthétique après avoir sauvegardé les preuves. Le schéma historique et ses valeurs doivent correspondre à la référence. L’ancienne application doit cesser toute utilisation de la colonne avant son retrait. Les scripts ne suppriment ni clients ni la table de référence.</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compte rendu est court, avec les fichiers SQL et les traces réellement obtenues. Ne pas fabriquer une mesure si un test n’a pas été exécuté. Distinguer le DDL d’indexation des ateliers 3 et 4 du DDL d’évolution de schéma de l’atelier 4 bis. Références PostgreSQL 18 dans les notes de chaque slide. Ce TP ne démontre aucun gain de performance à lui seul.</a:t>
            </a:r>
          </a:p>
          <a:p>
            <a:r>
              <a:t>Sources :</a:t>
            </a:r>
          </a:p>
          <a:p>
            <a:r>
              <a:t>https://www.postgresql.org/docs/18/sql-altertable.html</a:t>
            </a:r>
          </a:p>
          <a:p>
            <a:r>
              <a:t>https://www.postgresql.org/docs/18/explicit-locking.html</a:t>
            </a:r>
          </a:p>
          <a:p>
            <a:r>
              <a:t>https://www.postgresql.org/docs/18/runtime-config-client.html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L’historique donne une hypothèse d’index composé. Le traitement des commandes en attente donne une hypothèse partielle. Le catalogue flexible donne une hypothèse GIN. Chaque hypothèse répond à une requête distincte.</a:t>
            </a:r>
          </a:p>
          <a:p>
            <a:r>
              <a:t>Le choix final tient compte de la fréquence des appels, du coût des écritures, de la taille et des contraintes. On peut garder moins d’index que dans le laboratoire si les bénéfices ne compensent pas les coûts.</a:t>
            </a:r>
          </a:p>
          <a:p>
            <a:r>
              <a:t>Le dossier présente aussi les variantes rejetées et leur raison.</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plan modifié est un mécanisme observé. Une durée réduite est un effet mesuré. La démonstration relie les deux sans annoncer un pourcentage universel. Les résultats dépendent du jeu, du cache et de la charge.</a:t>
            </a:r>
          </a:p>
          <a:p>
            <a:r>
              <a:t>Si la médiane s’améliore et que le p95 se dégrade, on recherche la variabilité ou les attentes. Si les écritures ralentissent, on expose ce compromis au lieu de ne présenter que la lecture la plus favorable.</a:t>
            </a:r>
          </a:p>
          <a:p>
            <a:r>
              <a:t>Les graphiques du dossier portent leurs unités, leur protocole et la mention de leur origine.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1. Pourquoi l’index composé commence-t-il par client_id ?</a:t>
            </a:r>
          </a:p>
          <a:p>
            <a:r>
              <a:t>2. Pourquoi INCLUDE ne garantit-il pas zéro Heap Fetches ?</a:t>
            </a:r>
          </a:p>
          <a:p>
            <a:r>
              <a:t>3. Quelle différence entre un index partiel et une partition ?</a:t>
            </a:r>
          </a:p>
          <a:p>
            <a:r>
              <a:t>4. Pourquoi un index GIN ne remplace-t-il pas tous les filtres JSON ?</a:t>
            </a:r>
          </a:p>
          <a:p>
            <a:r>
              <a:t>5. Quel coût observe-t-on sur les écritures ?</a:t>
            </a:r>
          </a:p>
          <a:p>
            <a:r>
              <a:t>6. Pourquoi un compteur d’usage nul ne suffit-il pas à supprimer un index ?</a:t>
            </a:r>
          </a:p>
          <a:p>
            <a:r>
              <a:t>Donner un exemple de requête pour chaque réponse.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groupe client borne l’historique avant son tri. INCLUDE fournit des valeurs, tandis que la visibilité peut encore imposer des visites à la table. Un index partiel ajoute un accès sur un sous-ensemble, une partition sépare le stockage des lignes.</a:t>
            </a:r>
          </a:p>
          <a:p>
            <a:r>
              <a:t>Les opérateurs conditionnent GIN. Les écritures maintiennent les index. Un index peut protéger une contrainte ou servir à un usage rare. Ces réponses rendent la décision de schéma vérifiable et maintenable.</a:t>
            </a:r>
          </a:p>
          <a:p>
            <a:r>
              <a:t>Les mesures du laboratoire doivent accompagner ces explications.</a:t>
            </a:r>
          </a:p>
          <a:p>
            <a:endParaRPr/>
          </a:p>
          <a:p>
            <a:r>
              <a:t>Descriptif DEV - RNCP 40166 - M2 - OPTIMISATION BDD - M2.pdf fourni, p. 1-2. Séquence conçue pour 35 heures.</a:t>
            </a:r>
          </a:p>
          <a:p>
            <a:r>
              <a:t>Sources techniques : https://www.postgresql.org/docs/18/indexes-multicolumn.html</a:t>
            </a:r>
          </a:p>
          <a:p>
            <a:r>
              <a:t>https://www.postgresql.org/docs/18/indexes-index-only-scans.html</a:t>
            </a:r>
          </a:p>
          <a:p>
            <a:r>
              <a:t>https://www.postgresql.org/docs/18/indexes-partial.html</a:t>
            </a:r>
          </a:p>
          <a:p>
            <a:r>
              <a:t>https://www.postgresql.org/docs/18/indexes-types.html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dossier du jour comprend le besoin applicatif, le SQL initial, le DDL de migration et les plans avant/après. Il présente les mêmes résultats fonctionnels, les mesures de lecture et un coût d’écriture.</a:t>
            </a:r>
          </a:p>
          <a:p>
            <a:r>
              <a:t>La justification explique le type d’index, l’ordre des colonnes, sa taille et le déploiement. La prochaine journée étudie ce qui se passe lorsque plusieurs opérations modifient les mêmes données et lorsque le volume augmente.</a:t>
            </a:r>
          </a:p>
          <a:p>
            <a:r>
              <a:t>Sources : PostgreSQL 18, familles d’index, index composés, partiels, couverture et CREATE INDEX.</a:t>
            </a:r>
          </a:p>
          <a:p>
            <a:endParaRPr/>
          </a:p>
          <a:p>
            <a:r>
              <a:t>Descriptif DEV - RNCP 40166 - M2 - OPTIMISATION BDD - M2.pdf fourni, p. 1-2. Séquence conçue pour 35 heures.</a:t>
            </a:r>
          </a:p>
          <a:p>
            <a:r>
              <a:t>Sources techniques : https://www.postgresql.org/docs/18/indexes-types.html</a:t>
            </a:r>
          </a:p>
          <a:p>
            <a:r>
              <a:t>https://www.postgresql.org/docs/18/indexes-multicolumn.html</a:t>
            </a:r>
          </a:p>
          <a:p>
            <a:r>
              <a:t>https://www.postgresql.org/docs/18/indexes-partial.html</a:t>
            </a:r>
          </a:p>
          <a:p>
            <a:r>
              <a:t>https://www.postgresql.org/docs/18/indexes-index-only-scans.html</a:t>
            </a:r>
          </a:p>
          <a:p>
            <a:r>
              <a:t>https://www.postgresql.org/docs/18/sql-createindex.html</a:t>
            </a:r>
          </a:p>
          <a:p>
            <a:r>
              <a:t>Illustrations de fond générées. Schémas pédagogiques simplifiés et éditables. Les exemples fictifs et valeurs attendues ne sont pas des mesures de performance.</a:t>
            </a:r>
          </a:p>
          <a:p>
            <a:r>
              <a:t>Atelier 4 bis : slides 33 à 42, fichiers SQL 01 à 09 du dossier Atelier_4bis. Les mesures de performance viennent des ateliers 3 et 4. La migration ajoute newsletter_ok sur une copie de clients. Documentation : https://www.postgresql.org/docs/18/sql-altertable.html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424C265-1C9C-49F1-8C2F-6E16B3098CB8}"/>
              </a:ext>
            </a:extLst>
          </p:cNvPr>
          <p:cNvSpPr>
            <a:spLocks noGrp="1"/>
          </p:cNvSpPr>
          <p:nvPr/>
        </p:nvSpPr>
        <p:spPr>
          <a:xfrm>
            <a:off x="666750" y="571500"/>
            <a:ext cx="10477500" cy="381000"/>
          </a:xfrm>
          <a:prstGeom prst="rect">
            <a:avLst/>
          </a:prstGeom>
          <a:noFill/>
          <a:ln w="0">
            <a:noFill/>
          </a:ln>
        </p:spPr>
        <p:txBody>
          <a:bodyPr>
            <a:noAutofit/>
          </a:bodyPr>
          <a:lstStyle/>
          <a:p>
            <a:pPr>
              <a:defRPr sz="1875" b="1">
                <a:solidFill>
                  <a:srgbClr val="69E0E3"/>
                </a:solidFill>
                <a:latin typeface="Aptos"/>
                <a:ea typeface="Aptos"/>
                <a:cs typeface="Aptos"/>
              </a:defRPr>
            </a:pPr>
            <a:r>
              <a:rPr sz="1875" b="1">
                <a:solidFill>
                  <a:srgbClr val="69E0E3"/>
                </a:solidFill>
                <a:latin typeface="Aptos"/>
                <a:ea typeface="Aptos"/>
                <a:cs typeface="Aptos"/>
              </a:rPr>
              <a:t>OPTIMISATION BDD</a:t>
            </a:r>
          </a:p>
        </p:txBody>
      </p:sp>
      <p:sp>
        <p:nvSpPr>
          <p:cNvPr id="3" name="Rectangle 2">
            <a:extLst>
              <a:ext uri="{FF2B5EF4-FFF2-40B4-BE49-F238E27FC236}">
                <a16:creationId xmlns:a16="http://schemas.microsoft.com/office/drawing/2014/main" id="{A3D90A69-D45D-4507-A279-44E4FC6029CB}"/>
              </a:ext>
            </a:extLst>
          </p:cNvPr>
          <p:cNvSpPr>
            <a:spLocks noGrp="1"/>
          </p:cNvSpPr>
          <p:nvPr/>
        </p:nvSpPr>
        <p:spPr>
          <a:xfrm>
            <a:off x="666750" y="2266950"/>
            <a:ext cx="9144000" cy="2238375"/>
          </a:xfrm>
          <a:prstGeom prst="rect">
            <a:avLst/>
          </a:prstGeom>
          <a:noFill/>
          <a:ln w="0">
            <a:noFill/>
          </a:ln>
        </p:spPr>
        <p:txBody>
          <a:bodyPr>
            <a:noAutofit/>
          </a:bodyPr>
          <a:lstStyle/>
          <a:p>
            <a:pPr>
              <a:defRPr sz="4875" b="1">
                <a:solidFill>
                  <a:srgbClr val="FFFFFF"/>
                </a:solidFill>
                <a:latin typeface="Aptos"/>
                <a:ea typeface="Aptos"/>
                <a:cs typeface="Aptos"/>
              </a:defRPr>
            </a:pPr>
            <a:r>
              <a:rPr sz="4875" b="1">
                <a:solidFill>
                  <a:srgbClr val="FFFFFF"/>
                </a:solidFill>
                <a:latin typeface="Aptos"/>
                <a:ea typeface="Aptos"/>
                <a:cs typeface="Aptos"/>
              </a:rPr>
              <a:t>Indexer et faire évoluer le schéma</a:t>
            </a:r>
          </a:p>
        </p:txBody>
      </p:sp>
      <p:sp>
        <p:nvSpPr>
          <p:cNvPr id="4" name="Rectangle 3">
            <a:extLst>
              <a:ext uri="{FF2B5EF4-FFF2-40B4-BE49-F238E27FC236}">
                <a16:creationId xmlns:a16="http://schemas.microsoft.com/office/drawing/2014/main" id="{E5C29EF8-3D15-4D38-8DEF-BEF0F6D1274D}"/>
              </a:ext>
            </a:extLst>
          </p:cNvPr>
          <p:cNvSpPr>
            <a:spLocks noGrp="1"/>
          </p:cNvSpPr>
          <p:nvPr/>
        </p:nvSpPr>
        <p:spPr>
          <a:xfrm>
            <a:off x="666750" y="5286375"/>
            <a:ext cx="10191750" cy="933450"/>
          </a:xfrm>
          <a:prstGeom prst="rect">
            <a:avLst/>
          </a:prstGeom>
          <a:noFill/>
          <a:ln w="0">
            <a:noFill/>
          </a:ln>
        </p:spPr>
        <p:txBody>
          <a:bodyPr>
            <a:noAutofit/>
          </a:bodyPr>
          <a:lstStyle/>
          <a:p>
            <a:pPr>
              <a:defRPr sz="2325" b="0">
                <a:solidFill>
                  <a:srgbClr val="FFFFFF"/>
                </a:solidFill>
                <a:latin typeface="Aptos"/>
                <a:ea typeface="Aptos"/>
                <a:cs typeface="Aptos"/>
              </a:defRPr>
            </a:pPr>
            <a:r>
              <a:rPr sz="2325" b="0">
                <a:solidFill>
                  <a:srgbClr val="FFFFFF"/>
                </a:solidFill>
                <a:latin typeface="Aptos"/>
                <a:ea typeface="Aptos"/>
                <a:cs typeface="Aptos"/>
              </a:rPr>
              <a:t>Jour 2</a:t>
            </a:r>
          </a:p>
          <a:p>
            <a:pPr>
              <a:defRPr sz="2325" b="0">
                <a:solidFill>
                  <a:srgbClr val="FFFFFF"/>
                </a:solidFill>
                <a:latin typeface="Aptos"/>
                <a:ea typeface="Aptos"/>
                <a:cs typeface="Aptos"/>
              </a:defRPr>
            </a:pPr>
            <a:r>
              <a:rPr sz="2325" b="0">
                <a:solidFill>
                  <a:srgbClr val="FFFFFF"/>
                </a:solidFill>
                <a:latin typeface="Aptos"/>
                <a:ea typeface="Aptos"/>
                <a:cs typeface="Aptos"/>
              </a:rPr>
              <a:t>B-tree, index spécialisés et coût des écritures</a:t>
            </a:r>
          </a:p>
        </p:txBody>
      </p:sp>
      <p:sp>
        <p:nvSpPr>
          <p:cNvPr id="5" name="Rectangle 4">
            <a:extLst>
              <a:ext uri="{FF2B5EF4-FFF2-40B4-BE49-F238E27FC236}">
                <a16:creationId xmlns:a16="http://schemas.microsoft.com/office/drawing/2014/main" id="{13ADC54B-E7F1-46BA-934E-0F6A7E22DCBD}"/>
              </a:ext>
            </a:extLst>
          </p:cNvPr>
          <p:cNvSpPr>
            <a:spLocks noGrp="1"/>
          </p:cNvSpPr>
          <p:nvPr/>
        </p:nvSpPr>
        <p:spPr>
          <a:xfrm>
            <a:off x="666750" y="7048500"/>
            <a:ext cx="13335000" cy="476250"/>
          </a:xfrm>
          <a:prstGeom prst="rect">
            <a:avLst/>
          </a:prstGeom>
          <a:noFill/>
          <a:ln w="0">
            <a:noFill/>
          </a:ln>
        </p:spPr>
        <p:txBody>
          <a:bodyPr>
            <a:noAutofit/>
          </a:bodyPr>
          <a:lstStyle/>
          <a:p>
            <a:pPr>
              <a:defRPr sz="1800" b="0">
                <a:solidFill>
                  <a:srgbClr val="BFD8E0"/>
                </a:solidFill>
                <a:latin typeface="Aptos"/>
                <a:ea typeface="Aptos"/>
                <a:cs typeface="Aptos"/>
              </a:defRPr>
            </a:pPr>
            <a:r>
              <a:rPr lang="fr-FR" dirty="0">
                <a:solidFill>
                  <a:srgbClr val="BFD8E0"/>
                </a:solidFill>
                <a:latin typeface="Aptos"/>
                <a:ea typeface="Aptos"/>
                <a:cs typeface="Aptos"/>
              </a:rPr>
              <a:t>Bruno DERNIER</a:t>
            </a:r>
          </a:p>
          <a:p>
            <a:pPr>
              <a:defRPr sz="1800" b="0">
                <a:solidFill>
                  <a:srgbClr val="BFD8E0"/>
                </a:solidFill>
                <a:latin typeface="Aptos"/>
                <a:ea typeface="Aptos"/>
                <a:cs typeface="Aptos"/>
              </a:defRPr>
            </a:pPr>
            <a:r>
              <a:rPr lang="fr-FR" dirty="0">
                <a:solidFill>
                  <a:srgbClr val="BFD8E0"/>
                </a:solidFill>
                <a:latin typeface="Aptos"/>
                <a:ea typeface="Aptos"/>
                <a:cs typeface="Aptos"/>
              </a:rPr>
              <a:t>Mise à Jour : 01/10/2026</a:t>
            </a:r>
          </a:p>
        </p:txBody>
      </p:sp>
      <p:sp>
        <p:nvSpPr>
          <p:cNvPr id="6" name="Rectangle 5">
            <a:extLst>
              <a:ext uri="{FF2B5EF4-FFF2-40B4-BE49-F238E27FC236}">
                <a16:creationId xmlns:a16="http://schemas.microsoft.com/office/drawing/2014/main" id="{D6B148E1-8E7C-4E4D-B87C-4A9444ECC44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59D301E5-5341-4E2E-AE97-6FF45187658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01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476214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57BDC87-2751-47C3-AB13-F5788B211C5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095C8E62-79F3-4D6D-AB7C-5ED950E2B1D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Objectifs et preuve du jour</a:t>
            </a:r>
          </a:p>
        </p:txBody>
      </p:sp>
      <p:sp>
        <p:nvSpPr>
          <p:cNvPr id="4" name="Rectangle 3">
            <a:extLst>
              <a:ext uri="{FF2B5EF4-FFF2-40B4-BE49-F238E27FC236}">
                <a16:creationId xmlns:a16="http://schemas.microsoft.com/office/drawing/2014/main" id="{566395BC-5D2F-4ED0-BE10-6C1C77B9C9BF}"/>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dirty="0">
                <a:solidFill>
                  <a:srgbClr val="F6F3ED"/>
                </a:solidFill>
                <a:latin typeface="Aptos"/>
                <a:ea typeface="Aptos"/>
                <a:cs typeface="Aptos"/>
              </a:rPr>
              <a:t>La </a:t>
            </a:r>
            <a:r>
              <a:rPr sz="2550" b="0" dirty="0" err="1">
                <a:solidFill>
                  <a:srgbClr val="F6F3ED"/>
                </a:solidFill>
                <a:latin typeface="Aptos"/>
                <a:ea typeface="Aptos"/>
                <a:cs typeface="Aptos"/>
              </a:rPr>
              <a:t>journée</a:t>
            </a:r>
            <a:r>
              <a:rPr sz="2550" b="0" dirty="0">
                <a:solidFill>
                  <a:srgbClr val="F6F3ED"/>
                </a:solidFill>
                <a:latin typeface="Aptos"/>
                <a:ea typeface="Aptos"/>
                <a:cs typeface="Aptos"/>
              </a:rPr>
              <a:t> </a:t>
            </a:r>
            <a:r>
              <a:rPr sz="2550" b="0" dirty="0" err="1">
                <a:solidFill>
                  <a:srgbClr val="F6F3ED"/>
                </a:solidFill>
                <a:latin typeface="Aptos"/>
                <a:ea typeface="Aptos"/>
                <a:cs typeface="Aptos"/>
              </a:rPr>
              <a:t>transforme</a:t>
            </a:r>
            <a:r>
              <a:rPr sz="2550" b="0" dirty="0">
                <a:solidFill>
                  <a:srgbClr val="F6F3ED"/>
                </a:solidFill>
                <a:latin typeface="Aptos"/>
                <a:ea typeface="Aptos"/>
                <a:cs typeface="Aptos"/>
              </a:rPr>
              <a:t> un diagnostic </a:t>
            </a:r>
            <a:r>
              <a:rPr sz="2550" b="0" dirty="0" err="1">
                <a:solidFill>
                  <a:srgbClr val="F6F3ED"/>
                </a:solidFill>
                <a:latin typeface="Aptos"/>
                <a:ea typeface="Aptos"/>
                <a:cs typeface="Aptos"/>
              </a:rPr>
              <a:t>en</a:t>
            </a:r>
            <a:r>
              <a:rPr sz="2550" b="0" dirty="0">
                <a:solidFill>
                  <a:srgbClr val="F6F3ED"/>
                </a:solidFill>
                <a:latin typeface="Aptos"/>
                <a:ea typeface="Aptos"/>
                <a:cs typeface="Aptos"/>
              </a:rPr>
              <a:t> intervention. </a:t>
            </a:r>
            <a:r>
              <a:rPr lang="fr-FR" sz="2550" dirty="0">
                <a:solidFill>
                  <a:srgbClr val="F6F3ED"/>
                </a:solidFill>
                <a:latin typeface="Aptos"/>
                <a:ea typeface="Aptos"/>
                <a:cs typeface="Aptos"/>
              </a:rPr>
              <a:t>On </a:t>
            </a:r>
            <a:r>
              <a:rPr sz="2550" b="0" dirty="0" err="1">
                <a:solidFill>
                  <a:srgbClr val="F6F3ED"/>
                </a:solidFill>
                <a:latin typeface="Aptos"/>
                <a:ea typeface="Aptos"/>
                <a:cs typeface="Aptos"/>
              </a:rPr>
              <a:t>choisit</a:t>
            </a:r>
            <a:r>
              <a:rPr sz="2550" b="0" dirty="0">
                <a:solidFill>
                  <a:srgbClr val="F6F3ED"/>
                </a:solidFill>
                <a:latin typeface="Aptos"/>
                <a:ea typeface="Aptos"/>
                <a:cs typeface="Aptos"/>
              </a:rPr>
              <a:t> un index à </a:t>
            </a:r>
            <a:r>
              <a:rPr sz="2550" b="0" dirty="0" err="1">
                <a:solidFill>
                  <a:srgbClr val="F6F3ED"/>
                </a:solidFill>
                <a:latin typeface="Aptos"/>
                <a:ea typeface="Aptos"/>
                <a:cs typeface="Aptos"/>
              </a:rPr>
              <a:t>partir</a:t>
            </a:r>
            <a:r>
              <a:rPr sz="2550" b="0" dirty="0">
                <a:solidFill>
                  <a:srgbClr val="F6F3ED"/>
                </a:solidFill>
                <a:latin typeface="Aptos"/>
                <a:ea typeface="Aptos"/>
                <a:cs typeface="Aptos"/>
              </a:rPr>
              <a:t> </a:t>
            </a:r>
            <a:r>
              <a:rPr sz="2550" b="0" dirty="0" err="1">
                <a:solidFill>
                  <a:srgbClr val="F6F3ED"/>
                </a:solidFill>
                <a:latin typeface="Aptos"/>
                <a:ea typeface="Aptos"/>
                <a:cs typeface="Aptos"/>
              </a:rPr>
              <a:t>d’une</a:t>
            </a:r>
            <a:r>
              <a:rPr sz="2550" b="0" dirty="0">
                <a:solidFill>
                  <a:srgbClr val="F6F3ED"/>
                </a:solidFill>
                <a:latin typeface="Aptos"/>
                <a:ea typeface="Aptos"/>
                <a:cs typeface="Aptos"/>
              </a:rPr>
              <a:t> </a:t>
            </a:r>
            <a:r>
              <a:rPr sz="2550" b="0" dirty="0" err="1">
                <a:solidFill>
                  <a:srgbClr val="F6F3ED"/>
                </a:solidFill>
                <a:latin typeface="Aptos"/>
                <a:ea typeface="Aptos"/>
                <a:cs typeface="Aptos"/>
              </a:rPr>
              <a:t>requête</a:t>
            </a:r>
            <a:r>
              <a:rPr sz="2550" b="0" dirty="0">
                <a:solidFill>
                  <a:srgbClr val="F6F3ED"/>
                </a:solidFill>
                <a:latin typeface="Aptos"/>
                <a:ea typeface="Aptos"/>
                <a:cs typeface="Aptos"/>
              </a:rPr>
              <a:t>, </a:t>
            </a:r>
            <a:r>
              <a:rPr lang="fr-FR" sz="2550" b="0" dirty="0">
                <a:solidFill>
                  <a:srgbClr val="F6F3ED"/>
                </a:solidFill>
                <a:latin typeface="Aptos"/>
                <a:ea typeface="Aptos"/>
                <a:cs typeface="Aptos"/>
              </a:rPr>
              <a:t>on </a:t>
            </a:r>
            <a:r>
              <a:rPr sz="2550" b="0" dirty="0" err="1">
                <a:solidFill>
                  <a:srgbClr val="F6F3ED"/>
                </a:solidFill>
                <a:latin typeface="Aptos"/>
                <a:ea typeface="Aptos"/>
                <a:cs typeface="Aptos"/>
              </a:rPr>
              <a:t>explique</a:t>
            </a:r>
            <a:r>
              <a:rPr sz="2550" b="0" dirty="0">
                <a:solidFill>
                  <a:srgbClr val="F6F3ED"/>
                </a:solidFill>
                <a:latin typeface="Aptos"/>
                <a:ea typeface="Aptos"/>
                <a:cs typeface="Aptos"/>
              </a:rPr>
              <a:t> son </a:t>
            </a:r>
            <a:r>
              <a:rPr sz="2550" b="0" dirty="0" err="1">
                <a:solidFill>
                  <a:srgbClr val="F6F3ED"/>
                </a:solidFill>
                <a:latin typeface="Aptos"/>
                <a:ea typeface="Aptos"/>
                <a:cs typeface="Aptos"/>
              </a:rPr>
              <a:t>mécanisme</a:t>
            </a:r>
            <a:r>
              <a:rPr sz="2550" b="0" dirty="0">
                <a:solidFill>
                  <a:srgbClr val="F6F3ED"/>
                </a:solidFill>
                <a:latin typeface="Aptos"/>
                <a:ea typeface="Aptos"/>
                <a:cs typeface="Aptos"/>
              </a:rPr>
              <a:t>, </a:t>
            </a:r>
            <a:r>
              <a:rPr sz="2550" b="0" dirty="0" err="1">
                <a:solidFill>
                  <a:srgbClr val="F6F3ED"/>
                </a:solidFill>
                <a:latin typeface="Aptos"/>
                <a:ea typeface="Aptos"/>
                <a:cs typeface="Aptos"/>
              </a:rPr>
              <a:t>puis</a:t>
            </a:r>
            <a:r>
              <a:rPr sz="2550" b="0" dirty="0">
                <a:solidFill>
                  <a:srgbClr val="F6F3ED"/>
                </a:solidFill>
                <a:latin typeface="Aptos"/>
                <a:ea typeface="Aptos"/>
                <a:cs typeface="Aptos"/>
              </a:rPr>
              <a:t> </a:t>
            </a:r>
            <a:r>
              <a:rPr lang="fr-FR" sz="2550" b="0" dirty="0">
                <a:solidFill>
                  <a:srgbClr val="F6F3ED"/>
                </a:solidFill>
                <a:latin typeface="Aptos"/>
                <a:ea typeface="Aptos"/>
                <a:cs typeface="Aptos"/>
              </a:rPr>
              <a:t>on </a:t>
            </a:r>
            <a:r>
              <a:rPr sz="2550" b="0" dirty="0" err="1">
                <a:solidFill>
                  <a:srgbClr val="F6F3ED"/>
                </a:solidFill>
                <a:latin typeface="Aptos"/>
                <a:ea typeface="Aptos"/>
                <a:cs typeface="Aptos"/>
              </a:rPr>
              <a:t>vérifie</a:t>
            </a:r>
            <a:r>
              <a:rPr sz="2550" b="0" dirty="0">
                <a:solidFill>
                  <a:srgbClr val="F6F3ED"/>
                </a:solidFill>
                <a:latin typeface="Aptos"/>
                <a:ea typeface="Aptos"/>
                <a:cs typeface="Aptos"/>
              </a:rPr>
              <a:t> son </a:t>
            </a:r>
            <a:r>
              <a:rPr sz="2550" b="0" dirty="0" err="1">
                <a:solidFill>
                  <a:srgbClr val="F6F3ED"/>
                </a:solidFill>
                <a:latin typeface="Aptos"/>
                <a:ea typeface="Aptos"/>
                <a:cs typeface="Aptos"/>
              </a:rPr>
              <a:t>bénéfice</a:t>
            </a:r>
            <a:r>
              <a:rPr sz="2550" b="0" dirty="0">
                <a:solidFill>
                  <a:srgbClr val="F6F3ED"/>
                </a:solidFill>
                <a:latin typeface="Aptos"/>
                <a:ea typeface="Aptos"/>
                <a:cs typeface="Aptos"/>
              </a:rPr>
              <a:t> et </a:t>
            </a:r>
            <a:r>
              <a:rPr sz="2550" b="0" dirty="0" err="1">
                <a:solidFill>
                  <a:srgbClr val="F6F3ED"/>
                </a:solidFill>
                <a:latin typeface="Aptos"/>
                <a:ea typeface="Aptos"/>
                <a:cs typeface="Aptos"/>
              </a:rPr>
              <a:t>ses</a:t>
            </a:r>
            <a:r>
              <a:rPr sz="2550" b="0" dirty="0">
                <a:solidFill>
                  <a:srgbClr val="F6F3ED"/>
                </a:solidFill>
                <a:latin typeface="Aptos"/>
                <a:ea typeface="Aptos"/>
                <a:cs typeface="Aptos"/>
              </a:rPr>
              <a:t> </a:t>
            </a:r>
            <a:r>
              <a:rPr sz="2550" b="0" dirty="0" err="1">
                <a:solidFill>
                  <a:srgbClr val="F6F3ED"/>
                </a:solidFill>
                <a:latin typeface="Aptos"/>
                <a:ea typeface="Aptos"/>
                <a:cs typeface="Aptos"/>
              </a:rPr>
              <a:t>coûts</a:t>
            </a:r>
            <a:r>
              <a:rPr sz="2550" b="0" dirty="0">
                <a:solidFill>
                  <a:srgbClr val="F6F3ED"/>
                </a:solidFill>
                <a:latin typeface="Aptos"/>
                <a:ea typeface="Aptos"/>
                <a:cs typeface="Aptos"/>
              </a:rPr>
              <a:t>. Le </a:t>
            </a:r>
            <a:r>
              <a:rPr sz="2550" b="0" dirty="0" err="1">
                <a:solidFill>
                  <a:srgbClr val="F6F3ED"/>
                </a:solidFill>
                <a:latin typeface="Aptos"/>
                <a:ea typeface="Aptos"/>
                <a:cs typeface="Aptos"/>
              </a:rPr>
              <a:t>schéma</a:t>
            </a:r>
            <a:r>
              <a:rPr sz="2550" b="0" dirty="0">
                <a:solidFill>
                  <a:srgbClr val="F6F3ED"/>
                </a:solidFill>
                <a:latin typeface="Aptos"/>
                <a:ea typeface="Aptos"/>
                <a:cs typeface="Aptos"/>
              </a:rPr>
              <a:t> conserve </a:t>
            </a:r>
            <a:r>
              <a:rPr sz="2550" b="0" dirty="0" err="1">
                <a:solidFill>
                  <a:srgbClr val="F6F3ED"/>
                </a:solidFill>
                <a:latin typeface="Aptos"/>
                <a:ea typeface="Aptos"/>
                <a:cs typeface="Aptos"/>
              </a:rPr>
              <a:t>ses</a:t>
            </a:r>
            <a:r>
              <a:rPr sz="2550" b="0" dirty="0">
                <a:solidFill>
                  <a:srgbClr val="F6F3ED"/>
                </a:solidFill>
                <a:latin typeface="Aptos"/>
                <a:ea typeface="Aptos"/>
                <a:cs typeface="Aptos"/>
              </a:rPr>
              <a:t> invariants.</a:t>
            </a:r>
          </a:p>
        </p:txBody>
      </p:sp>
      <p:sp>
        <p:nvSpPr>
          <p:cNvPr id="5" name="Rectangle 4">
            <a:extLst>
              <a:ext uri="{FF2B5EF4-FFF2-40B4-BE49-F238E27FC236}">
                <a16:creationId xmlns:a16="http://schemas.microsoft.com/office/drawing/2014/main" id="{450170D7-5447-4580-A766-788056903073}"/>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dirty="0">
                <a:solidFill>
                  <a:srgbClr val="F6F3ED"/>
                </a:solidFill>
                <a:latin typeface="Aptos"/>
                <a:ea typeface="Aptos"/>
                <a:cs typeface="Aptos"/>
              </a:rPr>
              <a:t>La </a:t>
            </a:r>
            <a:r>
              <a:rPr sz="2325" b="0" dirty="0" err="1">
                <a:solidFill>
                  <a:srgbClr val="F6F3ED"/>
                </a:solidFill>
                <a:latin typeface="Aptos"/>
                <a:ea typeface="Aptos"/>
                <a:cs typeface="Aptos"/>
              </a:rPr>
              <a:t>preuve</a:t>
            </a:r>
            <a:r>
              <a:rPr lang="fr-FR" sz="2325" dirty="0">
                <a:solidFill>
                  <a:srgbClr val="F6F3ED"/>
                </a:solidFill>
                <a:latin typeface="Aptos"/>
                <a:ea typeface="Aptos"/>
                <a:cs typeface="Aptos"/>
              </a:rPr>
              <a:t> </a:t>
            </a:r>
            <a:r>
              <a:rPr sz="2325" b="0" dirty="0" err="1">
                <a:solidFill>
                  <a:srgbClr val="F6F3ED"/>
                </a:solidFill>
                <a:latin typeface="Aptos"/>
                <a:ea typeface="Aptos"/>
                <a:cs typeface="Aptos"/>
              </a:rPr>
              <a:t>comprend</a:t>
            </a:r>
            <a:r>
              <a:rPr sz="2325" b="0" dirty="0">
                <a:solidFill>
                  <a:srgbClr val="F6F3ED"/>
                </a:solidFill>
                <a:latin typeface="Aptos"/>
                <a:ea typeface="Aptos"/>
                <a:cs typeface="Aptos"/>
              </a:rPr>
              <a:t>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migration, un plan avant/après et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a:t>
            </a:r>
            <a:r>
              <a:rPr sz="2325" b="0" dirty="0" err="1">
                <a:solidFill>
                  <a:srgbClr val="F6F3ED"/>
                </a:solidFill>
                <a:latin typeface="Aptos"/>
                <a:ea typeface="Aptos"/>
                <a:cs typeface="Aptos"/>
              </a:rPr>
              <a:t>comparaison</a:t>
            </a:r>
            <a:r>
              <a:rPr sz="2325" b="0" dirty="0">
                <a:solidFill>
                  <a:srgbClr val="F6F3ED"/>
                </a:solidFill>
                <a:latin typeface="Aptos"/>
                <a:ea typeface="Aptos"/>
                <a:cs typeface="Aptos"/>
              </a:rPr>
              <a:t> des lectures et des </a:t>
            </a:r>
            <a:r>
              <a:rPr sz="2325" b="0" dirty="0" err="1">
                <a:solidFill>
                  <a:srgbClr val="F6F3ED"/>
                </a:solidFill>
                <a:latin typeface="Aptos"/>
                <a:ea typeface="Aptos"/>
                <a:cs typeface="Aptos"/>
              </a:rPr>
              <a:t>écritures</a:t>
            </a:r>
            <a:r>
              <a:rPr sz="2325" b="0" dirty="0">
                <a:solidFill>
                  <a:srgbClr val="F6F3ED"/>
                </a:solidFill>
                <a:latin typeface="Aptos"/>
                <a:ea typeface="Aptos"/>
                <a:cs typeface="Aptos"/>
              </a:rPr>
              <a:t>. Un index </a:t>
            </a:r>
            <a:r>
              <a:rPr sz="2325" b="0" dirty="0" err="1">
                <a:solidFill>
                  <a:srgbClr val="F6F3ED"/>
                </a:solidFill>
                <a:latin typeface="Aptos"/>
                <a:ea typeface="Aptos"/>
                <a:cs typeface="Aptos"/>
              </a:rPr>
              <a:t>inutilisé</a:t>
            </a:r>
            <a:r>
              <a:rPr sz="2325" b="0" dirty="0">
                <a:solidFill>
                  <a:srgbClr val="F6F3ED"/>
                </a:solidFill>
                <a:latin typeface="Aptos"/>
                <a:ea typeface="Aptos"/>
                <a:cs typeface="Aptos"/>
              </a:rPr>
              <a:t> </a:t>
            </a:r>
            <a:r>
              <a:rPr sz="2325" b="0" dirty="0" err="1">
                <a:solidFill>
                  <a:srgbClr val="F6F3ED"/>
                </a:solidFill>
                <a:latin typeface="Aptos"/>
                <a:ea typeface="Aptos"/>
                <a:cs typeface="Aptos"/>
              </a:rPr>
              <a:t>ou</a:t>
            </a:r>
            <a:r>
              <a:rPr sz="2325" b="0" dirty="0">
                <a:solidFill>
                  <a:srgbClr val="F6F3ED"/>
                </a:solidFill>
                <a:latin typeface="Aptos"/>
                <a:ea typeface="Aptos"/>
                <a:cs typeface="Aptos"/>
              </a:rPr>
              <a:t> un gain non reproductible </a:t>
            </a:r>
            <a:r>
              <a:rPr sz="2325" b="0" dirty="0" err="1">
                <a:solidFill>
                  <a:srgbClr val="F6F3ED"/>
                </a:solidFill>
                <a:latin typeface="Aptos"/>
                <a:ea typeface="Aptos"/>
                <a:cs typeface="Aptos"/>
              </a:rPr>
              <a:t>n’est</a:t>
            </a:r>
            <a:r>
              <a:rPr sz="2325" b="0" dirty="0">
                <a:solidFill>
                  <a:srgbClr val="F6F3ED"/>
                </a:solidFill>
                <a:latin typeface="Aptos"/>
                <a:ea typeface="Aptos"/>
                <a:cs typeface="Aptos"/>
              </a:rPr>
              <a:t> pas </a:t>
            </a:r>
            <a:r>
              <a:rPr sz="2325" b="0" dirty="0" err="1">
                <a:solidFill>
                  <a:srgbClr val="F6F3ED"/>
                </a:solidFill>
                <a:latin typeface="Aptos"/>
                <a:ea typeface="Aptos"/>
                <a:cs typeface="Aptos"/>
              </a:rPr>
              <a:t>présenté</a:t>
            </a:r>
            <a:r>
              <a:rPr sz="2325" b="0" dirty="0">
                <a:solidFill>
                  <a:srgbClr val="F6F3ED"/>
                </a:solidFill>
                <a:latin typeface="Aptos"/>
                <a:ea typeface="Aptos"/>
                <a:cs typeface="Aptos"/>
              </a:rPr>
              <a:t> </a:t>
            </a:r>
            <a:r>
              <a:rPr sz="2325" b="0" dirty="0" err="1">
                <a:solidFill>
                  <a:srgbClr val="F6F3ED"/>
                </a:solidFill>
                <a:latin typeface="Aptos"/>
                <a:ea typeface="Aptos"/>
                <a:cs typeface="Aptos"/>
              </a:rPr>
              <a:t>comme</a:t>
            </a:r>
            <a:r>
              <a:rPr sz="2325" b="0" dirty="0">
                <a:solidFill>
                  <a:srgbClr val="F6F3ED"/>
                </a:solidFill>
                <a:latin typeface="Aptos"/>
                <a:ea typeface="Aptos"/>
                <a:cs typeface="Aptos"/>
              </a:rPr>
              <a:t> </a:t>
            </a:r>
            <a:r>
              <a:rPr sz="2325" b="0" dirty="0" err="1">
                <a:solidFill>
                  <a:srgbClr val="F6F3ED"/>
                </a:solidFill>
                <a:latin typeface="Aptos"/>
                <a:ea typeface="Aptos"/>
                <a:cs typeface="Aptos"/>
              </a:rPr>
              <a:t>une</a:t>
            </a:r>
            <a:r>
              <a:rPr sz="2325" b="0" dirty="0">
                <a:solidFill>
                  <a:srgbClr val="F6F3ED"/>
                </a:solidFill>
                <a:latin typeface="Aptos"/>
                <a:ea typeface="Aptos"/>
                <a:cs typeface="Aptos"/>
              </a:rPr>
              <a:t> </a:t>
            </a:r>
            <a:r>
              <a:rPr sz="2325" b="0" dirty="0" err="1">
                <a:solidFill>
                  <a:srgbClr val="F6F3ED"/>
                </a:solidFill>
                <a:latin typeface="Aptos"/>
                <a:ea typeface="Aptos"/>
                <a:cs typeface="Aptos"/>
              </a:rPr>
              <a:t>réussite</a:t>
            </a:r>
            <a:r>
              <a:rPr sz="2325" b="0" dirty="0">
                <a:solidFill>
                  <a:srgbClr val="F6F3ED"/>
                </a:solidFill>
                <a:latin typeface="Aptos"/>
                <a:ea typeface="Aptos"/>
                <a:cs typeface="Aptos"/>
              </a:rPr>
              <a:t>.</a:t>
            </a:r>
          </a:p>
        </p:txBody>
      </p:sp>
      <p:sp>
        <p:nvSpPr>
          <p:cNvPr id="6" name="Rectangle 5">
            <a:extLst>
              <a:ext uri="{FF2B5EF4-FFF2-40B4-BE49-F238E27FC236}">
                <a16:creationId xmlns:a16="http://schemas.microsoft.com/office/drawing/2014/main" id="{2B3D151E-562B-4713-AA62-29E8E8685F66}"/>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445C5D14-A809-4350-9461-973956D65BD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Priorité : l’historique du client et les filtres du catalogue.</a:t>
            </a:r>
          </a:p>
        </p:txBody>
      </p:sp>
      <p:sp>
        <p:nvSpPr>
          <p:cNvPr id="8" name="Rectangle 7">
            <a:extLst>
              <a:ext uri="{FF2B5EF4-FFF2-40B4-BE49-F238E27FC236}">
                <a16:creationId xmlns:a16="http://schemas.microsoft.com/office/drawing/2014/main" id="{0A4F80E4-A409-4D60-8B9D-4B538A40D9E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99896EC9-50AA-4147-AD25-D83AEE68709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02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536728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A658D28-C7CB-4D87-9B2C-84F5B6DC446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46811275-04F6-4138-AF80-B52BFA0C100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Organisation de la journée</a:t>
            </a:r>
          </a:p>
        </p:txBody>
      </p:sp>
      <p:sp>
        <p:nvSpPr>
          <p:cNvPr id="4" name="Rectangle 3">
            <a:extLst>
              <a:ext uri="{FF2B5EF4-FFF2-40B4-BE49-F238E27FC236}">
                <a16:creationId xmlns:a16="http://schemas.microsoft.com/office/drawing/2014/main" id="{30A8D628-971E-43FF-8D20-275CD633A5BE}"/>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matinée explique les chemins d’accès et l’ordre des colonnes. L’après-midi met en œuvre les index partiels, GIN et GiST, puis prépare leur déploiement.</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Les supports distinguent les essais de laboratoire des décisions de production. Les variantes sont comparées séparément pour identifier ce qui produit le gain.</a:t>
            </a:r>
          </a:p>
        </p:txBody>
      </p:sp>
      <p:graphicFrame>
        <p:nvGraphicFramePr>
          <p:cNvPr id="12" name="Tableau 11"/>
          <p:cNvGraphicFramePr/>
          <p:nvPr/>
        </p:nvGraphicFramePr>
        <p:xfrm>
          <a:off x="7334250" y="2381250"/>
          <a:ext cx="7239000" cy="39052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650875">
                <a:tc>
                  <a:txBody>
                    <a:bodyPr/>
                    <a:lstStyle/>
                    <a:p>
                      <a:r>
                        <a:rPr sz="1800" b="1">
                          <a:solidFill>
                            <a:srgbClr val="FFFFFF"/>
                          </a:solidFill>
                          <a:latin typeface="Aptos"/>
                          <a:ea typeface="Aptos"/>
                          <a:cs typeface="Aptos"/>
                        </a:rPr>
                        <a:t>Séquence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Durée</a:t>
                      </a:r>
                    </a:p>
                  </a:txBody>
                  <a:tcPr marL="142875" marR="142875" marT="114300" marB="114300" anchor="ctr">
                    <a:solidFill>
                      <a:srgbClr val="173C4C"/>
                    </a:solidFill>
                  </a:tcPr>
                </a:tc>
                <a:extLst>
                  <a:ext uri="{0D108BD9-81ED-4DB2-BD59-A6C34878D82A}">
                    <a16:rowId xmlns:a16="http://schemas.microsoft.com/office/drawing/2014/main" val="10000"/>
                  </a:ext>
                </a:extLst>
              </a:tr>
              <a:tr h="650875">
                <a:tc>
                  <a:txBody>
                    <a:bodyPr/>
                    <a:lstStyle/>
                    <a:p>
                      <a:r>
                        <a:rPr sz="1800">
                          <a:solidFill>
                            <a:srgbClr val="173044"/>
                          </a:solidFill>
                          <a:latin typeface="Aptos"/>
                          <a:ea typeface="Aptos"/>
                          <a:cs typeface="Aptos"/>
                        </a:rPr>
                        <a:t>B-tree et sélectivité</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15</a:t>
                      </a:r>
                    </a:p>
                  </a:txBody>
                  <a:tcPr marL="142875" marR="142875" marT="114300" marB="114300" anchor="ctr">
                    <a:solidFill>
                      <a:srgbClr val="F2DEC6"/>
                    </a:solidFill>
                  </a:tcPr>
                </a:tc>
                <a:extLst>
                  <a:ext uri="{0D108BD9-81ED-4DB2-BD59-A6C34878D82A}">
                    <a16:rowId xmlns:a16="http://schemas.microsoft.com/office/drawing/2014/main" val="10001"/>
                  </a:ext>
                </a:extLst>
              </a:tr>
              <a:tr h="650875">
                <a:tc>
                  <a:txBody>
                    <a:bodyPr/>
                    <a:lstStyle/>
                    <a:p>
                      <a:r>
                        <a:rPr sz="1800">
                          <a:solidFill>
                            <a:srgbClr val="173044"/>
                          </a:solidFill>
                          <a:latin typeface="Aptos"/>
                          <a:ea typeface="Aptos"/>
                          <a:cs typeface="Aptos"/>
                        </a:rPr>
                        <a:t>Index composés et couverture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15</a:t>
                      </a:r>
                    </a:p>
                  </a:txBody>
                  <a:tcPr marL="142875" marR="142875" marT="114300" marB="114300" anchor="ctr">
                    <a:solidFill>
                      <a:srgbClr val="F2DEC6"/>
                    </a:solidFill>
                  </a:tcPr>
                </a:tc>
                <a:extLst>
                  <a:ext uri="{0D108BD9-81ED-4DB2-BD59-A6C34878D82A}">
                    <a16:rowId xmlns:a16="http://schemas.microsoft.com/office/drawing/2014/main" val="10002"/>
                  </a:ext>
                </a:extLst>
              </a:tr>
              <a:tr h="650875">
                <a:tc>
                  <a:txBody>
                    <a:bodyPr/>
                    <a:lstStyle/>
                    <a:p>
                      <a:r>
                        <a:rPr sz="1800">
                          <a:solidFill>
                            <a:srgbClr val="173044"/>
                          </a:solidFill>
                          <a:latin typeface="Aptos"/>
                          <a:ea typeface="Aptos"/>
                          <a:cs typeface="Aptos"/>
                        </a:rPr>
                        <a:t>Atelier historique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3"/>
                  </a:ext>
                </a:extLst>
              </a:tr>
              <a:tr h="650875">
                <a:tc>
                  <a:txBody>
                    <a:bodyPr/>
                    <a:lstStyle/>
                    <a:p>
                      <a:r>
                        <a:rPr sz="1800">
                          <a:solidFill>
                            <a:srgbClr val="173044"/>
                          </a:solidFill>
                          <a:latin typeface="Aptos"/>
                          <a:ea typeface="Aptos"/>
                          <a:cs typeface="Aptos"/>
                        </a:rPr>
                        <a:t>Index spécialisés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4"/>
                  </a:ext>
                </a:extLst>
              </a:tr>
              <a:tr h="650875">
                <a:tc>
                  <a:txBody>
                    <a:bodyPr/>
                    <a:lstStyle/>
                    <a:p>
                      <a:r>
                        <a:rPr sz="1800">
                          <a:solidFill>
                            <a:srgbClr val="173044"/>
                          </a:solidFill>
                          <a:latin typeface="Aptos"/>
                          <a:ea typeface="Aptos"/>
                          <a:cs typeface="Aptos"/>
                        </a:rPr>
                        <a:t>Migration et bilan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7141CF08-317E-444F-AECF-1AEAB647641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11E38880-6CED-4147-922D-50D8A57F368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03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990749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9" name="Image 1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26A034DC-4BF1-4EC4-A549-14366EFEBCD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46562C36-174C-4B5E-AF42-DBE28851D71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Le rôle d’un index</a:t>
            </a:r>
          </a:p>
        </p:txBody>
      </p:sp>
      <p:sp>
        <p:nvSpPr>
          <p:cNvPr id="4" name="Rectangle 3">
            <a:extLst>
              <a:ext uri="{FF2B5EF4-FFF2-40B4-BE49-F238E27FC236}">
                <a16:creationId xmlns:a16="http://schemas.microsoft.com/office/drawing/2014/main" id="{25A52F6B-7CF1-4A0E-9EBE-55BB1B85E139}"/>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 index conserve une organisation supplémentaire des valeurs et des références aux lignes. Il offre un chemin d’accès qui peut éviter une grande partie du parcours de table. Il utilise de l’espace et doit suivre les modifications.</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Créer un index constitue une hypothèse sur une charge de travail. Une table consultée par plusieurs endpoints peut exiger plusieurs chemins. Le choix dépend des filtres, des tris, des jointures et des fréquences d’accès.</a:t>
            </a:r>
          </a:p>
        </p:txBody>
      </p:sp>
      <p:sp>
        <p:nvSpPr>
          <p:cNvPr id="5" name="Rectangle : coins arrondis 4">
            <a:extLst>
              <a:ext uri="{FF2B5EF4-FFF2-40B4-BE49-F238E27FC236}">
                <a16:creationId xmlns:a16="http://schemas.microsoft.com/office/drawing/2014/main" id="{84F36F9E-599C-4712-A1D3-AAE06F63FF71}"/>
              </a:ext>
            </a:extLst>
          </p:cNvPr>
          <p:cNvSpPr>
            <a:spLocks noGrp="1"/>
          </p:cNvSpPr>
          <p:nvPr/>
        </p:nvSpPr>
        <p:spPr>
          <a:xfrm>
            <a:off x="7524750"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Filtre</a:t>
            </a:r>
          </a:p>
          <a:p>
            <a:pPr algn="ctr">
              <a:defRPr sz="1875" b="1">
                <a:solidFill>
                  <a:srgbClr val="FFFFFF"/>
                </a:solidFill>
                <a:latin typeface="Aptos"/>
                <a:ea typeface="Aptos"/>
                <a:cs typeface="Aptos"/>
              </a:defRPr>
            </a:pPr>
            <a:r>
              <a:rPr sz="1875" b="1">
                <a:solidFill>
                  <a:srgbClr val="FFFFFF"/>
                </a:solidFill>
                <a:latin typeface="Aptos"/>
                <a:ea typeface="Aptos"/>
                <a:cs typeface="Aptos"/>
              </a:rPr>
              <a:t>client = 42</a:t>
            </a:r>
          </a:p>
        </p:txBody>
      </p:sp>
      <p:sp>
        <p:nvSpPr>
          <p:cNvPr id="6" name="Rectangle : coins arrondis 5">
            <a:extLst>
              <a:ext uri="{FF2B5EF4-FFF2-40B4-BE49-F238E27FC236}">
                <a16:creationId xmlns:a16="http://schemas.microsoft.com/office/drawing/2014/main" id="{87254842-6D87-4B29-88C5-2CE9488E35A8}"/>
              </a:ext>
            </a:extLst>
          </p:cNvPr>
          <p:cNvSpPr>
            <a:spLocks noGrp="1"/>
          </p:cNvSpPr>
          <p:nvPr/>
        </p:nvSpPr>
        <p:spPr>
          <a:xfrm>
            <a:off x="11557635"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Index</a:t>
            </a:r>
          </a:p>
          <a:p>
            <a:pPr algn="ctr">
              <a:defRPr sz="1875" b="1">
                <a:solidFill>
                  <a:srgbClr val="FFFFFF"/>
                </a:solidFill>
                <a:latin typeface="Aptos"/>
                <a:ea typeface="Aptos"/>
                <a:cs typeface="Aptos"/>
              </a:defRPr>
            </a:pPr>
            <a:r>
              <a:rPr sz="1875" b="1">
                <a:solidFill>
                  <a:srgbClr val="FFFFFF"/>
                </a:solidFill>
                <a:latin typeface="Aptos"/>
                <a:ea typeface="Aptos"/>
                <a:cs typeface="Aptos"/>
              </a:rPr>
              <a:t>valeurs ordonnées</a:t>
            </a:r>
          </a:p>
        </p:txBody>
      </p:sp>
      <p:sp>
        <p:nvSpPr>
          <p:cNvPr id="7" name="Rectangle : coins arrondis 6">
            <a:extLst>
              <a:ext uri="{FF2B5EF4-FFF2-40B4-BE49-F238E27FC236}">
                <a16:creationId xmlns:a16="http://schemas.microsoft.com/office/drawing/2014/main" id="{B3DFC6CE-AA0D-4F46-B245-7134210EE65E}"/>
              </a:ext>
            </a:extLst>
          </p:cNvPr>
          <p:cNvSpPr>
            <a:spLocks noGrp="1"/>
          </p:cNvSpPr>
          <p:nvPr/>
        </p:nvSpPr>
        <p:spPr>
          <a:xfrm>
            <a:off x="11557635"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Références</a:t>
            </a:r>
          </a:p>
          <a:p>
            <a:pPr algn="ctr">
              <a:defRPr sz="1875" b="1">
                <a:solidFill>
                  <a:srgbClr val="FFFFFF"/>
                </a:solidFill>
                <a:latin typeface="Aptos"/>
                <a:ea typeface="Aptos"/>
                <a:cs typeface="Aptos"/>
              </a:defRPr>
            </a:pPr>
            <a:r>
              <a:rPr sz="1875" b="1">
                <a:solidFill>
                  <a:srgbClr val="FFFFFF"/>
                </a:solidFill>
                <a:latin typeface="Aptos"/>
                <a:ea typeface="Aptos"/>
                <a:cs typeface="Aptos"/>
              </a:rPr>
              <a:t>aux lignes</a:t>
            </a:r>
          </a:p>
        </p:txBody>
      </p:sp>
      <p:sp>
        <p:nvSpPr>
          <p:cNvPr id="8" name="Rectangle : coins arrondis 7">
            <a:extLst>
              <a:ext uri="{FF2B5EF4-FFF2-40B4-BE49-F238E27FC236}">
                <a16:creationId xmlns:a16="http://schemas.microsoft.com/office/drawing/2014/main" id="{5B23CE59-7D9A-4B5E-9A64-950AC57DCA70}"/>
              </a:ext>
            </a:extLst>
          </p:cNvPr>
          <p:cNvSpPr>
            <a:spLocks noGrp="1"/>
          </p:cNvSpPr>
          <p:nvPr/>
        </p:nvSpPr>
        <p:spPr>
          <a:xfrm>
            <a:off x="7524750"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Table</a:t>
            </a:r>
          </a:p>
          <a:p>
            <a:pPr algn="ctr">
              <a:defRPr sz="1875" b="1">
                <a:solidFill>
                  <a:srgbClr val="FFFFFF"/>
                </a:solidFill>
                <a:latin typeface="Aptos"/>
                <a:ea typeface="Aptos"/>
                <a:cs typeface="Aptos"/>
              </a:defRPr>
            </a:pPr>
            <a:r>
              <a:rPr sz="1875" b="1">
                <a:solidFill>
                  <a:srgbClr val="FFFFFF"/>
                </a:solidFill>
                <a:latin typeface="Aptos"/>
                <a:ea typeface="Aptos"/>
                <a:cs typeface="Aptos"/>
              </a:rPr>
              <a:t>commandes</a:t>
            </a:r>
          </a:p>
        </p:txBody>
      </p:sp>
      <p:sp>
        <p:nvSpPr>
          <p:cNvPr id="9" name="Flèche : droite 8">
            <a:extLst>
              <a:ext uri="{FF2B5EF4-FFF2-40B4-BE49-F238E27FC236}">
                <a16:creationId xmlns:a16="http://schemas.microsoft.com/office/drawing/2014/main" id="{B95481F3-3C79-47B5-B1A9-12794964A500}"/>
              </a:ext>
            </a:extLst>
          </p:cNvPr>
          <p:cNvSpPr>
            <a:spLocks noGrp="1"/>
          </p:cNvSpPr>
          <p:nvPr/>
        </p:nvSpPr>
        <p:spPr>
          <a:xfrm>
            <a:off x="10502265" y="2657475"/>
            <a:ext cx="998220" cy="114300"/>
          </a:xfrm>
          <a:prstGeom prst="rightArrow">
            <a:avLst/>
          </a:prstGeom>
          <a:solidFill>
            <a:srgbClr val="69E0E3"/>
          </a:solidFill>
          <a:ln w="0">
            <a:noFill/>
          </a:ln>
        </p:spPr>
        <p:txBody>
          <a:bodyPr/>
          <a:lstStyle/>
          <a:p>
            <a:endParaRPr lang="fr-FR"/>
          </a:p>
        </p:txBody>
      </p:sp>
      <p:sp>
        <p:nvSpPr>
          <p:cNvPr id="10" name="Rectangle 9">
            <a:extLst>
              <a:ext uri="{FF2B5EF4-FFF2-40B4-BE49-F238E27FC236}">
                <a16:creationId xmlns:a16="http://schemas.microsoft.com/office/drawing/2014/main" id="{C492D47A-CDAA-44E8-AD27-6F66C2ABFC48}"/>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recherche</a:t>
            </a:r>
          </a:p>
        </p:txBody>
      </p:sp>
      <p:sp>
        <p:nvSpPr>
          <p:cNvPr id="11" name="Flèche : droite 10">
            <a:extLst>
              <a:ext uri="{FF2B5EF4-FFF2-40B4-BE49-F238E27FC236}">
                <a16:creationId xmlns:a16="http://schemas.microsoft.com/office/drawing/2014/main" id="{E5A8FD8B-7854-48A3-9EAF-80BA4D5FB088}"/>
              </a:ext>
            </a:extLst>
          </p:cNvPr>
          <p:cNvSpPr>
            <a:spLocks noGrp="1"/>
          </p:cNvSpPr>
          <p:nvPr/>
        </p:nvSpPr>
        <p:spPr>
          <a:xfrm rot="5400000">
            <a:off x="12708255" y="3500438"/>
            <a:ext cx="619125" cy="114300"/>
          </a:xfrm>
          <a:prstGeom prst="rightArrow">
            <a:avLst/>
          </a:prstGeom>
          <a:solidFill>
            <a:srgbClr val="69E0E3"/>
          </a:solidFill>
          <a:ln w="0">
            <a:noFill/>
          </a:ln>
        </p:spPr>
        <p:txBody>
          <a:bodyPr/>
          <a:lstStyle/>
          <a:p>
            <a:endParaRPr lang="fr-FR"/>
          </a:p>
        </p:txBody>
      </p:sp>
      <p:sp>
        <p:nvSpPr>
          <p:cNvPr id="12" name="Rectangle 11">
            <a:extLst>
              <a:ext uri="{FF2B5EF4-FFF2-40B4-BE49-F238E27FC236}">
                <a16:creationId xmlns:a16="http://schemas.microsoft.com/office/drawing/2014/main" id="{2976E59C-46CE-4F0A-B894-81698865B05C}"/>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localisation</a:t>
            </a:r>
          </a:p>
        </p:txBody>
      </p:sp>
      <p:sp>
        <p:nvSpPr>
          <p:cNvPr id="13" name="Flèche : droite 12">
            <a:extLst>
              <a:ext uri="{FF2B5EF4-FFF2-40B4-BE49-F238E27FC236}">
                <a16:creationId xmlns:a16="http://schemas.microsoft.com/office/drawing/2014/main" id="{C0A9BC84-A448-431D-A50B-43A5BD5C92C9}"/>
              </a:ext>
            </a:extLst>
          </p:cNvPr>
          <p:cNvSpPr>
            <a:spLocks noGrp="1"/>
          </p:cNvSpPr>
          <p:nvPr/>
        </p:nvSpPr>
        <p:spPr>
          <a:xfrm rot="10800000">
            <a:off x="10502265" y="4343400"/>
            <a:ext cx="998220" cy="114300"/>
          </a:xfrm>
          <a:prstGeom prst="rightArrow">
            <a:avLst/>
          </a:prstGeom>
          <a:solidFill>
            <a:srgbClr val="69E0E3"/>
          </a:solidFill>
          <a:ln w="0">
            <a:noFill/>
          </a:ln>
        </p:spPr>
        <p:txBody>
          <a:bodyPr/>
          <a:lstStyle/>
          <a:p>
            <a:endParaRPr lang="fr-FR"/>
          </a:p>
        </p:txBody>
      </p:sp>
      <p:sp>
        <p:nvSpPr>
          <p:cNvPr id="14" name="Rectangle 13">
            <a:extLst>
              <a:ext uri="{FF2B5EF4-FFF2-40B4-BE49-F238E27FC236}">
                <a16:creationId xmlns:a16="http://schemas.microsoft.com/office/drawing/2014/main" id="{105F922B-ED2F-4C33-97FC-6216E0677999}"/>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lecture</a:t>
            </a:r>
          </a:p>
        </p:txBody>
      </p:sp>
      <p:sp>
        <p:nvSpPr>
          <p:cNvPr id="15" name="Rectangle 14">
            <a:extLst>
              <a:ext uri="{FF2B5EF4-FFF2-40B4-BE49-F238E27FC236}">
                <a16:creationId xmlns:a16="http://schemas.microsoft.com/office/drawing/2014/main" id="{9C24EBD3-C88A-45F5-AD55-09E4C82D3DEC}"/>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6" name="Rectangle 15">
            <a:extLst>
              <a:ext uri="{FF2B5EF4-FFF2-40B4-BE49-F238E27FC236}">
                <a16:creationId xmlns:a16="http://schemas.microsoft.com/office/drawing/2014/main" id="{238C05C4-8591-4B85-906F-61C282FB2336}"/>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La liste des requêtes utiles précède la liste des index.</a:t>
            </a:r>
          </a:p>
        </p:txBody>
      </p:sp>
      <p:sp>
        <p:nvSpPr>
          <p:cNvPr id="17" name="Rectangle 16">
            <a:extLst>
              <a:ext uri="{FF2B5EF4-FFF2-40B4-BE49-F238E27FC236}">
                <a16:creationId xmlns:a16="http://schemas.microsoft.com/office/drawing/2014/main" id="{8BC023B6-AEA2-49E9-8CC5-ADC107125A4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8" name="Rectangle 17">
            <a:extLst>
              <a:ext uri="{FF2B5EF4-FFF2-40B4-BE49-F238E27FC236}">
                <a16:creationId xmlns:a16="http://schemas.microsoft.com/office/drawing/2014/main" id="{E407EF4E-8D61-44F1-B236-AAC4E3920F2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04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88124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3F71681-0397-4F34-800C-AA291D08291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C9F84B3E-4A44-4788-8F85-AAD0A22F538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B-tree</a:t>
            </a:r>
          </a:p>
        </p:txBody>
      </p:sp>
      <p:sp>
        <p:nvSpPr>
          <p:cNvPr id="4" name="Rectangle 3">
            <a:extLst>
              <a:ext uri="{FF2B5EF4-FFF2-40B4-BE49-F238E27FC236}">
                <a16:creationId xmlns:a16="http://schemas.microsoft.com/office/drawing/2014/main" id="{1F614F9C-1F0A-40EC-B854-3FF4321E5277}"/>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CF67064B-B7BC-4A25-B4A3-B7EBE79CB98B}"/>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Le B-tree conserve des clés dans une structure équilibrée et ordonnée. Le moteur descend vers une plage de clés puis parcourt les entrées pertinentes. Cette organisation convient aux égalités, aux intervalles et à certains ordres de tri.</a:t>
            </a:r>
          </a:p>
        </p:txBody>
      </p:sp>
      <p:sp>
        <p:nvSpPr>
          <p:cNvPr id="6" name="Rectangle 5">
            <a:extLst>
              <a:ext uri="{FF2B5EF4-FFF2-40B4-BE49-F238E27FC236}">
                <a16:creationId xmlns:a16="http://schemas.microsoft.com/office/drawing/2014/main" id="{652CF744-66E7-4363-BEA3-D1C4895B8B45}"/>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EEB68114-A4C0-4729-8EC5-2A6E80FA14D4}"/>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L’index de client_id regroupe les commandes par client. Un index qui ajoute created_at peut rapprocher les commandes du même client selon leur date. La structure indexe des valeurs, elle ne mémorise pas une réponse complète à chaque requête.</a:t>
            </a:r>
          </a:p>
        </p:txBody>
      </p:sp>
      <p:sp>
        <p:nvSpPr>
          <p:cNvPr id="8" name="Rectangle 7">
            <a:extLst>
              <a:ext uri="{FF2B5EF4-FFF2-40B4-BE49-F238E27FC236}">
                <a16:creationId xmlns:a16="http://schemas.microsoft.com/office/drawing/2014/main" id="{6030A655-39F7-407C-959E-382B5F0F9470}"/>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B57EAE9B-47C9-4F6E-BFF8-272893446EC7}"/>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Un index aide lorsque le travail évité dépasse son propre coût.</a:t>
            </a:r>
          </a:p>
        </p:txBody>
      </p:sp>
      <p:sp>
        <p:nvSpPr>
          <p:cNvPr id="10" name="Rectangle 9">
            <a:extLst>
              <a:ext uri="{FF2B5EF4-FFF2-40B4-BE49-F238E27FC236}">
                <a16:creationId xmlns:a16="http://schemas.microsoft.com/office/drawing/2014/main" id="{2C496C73-A290-4F54-84A3-14F862510E7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A9C7E2F2-9E6B-48DA-B072-FE82D380E9A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05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208764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AE53F26-4B35-4462-9657-5B5BE37984F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A4C9C637-19EA-4CF8-8ED3-7F05C67B6F4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Sélectivité et distribution</a:t>
            </a:r>
          </a:p>
        </p:txBody>
      </p:sp>
      <p:sp>
        <p:nvSpPr>
          <p:cNvPr id="4" name="Rectangle 3">
            <a:extLst>
              <a:ext uri="{FF2B5EF4-FFF2-40B4-BE49-F238E27FC236}">
                <a16:creationId xmlns:a16="http://schemas.microsoft.com/office/drawing/2014/main" id="{96436D97-7D8C-49FE-9AC6-759D9686A9F0}"/>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sélectivité décrit la fraction des lignes retenues par une condition. La cardinalité d’une colonne décrit son nombre de valeurs distinctes. Une colonne à forte cardinalité n’assure pas que chaque valeur soit rare.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Dans un catalogue, un statut partagé par 90 % des produits filtre peu. Un client très actif peut posséder bien plus de commandes que les autres. On teste des paramètres courants et des cas défavorables.</a:t>
            </a:r>
          </a:p>
        </p:txBody>
      </p:sp>
      <p:sp>
        <p:nvSpPr>
          <p:cNvPr id="5" name="Rectangle 4">
            <a:extLst>
              <a:ext uri="{FF2B5EF4-FFF2-40B4-BE49-F238E27FC236}">
                <a16:creationId xmlns:a16="http://schemas.microsoft.com/office/drawing/2014/main" id="{D680501E-9EE6-4083-B2E0-AF220281608C}"/>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Lignes retenues</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6BED405D-E4F6-4295-BF0E-DEB27A23EC6D}"/>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Comptages théoriques pour une distribution fictive.</a:t>
            </a:r>
          </a:p>
        </p:txBody>
      </p:sp>
      <p:sp>
        <p:nvSpPr>
          <p:cNvPr id="8" name="Rectangle 7">
            <a:extLst>
              <a:ext uri="{FF2B5EF4-FFF2-40B4-BE49-F238E27FC236}">
                <a16:creationId xmlns:a16="http://schemas.microsoft.com/office/drawing/2014/main" id="{7535D066-6B23-40D3-8D63-894150F0B93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D679114E-BBA6-48A3-807C-7EEA5694CBA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Simulation sur 100 000 lignes, sans mesure de durée.</a:t>
            </a:r>
          </a:p>
        </p:txBody>
      </p:sp>
      <p:sp>
        <p:nvSpPr>
          <p:cNvPr id="10" name="Rectangle 9">
            <a:extLst>
              <a:ext uri="{FF2B5EF4-FFF2-40B4-BE49-F238E27FC236}">
                <a16:creationId xmlns:a16="http://schemas.microsoft.com/office/drawing/2014/main" id="{AAB283AF-D161-4508-9F21-B5F70B1223B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740F244E-9FAA-44DA-B0A6-B2921FAA11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06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42739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254627E-DDA0-49A8-A155-854F0B4CBA7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354578FE-EDB6-4515-9348-863E59E2147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Ordre des colonnes d’un index composé</a:t>
            </a:r>
          </a:p>
        </p:txBody>
      </p:sp>
      <p:sp>
        <p:nvSpPr>
          <p:cNvPr id="4" name="Rectangle 3">
            <a:extLst>
              <a:ext uri="{FF2B5EF4-FFF2-40B4-BE49-F238E27FC236}">
                <a16:creationId xmlns:a16="http://schemas.microsoft.com/office/drawing/2014/main" id="{955385A4-E7C8-4C2D-B991-FE0DA9C39C0E}"/>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Avec une égalité sur client_id et un tri sur created_at puis id, un index (client_id, created_at DESC, id DESC) correspond au chemin de l’historique. L’égalité borne le groupe et l’ordre facilite la lecture des premières entrées.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L’ordre se choisit à partir des usages, pas seulement d’une règle de cardinalité. PostgreSQL peut exploiter d’autres conditions et, selon le cas, un skip scan. Un filtre sans la première colonne reste à vérifier par le plan.</a:t>
            </a:r>
          </a:p>
        </p:txBody>
      </p:sp>
      <p:sp>
        <p:nvSpPr>
          <p:cNvPr id="5" name="Rectangle 4">
            <a:extLst>
              <a:ext uri="{FF2B5EF4-FFF2-40B4-BE49-F238E27FC236}">
                <a16:creationId xmlns:a16="http://schemas.microsoft.com/office/drawing/2014/main" id="{C0F4C7C3-AE2E-441B-8CAB-157BFAAB6825}"/>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BC0001F5-6176-4B0F-9E1D-DBB5D2AEABE5}"/>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idx_hist_client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client_id,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created_at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t>
            </a:r>
          </a:p>
        </p:txBody>
      </p:sp>
      <p:sp>
        <p:nvSpPr>
          <p:cNvPr id="7" name="Rectangle 6">
            <a:extLst>
              <a:ext uri="{FF2B5EF4-FFF2-40B4-BE49-F238E27FC236}">
                <a16:creationId xmlns:a16="http://schemas.microsoft.com/office/drawing/2014/main" id="{FDE4F823-BE94-42BE-A1DE-F1B2933D187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A525D73F-44EB-432F-908B-6AD920D8AE38}"/>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dernier id rend l’ordre déterministe lorsque plusieurs commandes ont la même date.</a:t>
            </a:r>
          </a:p>
        </p:txBody>
      </p:sp>
      <p:sp>
        <p:nvSpPr>
          <p:cNvPr id="9" name="Rectangle 8">
            <a:extLst>
              <a:ext uri="{FF2B5EF4-FFF2-40B4-BE49-F238E27FC236}">
                <a16:creationId xmlns:a16="http://schemas.microsoft.com/office/drawing/2014/main" id="{A67716E8-AB78-43F3-A237-B1A1F78D28C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07527BFF-5D92-4B4A-89AD-73D837D1B13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07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432706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82D0FE2-BAA7-4A89-B436-4289367E046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C035E04-DF8F-4F91-A5EA-63E408650EE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et ORDER BY</a:t>
            </a:r>
          </a:p>
        </p:txBody>
      </p:sp>
      <p:sp>
        <p:nvSpPr>
          <p:cNvPr id="4" name="Rectangle 3">
            <a:extLst>
              <a:ext uri="{FF2B5EF4-FFF2-40B4-BE49-F238E27FC236}">
                <a16:creationId xmlns:a16="http://schemas.microsoft.com/office/drawing/2014/main" id="{BA7695DA-06A8-4ECE-8BB5-4381289B2079}"/>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index ordonné peut fournir des lignes dans un ordre compatible avec la requête. Avec LIMIT, cela peut éviter de trier un grand ensemble avant de ne conserver que les premières lignes.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 sens ASC/DESC, les valeurs NULL et les colonnes de départ comptent. Un tri global par total ne correspond pas à l’ordre d’un index commençant par client_id. Le plan doit montrer ce que le moteur évite réellement.</a:t>
            </a:r>
          </a:p>
        </p:txBody>
      </p:sp>
      <p:sp>
        <p:nvSpPr>
          <p:cNvPr id="5" name="Rectangle 4">
            <a:extLst>
              <a:ext uri="{FF2B5EF4-FFF2-40B4-BE49-F238E27FC236}">
                <a16:creationId xmlns:a16="http://schemas.microsoft.com/office/drawing/2014/main" id="{720224A8-3123-452C-8651-97304248E318}"/>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F7C97345-E3B3-467E-9CCE-D82B9A306CFD}"/>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created_at, total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client_id = 42</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created_at DESC,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LIMIT 20;</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Vérifier Sort, lignes et buffers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dans le plan avant/après.</a:t>
            </a:r>
          </a:p>
        </p:txBody>
      </p:sp>
      <p:sp>
        <p:nvSpPr>
          <p:cNvPr id="7" name="Rectangle 6">
            <a:extLst>
              <a:ext uri="{FF2B5EF4-FFF2-40B4-BE49-F238E27FC236}">
                <a16:creationId xmlns:a16="http://schemas.microsoft.com/office/drawing/2014/main" id="{88DC2D35-AB53-404D-896F-59E4C3873EF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D30758EC-9783-4F9E-A688-C83C340D876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Un index compatible n’impose pas son utilisation au planificateur.</a:t>
            </a:r>
          </a:p>
        </p:txBody>
      </p:sp>
      <p:sp>
        <p:nvSpPr>
          <p:cNvPr id="9" name="Rectangle 8">
            <a:extLst>
              <a:ext uri="{FF2B5EF4-FFF2-40B4-BE49-F238E27FC236}">
                <a16:creationId xmlns:a16="http://schemas.microsoft.com/office/drawing/2014/main" id="{5D402A5C-9A87-4AA6-BAA8-62E1070BE40F}"/>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D4A779F6-BEFA-4D7E-8B09-425C6E6CDB4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08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2118346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6F99A8E-5F03-4EFB-9EB0-3977D497D3D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11BCF54-583C-479A-838D-92B2FCF8B51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couvrant et INCLUDE</a:t>
            </a:r>
          </a:p>
        </p:txBody>
      </p:sp>
      <p:sp>
        <p:nvSpPr>
          <p:cNvPr id="4" name="Rectangle 3">
            <a:extLst>
              <a:ext uri="{FF2B5EF4-FFF2-40B4-BE49-F238E27FC236}">
                <a16:creationId xmlns:a16="http://schemas.microsoft.com/office/drawing/2014/main" id="{D6D30C3E-B4DA-445D-A96C-9672BA3E8DE3}"/>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1" i="1" dirty="0">
                <a:solidFill>
                  <a:srgbClr val="173044"/>
                </a:solidFill>
                <a:latin typeface="Aptos"/>
                <a:ea typeface="Aptos"/>
                <a:cs typeface="Aptos"/>
              </a:rPr>
              <a:t>INCLUDE </a:t>
            </a:r>
            <a:r>
              <a:rPr sz="2025" b="0" dirty="0" err="1">
                <a:solidFill>
                  <a:srgbClr val="173044"/>
                </a:solidFill>
                <a:latin typeface="Aptos"/>
                <a:ea typeface="Aptos"/>
                <a:cs typeface="Aptos"/>
              </a:rPr>
              <a:t>ajoute</a:t>
            </a:r>
            <a:r>
              <a:rPr sz="2025" b="0" dirty="0">
                <a:solidFill>
                  <a:srgbClr val="173044"/>
                </a:solidFill>
                <a:latin typeface="Aptos"/>
                <a:ea typeface="Aptos"/>
                <a:cs typeface="Aptos"/>
              </a:rPr>
              <a:t> des </a:t>
            </a:r>
            <a:r>
              <a:rPr sz="2025" b="0" dirty="0" err="1">
                <a:solidFill>
                  <a:srgbClr val="173044"/>
                </a:solidFill>
                <a:latin typeface="Aptos"/>
                <a:ea typeface="Aptos"/>
                <a:cs typeface="Aptos"/>
              </a:rPr>
              <a:t>colonnes</a:t>
            </a:r>
            <a:r>
              <a:rPr sz="2025" b="0" dirty="0">
                <a:solidFill>
                  <a:srgbClr val="173044"/>
                </a:solidFill>
                <a:latin typeface="Aptos"/>
                <a:ea typeface="Aptos"/>
                <a:cs typeface="Aptos"/>
              </a:rPr>
              <a:t> qui </a:t>
            </a:r>
            <a:r>
              <a:rPr sz="2025" b="0" dirty="0" err="1">
                <a:solidFill>
                  <a:srgbClr val="173044"/>
                </a:solidFill>
                <a:latin typeface="Aptos"/>
                <a:ea typeface="Aptos"/>
                <a:cs typeface="Aptos"/>
              </a:rPr>
              <a:t>peuvent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fournir</a:t>
            </a:r>
            <a:r>
              <a:rPr sz="2025" b="0" dirty="0">
                <a:solidFill>
                  <a:srgbClr val="173044"/>
                </a:solidFill>
                <a:latin typeface="Aptos"/>
                <a:ea typeface="Aptos"/>
                <a:cs typeface="Aptos"/>
              </a:rPr>
              <a:t> le </a:t>
            </a:r>
            <a:r>
              <a:rPr sz="2025" b="0" dirty="0" err="1">
                <a:solidFill>
                  <a:srgbClr val="173044"/>
                </a:solidFill>
                <a:latin typeface="Aptos"/>
                <a:ea typeface="Aptos"/>
                <a:cs typeface="Aptos"/>
              </a:rPr>
              <a:t>résultat</a:t>
            </a:r>
            <a:r>
              <a:rPr sz="2025" b="0" dirty="0">
                <a:solidFill>
                  <a:srgbClr val="173044"/>
                </a:solidFill>
                <a:latin typeface="Aptos"/>
                <a:ea typeface="Aptos"/>
                <a:cs typeface="Aptos"/>
              </a:rPr>
              <a:t> sans </a:t>
            </a:r>
            <a:r>
              <a:rPr sz="2025" b="0" dirty="0" err="1">
                <a:solidFill>
                  <a:srgbClr val="173044"/>
                </a:solidFill>
                <a:latin typeface="Aptos"/>
                <a:ea typeface="Aptos"/>
                <a:cs typeface="Aptos"/>
              </a:rPr>
              <a:t>participer</a:t>
            </a:r>
            <a:r>
              <a:rPr sz="2025" b="0" dirty="0">
                <a:solidFill>
                  <a:srgbClr val="173044"/>
                </a:solidFill>
                <a:latin typeface="Aptos"/>
                <a:ea typeface="Aptos"/>
                <a:cs typeface="Aptos"/>
              </a:rPr>
              <a:t> à </a:t>
            </a:r>
            <a:r>
              <a:rPr sz="2025" b="0" dirty="0" err="1">
                <a:solidFill>
                  <a:srgbClr val="173044"/>
                </a:solidFill>
                <a:latin typeface="Aptos"/>
                <a:ea typeface="Aptos"/>
                <a:cs typeface="Aptos"/>
              </a:rPr>
              <a:t>l’ordre</a:t>
            </a:r>
            <a:r>
              <a:rPr sz="2025" b="0" dirty="0">
                <a:solidFill>
                  <a:srgbClr val="173044"/>
                </a:solidFill>
                <a:latin typeface="Aptos"/>
                <a:ea typeface="Aptos"/>
                <a:cs typeface="Aptos"/>
              </a:rPr>
              <a:t> de recherche. </a:t>
            </a:r>
            <a:r>
              <a:rPr sz="2025" b="0" dirty="0" err="1">
                <a:solidFill>
                  <a:srgbClr val="173044"/>
                </a:solidFill>
                <a:latin typeface="Aptos"/>
                <a:ea typeface="Aptos"/>
                <a:cs typeface="Aptos"/>
              </a:rPr>
              <a:t>L’index</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l’historique</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peut</a:t>
            </a:r>
            <a:r>
              <a:rPr sz="2025" b="0" dirty="0">
                <a:solidFill>
                  <a:srgbClr val="173044"/>
                </a:solidFill>
                <a:latin typeface="Aptos"/>
                <a:ea typeface="Aptos"/>
                <a:cs typeface="Aptos"/>
              </a:rPr>
              <a:t> </a:t>
            </a:r>
            <a:r>
              <a:rPr sz="2025" b="0" dirty="0" err="1">
                <a:solidFill>
                  <a:srgbClr val="173044"/>
                </a:solidFill>
                <a:latin typeface="Aptos"/>
                <a:ea typeface="Aptos"/>
                <a:cs typeface="Aptos"/>
              </a:rPr>
              <a:t>inclure</a:t>
            </a:r>
            <a:r>
              <a:rPr sz="2025" b="0" dirty="0">
                <a:solidFill>
                  <a:srgbClr val="173044"/>
                </a:solidFill>
                <a:latin typeface="Aptos"/>
                <a:ea typeface="Aptos"/>
                <a:cs typeface="Aptos"/>
              </a:rPr>
              <a:t> </a:t>
            </a:r>
            <a:r>
              <a:rPr sz="2025" b="0" dirty="0" err="1">
                <a:solidFill>
                  <a:srgbClr val="173044"/>
                </a:solidFill>
                <a:latin typeface="Aptos"/>
                <a:ea typeface="Aptos"/>
                <a:cs typeface="Aptos"/>
              </a:rPr>
              <a:t>statut</a:t>
            </a:r>
            <a:r>
              <a:rPr sz="2025" b="0" dirty="0">
                <a:solidFill>
                  <a:srgbClr val="173044"/>
                </a:solidFill>
                <a:latin typeface="Aptos"/>
                <a:ea typeface="Aptos"/>
                <a:cs typeface="Aptos"/>
              </a:rPr>
              <a:t> et total </a:t>
            </a:r>
            <a:r>
              <a:rPr sz="2025" b="1" dirty="0" err="1">
                <a:solidFill>
                  <a:srgbClr val="173044"/>
                </a:solidFill>
                <a:latin typeface="Aptos"/>
                <a:ea typeface="Aptos"/>
                <a:cs typeface="Aptos"/>
              </a:rPr>
              <a:t>si</a:t>
            </a:r>
            <a:r>
              <a:rPr sz="2025" b="1" dirty="0">
                <a:solidFill>
                  <a:srgbClr val="173044"/>
                </a:solidFill>
                <a:latin typeface="Aptos"/>
                <a:ea typeface="Aptos"/>
                <a:cs typeface="Aptos"/>
              </a:rPr>
              <a:t> </a:t>
            </a:r>
            <a:r>
              <a:rPr sz="2025" b="1" dirty="0" err="1">
                <a:solidFill>
                  <a:srgbClr val="173044"/>
                </a:solidFill>
                <a:latin typeface="Aptos"/>
                <a:ea typeface="Aptos"/>
                <a:cs typeface="Aptos"/>
              </a:rPr>
              <a:t>ces</a:t>
            </a:r>
            <a:r>
              <a:rPr sz="2025" b="1" dirty="0">
                <a:solidFill>
                  <a:srgbClr val="173044"/>
                </a:solidFill>
                <a:latin typeface="Aptos"/>
                <a:ea typeface="Aptos"/>
                <a:cs typeface="Aptos"/>
              </a:rPr>
              <a:t> </a:t>
            </a:r>
            <a:r>
              <a:rPr sz="2025" b="1" dirty="0" err="1">
                <a:solidFill>
                  <a:srgbClr val="173044"/>
                </a:solidFill>
                <a:latin typeface="Aptos"/>
                <a:ea typeface="Aptos"/>
                <a:cs typeface="Aptos"/>
              </a:rPr>
              <a:t>valeurs</a:t>
            </a:r>
            <a:r>
              <a:rPr sz="2025" b="1" dirty="0">
                <a:solidFill>
                  <a:srgbClr val="173044"/>
                </a:solidFill>
                <a:latin typeface="Aptos"/>
                <a:ea typeface="Aptos"/>
                <a:cs typeface="Aptos"/>
              </a:rPr>
              <a:t> constituent toute la projection.</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a:solidFill>
                  <a:srgbClr val="173044"/>
                </a:solidFill>
                <a:latin typeface="Aptos"/>
                <a:ea typeface="Aptos"/>
                <a:cs typeface="Aptos"/>
              </a:rPr>
              <a:t>Un </a:t>
            </a:r>
            <a:r>
              <a:rPr sz="2025" b="1" i="1" dirty="0">
                <a:solidFill>
                  <a:srgbClr val="173044"/>
                </a:solidFill>
                <a:latin typeface="Aptos"/>
                <a:ea typeface="Aptos"/>
                <a:cs typeface="Aptos"/>
              </a:rPr>
              <a:t>Index Only Scan </a:t>
            </a:r>
            <a:r>
              <a:rPr sz="2025" b="0" dirty="0" err="1">
                <a:solidFill>
                  <a:srgbClr val="173044"/>
                </a:solidFill>
                <a:latin typeface="Aptos"/>
                <a:ea typeface="Aptos"/>
                <a:cs typeface="Aptos"/>
              </a:rPr>
              <a:t>exige</a:t>
            </a:r>
            <a:r>
              <a:rPr sz="2025" b="0" dirty="0">
                <a:solidFill>
                  <a:srgbClr val="173044"/>
                </a:solidFill>
                <a:latin typeface="Aptos"/>
                <a:ea typeface="Aptos"/>
                <a:cs typeface="Aptos"/>
              </a:rPr>
              <a:t> </a:t>
            </a:r>
            <a:r>
              <a:rPr sz="2025" b="0" dirty="0" err="1">
                <a:solidFill>
                  <a:srgbClr val="173044"/>
                </a:solidFill>
                <a:latin typeface="Aptos"/>
                <a:ea typeface="Aptos"/>
                <a:cs typeface="Aptos"/>
              </a:rPr>
              <a:t>aussi</a:t>
            </a:r>
            <a:r>
              <a:rPr sz="2025" b="0" dirty="0">
                <a:solidFill>
                  <a:srgbClr val="173044"/>
                </a:solidFill>
                <a:latin typeface="Aptos"/>
                <a:ea typeface="Aptos"/>
                <a:cs typeface="Aptos"/>
              </a:rPr>
              <a:t> </a:t>
            </a:r>
            <a:r>
              <a:rPr sz="2025" b="0" dirty="0" err="1">
                <a:solidFill>
                  <a:srgbClr val="173044"/>
                </a:solidFill>
                <a:latin typeface="Aptos"/>
                <a:ea typeface="Aptos"/>
                <a:cs typeface="Aptos"/>
              </a:rPr>
              <a:t>que</a:t>
            </a:r>
            <a:r>
              <a:rPr sz="2025" b="0" dirty="0">
                <a:solidFill>
                  <a:srgbClr val="173044"/>
                </a:solidFill>
                <a:latin typeface="Aptos"/>
                <a:ea typeface="Aptos"/>
                <a:cs typeface="Aptos"/>
              </a:rPr>
              <a:t> les </a:t>
            </a:r>
            <a:r>
              <a:rPr sz="2025" b="0" dirty="0" err="1">
                <a:solidFill>
                  <a:srgbClr val="173044"/>
                </a:solidFill>
                <a:latin typeface="Aptos"/>
                <a:ea typeface="Aptos"/>
                <a:cs typeface="Aptos"/>
              </a:rPr>
              <a:t>informations</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visibilité</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permettent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d’éviter</a:t>
            </a:r>
            <a:r>
              <a:rPr sz="2025" b="0" dirty="0">
                <a:solidFill>
                  <a:srgbClr val="173044"/>
                </a:solidFill>
                <a:latin typeface="Aptos"/>
                <a:ea typeface="Aptos"/>
                <a:cs typeface="Aptos"/>
              </a:rPr>
              <a:t> </a:t>
            </a:r>
            <a:r>
              <a:rPr sz="2025" b="0" dirty="0" err="1">
                <a:solidFill>
                  <a:srgbClr val="173044"/>
                </a:solidFill>
                <a:latin typeface="Aptos"/>
                <a:ea typeface="Aptos"/>
                <a:cs typeface="Aptos"/>
              </a:rPr>
              <a:t>certaines</a:t>
            </a:r>
            <a:r>
              <a:rPr sz="2025" b="0" dirty="0">
                <a:solidFill>
                  <a:srgbClr val="173044"/>
                </a:solidFill>
                <a:latin typeface="Aptos"/>
                <a:ea typeface="Aptos"/>
                <a:cs typeface="Aptos"/>
              </a:rPr>
              <a:t> </a:t>
            </a:r>
            <a:r>
              <a:rPr sz="2025" b="0" dirty="0" err="1">
                <a:solidFill>
                  <a:srgbClr val="173044"/>
                </a:solidFill>
                <a:latin typeface="Aptos"/>
                <a:ea typeface="Aptos"/>
                <a:cs typeface="Aptos"/>
              </a:rPr>
              <a:t>visites</a:t>
            </a:r>
            <a:r>
              <a:rPr sz="2025" b="0" dirty="0">
                <a:solidFill>
                  <a:srgbClr val="173044"/>
                </a:solidFill>
                <a:latin typeface="Aptos"/>
                <a:ea typeface="Aptos"/>
                <a:cs typeface="Aptos"/>
              </a:rPr>
              <a:t> à la table. Une table très </a:t>
            </a:r>
            <a:r>
              <a:rPr sz="2025" b="0" dirty="0" err="1">
                <a:solidFill>
                  <a:srgbClr val="173044"/>
                </a:solidFill>
                <a:latin typeface="Aptos"/>
                <a:ea typeface="Aptos"/>
                <a:cs typeface="Aptos"/>
              </a:rPr>
              <a:t>modifiée</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peut</a:t>
            </a:r>
            <a:r>
              <a:rPr sz="2025" b="0" dirty="0">
                <a:solidFill>
                  <a:srgbClr val="173044"/>
                </a:solidFill>
                <a:latin typeface="Aptos"/>
                <a:ea typeface="Aptos"/>
                <a:cs typeface="Aptos"/>
              </a:rPr>
              <a:t> encore </a:t>
            </a:r>
            <a:r>
              <a:rPr sz="2025" b="0" dirty="0" err="1">
                <a:solidFill>
                  <a:srgbClr val="173044"/>
                </a:solidFill>
                <a:latin typeface="Aptos"/>
                <a:ea typeface="Aptos"/>
                <a:cs typeface="Aptos"/>
              </a:rPr>
              <a:t>provoquer</a:t>
            </a:r>
            <a:r>
              <a:rPr sz="2025" b="0" dirty="0">
                <a:solidFill>
                  <a:srgbClr val="173044"/>
                </a:solidFill>
                <a:latin typeface="Aptos"/>
                <a:ea typeface="Aptos"/>
                <a:cs typeface="Aptos"/>
              </a:rPr>
              <a:t> des Heap Fetches. </a:t>
            </a:r>
            <a:r>
              <a:rPr sz="2025" b="0" dirty="0" err="1">
                <a:solidFill>
                  <a:srgbClr val="173044"/>
                </a:solidFill>
                <a:latin typeface="Aptos"/>
                <a:ea typeface="Aptos"/>
                <a:cs typeface="Aptos"/>
              </a:rPr>
              <a:t>L’index</a:t>
            </a:r>
            <a:r>
              <a:rPr sz="2025" b="0" dirty="0">
                <a:solidFill>
                  <a:srgbClr val="173044"/>
                </a:solidFill>
                <a:latin typeface="Aptos"/>
                <a:ea typeface="Aptos"/>
                <a:cs typeface="Aptos"/>
              </a:rPr>
              <a:t> plus large </a:t>
            </a:r>
            <a:r>
              <a:rPr sz="2025" b="0" dirty="0" err="1">
                <a:solidFill>
                  <a:srgbClr val="173044"/>
                </a:solidFill>
                <a:latin typeface="Aptos"/>
                <a:ea typeface="Aptos"/>
                <a:cs typeface="Aptos"/>
              </a:rPr>
              <a:t>coûte</a:t>
            </a:r>
            <a:r>
              <a:rPr sz="2025" b="0" dirty="0">
                <a:solidFill>
                  <a:srgbClr val="173044"/>
                </a:solidFill>
                <a:latin typeface="Aptos"/>
                <a:ea typeface="Aptos"/>
                <a:cs typeface="Aptos"/>
              </a:rPr>
              <a:t> </a:t>
            </a:r>
            <a:r>
              <a:rPr sz="2025" b="0" dirty="0" err="1">
                <a:solidFill>
                  <a:srgbClr val="173044"/>
                </a:solidFill>
                <a:latin typeface="Aptos"/>
                <a:ea typeface="Aptos"/>
                <a:cs typeface="Aptos"/>
              </a:rPr>
              <a:t>davantage</a:t>
            </a:r>
            <a:r>
              <a:rPr sz="2025" b="0" dirty="0">
                <a:solidFill>
                  <a:srgbClr val="173044"/>
                </a:solidFill>
                <a:latin typeface="Aptos"/>
                <a:ea typeface="Aptos"/>
                <a:cs typeface="Aptos"/>
              </a:rPr>
              <a:t> </a:t>
            </a:r>
            <a:r>
              <a:rPr sz="2025" b="0" dirty="0" err="1">
                <a:solidFill>
                  <a:srgbClr val="173044"/>
                </a:solidFill>
                <a:latin typeface="Aptos"/>
                <a:ea typeface="Aptos"/>
                <a:cs typeface="Aptos"/>
              </a:rPr>
              <a:t>en</a:t>
            </a:r>
            <a:r>
              <a:rPr sz="2025" b="0" dirty="0">
                <a:solidFill>
                  <a:srgbClr val="173044"/>
                </a:solidFill>
                <a:latin typeface="Aptos"/>
                <a:ea typeface="Aptos"/>
                <a:cs typeface="Aptos"/>
              </a:rPr>
              <a:t> </a:t>
            </a:r>
            <a:r>
              <a:rPr sz="2025" b="0" dirty="0" err="1">
                <a:solidFill>
                  <a:srgbClr val="173044"/>
                </a:solidFill>
                <a:latin typeface="Aptos"/>
                <a:ea typeface="Aptos"/>
                <a:cs typeface="Aptos"/>
              </a:rPr>
              <a:t>espace</a:t>
            </a:r>
            <a:r>
              <a:rPr sz="2025" b="0" dirty="0">
                <a:solidFill>
                  <a:srgbClr val="173044"/>
                </a:solidFill>
                <a:latin typeface="Aptos"/>
                <a:ea typeface="Aptos"/>
                <a:cs typeface="Aptos"/>
              </a:rPr>
              <a:t> et </a:t>
            </a:r>
            <a:r>
              <a:rPr sz="2025" b="0" dirty="0" err="1">
                <a:solidFill>
                  <a:srgbClr val="173044"/>
                </a:solidFill>
                <a:latin typeface="Aptos"/>
                <a:ea typeface="Aptos"/>
                <a:cs typeface="Aptos"/>
              </a:rPr>
              <a:t>en</a:t>
            </a:r>
            <a:r>
              <a:rPr sz="2025" b="0" dirty="0">
                <a:solidFill>
                  <a:srgbClr val="173044"/>
                </a:solidFill>
                <a:latin typeface="Aptos"/>
                <a:ea typeface="Aptos"/>
                <a:cs typeface="Aptos"/>
              </a:rPr>
              <a:t> maintenance.</a:t>
            </a:r>
          </a:p>
        </p:txBody>
      </p:sp>
      <p:sp>
        <p:nvSpPr>
          <p:cNvPr id="5" name="Rectangle 4">
            <a:extLst>
              <a:ext uri="{FF2B5EF4-FFF2-40B4-BE49-F238E27FC236}">
                <a16:creationId xmlns:a16="http://schemas.microsoft.com/office/drawing/2014/main" id="{FA38924F-CD87-403E-B986-988B13EC160A}"/>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969DFA5A-D3B0-456E-82B1-AB735ABF9C8C}"/>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idx_hist_couvrant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client_id, created_at DESC,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INCLUDE (statut, total);</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Examiner Heap Fetches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et la taille de l’index.</a:t>
            </a:r>
          </a:p>
        </p:txBody>
      </p:sp>
      <p:sp>
        <p:nvSpPr>
          <p:cNvPr id="7" name="Rectangle 6">
            <a:extLst>
              <a:ext uri="{FF2B5EF4-FFF2-40B4-BE49-F238E27FC236}">
                <a16:creationId xmlns:a16="http://schemas.microsoft.com/office/drawing/2014/main" id="{6FC1E81C-E52F-48A9-8A4B-B530D73058B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BDE041FD-4222-4EBB-AFEE-871CB4E41FC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L’absence d’accès à la table ne se déduit pas de la seule présence de INCLUDE.</a:t>
            </a:r>
          </a:p>
        </p:txBody>
      </p:sp>
      <p:sp>
        <p:nvSpPr>
          <p:cNvPr id="9" name="Rectangle 8">
            <a:extLst>
              <a:ext uri="{FF2B5EF4-FFF2-40B4-BE49-F238E27FC236}">
                <a16:creationId xmlns:a16="http://schemas.microsoft.com/office/drawing/2014/main" id="{A17BC976-0527-4FFC-BFC1-A820C3300E8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D42B5DD4-9D34-4CDE-92ED-77E81D5A3D4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09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44500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7C3DCDA-B271-4472-BB29-83EED555F07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C388D29D-7F9E-427A-977E-7EF422D67D0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coût d’écriture des index</a:t>
            </a:r>
          </a:p>
        </p:txBody>
      </p:sp>
      <p:sp>
        <p:nvSpPr>
          <p:cNvPr id="4" name="Rectangle 3">
            <a:extLst>
              <a:ext uri="{FF2B5EF4-FFF2-40B4-BE49-F238E27FC236}">
                <a16:creationId xmlns:a16="http://schemas.microsoft.com/office/drawing/2014/main" id="{E1378645-44D6-4066-A99A-85AF4DA760F8}"/>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dirty="0">
                <a:solidFill>
                  <a:srgbClr val="173044"/>
                </a:solidFill>
                <a:latin typeface="Aptos"/>
                <a:ea typeface="Aptos"/>
                <a:cs typeface="Aptos"/>
              </a:rPr>
              <a:t>Une insertion doit </a:t>
            </a:r>
            <a:r>
              <a:rPr sz="2025" b="0" dirty="0" err="1">
                <a:solidFill>
                  <a:srgbClr val="173044"/>
                </a:solidFill>
                <a:latin typeface="Aptos"/>
                <a:ea typeface="Aptos"/>
                <a:cs typeface="Aptos"/>
              </a:rPr>
              <a:t>créer</a:t>
            </a:r>
            <a:r>
              <a:rPr sz="2025" b="0" dirty="0">
                <a:solidFill>
                  <a:srgbClr val="173044"/>
                </a:solidFill>
                <a:latin typeface="Aptos"/>
                <a:ea typeface="Aptos"/>
                <a:cs typeface="Aptos"/>
              </a:rPr>
              <a:t> la </a:t>
            </a:r>
            <a:r>
              <a:rPr sz="2025" b="0" dirty="0" err="1">
                <a:solidFill>
                  <a:srgbClr val="173044"/>
                </a:solidFill>
                <a:latin typeface="Aptos"/>
                <a:ea typeface="Aptos"/>
                <a:cs typeface="Aptos"/>
              </a:rPr>
              <a:t>ligne</a:t>
            </a:r>
            <a:r>
              <a:rPr sz="2025" b="0" dirty="0">
                <a:solidFill>
                  <a:srgbClr val="173044"/>
                </a:solidFill>
                <a:latin typeface="Aptos"/>
                <a:ea typeface="Aptos"/>
                <a:cs typeface="Aptos"/>
              </a:rPr>
              <a:t> et </a:t>
            </a:r>
            <a:r>
              <a:rPr sz="2025" b="0" dirty="0" err="1">
                <a:solidFill>
                  <a:srgbClr val="173044"/>
                </a:solidFill>
                <a:latin typeface="Aptos"/>
                <a:ea typeface="Aptos"/>
                <a:cs typeface="Aptos"/>
              </a:rPr>
              <a:t>maintenir</a:t>
            </a:r>
            <a:r>
              <a:rPr sz="2025" b="0" dirty="0">
                <a:solidFill>
                  <a:srgbClr val="173044"/>
                </a:solidFill>
                <a:latin typeface="Aptos"/>
                <a:ea typeface="Aptos"/>
                <a:cs typeface="Aptos"/>
              </a:rPr>
              <a:t> les index </a:t>
            </a:r>
            <a:r>
              <a:rPr sz="2025" b="0" dirty="0" err="1">
                <a:solidFill>
                  <a:srgbClr val="173044"/>
                </a:solidFill>
                <a:latin typeface="Aptos"/>
                <a:ea typeface="Aptos"/>
                <a:cs typeface="Aptos"/>
              </a:rPr>
              <a:t>concernés</a:t>
            </a:r>
            <a:r>
              <a:rPr sz="2025" b="0" dirty="0">
                <a:solidFill>
                  <a:srgbClr val="173044"/>
                </a:solidFill>
                <a:latin typeface="Aptos"/>
                <a:ea typeface="Aptos"/>
                <a:cs typeface="Aptos"/>
              </a:rPr>
              <a:t>. Une mise à jour </a:t>
            </a:r>
            <a:r>
              <a:rPr sz="2025" b="0" dirty="0" err="1">
                <a:solidFill>
                  <a:srgbClr val="173044"/>
                </a:solidFill>
                <a:latin typeface="Aptos"/>
                <a:ea typeface="Aptos"/>
                <a:cs typeface="Aptos"/>
              </a:rPr>
              <a:t>d’une</a:t>
            </a:r>
            <a:r>
              <a:rPr sz="2025" b="0" dirty="0">
                <a:solidFill>
                  <a:srgbClr val="173044"/>
                </a:solidFill>
                <a:latin typeface="Aptos"/>
                <a:ea typeface="Aptos"/>
                <a:cs typeface="Aptos"/>
              </a:rPr>
              <a:t> </a:t>
            </a:r>
            <a:r>
              <a:rPr sz="2025" b="0" dirty="0" err="1">
                <a:solidFill>
                  <a:srgbClr val="173044"/>
                </a:solidFill>
                <a:latin typeface="Aptos"/>
                <a:ea typeface="Aptos"/>
                <a:cs typeface="Aptos"/>
              </a:rPr>
              <a:t>valeur</a:t>
            </a:r>
            <a:r>
              <a:rPr sz="2025" b="0" dirty="0">
                <a:solidFill>
                  <a:srgbClr val="173044"/>
                </a:solidFill>
                <a:latin typeface="Aptos"/>
                <a:ea typeface="Aptos"/>
                <a:cs typeface="Aptos"/>
              </a:rPr>
              <a:t> </a:t>
            </a:r>
            <a:r>
              <a:rPr sz="2025" b="0" dirty="0" err="1">
                <a:solidFill>
                  <a:srgbClr val="173044"/>
                </a:solidFill>
                <a:latin typeface="Aptos"/>
                <a:ea typeface="Aptos"/>
                <a:cs typeface="Aptos"/>
              </a:rPr>
              <a:t>indexée</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peut</a:t>
            </a:r>
            <a:r>
              <a:rPr sz="2025" b="0" dirty="0">
                <a:solidFill>
                  <a:srgbClr val="173044"/>
                </a:solidFill>
                <a:latin typeface="Aptos"/>
                <a:ea typeface="Aptos"/>
                <a:cs typeface="Aptos"/>
              </a:rPr>
              <a:t> demander de </a:t>
            </a:r>
            <a:r>
              <a:rPr sz="2025" b="0" dirty="0" err="1">
                <a:solidFill>
                  <a:srgbClr val="173044"/>
                </a:solidFill>
                <a:latin typeface="Aptos"/>
                <a:ea typeface="Aptos"/>
                <a:cs typeface="Aptos"/>
              </a:rPr>
              <a:t>nouvelles</a:t>
            </a:r>
            <a:r>
              <a:rPr sz="2025" b="0" dirty="0">
                <a:solidFill>
                  <a:srgbClr val="173044"/>
                </a:solidFill>
                <a:latin typeface="Aptos"/>
                <a:ea typeface="Aptos"/>
                <a:cs typeface="Aptos"/>
              </a:rPr>
              <a:t> entrées. Les modifications </a:t>
            </a:r>
            <a:r>
              <a:rPr sz="2025" b="0" dirty="0" err="1">
                <a:solidFill>
                  <a:srgbClr val="173044"/>
                </a:solidFill>
                <a:latin typeface="Aptos"/>
                <a:ea typeface="Aptos"/>
                <a:cs typeface="Aptos"/>
              </a:rPr>
              <a:t>produisent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aussi</a:t>
            </a:r>
            <a:r>
              <a:rPr sz="2025" b="0" dirty="0">
                <a:solidFill>
                  <a:srgbClr val="173044"/>
                </a:solidFill>
                <a:latin typeface="Aptos"/>
                <a:ea typeface="Aptos"/>
                <a:cs typeface="Aptos"/>
              </a:rPr>
              <a:t> du </a:t>
            </a:r>
            <a:r>
              <a:rPr sz="2025" b="1" dirty="0">
                <a:solidFill>
                  <a:srgbClr val="173044"/>
                </a:solidFill>
                <a:latin typeface="Aptos"/>
                <a:ea typeface="Aptos"/>
                <a:cs typeface="Aptos"/>
              </a:rPr>
              <a:t>WAL</a:t>
            </a:r>
            <a:r>
              <a:rPr sz="2025" b="0" dirty="0">
                <a:solidFill>
                  <a:srgbClr val="173044"/>
                </a:solidFill>
                <a:latin typeface="Aptos"/>
                <a:ea typeface="Aptos"/>
                <a:cs typeface="Aptos"/>
              </a:rPr>
              <a:t> </a:t>
            </a:r>
            <a:r>
              <a:rPr lang="fr-FR" sz="2025" dirty="0">
                <a:solidFill>
                  <a:srgbClr val="173044"/>
                </a:solidFill>
                <a:latin typeface="Aptos"/>
                <a:ea typeface="Aptos"/>
                <a:cs typeface="Aptos"/>
              </a:rPr>
              <a:t>(</a:t>
            </a:r>
            <a:r>
              <a:rPr lang="fr-FR" sz="2025" dirty="0">
                <a:solidFill>
                  <a:srgbClr val="173044"/>
                </a:solidFill>
                <a:latin typeface="Aptos"/>
              </a:rPr>
              <a:t>Write-</a:t>
            </a:r>
            <a:r>
              <a:rPr lang="fr-FR" sz="2025" dirty="0" err="1">
                <a:solidFill>
                  <a:srgbClr val="173044"/>
                </a:solidFill>
                <a:latin typeface="Aptos"/>
              </a:rPr>
              <a:t>Ahead</a:t>
            </a:r>
            <a:r>
              <a:rPr lang="fr-FR" sz="2025" dirty="0">
                <a:solidFill>
                  <a:srgbClr val="173044"/>
                </a:solidFill>
                <a:latin typeface="Aptos"/>
              </a:rPr>
              <a:t> Log) </a:t>
            </a:r>
            <a:r>
              <a:rPr sz="2025" b="0" dirty="0">
                <a:solidFill>
                  <a:srgbClr val="173044"/>
                </a:solidFill>
                <a:latin typeface="Aptos"/>
                <a:ea typeface="Aptos"/>
                <a:cs typeface="Aptos"/>
              </a:rPr>
              <a:t>et </a:t>
            </a:r>
            <a:r>
              <a:rPr sz="2025" b="0" dirty="0" err="1">
                <a:solidFill>
                  <a:srgbClr val="173044"/>
                </a:solidFill>
                <a:latin typeface="Aptos"/>
                <a:ea typeface="Aptos"/>
                <a:cs typeface="Aptos"/>
              </a:rPr>
              <a:t>consomment</a:t>
            </a:r>
            <a:r>
              <a:rPr sz="2025" b="0" dirty="0">
                <a:solidFill>
                  <a:srgbClr val="173044"/>
                </a:solidFill>
                <a:latin typeface="Aptos"/>
                <a:ea typeface="Aptos"/>
                <a:cs typeface="Aptos"/>
              </a:rPr>
              <a:t> de la </a:t>
            </a:r>
            <a:r>
              <a:rPr sz="2025" b="0" dirty="0" err="1">
                <a:solidFill>
                  <a:srgbClr val="173044"/>
                </a:solidFill>
                <a:latin typeface="Aptos"/>
                <a:ea typeface="Aptos"/>
                <a:cs typeface="Aptos"/>
              </a:rPr>
              <a:t>mémoire</a:t>
            </a:r>
            <a:r>
              <a:rPr sz="2025" b="0" dirty="0">
                <a:solidFill>
                  <a:srgbClr val="173044"/>
                </a:solidFill>
                <a:latin typeface="Aptos"/>
                <a:ea typeface="Aptos"/>
                <a:cs typeface="Aptos"/>
              </a:rPr>
              <a:t> et du stockage.</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a:solidFill>
                  <a:srgbClr val="173044"/>
                </a:solidFill>
                <a:latin typeface="Aptos"/>
                <a:ea typeface="Aptos"/>
                <a:cs typeface="Aptos"/>
              </a:rPr>
              <a:t>On </a:t>
            </a:r>
            <a:r>
              <a:rPr sz="2025" b="0" dirty="0" err="1">
                <a:solidFill>
                  <a:srgbClr val="173044"/>
                </a:solidFill>
                <a:latin typeface="Aptos"/>
                <a:ea typeface="Aptos"/>
                <a:cs typeface="Aptos"/>
              </a:rPr>
              <a:t>évalue</a:t>
            </a:r>
            <a:r>
              <a:rPr sz="2025" b="0" dirty="0">
                <a:solidFill>
                  <a:srgbClr val="173044"/>
                </a:solidFill>
                <a:latin typeface="Aptos"/>
                <a:ea typeface="Aptos"/>
                <a:cs typeface="Aptos"/>
              </a:rPr>
              <a:t> </a:t>
            </a:r>
            <a:r>
              <a:rPr sz="2025" b="0" dirty="0" err="1">
                <a:solidFill>
                  <a:srgbClr val="173044"/>
                </a:solidFill>
                <a:latin typeface="Aptos"/>
                <a:ea typeface="Aptos"/>
                <a:cs typeface="Aptos"/>
              </a:rPr>
              <a:t>donc</a:t>
            </a:r>
            <a:r>
              <a:rPr sz="2025" b="0" dirty="0">
                <a:solidFill>
                  <a:srgbClr val="173044"/>
                </a:solidFill>
                <a:latin typeface="Aptos"/>
                <a:ea typeface="Aptos"/>
                <a:cs typeface="Aptos"/>
              </a:rPr>
              <a:t> le </a:t>
            </a:r>
            <a:r>
              <a:rPr sz="2025" b="0" dirty="0" err="1">
                <a:solidFill>
                  <a:srgbClr val="173044"/>
                </a:solidFill>
                <a:latin typeface="Aptos"/>
                <a:ea typeface="Aptos"/>
                <a:cs typeface="Aptos"/>
              </a:rPr>
              <a:t>bénéfice</a:t>
            </a:r>
            <a:r>
              <a:rPr sz="2025" b="0" dirty="0">
                <a:solidFill>
                  <a:srgbClr val="173044"/>
                </a:solidFill>
                <a:latin typeface="Aptos"/>
                <a:ea typeface="Aptos"/>
                <a:cs typeface="Aptos"/>
              </a:rPr>
              <a:t> de lecture face à la </a:t>
            </a:r>
            <a:r>
              <a:rPr sz="2025" b="0" dirty="0" err="1">
                <a:solidFill>
                  <a:srgbClr val="173044"/>
                </a:solidFill>
                <a:latin typeface="Aptos"/>
                <a:ea typeface="Aptos"/>
                <a:cs typeface="Aptos"/>
              </a:rPr>
              <a:t>fréquence</a:t>
            </a:r>
            <a:r>
              <a:rPr sz="2025" b="0" dirty="0">
                <a:solidFill>
                  <a:srgbClr val="173044"/>
                </a:solidFill>
                <a:latin typeface="Aptos"/>
                <a:ea typeface="Aptos"/>
                <a:cs typeface="Aptos"/>
              </a:rPr>
              <a:t> </a:t>
            </a:r>
            <a:r>
              <a:rPr sz="2025" b="0" dirty="0" err="1">
                <a:solidFill>
                  <a:srgbClr val="173044"/>
                </a:solidFill>
                <a:latin typeface="Aptos"/>
                <a:ea typeface="Aptos"/>
                <a:cs typeface="Aptos"/>
              </a:rPr>
              <a:t>d’écriture</a:t>
            </a:r>
            <a:r>
              <a:rPr sz="2025" b="0" dirty="0">
                <a:solidFill>
                  <a:srgbClr val="173044"/>
                </a:solidFill>
                <a:latin typeface="Aptos"/>
                <a:ea typeface="Aptos"/>
                <a:cs typeface="Aptos"/>
              </a:rPr>
              <a:t>. Dix index </a:t>
            </a:r>
            <a:r>
              <a:rPr sz="2025" b="0" dirty="0" err="1">
                <a:solidFill>
                  <a:srgbClr val="173044"/>
                </a:solidFill>
                <a:latin typeface="Aptos"/>
                <a:ea typeface="Aptos"/>
                <a:cs typeface="Aptos"/>
              </a:rPr>
              <a:t>utiles</a:t>
            </a:r>
            <a:r>
              <a:rPr sz="2025" b="0" dirty="0">
                <a:solidFill>
                  <a:srgbClr val="173044"/>
                </a:solidFill>
                <a:latin typeface="Aptos"/>
                <a:ea typeface="Aptos"/>
                <a:cs typeface="Aptos"/>
              </a:rPr>
              <a:t> à dix </a:t>
            </a:r>
            <a:r>
              <a:rPr sz="2025" b="0" dirty="0" err="1">
                <a:solidFill>
                  <a:srgbClr val="173044"/>
                </a:solidFill>
                <a:latin typeface="Aptos"/>
                <a:ea typeface="Aptos"/>
                <a:cs typeface="Aptos"/>
              </a:rPr>
              <a:t>requêtes</a:t>
            </a:r>
            <a:r>
              <a:rPr sz="2025" b="0" dirty="0">
                <a:solidFill>
                  <a:srgbClr val="173044"/>
                </a:solidFill>
                <a:latin typeface="Aptos"/>
                <a:ea typeface="Aptos"/>
                <a:cs typeface="Aptos"/>
              </a:rPr>
              <a:t> </a:t>
            </a:r>
            <a:r>
              <a:rPr sz="2025" b="0" dirty="0" err="1">
                <a:solidFill>
                  <a:srgbClr val="173044"/>
                </a:solidFill>
                <a:latin typeface="Aptos"/>
                <a:ea typeface="Aptos"/>
                <a:cs typeface="Aptos"/>
              </a:rPr>
              <a:t>rares</a:t>
            </a:r>
            <a:r>
              <a:rPr sz="2025" b="0" dirty="0">
                <a:solidFill>
                  <a:srgbClr val="173044"/>
                </a:solidFill>
                <a:latin typeface="Aptos"/>
                <a:ea typeface="Aptos"/>
                <a:cs typeface="Aptos"/>
              </a:rPr>
              <a:t> </a:t>
            </a:r>
            <a:r>
              <a:rPr sz="2025" b="0" dirty="0" err="1">
                <a:solidFill>
                  <a:srgbClr val="173044"/>
                </a:solidFill>
                <a:latin typeface="Aptos"/>
                <a:ea typeface="Aptos"/>
                <a:cs typeface="Aptos"/>
              </a:rPr>
              <a:t>peuvent</a:t>
            </a:r>
            <a:r>
              <a:rPr sz="2025" b="0" dirty="0">
                <a:solidFill>
                  <a:srgbClr val="173044"/>
                </a:solidFill>
                <a:latin typeface="Aptos"/>
                <a:ea typeface="Aptos"/>
                <a:cs typeface="Aptos"/>
              </a:rPr>
              <a:t> </a:t>
            </a:r>
            <a:r>
              <a:rPr sz="2025" b="0" dirty="0" err="1">
                <a:solidFill>
                  <a:srgbClr val="173044"/>
                </a:solidFill>
                <a:latin typeface="Aptos"/>
                <a:ea typeface="Aptos"/>
                <a:cs typeface="Aptos"/>
              </a:rPr>
              <a:t>pénaliser</a:t>
            </a:r>
            <a:r>
              <a:rPr sz="2025" b="0" dirty="0">
                <a:solidFill>
                  <a:srgbClr val="173044"/>
                </a:solidFill>
                <a:latin typeface="Aptos"/>
                <a:ea typeface="Aptos"/>
                <a:cs typeface="Aptos"/>
              </a:rPr>
              <a:t> un flux </a:t>
            </a:r>
            <a:r>
              <a:rPr sz="2025" b="0" dirty="0" err="1">
                <a:solidFill>
                  <a:srgbClr val="173044"/>
                </a:solidFill>
                <a:latin typeface="Aptos"/>
                <a:ea typeface="Aptos"/>
                <a:cs typeface="Aptos"/>
              </a:rPr>
              <a:t>d’import</a:t>
            </a:r>
            <a:r>
              <a:rPr sz="2025" b="0" dirty="0">
                <a:solidFill>
                  <a:srgbClr val="173044"/>
                </a:solidFill>
                <a:latin typeface="Aptos"/>
                <a:ea typeface="Aptos"/>
                <a:cs typeface="Aptos"/>
              </a:rPr>
              <a:t> important. Une </a:t>
            </a:r>
            <a:r>
              <a:rPr sz="2025" b="0" dirty="0" err="1">
                <a:solidFill>
                  <a:srgbClr val="173044"/>
                </a:solidFill>
                <a:latin typeface="Aptos"/>
                <a:ea typeface="Aptos"/>
                <a:cs typeface="Aptos"/>
              </a:rPr>
              <a:t>décision</a:t>
            </a:r>
            <a:r>
              <a:rPr sz="2025" b="0" dirty="0">
                <a:solidFill>
                  <a:srgbClr val="173044"/>
                </a:solidFill>
                <a:latin typeface="Aptos"/>
                <a:ea typeface="Aptos"/>
                <a:cs typeface="Aptos"/>
              </a:rPr>
              <a:t> doit </a:t>
            </a:r>
            <a:r>
              <a:rPr sz="2025" b="0" dirty="0" err="1">
                <a:solidFill>
                  <a:srgbClr val="173044"/>
                </a:solidFill>
                <a:latin typeface="Aptos"/>
                <a:ea typeface="Aptos"/>
                <a:cs typeface="Aptos"/>
              </a:rPr>
              <a:t>considérer</a:t>
            </a:r>
            <a:r>
              <a:rPr sz="2025" b="0" dirty="0">
                <a:solidFill>
                  <a:srgbClr val="173044"/>
                </a:solidFill>
                <a:latin typeface="Aptos"/>
                <a:ea typeface="Aptos"/>
                <a:cs typeface="Aptos"/>
              </a:rPr>
              <a:t> la charge </a:t>
            </a:r>
            <a:r>
              <a:rPr sz="2025" b="0" dirty="0" err="1">
                <a:solidFill>
                  <a:srgbClr val="173044"/>
                </a:solidFill>
                <a:latin typeface="Aptos"/>
                <a:ea typeface="Aptos"/>
                <a:cs typeface="Aptos"/>
              </a:rPr>
              <a:t>complète</a:t>
            </a:r>
            <a:r>
              <a:rPr sz="2025" b="0" dirty="0">
                <a:solidFill>
                  <a:srgbClr val="173044"/>
                </a:solidFill>
                <a:latin typeface="Aptos"/>
                <a:ea typeface="Aptos"/>
                <a:cs typeface="Aptos"/>
              </a:rPr>
              <a:t>.</a:t>
            </a:r>
          </a:p>
        </p:txBody>
      </p:sp>
      <p:sp>
        <p:nvSpPr>
          <p:cNvPr id="5" name="Rectangle 4">
            <a:extLst>
              <a:ext uri="{FF2B5EF4-FFF2-40B4-BE49-F238E27FC236}">
                <a16:creationId xmlns:a16="http://schemas.microsoft.com/office/drawing/2014/main" id="{11490DC9-3F2F-47F7-9E94-528B2B57A1A4}"/>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Durée d’un lot en ms</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A40C755E-AF9D-4A33-AA1A-7D519332DE3A}"/>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Valeurs fictives de démonstration. Aucune mesure exécutée.</a:t>
            </a:r>
          </a:p>
        </p:txBody>
      </p:sp>
      <p:sp>
        <p:nvSpPr>
          <p:cNvPr id="8" name="Rectangle 7">
            <a:extLst>
              <a:ext uri="{FF2B5EF4-FFF2-40B4-BE49-F238E27FC236}">
                <a16:creationId xmlns:a16="http://schemas.microsoft.com/office/drawing/2014/main" id="{8DE09576-686D-46FF-A7BF-5CB6FBF22E05}"/>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F3E17C9E-E9FC-44AD-9188-C5588DABFD46}"/>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Valeurs fictives pour illustrer le compromis, sans résultat de benchmark.</a:t>
            </a:r>
          </a:p>
        </p:txBody>
      </p:sp>
      <p:sp>
        <p:nvSpPr>
          <p:cNvPr id="10" name="Rectangle 9">
            <a:extLst>
              <a:ext uri="{FF2B5EF4-FFF2-40B4-BE49-F238E27FC236}">
                <a16:creationId xmlns:a16="http://schemas.microsoft.com/office/drawing/2014/main" id="{05A1B572-16F0-43CD-B3A9-90727789BCAE}"/>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F69E0DE8-3540-47BC-ADC8-51B53534A3E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10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97927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6772B72-71F1-4114-964F-0D12506B1C2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913BEF87-682A-491D-BED2-2416B162D1B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redondants et index inutilisés</a:t>
            </a:r>
          </a:p>
        </p:txBody>
      </p:sp>
      <p:sp>
        <p:nvSpPr>
          <p:cNvPr id="4" name="Rectangle 3">
            <a:extLst>
              <a:ext uri="{FF2B5EF4-FFF2-40B4-BE49-F238E27FC236}">
                <a16:creationId xmlns:a16="http://schemas.microsoft.com/office/drawing/2014/main" id="{2A7C33B9-83CE-4175-AE39-37EE997F29D9}"/>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4865534D-5463-4340-99E7-447CBF253E2F}"/>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Deux index qui partagent un préfixe peuvent se recouvrir, sans être parfaitement équivalents. Leurs tailles, l’unicité, les prédicats et les colonnes incluses peuvent justifier leur coexistence.</a:t>
            </a:r>
          </a:p>
        </p:txBody>
      </p:sp>
      <p:sp>
        <p:nvSpPr>
          <p:cNvPr id="6" name="Rectangle 5">
            <a:extLst>
              <a:ext uri="{FF2B5EF4-FFF2-40B4-BE49-F238E27FC236}">
                <a16:creationId xmlns:a16="http://schemas.microsoft.com/office/drawing/2014/main" id="{38573B76-D377-4738-B125-AFA8C76E7870}"/>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3C39F132-C42C-4F5B-A2B8-3B0CBC4BAC1C}"/>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compteur d’utilisation nul sur une courte fenêtre ne prouve pas qu’un index soit inutile. Il peut protéger une contrainte ou servir à une opération mensuelle. On observe une période représentative et on vérifie les usages avant suppression.</a:t>
            </a:r>
          </a:p>
        </p:txBody>
      </p:sp>
      <p:sp>
        <p:nvSpPr>
          <p:cNvPr id="8" name="Rectangle 7">
            <a:extLst>
              <a:ext uri="{FF2B5EF4-FFF2-40B4-BE49-F238E27FC236}">
                <a16:creationId xmlns:a16="http://schemas.microsoft.com/office/drawing/2014/main" id="{5048FA24-E3F6-437A-B1E1-D40F7EAB963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3D126667-C341-403D-BAB1-7258566530F0}"/>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migration conserve un retour arrière et documente les requêtes concernées.</a:t>
            </a:r>
          </a:p>
        </p:txBody>
      </p:sp>
      <p:sp>
        <p:nvSpPr>
          <p:cNvPr id="10" name="Rectangle 9">
            <a:extLst>
              <a:ext uri="{FF2B5EF4-FFF2-40B4-BE49-F238E27FC236}">
                <a16:creationId xmlns:a16="http://schemas.microsoft.com/office/drawing/2014/main" id="{E1CBA71A-0FF6-41DC-AFAE-7E3A73180BC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FBCB6FC5-1A4B-48B2-878D-C917D60F3F5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11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876395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6B063D5-F33E-4318-BB82-938DCB9174D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E70D4F5B-D9B3-49D0-A3D2-5E0DEC01168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3 : l’historique client</a:t>
            </a:r>
          </a:p>
        </p:txBody>
      </p:sp>
      <p:sp>
        <p:nvSpPr>
          <p:cNvPr id="4" name="Rectangle 3">
            <a:extLst>
              <a:ext uri="{FF2B5EF4-FFF2-40B4-BE49-F238E27FC236}">
                <a16:creationId xmlns:a16="http://schemas.microsoft.com/office/drawing/2014/main" id="{8D750311-C5DB-4041-B9FE-D2813ACB5785}"/>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94BB8225-5F40-43DC-ADD6-CC625FD3504C}"/>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Comparer la base initiale, un index simple sur client_id, l’index composé et sa variante couvrante. Tester plusieurs clients, dont le client 42. Réinitialiser les variantes pour éviter leur concurrence dans le plan.</a:t>
            </a:r>
          </a:p>
        </p:txBody>
      </p:sp>
      <p:sp>
        <p:nvSpPr>
          <p:cNvPr id="6" name="Rectangle 5">
            <a:extLst>
              <a:ext uri="{FF2B5EF4-FFF2-40B4-BE49-F238E27FC236}">
                <a16:creationId xmlns:a16="http://schemas.microsoft.com/office/drawing/2014/main" id="{A11CF538-69E5-4476-9889-1260AE55358B}"/>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1DFC4FBE-BDAB-4BC4-85E8-12B7DC73708B}"/>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Conserver la requête, le plan, les buffers, la taille des index et les répétitions. Comparer aussi un lot d’insertion dans une transaction de laboratoire. Expliquer le gain ou l’absence de gain.</a:t>
            </a:r>
          </a:p>
        </p:txBody>
      </p:sp>
      <p:sp>
        <p:nvSpPr>
          <p:cNvPr id="8" name="Rectangle 7">
            <a:extLst>
              <a:ext uri="{FF2B5EF4-FFF2-40B4-BE49-F238E27FC236}">
                <a16:creationId xmlns:a16="http://schemas.microsoft.com/office/drawing/2014/main" id="{C6ED68DC-B9F0-4438-A228-64BC33BAD99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7B8DC429-F0BB-478F-A8C4-1F5D613A94D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Livrable : un tableau de décision. Temps prévu : 1 h 30.</a:t>
            </a:r>
          </a:p>
        </p:txBody>
      </p:sp>
      <p:sp>
        <p:nvSpPr>
          <p:cNvPr id="10" name="Rectangle 9">
            <a:extLst>
              <a:ext uri="{FF2B5EF4-FFF2-40B4-BE49-F238E27FC236}">
                <a16:creationId xmlns:a16="http://schemas.microsoft.com/office/drawing/2014/main" id="{AE46B029-C6AC-4500-B8EB-60AE82E8A96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C4C0D7D9-92A4-494F-B918-0120B4750F3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12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351932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E601E05-42CE-474E-8ED4-52756688125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33667349-9404-4E1C-86D3-33CFECFEE36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L’index partiel</a:t>
            </a:r>
          </a:p>
        </p:txBody>
      </p:sp>
      <p:sp>
        <p:nvSpPr>
          <p:cNvPr id="4" name="Rectangle 3">
            <a:extLst>
              <a:ext uri="{FF2B5EF4-FFF2-40B4-BE49-F238E27FC236}">
                <a16:creationId xmlns:a16="http://schemas.microsoft.com/office/drawing/2014/main" id="{91E4DC0F-ECB6-414F-B6D9-28805BA0C189}"/>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index partiel ne contient que les lignes qui satisfont un prédicat. Il peut être pertinent pour un sous-ensemble souvent consulté, comme les commandes à traiter, tout en limitant la taille de l’index.</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La requête doit permettre au planificateur de reconnaître que sa condition implique le prédicat. Certains plans génériques paramétrés ne permettent pas cette preuve. La compatibilité se teste avec le SQL réellement émis par l’application.</a:t>
            </a:r>
          </a:p>
        </p:txBody>
      </p:sp>
      <p:sp>
        <p:nvSpPr>
          <p:cNvPr id="5" name="Rectangle 4">
            <a:extLst>
              <a:ext uri="{FF2B5EF4-FFF2-40B4-BE49-F238E27FC236}">
                <a16:creationId xmlns:a16="http://schemas.microsoft.com/office/drawing/2014/main" id="{E9BA8D5A-526E-4052-B8E8-AC839658F982}"/>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6F11843D-8C68-45A4-9C43-3F26176AD2BB}"/>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idx_attente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(created_at, 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statut = 'en_attente';</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statut = 'en_attente'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created_at, 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LIMIT 100;</a:t>
            </a:r>
          </a:p>
        </p:txBody>
      </p:sp>
      <p:sp>
        <p:nvSpPr>
          <p:cNvPr id="7" name="Rectangle 6">
            <a:extLst>
              <a:ext uri="{FF2B5EF4-FFF2-40B4-BE49-F238E27FC236}">
                <a16:creationId xmlns:a16="http://schemas.microsoft.com/office/drawing/2014/main" id="{E4C7F0C4-36BC-436C-A9FA-0ECF0382966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341C2CB9-67E0-4CA9-9E34-CD7BB95C370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statut du laboratoire comprend payee, en_attente et annulee.</a:t>
            </a:r>
          </a:p>
        </p:txBody>
      </p:sp>
      <p:sp>
        <p:nvSpPr>
          <p:cNvPr id="9" name="Rectangle 8">
            <a:extLst>
              <a:ext uri="{FF2B5EF4-FFF2-40B4-BE49-F238E27FC236}">
                <a16:creationId xmlns:a16="http://schemas.microsoft.com/office/drawing/2014/main" id="{2B5A5B6D-3665-44B9-A4E3-489F4CCE60D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D606A0C7-07C5-4EEF-9A0E-A2C890AD77E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13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64997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0010CD7-372E-4239-993C-14D6CB96A721}"/>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A26CDB93-07D7-455D-9F1E-B6C5D4F0E04F}"/>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Un index partiel sur le bon sous-ensemble</a:t>
            </a:r>
          </a:p>
        </p:txBody>
      </p:sp>
      <p:sp>
        <p:nvSpPr>
          <p:cNvPr id="4" name="Rectangle 3">
            <a:extLst>
              <a:ext uri="{FF2B5EF4-FFF2-40B4-BE49-F238E27FC236}">
                <a16:creationId xmlns:a16="http://schemas.microsoft.com/office/drawing/2014/main" id="{657C81E1-4035-40B4-8522-51780210A085}"/>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460A39C1-0BF0-421F-B4FC-675EB8F0F6CE}"/>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 prédicat stable et utile définit un périmètre clair. L’index des commandes en attente suit les changements de statut. Son intérêt dépend de leur proportion et de la fréquence du traitement.</a:t>
            </a:r>
          </a:p>
        </p:txBody>
      </p:sp>
      <p:sp>
        <p:nvSpPr>
          <p:cNvPr id="6" name="Rectangle 5">
            <a:extLst>
              <a:ext uri="{FF2B5EF4-FFF2-40B4-BE49-F238E27FC236}">
                <a16:creationId xmlns:a16="http://schemas.microsoft.com/office/drawing/2014/main" id="{5CEAC521-C6F9-49DF-B4E3-CB922C305D0B}"/>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Un index fondé sur « les sept derniers jours » avec now() dans le prédicat pose notamment un problème d’immuabilité. La date relative change sans écriture des lignes. Le partitionnement ou un filtre explicite peuvent mieux répondre au besoin.</a:t>
            </a:r>
          </a:p>
        </p:txBody>
      </p:sp>
      <p:sp>
        <p:nvSpPr>
          <p:cNvPr id="7" name="Rectangle 6">
            <a:extLst>
              <a:ext uri="{FF2B5EF4-FFF2-40B4-BE49-F238E27FC236}">
                <a16:creationId xmlns:a16="http://schemas.microsoft.com/office/drawing/2014/main" id="{09A17F5B-4647-4C1F-9A4B-336CA129ADE8}"/>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E8EA3377-43BC-4A69-A57B-7DA6290C17E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Une règle temporelle dynamique ne devient pas automatiquement un prédicat d’index valide.</a:t>
            </a:r>
          </a:p>
        </p:txBody>
      </p:sp>
      <p:sp>
        <p:nvSpPr>
          <p:cNvPr id="9" name="Rectangle 8">
            <a:extLst>
              <a:ext uri="{FF2B5EF4-FFF2-40B4-BE49-F238E27FC236}">
                <a16:creationId xmlns:a16="http://schemas.microsoft.com/office/drawing/2014/main" id="{EEEC7E58-FC0F-4D80-99F1-7B3A4181E45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B3CFD3B2-04DA-4F6F-8B15-0DC76F7721D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14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339812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6295977-9415-40AC-9E86-2867F792C96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17EDAB6B-A392-4484-ACDC-52E96244BB0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Index d’expression</a:t>
            </a:r>
          </a:p>
        </p:txBody>
      </p:sp>
      <p:sp>
        <p:nvSpPr>
          <p:cNvPr id="4" name="Rectangle 3">
            <a:extLst>
              <a:ext uri="{FF2B5EF4-FFF2-40B4-BE49-F238E27FC236}">
                <a16:creationId xmlns:a16="http://schemas.microsoft.com/office/drawing/2014/main" id="{EAD93A5F-A9DE-4562-83E3-49C467EC1445}"/>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index d’expression conserve la valeur calculée d’une expression. Pour une recherche insensible à la casse sur l’email, on peut indexer lower(email), puis utiliser cette expression dans la requête.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L’expression doit respecter les exigences du moteur, notamment l’immuabilité des fonctions utilisées. La transformation doit aussi correspondre au métier : règles de casse et de comparaison ne signifient pas toujours identité des valeurs.</a:t>
            </a:r>
          </a:p>
        </p:txBody>
      </p:sp>
      <p:sp>
        <p:nvSpPr>
          <p:cNvPr id="5" name="Rectangle 4">
            <a:extLst>
              <a:ext uri="{FF2B5EF4-FFF2-40B4-BE49-F238E27FC236}">
                <a16:creationId xmlns:a16="http://schemas.microsoft.com/office/drawing/2014/main" id="{6A659E88-4DD4-4EAA-B10D-F8FC1760000A}"/>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9C3B35C5-D0F6-4A88-88B2-FEC11E2DEC0A}"/>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idx_email_min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clients (lower(email));</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FROM clients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lower(email)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lower('ETUDIANT42@EXAMPLE.TEST');</a:t>
            </a:r>
          </a:p>
        </p:txBody>
      </p:sp>
      <p:sp>
        <p:nvSpPr>
          <p:cNvPr id="7" name="Rectangle 6">
            <a:extLst>
              <a:ext uri="{FF2B5EF4-FFF2-40B4-BE49-F238E27FC236}">
                <a16:creationId xmlns:a16="http://schemas.microsoft.com/office/drawing/2014/main" id="{1B0F4B77-35B8-4829-B40E-04053D9367B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D2E9EC7E-3C89-43BA-A02C-FCBE91B5FC8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variante ci-contre accélère la recherche. Une contrainte d’unicité demande une décision supplémentaire.</a:t>
            </a:r>
          </a:p>
        </p:txBody>
      </p:sp>
      <p:sp>
        <p:nvSpPr>
          <p:cNvPr id="9" name="Rectangle 8">
            <a:extLst>
              <a:ext uri="{FF2B5EF4-FFF2-40B4-BE49-F238E27FC236}">
                <a16:creationId xmlns:a16="http://schemas.microsoft.com/office/drawing/2014/main" id="{57F7C9C6-8C3E-4DEA-AF50-BABDA1B7664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4FE0EB94-6F91-4D36-841E-0911AB1556F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15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662814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EE8EDDF-B6D7-45CF-A6BE-14B1450778F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C8D016F4-F9DD-4969-897E-0A87DE3FDC4D}"/>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GIN : un index inversé</a:t>
            </a:r>
          </a:p>
        </p:txBody>
      </p:sp>
      <p:sp>
        <p:nvSpPr>
          <p:cNvPr id="4" name="Rectangle 3">
            <a:extLst>
              <a:ext uri="{FF2B5EF4-FFF2-40B4-BE49-F238E27FC236}">
                <a16:creationId xmlns:a16="http://schemas.microsoft.com/office/drawing/2014/main" id="{C3E23354-3631-44D4-8AB3-B8D735283D28}"/>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GIN associe des éléments à des ensembles de lignes. Il convient à des valeurs composées que l’on interroge par appartenance ou présence, par exemple un document de recherche ou certaines opérations JSONB.</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Dans produits.attributs, la requête peut chercher la présence d’une paire catégorie/valeur. La classe d’opérateurs détermine les conditions prises en charge. Un GIN n’accélère pas toutes les fonctions JSON ni un tri arbitraire.</a:t>
            </a:r>
          </a:p>
        </p:txBody>
      </p:sp>
      <p:sp>
        <p:nvSpPr>
          <p:cNvPr id="5" name="Rectangle 4">
            <a:extLst>
              <a:ext uri="{FF2B5EF4-FFF2-40B4-BE49-F238E27FC236}">
                <a16:creationId xmlns:a16="http://schemas.microsoft.com/office/drawing/2014/main" id="{EFA365B9-7336-4799-93FF-6082FA151B04}"/>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84E6895E-058A-4998-9AF1-9657133C4331}"/>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idx_attributs_gin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produits USING gin (attributs);</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nom FROM produits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attributs @&gt;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'{"categorie":"livre"}'::jsonb;</a:t>
            </a:r>
          </a:p>
        </p:txBody>
      </p:sp>
      <p:sp>
        <p:nvSpPr>
          <p:cNvPr id="7" name="Rectangle 6">
            <a:extLst>
              <a:ext uri="{FF2B5EF4-FFF2-40B4-BE49-F238E27FC236}">
                <a16:creationId xmlns:a16="http://schemas.microsoft.com/office/drawing/2014/main" id="{CB9E3A2B-C057-40BD-99C1-0825A60CFC3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7BFA4133-AEE4-4A76-88DD-8B114A904ED4}"/>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L’index jsonb_ops par défaut est utilisé dans cet exemple.</a:t>
            </a:r>
          </a:p>
        </p:txBody>
      </p:sp>
      <p:sp>
        <p:nvSpPr>
          <p:cNvPr id="9" name="Rectangle 8">
            <a:extLst>
              <a:ext uri="{FF2B5EF4-FFF2-40B4-BE49-F238E27FC236}">
                <a16:creationId xmlns:a16="http://schemas.microsoft.com/office/drawing/2014/main" id="{6016A4D9-7D68-4262-9787-39CF2995B67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33BAC490-1793-4034-B2F9-EEBC8F5ED87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16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852822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41D6C98-7C9B-476B-8A8A-081C5DE51A5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F5044839-C669-421C-8CA3-9A423441B52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GIN et le coût du modèle JSON</a:t>
            </a:r>
          </a:p>
        </p:txBody>
      </p:sp>
      <p:sp>
        <p:nvSpPr>
          <p:cNvPr id="4" name="Rectangle 3">
            <a:extLst>
              <a:ext uri="{FF2B5EF4-FFF2-40B4-BE49-F238E27FC236}">
                <a16:creationId xmlns:a16="http://schemas.microsoft.com/office/drawing/2014/main" id="{E66C778B-AF96-4630-81F1-85808A8BAF0C}"/>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F06A5268-F329-413B-9D5C-5A1DC37EEB39}"/>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JSONB autorise des attributs variables sans créer une colonne pour chacun. Une propriété structurante, très utilisée dans les filtres ou les contraintes, peut cependant mériter une colonne typée.</a:t>
            </a:r>
          </a:p>
        </p:txBody>
      </p:sp>
      <p:sp>
        <p:nvSpPr>
          <p:cNvPr id="6" name="Rectangle 5">
            <a:extLst>
              <a:ext uri="{FF2B5EF4-FFF2-40B4-BE49-F238E27FC236}">
                <a16:creationId xmlns:a16="http://schemas.microsoft.com/office/drawing/2014/main" id="{E80A6473-C1B7-4B3A-B442-82045D48C8BA}"/>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9FCFF86A-94E2-4C7D-929A-04D2F9EE4E32}"/>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index sur tout le document peut être plus lourd qu’un index ciblé. Les changements d’attributs exigent sa maintenance. On compare une colonne categorie, une expression et un GIN selon les requêtes, les écritures et l’évolution du modèle.</a:t>
            </a:r>
          </a:p>
        </p:txBody>
      </p:sp>
      <p:sp>
        <p:nvSpPr>
          <p:cNvPr id="8" name="Rectangle 7">
            <a:extLst>
              <a:ext uri="{FF2B5EF4-FFF2-40B4-BE49-F238E27FC236}">
                <a16:creationId xmlns:a16="http://schemas.microsoft.com/office/drawing/2014/main" id="{5ADFD8EB-5508-442D-8BE2-A0D65765C9E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2775A2D1-27C0-4E36-BA53-EA2CDA2F53E8}"/>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Dans ShopFlow, le prix et le stock restent des colonnes typées. Les caractéristiques secondaires peuvent être JSONB.</a:t>
            </a:r>
          </a:p>
        </p:txBody>
      </p:sp>
      <p:sp>
        <p:nvSpPr>
          <p:cNvPr id="10" name="Rectangle 9">
            <a:extLst>
              <a:ext uri="{FF2B5EF4-FFF2-40B4-BE49-F238E27FC236}">
                <a16:creationId xmlns:a16="http://schemas.microsoft.com/office/drawing/2014/main" id="{A27126C8-2D9E-4850-8462-C79F8A37849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0CB34B4B-A79A-4397-B9E7-FEA659EC3D9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17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2007977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446C8B6-A8A0-4BBF-84AC-543678A6233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2D8616D1-EF57-425E-A341-84CE30E4562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GiST : des recherches spécialisées</a:t>
            </a:r>
          </a:p>
        </p:txBody>
      </p:sp>
      <p:sp>
        <p:nvSpPr>
          <p:cNvPr id="4" name="Rectangle 3">
            <a:extLst>
              <a:ext uri="{FF2B5EF4-FFF2-40B4-BE49-F238E27FC236}">
                <a16:creationId xmlns:a16="http://schemas.microsoft.com/office/drawing/2014/main" id="{D4462628-9B86-4A19-B891-5A701570F1DA}"/>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GiST fournit un cadre d’indexation extensible pour des opérateurs spécialisés. Selon la classe d’opérateurs, il peut servir aux intervalles, à la recherche spatiale ou à la proximité. Ce n’est pas un index réservé à la géographie.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Dans une réservation, un intervalle représente une période occupée. Une condition de chevauchement répond au besoin de conflit. L’index doit prendre en charge l’opérateur employé.</a:t>
            </a:r>
          </a:p>
        </p:txBody>
      </p:sp>
      <p:sp>
        <p:nvSpPr>
          <p:cNvPr id="5" name="Rectangle 4">
            <a:extLst>
              <a:ext uri="{FF2B5EF4-FFF2-40B4-BE49-F238E27FC236}">
                <a16:creationId xmlns:a16="http://schemas.microsoft.com/office/drawing/2014/main" id="{AB4C8F95-3BF3-4C73-8CE6-666A98DD8D35}"/>
              </a:ext>
            </a:extLst>
          </p:cNvPr>
          <p:cNvSpPr>
            <a:spLocks noGrp="1"/>
          </p:cNvSpPr>
          <p:nvPr/>
        </p:nvSpPr>
        <p:spPr>
          <a:xfrm>
            <a:off x="7545234" y="1619148"/>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2834D819-D2C1-47D4-A7F8-09F3838377B1}"/>
              </a:ext>
            </a:extLst>
          </p:cNvPr>
          <p:cNvSpPr>
            <a:spLocks noGrp="1"/>
          </p:cNvSpPr>
          <p:nvPr/>
        </p:nvSpPr>
        <p:spPr>
          <a:xfrm>
            <a:off x="7545234" y="2015613"/>
            <a:ext cx="7000875" cy="4000500"/>
          </a:xfrm>
          <a:prstGeom prst="rect">
            <a:avLst/>
          </a:prstGeom>
          <a:noFill/>
          <a:ln w="0">
            <a:noFill/>
          </a:ln>
        </p:spPr>
        <p:txBody>
          <a:bodyPr lIns="91440" tIns="45720" rIns="91440" bIns="45720" anchor="t">
            <a:noAutofit/>
          </a:bodyPr>
          <a:lstStyle/>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CREATE TABLE reservations (</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id </a:t>
            </a:r>
            <a:r>
              <a:rPr sz="1800" b="0" dirty="0" err="1">
                <a:solidFill>
                  <a:srgbClr val="173044"/>
                </a:solidFill>
                <a:latin typeface="Consolas"/>
                <a:ea typeface="Consolas"/>
                <a:cs typeface="Consolas"/>
              </a:rPr>
              <a:t>bigint</a:t>
            </a:r>
            <a:r>
              <a:rPr sz="1800" b="0" dirty="0">
                <a:solidFill>
                  <a:srgbClr val="173044"/>
                </a:solidFill>
                <a:latin typeface="Consolas"/>
                <a:ea typeface="Consolas"/>
                <a:cs typeface="Consolas"/>
              </a:rPr>
              <a:t> PRIMARY KEY,</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periode</a:t>
            </a: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tstzrange</a:t>
            </a:r>
            <a:r>
              <a:rPr sz="1800" b="0" dirty="0">
                <a:solidFill>
                  <a:srgbClr val="173044"/>
                </a:solidFill>
                <a:latin typeface="Consolas"/>
                <a:ea typeface="Consolas"/>
                <a:cs typeface="Consolas"/>
              </a:rPr>
              <a:t> NOT NULL</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CREATE INDEX </a:t>
            </a:r>
            <a:r>
              <a:rPr sz="1800" b="0" dirty="0" err="1">
                <a:solidFill>
                  <a:srgbClr val="173044"/>
                </a:solidFill>
                <a:latin typeface="Consolas"/>
                <a:ea typeface="Consolas"/>
                <a:cs typeface="Consolas"/>
              </a:rPr>
              <a:t>idx_periode</a:t>
            </a:r>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ON reservations USING gist (</a:t>
            </a:r>
            <a:r>
              <a:rPr sz="1800" b="0" dirty="0" err="1">
                <a:solidFill>
                  <a:srgbClr val="173044"/>
                </a:solidFill>
                <a:latin typeface="Consolas"/>
                <a:ea typeface="Consolas"/>
                <a:cs typeface="Consolas"/>
              </a:rPr>
              <a:t>periode</a:t>
            </a:r>
            <a:r>
              <a:rPr sz="1800" b="0" dirty="0">
                <a:solidFill>
                  <a:srgbClr val="173044"/>
                </a:solidFill>
                <a:latin typeface="Consolas"/>
                <a:ea typeface="Consolas"/>
                <a:cs typeface="Consolas"/>
              </a:rPr>
              <a:t>);</a:t>
            </a: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a:t>
            </a:r>
            <a:r>
              <a:rPr sz="1800" b="0" dirty="0" err="1">
                <a:solidFill>
                  <a:srgbClr val="173044"/>
                </a:solidFill>
                <a:latin typeface="Consolas"/>
                <a:ea typeface="Consolas"/>
                <a:cs typeface="Consolas"/>
              </a:rPr>
              <a:t>Opérateur</a:t>
            </a:r>
            <a:r>
              <a:rPr sz="1800" b="0" dirty="0">
                <a:solidFill>
                  <a:srgbClr val="173044"/>
                </a:solidFill>
                <a:latin typeface="Consolas"/>
                <a:ea typeface="Consolas"/>
                <a:cs typeface="Consolas"/>
              </a:rPr>
              <a:t> &amp;&amp; : </a:t>
            </a:r>
            <a:r>
              <a:rPr sz="1800" b="0" dirty="0" err="1">
                <a:solidFill>
                  <a:srgbClr val="173044"/>
                </a:solidFill>
                <a:latin typeface="Consolas"/>
                <a:ea typeface="Consolas"/>
                <a:cs typeface="Consolas"/>
              </a:rPr>
              <a:t>chevauchement</a:t>
            </a:r>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dirty="0">
                <a:solidFill>
                  <a:srgbClr val="173044"/>
                </a:solidFill>
                <a:latin typeface="Consolas"/>
                <a:ea typeface="Consolas"/>
                <a:cs typeface="Consolas"/>
              </a:rPr>
              <a:t>-- entre deux </a:t>
            </a:r>
            <a:r>
              <a:rPr sz="1800" b="0" dirty="0" err="1">
                <a:solidFill>
                  <a:srgbClr val="173044"/>
                </a:solidFill>
                <a:latin typeface="Consolas"/>
                <a:ea typeface="Consolas"/>
                <a:cs typeface="Consolas"/>
              </a:rPr>
              <a:t>intervalles</a:t>
            </a:r>
            <a:r>
              <a:rPr sz="1800" b="0" dirty="0">
                <a:solidFill>
                  <a:srgbClr val="173044"/>
                </a:solidFill>
                <a:latin typeface="Consolas"/>
                <a:ea typeface="Consolas"/>
                <a:cs typeface="Consolas"/>
              </a:rPr>
              <a:t>.</a:t>
            </a:r>
          </a:p>
          <a:p>
            <a:pPr>
              <a:defRPr sz="1800" b="0">
                <a:solidFill>
                  <a:srgbClr val="173044"/>
                </a:solidFill>
                <a:latin typeface="Consolas"/>
                <a:ea typeface="Consolas"/>
                <a:cs typeface="Consolas"/>
              </a:defRPr>
            </a:pPr>
            <a:endParaRPr lang="fr-FR" dirty="0">
              <a:solidFill>
                <a:srgbClr val="173044"/>
              </a:solidFill>
              <a:latin typeface="Consolas"/>
              <a:ea typeface="Consolas"/>
              <a:cs typeface="Consolas"/>
            </a:endParaRPr>
          </a:p>
          <a:p>
            <a:pPr>
              <a:defRPr sz="1800" b="0">
                <a:solidFill>
                  <a:srgbClr val="173044"/>
                </a:solidFill>
                <a:latin typeface="Consolas"/>
                <a:ea typeface="Consolas"/>
                <a:cs typeface="Consolas"/>
              </a:defRPr>
            </a:pPr>
            <a:r>
              <a:rPr lang="en-US" dirty="0">
                <a:solidFill>
                  <a:srgbClr val="173044"/>
                </a:solidFill>
                <a:ea typeface="+mn-lt"/>
                <a:cs typeface="+mn-lt"/>
              </a:rPr>
              <a:t>INSERT INTO reservations (id, </a:t>
            </a:r>
            <a:r>
              <a:rPr lang="en-US" dirty="0" err="1">
                <a:solidFill>
                  <a:srgbClr val="173044"/>
                </a:solidFill>
                <a:ea typeface="+mn-lt"/>
                <a:cs typeface="+mn-lt"/>
              </a:rPr>
              <a:t>periode</a:t>
            </a:r>
            <a:r>
              <a:rPr lang="en-US" dirty="0">
                <a:solidFill>
                  <a:srgbClr val="173044"/>
                </a:solidFill>
                <a:ea typeface="+mn-lt"/>
                <a:cs typeface="+mn-lt"/>
              </a:rPr>
              <a:t>)</a:t>
            </a:r>
            <a:endParaRPr lang="en-US" dirty="0"/>
          </a:p>
          <a:p>
            <a:pPr>
              <a:defRPr sz="1800" b="0">
                <a:solidFill>
                  <a:srgbClr val="173044"/>
                </a:solidFill>
                <a:latin typeface="Consolas"/>
                <a:ea typeface="Consolas"/>
                <a:cs typeface="Consolas"/>
              </a:defRPr>
            </a:pPr>
            <a:r>
              <a:rPr lang="en-US" dirty="0">
                <a:solidFill>
                  <a:srgbClr val="173044"/>
                </a:solidFill>
                <a:ea typeface="+mn-lt"/>
                <a:cs typeface="+mn-lt"/>
              </a:rPr>
              <a:t>VALUES (</a:t>
            </a:r>
            <a:endParaRPr lang="en-US" dirty="0"/>
          </a:p>
          <a:p>
            <a:pPr>
              <a:defRPr sz="1800" b="0">
                <a:solidFill>
                  <a:srgbClr val="173044"/>
                </a:solidFill>
                <a:latin typeface="Consolas"/>
                <a:ea typeface="Consolas"/>
                <a:cs typeface="Consolas"/>
              </a:defRPr>
            </a:pPr>
            <a:r>
              <a:rPr lang="en-US" dirty="0">
                <a:solidFill>
                  <a:srgbClr val="173044"/>
                </a:solidFill>
                <a:ea typeface="+mn-lt"/>
                <a:cs typeface="+mn-lt"/>
              </a:rPr>
              <a:t>    1,</a:t>
            </a:r>
            <a:endParaRPr lang="en-US" dirty="0"/>
          </a:p>
          <a:p>
            <a:pPr>
              <a:defRPr sz="1800" b="0">
                <a:solidFill>
                  <a:srgbClr val="173044"/>
                </a:solidFill>
                <a:latin typeface="Consolas"/>
                <a:ea typeface="Consolas"/>
                <a:cs typeface="Consolas"/>
              </a:defRPr>
            </a:pPr>
            <a:r>
              <a:rPr lang="en-US" dirty="0">
                <a:solidFill>
                  <a:srgbClr val="173044"/>
                </a:solidFill>
                <a:ea typeface="+mn-lt"/>
                <a:cs typeface="+mn-lt"/>
              </a:rPr>
              <a:t>    </a:t>
            </a:r>
            <a:r>
              <a:rPr lang="en-US" dirty="0" err="1">
                <a:solidFill>
                  <a:srgbClr val="173044"/>
                </a:solidFill>
                <a:ea typeface="+mn-lt"/>
                <a:cs typeface="+mn-lt"/>
              </a:rPr>
              <a:t>tstzrange</a:t>
            </a:r>
            <a:r>
              <a:rPr lang="en-US" dirty="0">
                <a:solidFill>
                  <a:srgbClr val="173044"/>
                </a:solidFill>
                <a:ea typeface="+mn-lt"/>
                <a:cs typeface="+mn-lt"/>
              </a:rPr>
              <a:t>(</a:t>
            </a:r>
            <a:endParaRPr lang="en-US" dirty="0"/>
          </a:p>
          <a:p>
            <a:pPr>
              <a:defRPr sz="1800" b="0">
                <a:solidFill>
                  <a:srgbClr val="173044"/>
                </a:solidFill>
                <a:latin typeface="Consolas"/>
                <a:ea typeface="Consolas"/>
                <a:cs typeface="Consolas"/>
              </a:defRPr>
            </a:pPr>
            <a:r>
              <a:rPr lang="en-US" dirty="0">
                <a:solidFill>
                  <a:srgbClr val="173044"/>
                </a:solidFill>
                <a:ea typeface="+mn-lt"/>
                <a:cs typeface="+mn-lt"/>
              </a:rPr>
              <a:t>        '2026-10-10 14:00+02',</a:t>
            </a:r>
            <a:endParaRPr lang="en-US" dirty="0"/>
          </a:p>
          <a:p>
            <a:pPr>
              <a:defRPr sz="1800" b="0">
                <a:solidFill>
                  <a:srgbClr val="173044"/>
                </a:solidFill>
                <a:latin typeface="Consolas"/>
                <a:ea typeface="Consolas"/>
                <a:cs typeface="Consolas"/>
              </a:defRPr>
            </a:pPr>
            <a:r>
              <a:rPr lang="en-US" dirty="0">
                <a:solidFill>
                  <a:srgbClr val="173044"/>
                </a:solidFill>
                <a:ea typeface="+mn-lt"/>
                <a:cs typeface="+mn-lt"/>
              </a:rPr>
              <a:t>        '2026-10-10 16:00+02',</a:t>
            </a:r>
            <a:endParaRPr lang="en-US" dirty="0"/>
          </a:p>
          <a:p>
            <a:pPr>
              <a:defRPr sz="1800" b="0">
                <a:solidFill>
                  <a:srgbClr val="173044"/>
                </a:solidFill>
                <a:latin typeface="Consolas"/>
                <a:ea typeface="Consolas"/>
                <a:cs typeface="Consolas"/>
              </a:defRPr>
            </a:pPr>
            <a:r>
              <a:rPr lang="en-US" dirty="0">
                <a:solidFill>
                  <a:srgbClr val="173044"/>
                </a:solidFill>
                <a:ea typeface="+mn-lt"/>
                <a:cs typeface="+mn-lt"/>
              </a:rPr>
              <a:t>        '[)'));</a:t>
            </a:r>
            <a:endParaRPr lang="en-US" dirty="0"/>
          </a:p>
          <a:p>
            <a:pPr>
              <a:defRPr sz="1800" b="0">
                <a:solidFill>
                  <a:srgbClr val="173044"/>
                </a:solidFill>
                <a:latin typeface="Consolas"/>
                <a:ea typeface="Consolas"/>
                <a:cs typeface="Consolas"/>
              </a:defRPr>
            </a:pPr>
            <a:endParaRPr lang="fr-FR" dirty="0">
              <a:solidFill>
                <a:srgbClr val="173044"/>
              </a:solidFill>
              <a:ea typeface="+mn-lt"/>
              <a:cs typeface="+mn-lt"/>
            </a:endParaRPr>
          </a:p>
          <a:p>
            <a:pPr>
              <a:defRPr sz="1800" b="0">
                <a:solidFill>
                  <a:srgbClr val="173044"/>
                </a:solidFill>
                <a:latin typeface="Consolas"/>
                <a:ea typeface="Consolas"/>
                <a:cs typeface="Consolas"/>
              </a:defRPr>
            </a:pPr>
            <a:r>
              <a:rPr lang="en-US" dirty="0">
                <a:solidFill>
                  <a:srgbClr val="173044"/>
                </a:solidFill>
                <a:ea typeface="+mn-lt"/>
                <a:cs typeface="+mn-lt"/>
              </a:rPr>
              <a:t>SELECT *</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FROM reservations</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WHERE </a:t>
            </a:r>
            <a:r>
              <a:rPr lang="en-US" dirty="0" err="1">
                <a:solidFill>
                  <a:srgbClr val="173044"/>
                </a:solidFill>
                <a:ea typeface="+mn-lt"/>
                <a:cs typeface="+mn-lt"/>
              </a:rPr>
              <a:t>periode</a:t>
            </a:r>
            <a:r>
              <a:rPr lang="en-US" dirty="0">
                <a:solidFill>
                  <a:srgbClr val="173044"/>
                </a:solidFill>
                <a:ea typeface="+mn-lt"/>
                <a:cs typeface="+mn-lt"/>
              </a:rPr>
              <a:t> &amp;&amp; </a:t>
            </a:r>
            <a:r>
              <a:rPr lang="en-US" dirty="0" err="1">
                <a:solidFill>
                  <a:srgbClr val="173044"/>
                </a:solidFill>
                <a:ea typeface="+mn-lt"/>
                <a:cs typeface="+mn-lt"/>
              </a:rPr>
              <a:t>tstzrange</a:t>
            </a:r>
            <a:r>
              <a:rPr lang="en-US" dirty="0">
                <a:solidFill>
                  <a:srgbClr val="173044"/>
                </a:solidFill>
                <a:ea typeface="+mn-lt"/>
                <a:cs typeface="+mn-lt"/>
              </a:rPr>
              <a:t>(</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  '2026-10-10 14:00+02',</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  '2026-10-10 16:00+02'</a:t>
            </a:r>
            <a:endParaRPr lang="fr-FR" dirty="0"/>
          </a:p>
          <a:p>
            <a:pPr>
              <a:defRPr sz="1800" b="0">
                <a:solidFill>
                  <a:srgbClr val="173044"/>
                </a:solidFill>
                <a:latin typeface="Consolas"/>
                <a:ea typeface="Consolas"/>
                <a:cs typeface="Consolas"/>
              </a:defRPr>
            </a:pPr>
            <a:r>
              <a:rPr lang="en-US" dirty="0">
                <a:solidFill>
                  <a:srgbClr val="173044"/>
                </a:solidFill>
                <a:ea typeface="+mn-lt"/>
                <a:cs typeface="+mn-lt"/>
              </a:rPr>
              <a:t>);</a:t>
            </a:r>
            <a:endParaRPr lang="fr-FR" dirty="0"/>
          </a:p>
        </p:txBody>
      </p:sp>
      <p:sp>
        <p:nvSpPr>
          <p:cNvPr id="7" name="Rectangle 6">
            <a:extLst>
              <a:ext uri="{FF2B5EF4-FFF2-40B4-BE49-F238E27FC236}">
                <a16:creationId xmlns:a16="http://schemas.microsoft.com/office/drawing/2014/main" id="{27507855-0B80-4178-B179-FAD0AC42C15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2BF9FD9A-EDD1-4EE6-AADC-CDB65D958DB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L’exemple indépendant du fil rouge utilise le type tstzrange natif.</a:t>
            </a:r>
          </a:p>
        </p:txBody>
      </p:sp>
      <p:sp>
        <p:nvSpPr>
          <p:cNvPr id="9" name="Rectangle 8">
            <a:extLst>
              <a:ext uri="{FF2B5EF4-FFF2-40B4-BE49-F238E27FC236}">
                <a16:creationId xmlns:a16="http://schemas.microsoft.com/office/drawing/2014/main" id="{EC0A4AD0-FF93-4B30-AD83-77F5E661FA9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28999F40-FA47-4780-871E-5AE6EC93426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18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118749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BCDBEE4-FD37-40FB-B53F-10D02C388C3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9F2FF764-1377-4E06-B936-0F81D7605AA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BRIN et organisation physique</a:t>
            </a:r>
          </a:p>
        </p:txBody>
      </p:sp>
      <p:sp>
        <p:nvSpPr>
          <p:cNvPr id="4" name="Rectangle 3">
            <a:extLst>
              <a:ext uri="{FF2B5EF4-FFF2-40B4-BE49-F238E27FC236}">
                <a16:creationId xmlns:a16="http://schemas.microsoft.com/office/drawing/2014/main" id="{AF1E4416-E3F0-4A84-B4EB-2C7E12E17E09}"/>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BRIN conserve des résumés de plages de blocs. Il peut être compact et utile quand une valeur suit assez bien l’ordre physique des lignes, par exemple des événements ajoutés par date.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Si les valeurs sont dispersées au hasard dans les pages, les résumés éliminent moins de plages. BRIN ne remplace pas une recherche ciblée par identifiant. La corrélation physique et le volume expliquent son intérêt.</a:t>
            </a:r>
          </a:p>
        </p:txBody>
      </p:sp>
      <p:sp>
        <p:nvSpPr>
          <p:cNvPr id="5" name="Rectangle 4">
            <a:extLst>
              <a:ext uri="{FF2B5EF4-FFF2-40B4-BE49-F238E27FC236}">
                <a16:creationId xmlns:a16="http://schemas.microsoft.com/office/drawing/2014/main" id="{9FF5C662-C01D-444E-A739-7A1577386414}"/>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11C36CB2-9AC3-4F6F-A711-EE07895427DB}"/>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idx_date_brin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ON commandes USING brin (created_at);</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Mesurer un intervalle de dates.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Comparer aux parcours réellement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observés, sans imposer le BRIN.</a:t>
            </a:r>
          </a:p>
        </p:txBody>
      </p:sp>
      <p:sp>
        <p:nvSpPr>
          <p:cNvPr id="7" name="Rectangle 6">
            <a:extLst>
              <a:ext uri="{FF2B5EF4-FFF2-40B4-BE49-F238E27FC236}">
                <a16:creationId xmlns:a16="http://schemas.microsoft.com/office/drawing/2014/main" id="{CCDE27FF-15AC-45F7-A22C-E6AA1817ADE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A6F02C21-6B11-4BD0-9760-443F9D37A5D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Notre jeu mélange les dates par identifiant. Il fournit un contre-exemple possible à un BRIN efficace.</a:t>
            </a:r>
          </a:p>
        </p:txBody>
      </p:sp>
      <p:sp>
        <p:nvSpPr>
          <p:cNvPr id="9" name="Rectangle 8">
            <a:extLst>
              <a:ext uri="{FF2B5EF4-FFF2-40B4-BE49-F238E27FC236}">
                <a16:creationId xmlns:a16="http://schemas.microsoft.com/office/drawing/2014/main" id="{3F8450AF-5EA0-4E3A-8FA3-893FA4F4B2A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379FA569-AAA1-4212-96D8-DCC68E298F57}"/>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19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383094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C5C2F01-5E7C-4197-B5DD-9828F5D84B8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4CF1E7E1-4CE5-487C-A658-BCC31459F484}"/>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Comparaison des familles d’index</a:t>
            </a:r>
          </a:p>
        </p:txBody>
      </p:sp>
      <p:sp>
        <p:nvSpPr>
          <p:cNvPr id="4" name="Rectangle 3">
            <a:extLst>
              <a:ext uri="{FF2B5EF4-FFF2-40B4-BE49-F238E27FC236}">
                <a16:creationId xmlns:a16="http://schemas.microsoft.com/office/drawing/2014/main" id="{059AAA5F-D4FE-4DE2-B7C1-975388110177}"/>
              </a:ext>
            </a:extLst>
          </p:cNvPr>
          <p:cNvSpPr>
            <a:spLocks noGrp="1"/>
          </p:cNvSpPr>
          <p:nvPr/>
        </p:nvSpPr>
        <p:spPr>
          <a:xfrm>
            <a:off x="666750" y="2038350"/>
            <a:ext cx="13525500" cy="164782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type d’index découle des opérateurs et des chemins d’accès. B-tree, GIN, GiST et BRIN ne proposent pas la même organisation. Le moteur doit pouvoir associer la condition à la classe d’opérateurs.</a:t>
            </a:r>
          </a:p>
          <a:p>
            <a:pPr>
              <a:defRPr sz="2025" b="0">
                <a:solidFill>
                  <a:srgbClr val="173044"/>
                </a:solidFill>
                <a:latin typeface="Aptos"/>
                <a:ea typeface="Aptos"/>
                <a:cs typeface="Aptos"/>
              </a:defRPr>
            </a:pPr>
            <a:r>
              <a:rPr sz="2025" b="0">
                <a:solidFill>
                  <a:srgbClr val="173044"/>
                </a:solidFill>
                <a:latin typeface="Aptos"/>
                <a:ea typeface="Aptos"/>
                <a:cs typeface="Aptos"/>
              </a:rPr>
              <a:t>Le tableau sert de point de départ. La décision finale repose sur le plan et la charge réelle. Les index partiels et les colonnes INCLUDE sont des choix supplémentaires, pas des familles concurrentes.</a:t>
            </a:r>
          </a:p>
        </p:txBody>
      </p:sp>
      <p:graphicFrame>
        <p:nvGraphicFramePr>
          <p:cNvPr id="13" name="Tableau 12"/>
          <p:cNvGraphicFramePr/>
          <p:nvPr/>
        </p:nvGraphicFramePr>
        <p:xfrm>
          <a:off x="666750" y="3857625"/>
          <a:ext cx="13811250" cy="3333750"/>
        </p:xfrm>
        <a:graphic>
          <a:graphicData uri="http://schemas.openxmlformats.org/drawingml/2006/table">
            <a:tbl>
              <a:tblPr/>
              <a:tblGrid>
                <a:gridCol w="4603750">
                  <a:extLst>
                    <a:ext uri="{9D8B030D-6E8A-4147-A177-3AD203B41FA5}">
                      <a16:colId xmlns:a16="http://schemas.microsoft.com/office/drawing/2014/main" val="20000"/>
                    </a:ext>
                  </a:extLst>
                </a:gridCol>
                <a:gridCol w="4603750">
                  <a:extLst>
                    <a:ext uri="{9D8B030D-6E8A-4147-A177-3AD203B41FA5}">
                      <a16:colId xmlns:a16="http://schemas.microsoft.com/office/drawing/2014/main" val="20001"/>
                    </a:ext>
                  </a:extLst>
                </a:gridCol>
                <a:gridCol w="4603750">
                  <a:extLst>
                    <a:ext uri="{9D8B030D-6E8A-4147-A177-3AD203B41FA5}">
                      <a16:colId xmlns:a16="http://schemas.microsoft.com/office/drawing/2014/main" val="20002"/>
                    </a:ext>
                  </a:extLst>
                </a:gridCol>
              </a:tblGrid>
              <a:tr h="555625">
                <a:tc>
                  <a:txBody>
                    <a:bodyPr/>
                    <a:lstStyle/>
                    <a:p>
                      <a:r>
                        <a:rPr sz="1800" b="1">
                          <a:solidFill>
                            <a:srgbClr val="FFFFFF"/>
                          </a:solidFill>
                          <a:latin typeface="Aptos"/>
                          <a:ea typeface="Aptos"/>
                          <a:cs typeface="Aptos"/>
                        </a:rPr>
                        <a:t>Choix</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Accès typique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Coût ou limite</a:t>
                      </a:r>
                    </a:p>
                  </a:txBody>
                  <a:tcPr marL="142875" marR="142875" marT="114300" marB="114300" anchor="ctr">
                    <a:solidFill>
                      <a:srgbClr val="173C4C"/>
                    </a:solidFill>
                  </a:tcPr>
                </a:tc>
                <a:extLst>
                  <a:ext uri="{0D108BD9-81ED-4DB2-BD59-A6C34878D82A}">
                    <a16:rowId xmlns:a16="http://schemas.microsoft.com/office/drawing/2014/main" val="10000"/>
                  </a:ext>
                </a:extLst>
              </a:tr>
              <a:tr h="555625">
                <a:tc>
                  <a:txBody>
                    <a:bodyPr/>
                    <a:lstStyle/>
                    <a:p>
                      <a:r>
                        <a:rPr sz="1800">
                          <a:solidFill>
                            <a:srgbClr val="173044"/>
                          </a:solidFill>
                          <a:latin typeface="Aptos"/>
                          <a:ea typeface="Aptos"/>
                          <a:cs typeface="Aptos"/>
                        </a:rPr>
                        <a:t>B-tree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Égalité, intervalle, tri</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Taille et écritures</a:t>
                      </a:r>
                    </a:p>
                  </a:txBody>
                  <a:tcPr marL="142875" marR="142875" marT="114300" marB="114300" anchor="ctr">
                    <a:solidFill>
                      <a:srgbClr val="F2DEC6"/>
                    </a:solidFill>
                  </a:tcPr>
                </a:tc>
                <a:extLst>
                  <a:ext uri="{0D108BD9-81ED-4DB2-BD59-A6C34878D82A}">
                    <a16:rowId xmlns:a16="http://schemas.microsoft.com/office/drawing/2014/main" val="10001"/>
                  </a:ext>
                </a:extLst>
              </a:tr>
              <a:tr h="555625">
                <a:tc>
                  <a:txBody>
                    <a:bodyPr/>
                    <a:lstStyle/>
                    <a:p>
                      <a:r>
                        <a:rPr sz="1800">
                          <a:solidFill>
                            <a:srgbClr val="173044"/>
                          </a:solidFill>
                          <a:latin typeface="Aptos"/>
                          <a:ea typeface="Aptos"/>
                          <a:cs typeface="Aptos"/>
                        </a:rPr>
                        <a:t>GIN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Présence dans une valeur composée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Maintenance et opérateurs</a:t>
                      </a:r>
                    </a:p>
                  </a:txBody>
                  <a:tcPr marL="142875" marR="142875" marT="114300" marB="114300" anchor="ctr">
                    <a:solidFill>
                      <a:srgbClr val="F2DEC6"/>
                    </a:solidFill>
                  </a:tcPr>
                </a:tc>
                <a:extLst>
                  <a:ext uri="{0D108BD9-81ED-4DB2-BD59-A6C34878D82A}">
                    <a16:rowId xmlns:a16="http://schemas.microsoft.com/office/drawing/2014/main" val="10002"/>
                  </a:ext>
                </a:extLst>
              </a:tr>
              <a:tr h="555625">
                <a:tc>
                  <a:txBody>
                    <a:bodyPr/>
                    <a:lstStyle/>
                    <a:p>
                      <a:r>
                        <a:rPr sz="1800">
                          <a:solidFill>
                            <a:srgbClr val="173044"/>
                          </a:solidFill>
                          <a:latin typeface="Aptos"/>
                          <a:ea typeface="Aptos"/>
                          <a:cs typeface="Aptos"/>
                        </a:rPr>
                        <a:t>GiST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Intervalles, proximité selon classe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Opérateurs spécialisés</a:t>
                      </a:r>
                    </a:p>
                  </a:txBody>
                  <a:tcPr marL="142875" marR="142875" marT="114300" marB="114300" anchor="ctr">
                    <a:solidFill>
                      <a:srgbClr val="F2DEC6"/>
                    </a:solidFill>
                  </a:tcPr>
                </a:tc>
                <a:extLst>
                  <a:ext uri="{0D108BD9-81ED-4DB2-BD59-A6C34878D82A}">
                    <a16:rowId xmlns:a16="http://schemas.microsoft.com/office/drawing/2014/main" val="10003"/>
                  </a:ext>
                </a:extLst>
              </a:tr>
              <a:tr h="555625">
                <a:tc>
                  <a:txBody>
                    <a:bodyPr/>
                    <a:lstStyle/>
                    <a:p>
                      <a:r>
                        <a:rPr sz="1800">
                          <a:solidFill>
                            <a:srgbClr val="173044"/>
                          </a:solidFill>
                          <a:latin typeface="Aptos"/>
                          <a:ea typeface="Aptos"/>
                          <a:cs typeface="Aptos"/>
                        </a:rPr>
                        <a:t>BRIN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Plages corrélées aux blocs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Dispersion physique</a:t>
                      </a:r>
                    </a:p>
                  </a:txBody>
                  <a:tcPr marL="142875" marR="142875" marT="114300" marB="114300" anchor="ctr">
                    <a:solidFill>
                      <a:srgbClr val="F2DEC6"/>
                    </a:solidFill>
                  </a:tcPr>
                </a:tc>
                <a:extLst>
                  <a:ext uri="{0D108BD9-81ED-4DB2-BD59-A6C34878D82A}">
                    <a16:rowId xmlns:a16="http://schemas.microsoft.com/office/drawing/2014/main" val="10004"/>
                  </a:ext>
                </a:extLst>
              </a:tr>
              <a:tr h="555625">
                <a:tc>
                  <a:txBody>
                    <a:bodyPr/>
                    <a:lstStyle/>
                    <a:p>
                      <a:r>
                        <a:rPr sz="1800">
                          <a:solidFill>
                            <a:srgbClr val="173044"/>
                          </a:solidFill>
                          <a:latin typeface="Aptos"/>
                          <a:ea typeface="Aptos"/>
                          <a:cs typeface="Aptos"/>
                        </a:rPr>
                        <a:t>Partiel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Sous-ensemble identifié</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Preuve du prédicat</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0DAB8A3-CFBD-4312-9DB1-A4E028C72C32}"/>
              </a:ext>
            </a:extLst>
          </p:cNvPr>
          <p:cNvSpPr>
            <a:spLocks noGrp="1"/>
          </p:cNvSpPr>
          <p:nvPr/>
        </p:nvSpPr>
        <p:spPr>
          <a:xfrm>
            <a:off x="666750" y="7477125"/>
            <a:ext cx="13525500" cy="533400"/>
          </a:xfrm>
          <a:prstGeom prst="rect">
            <a:avLst/>
          </a:prstGeom>
          <a:noFill/>
          <a:ln w="0">
            <a:noFill/>
          </a:ln>
        </p:spPr>
        <p:txBody>
          <a:bodyPr>
            <a:noAutofit/>
          </a:bodyPr>
          <a:lstStyle/>
          <a:p>
            <a:pPr>
              <a:defRPr sz="1725" b="0">
                <a:solidFill>
                  <a:srgbClr val="173044"/>
                </a:solidFill>
                <a:latin typeface="Aptos"/>
                <a:ea typeface="Aptos"/>
                <a:cs typeface="Aptos"/>
              </a:defRPr>
            </a:pPr>
            <a:r>
              <a:rPr sz="1725" b="0">
                <a:solidFill>
                  <a:srgbClr val="173044"/>
                </a:solidFill>
                <a:latin typeface="Aptos"/>
                <a:ea typeface="Aptos"/>
                <a:cs typeface="Aptos"/>
              </a:rPr>
              <a:t>Un index partiel peut être un B-tree limité aux commandes en attente.</a:t>
            </a:r>
          </a:p>
        </p:txBody>
      </p:sp>
      <p:sp>
        <p:nvSpPr>
          <p:cNvPr id="7" name="Rectangle 6">
            <a:extLst>
              <a:ext uri="{FF2B5EF4-FFF2-40B4-BE49-F238E27FC236}">
                <a16:creationId xmlns:a16="http://schemas.microsoft.com/office/drawing/2014/main" id="{177144D3-5320-4604-B9BB-3DCB547108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8" name="Rectangle 7">
            <a:extLst>
              <a:ext uri="{FF2B5EF4-FFF2-40B4-BE49-F238E27FC236}">
                <a16:creationId xmlns:a16="http://schemas.microsoft.com/office/drawing/2014/main" id="{4C21FE0A-D5FD-4ADE-B477-A984B70AC71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20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944923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7BE2DB4-FA55-42DB-AA31-6B79B47CA49F}"/>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31A73835-84B5-44A2-9F18-51835EAE732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Une contrainte et un index</a:t>
            </a:r>
          </a:p>
        </p:txBody>
      </p:sp>
      <p:sp>
        <p:nvSpPr>
          <p:cNvPr id="4" name="Rectangle 3">
            <a:extLst>
              <a:ext uri="{FF2B5EF4-FFF2-40B4-BE49-F238E27FC236}">
                <a16:creationId xmlns:a16="http://schemas.microsoft.com/office/drawing/2014/main" id="{B4B3153E-3E2F-4941-A769-4A1FD43CFEA4}"/>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97C8E16A-2C02-4A47-8B45-76D7C09DAC8A}"/>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Une clé primaire et une contrainte UNIQUE s’appuient sur un index pour identifier les doublons. Leur rôle dépasse la performance. Les retirer peut supprimer une garantie métier essentielle.</a:t>
            </a:r>
          </a:p>
        </p:txBody>
      </p:sp>
      <p:sp>
        <p:nvSpPr>
          <p:cNvPr id="6" name="Rectangle 5">
            <a:extLst>
              <a:ext uri="{FF2B5EF4-FFF2-40B4-BE49-F238E27FC236}">
                <a16:creationId xmlns:a16="http://schemas.microsoft.com/office/drawing/2014/main" id="{0F901D11-4427-49A5-9704-754C70801C19}"/>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1D6E486C-423B-48ED-B9C0-A2550B97CFD4}"/>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PostgreSQL ne crée pas automatiquement un index sur chaque côté référençant d’une clé étrangère. Un accès à commandes.client_id ou une opération sur le client peut donc nécessiter un index supplémentaire, selon les usages.</a:t>
            </a:r>
          </a:p>
        </p:txBody>
      </p:sp>
      <p:sp>
        <p:nvSpPr>
          <p:cNvPr id="8" name="Rectangle 7">
            <a:extLst>
              <a:ext uri="{FF2B5EF4-FFF2-40B4-BE49-F238E27FC236}">
                <a16:creationId xmlns:a16="http://schemas.microsoft.com/office/drawing/2014/main" id="{85553594-3A0A-4885-B1B6-8160AA8C5655}"/>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CAB25400-823B-413D-A3B5-73B8DBC010F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lecture du DDL révèle les garanties déjà présentes avant toute optimisation.</a:t>
            </a:r>
          </a:p>
        </p:txBody>
      </p:sp>
      <p:sp>
        <p:nvSpPr>
          <p:cNvPr id="10" name="Rectangle 9">
            <a:extLst>
              <a:ext uri="{FF2B5EF4-FFF2-40B4-BE49-F238E27FC236}">
                <a16:creationId xmlns:a16="http://schemas.microsoft.com/office/drawing/2014/main" id="{BFE59D5A-A5E6-4C9E-B918-4029BEDCBEB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6A560720-19C0-468F-872C-40BC8BCC093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21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905551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4" name="Image 13"/>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94D7295-BD14-4D05-95AE-DB0E7EA0CE79}"/>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681D620E-0C71-42F7-8461-13C782D9E42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Décomposition verticale</a:t>
            </a:r>
          </a:p>
        </p:txBody>
      </p:sp>
      <p:sp>
        <p:nvSpPr>
          <p:cNvPr id="4" name="Rectangle 3">
            <a:extLst>
              <a:ext uri="{FF2B5EF4-FFF2-40B4-BE49-F238E27FC236}">
                <a16:creationId xmlns:a16="http://schemas.microsoft.com/office/drawing/2014/main" id="{4496F479-1A23-43F0-82B6-6A52E839ECB3}"/>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Une table peut séparer ses colonnes fréquemment consultées de valeurs volumineuses rarement utiles. Par exemple, une fiche produit courte et une table de descriptions longues peuvent éviter de charger ces descriptions dans une liste.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La décomposition verticale introduit un accès ou une jointure supplémentaire pour le détail. Elle n’est pas la création de plusieurs partitions temporelles. On justifie la séparation par les chemins d’accès et la taille des valeurs.</a:t>
            </a:r>
          </a:p>
        </p:txBody>
      </p:sp>
      <p:sp>
        <p:nvSpPr>
          <p:cNvPr id="5" name="Rectangle : coins arrondis 4">
            <a:extLst>
              <a:ext uri="{FF2B5EF4-FFF2-40B4-BE49-F238E27FC236}">
                <a16:creationId xmlns:a16="http://schemas.microsoft.com/office/drawing/2014/main" id="{86E77E92-3CFC-4453-A2F0-C44ADA9AC0E5}"/>
              </a:ext>
            </a:extLst>
          </p:cNvPr>
          <p:cNvSpPr>
            <a:spLocks noGrp="1"/>
          </p:cNvSpPr>
          <p:nvPr/>
        </p:nvSpPr>
        <p:spPr>
          <a:xfrm>
            <a:off x="7524750" y="309562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produits</a:t>
            </a:r>
          </a:p>
          <a:p>
            <a:pPr algn="ctr">
              <a:defRPr sz="1875" b="1">
                <a:solidFill>
                  <a:srgbClr val="FFFFFF"/>
                </a:solidFill>
                <a:latin typeface="Aptos"/>
                <a:ea typeface="Aptos"/>
                <a:cs typeface="Aptos"/>
              </a:defRPr>
            </a:pPr>
            <a:r>
              <a:rPr sz="1875" b="1">
                <a:solidFill>
                  <a:srgbClr val="FFFFFF"/>
                </a:solidFill>
                <a:latin typeface="Aptos"/>
                <a:ea typeface="Aptos"/>
                <a:cs typeface="Aptos"/>
              </a:rPr>
              <a:t>id, nom, prix</a:t>
            </a:r>
          </a:p>
        </p:txBody>
      </p:sp>
      <p:sp>
        <p:nvSpPr>
          <p:cNvPr id="6" name="Rectangle : coins arrondis 5">
            <a:extLst>
              <a:ext uri="{FF2B5EF4-FFF2-40B4-BE49-F238E27FC236}">
                <a16:creationId xmlns:a16="http://schemas.microsoft.com/office/drawing/2014/main" id="{72A09D7B-3AAA-4A2C-85A7-A780CB930BD5}"/>
              </a:ext>
            </a:extLst>
          </p:cNvPr>
          <p:cNvSpPr>
            <a:spLocks noGrp="1"/>
          </p:cNvSpPr>
          <p:nvPr/>
        </p:nvSpPr>
        <p:spPr>
          <a:xfrm>
            <a:off x="11696700" y="309562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descriptions</a:t>
            </a:r>
          </a:p>
          <a:p>
            <a:pPr algn="ctr">
              <a:defRPr sz="1875" b="1">
                <a:solidFill>
                  <a:srgbClr val="FFFFFF"/>
                </a:solidFill>
                <a:latin typeface="Aptos"/>
                <a:ea typeface="Aptos"/>
                <a:cs typeface="Aptos"/>
              </a:defRPr>
            </a:pPr>
            <a:r>
              <a:rPr sz="1875" b="1">
                <a:solidFill>
                  <a:srgbClr val="FFFFFF"/>
                </a:solidFill>
                <a:latin typeface="Aptos"/>
                <a:ea typeface="Aptos"/>
                <a:cs typeface="Aptos"/>
              </a:rPr>
              <a:t>produit_id, texte</a:t>
            </a:r>
          </a:p>
        </p:txBody>
      </p:sp>
      <p:sp>
        <p:nvSpPr>
          <p:cNvPr id="7" name="Flèche : droite 6">
            <a:extLst>
              <a:ext uri="{FF2B5EF4-FFF2-40B4-BE49-F238E27FC236}">
                <a16:creationId xmlns:a16="http://schemas.microsoft.com/office/drawing/2014/main" id="{0D329008-9A34-452C-9AB1-91CE4EBB971B}"/>
              </a:ext>
            </a:extLst>
          </p:cNvPr>
          <p:cNvSpPr>
            <a:spLocks noGrp="1"/>
          </p:cNvSpPr>
          <p:nvPr/>
        </p:nvSpPr>
        <p:spPr>
          <a:xfrm>
            <a:off x="10363200" y="3514725"/>
            <a:ext cx="1276350" cy="114300"/>
          </a:xfrm>
          <a:prstGeom prst="rightArrow">
            <a:avLst/>
          </a:prstGeom>
          <a:solidFill>
            <a:srgbClr val="69E0E3"/>
          </a:solidFill>
          <a:ln w="0">
            <a:noFill/>
          </a:ln>
        </p:spPr>
        <p:txBody>
          <a:bodyPr/>
          <a:lstStyle/>
          <a:p>
            <a:endParaRPr lang="fr-FR"/>
          </a:p>
        </p:txBody>
      </p:sp>
      <p:sp>
        <p:nvSpPr>
          <p:cNvPr id="8" name="Rectangle 7">
            <a:extLst>
              <a:ext uri="{FF2B5EF4-FFF2-40B4-BE49-F238E27FC236}">
                <a16:creationId xmlns:a16="http://schemas.microsoft.com/office/drawing/2014/main" id="{1AA3694B-855B-41F5-A15A-630E55E19118}"/>
              </a:ext>
            </a:extLst>
          </p:cNvPr>
          <p:cNvSpPr>
            <a:spLocks noGrp="1"/>
          </p:cNvSpPr>
          <p:nvPr/>
        </p:nvSpPr>
        <p:spPr>
          <a:xfrm>
            <a:off x="10429875" y="320040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clé commune</a:t>
            </a:r>
          </a:p>
        </p:txBody>
      </p:sp>
      <p:sp>
        <p:nvSpPr>
          <p:cNvPr id="9" name="Rectangle 8">
            <a:extLst>
              <a:ext uri="{FF2B5EF4-FFF2-40B4-BE49-F238E27FC236}">
                <a16:creationId xmlns:a16="http://schemas.microsoft.com/office/drawing/2014/main" id="{B788082A-AB92-41C2-94A7-F83E2C9FB80A}"/>
              </a:ext>
            </a:extLst>
          </p:cNvPr>
          <p:cNvSpPr>
            <a:spLocks noGrp="1"/>
          </p:cNvSpPr>
          <p:nvPr/>
        </p:nvSpPr>
        <p:spPr>
          <a:xfrm>
            <a:off x="7524750" y="5924550"/>
            <a:ext cx="6953250" cy="609600"/>
          </a:xfrm>
          <a:prstGeom prst="rect">
            <a:avLst/>
          </a:prstGeom>
          <a:noFill/>
          <a:ln w="0">
            <a:noFill/>
          </a:ln>
        </p:spPr>
        <p:txBody>
          <a:bodyPr>
            <a:noAutofit/>
          </a:bodyPr>
          <a:lstStyle/>
          <a:p>
            <a:pPr>
              <a:defRPr sz="1575" b="0">
                <a:solidFill>
                  <a:srgbClr val="BBD5DB"/>
                </a:solidFill>
                <a:latin typeface="Aptos"/>
                <a:ea typeface="Aptos"/>
                <a:cs typeface="Aptos"/>
              </a:defRPr>
            </a:pPr>
            <a:r>
              <a:rPr sz="1575" b="0">
                <a:solidFill>
                  <a:srgbClr val="BBD5DB"/>
                </a:solidFill>
                <a:latin typeface="Aptos"/>
                <a:ea typeface="Aptos"/>
                <a:cs typeface="Aptos"/>
              </a:rPr>
              <a:t>Séparation de colonnes. Toutes les lignes métier restent représentées.</a:t>
            </a:r>
          </a:p>
        </p:txBody>
      </p:sp>
      <p:sp>
        <p:nvSpPr>
          <p:cNvPr id="10" name="Rectangle 9">
            <a:extLst>
              <a:ext uri="{FF2B5EF4-FFF2-40B4-BE49-F238E27FC236}">
                <a16:creationId xmlns:a16="http://schemas.microsoft.com/office/drawing/2014/main" id="{7997F1F1-02F6-4050-86B7-23192699898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1" name="Rectangle 10">
            <a:extLst>
              <a:ext uri="{FF2B5EF4-FFF2-40B4-BE49-F238E27FC236}">
                <a16:creationId xmlns:a16="http://schemas.microsoft.com/office/drawing/2014/main" id="{2C5B32B2-E011-4DD5-9914-22F089F4529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maintien d’une clé commune préserve le lien entre les deux ensembles.</a:t>
            </a:r>
          </a:p>
        </p:txBody>
      </p:sp>
      <p:sp>
        <p:nvSpPr>
          <p:cNvPr id="12" name="Rectangle 11">
            <a:extLst>
              <a:ext uri="{FF2B5EF4-FFF2-40B4-BE49-F238E27FC236}">
                <a16:creationId xmlns:a16="http://schemas.microsoft.com/office/drawing/2014/main" id="{7E4F31C2-8139-4733-B2C9-6FFF893961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3" name="Rectangle 12">
            <a:extLst>
              <a:ext uri="{FF2B5EF4-FFF2-40B4-BE49-F238E27FC236}">
                <a16:creationId xmlns:a16="http://schemas.microsoft.com/office/drawing/2014/main" id="{7585A0EC-CABF-4EAA-9EF0-4AD2FDB74DC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22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506946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5B5FCE6-E43A-4ECA-8265-4A3A4FFE698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E2F48A8-EC36-49D8-B7DC-EFF7AE9DA16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Exemple SQL — séparer fiche et résumé</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0F013543-3DBB-4B7C-AD45-21E26FB6C851}"/>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Dans une bibliothèque, la liste des livres affiche le titre sans charger le résumé long. La fiche courte reste dans livres ; livres_details contient les champs consultés seulement sur la page de détail.
La clé primaire de livres_details est aussi une clé étrangère : une ligne de détail correspond au plus à un livre. Le détail nécessite ensuite une jointure.</a:t>
            </a:r>
            <a:endParaRPr sz="2025"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8216DA3B-6BC4-4B0D-8AA1-D0EC24256DFE}"/>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lang="fr-FR" sz="1350" b="1">
                <a:solidFill>
                  <a:srgbClr val="AD4C21"/>
                </a:solidFill>
                <a:latin typeface="Aptos"/>
                <a:ea typeface="Aptos"/>
                <a:cs typeface="Aptos"/>
              </a:rPr>
              <a:t>EXEMPLE COMMENTÉ · BIBLIOTHÈQUE</a:t>
            </a:r>
            <a:endParaRPr sz="1350" b="1">
              <a:solidFill>
                <a:srgbClr val="AD4C21"/>
              </a:solidFill>
              <a:latin typeface="Aptos"/>
              <a:ea typeface="Aptos"/>
              <a:cs typeface="Aptos"/>
            </a:endParaRPr>
          </a:p>
        </p:txBody>
      </p:sp>
      <p:sp>
        <p:nvSpPr>
          <p:cNvPr id="6" name="Rectangle 5">
            <a:extLst>
              <a:ext uri="{FF2B5EF4-FFF2-40B4-BE49-F238E27FC236}">
                <a16:creationId xmlns:a16="http://schemas.microsoft.com/office/drawing/2014/main" id="{D779A06E-09BC-4AEC-A2E9-508CAC45247F}"/>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lang="fr-FR" sz="1800" b="0">
                <a:solidFill>
                  <a:srgbClr val="173044"/>
                </a:solidFill>
                <a:latin typeface="Consolas"/>
                <a:ea typeface="Consolas"/>
                <a:cs typeface="Consolas"/>
              </a:rPr>
              <a:t>CREATE TABLE livres (
  id bigint PRIMARY KEY,
  titre text NOT NULL
);
CREATE TABLE livres_details (
  livre_id bigint PRIMARY KEY
    REFERENCES livres(id),
  resume text NOT NULL
);
SELECT id, titre FROM livres;</a:t>
            </a:r>
            <a:endParaRPr sz="1800" b="0">
              <a:solidFill>
                <a:srgbClr val="173044"/>
              </a:solidFill>
              <a:latin typeface="Consolas"/>
              <a:ea typeface="Consolas"/>
              <a:cs typeface="Consolas"/>
            </a:endParaRPr>
          </a:p>
        </p:txBody>
      </p:sp>
      <p:sp>
        <p:nvSpPr>
          <p:cNvPr id="7" name="Rectangle 6">
            <a:extLst>
              <a:ext uri="{FF2B5EF4-FFF2-40B4-BE49-F238E27FC236}">
                <a16:creationId xmlns:a16="http://schemas.microsoft.com/office/drawing/2014/main" id="{587B7FFC-82BE-4BE9-93D2-76D0197F01C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639528DA-314B-4A1B-8E3D-96DB73A64D9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Liste : livres seule. Détail : JOIN sur livre_id. Comparer les plans avant de séparer des colonnes.</a:t>
            </a:r>
            <a:endParaRPr sz="1875" b="0">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6E17E5BB-B804-48C9-B02B-A7F078333B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9C97AA61-BD89-4AA4-924A-C019D1F18A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23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62765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FF0C339-5AE7-43A0-8902-728DCB23640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1F40C36D-60D3-4835-91D9-E53F7FF331C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Dénormalisation et données dérivées</a:t>
            </a:r>
          </a:p>
        </p:txBody>
      </p:sp>
      <p:sp>
        <p:nvSpPr>
          <p:cNvPr id="4" name="Rectangle 3">
            <a:extLst>
              <a:ext uri="{FF2B5EF4-FFF2-40B4-BE49-F238E27FC236}">
                <a16:creationId xmlns:a16="http://schemas.microsoft.com/office/drawing/2014/main" id="{BB472A65-A28A-4977-B8C6-16580C3304EC}"/>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11E2CA6B-E48A-4BF5-8F93-67E79094BFC9}"/>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Une valeur dérivée peut éviter un calcul fréquent, à condition de définir son actualisation. Un compteur de commandes par client demande une règle lors d’une création, d’une annulation ou d’une correction.</a:t>
            </a:r>
          </a:p>
        </p:txBody>
      </p:sp>
      <p:sp>
        <p:nvSpPr>
          <p:cNvPr id="6" name="Rectangle 5">
            <a:extLst>
              <a:ext uri="{FF2B5EF4-FFF2-40B4-BE49-F238E27FC236}">
                <a16:creationId xmlns:a16="http://schemas.microsoft.com/office/drawing/2014/main" id="{771D8002-7662-41EA-8AC2-8AD74EF59297}"/>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L’application, un trigger ou un traitement asynchrone peut maintenir cette valeur. Chacun introduit un coût et un mode d’échec. Le dossier précise la source de vérité et une procédure de recalcul.</a:t>
            </a:r>
          </a:p>
        </p:txBody>
      </p:sp>
      <p:sp>
        <p:nvSpPr>
          <p:cNvPr id="7" name="Rectangle 6">
            <a:extLst>
              <a:ext uri="{FF2B5EF4-FFF2-40B4-BE49-F238E27FC236}">
                <a16:creationId xmlns:a16="http://schemas.microsoft.com/office/drawing/2014/main" id="{CB697261-7935-47DB-B255-B13665FED1A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2EF8C0D7-7106-4DCC-8562-3F2D936DA05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 cache et une vue matérialisée posent aussi la question de la fraîcheur des copies.</a:t>
            </a:r>
          </a:p>
        </p:txBody>
      </p:sp>
      <p:sp>
        <p:nvSpPr>
          <p:cNvPr id="9" name="Rectangle 8">
            <a:extLst>
              <a:ext uri="{FF2B5EF4-FFF2-40B4-BE49-F238E27FC236}">
                <a16:creationId xmlns:a16="http://schemas.microsoft.com/office/drawing/2014/main" id="{690D7AE0-932B-41AA-9801-D6E311E8E44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228C3DCD-3F5B-4B93-8CC0-81C3D68E011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24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011700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5B5FCE6-E43A-4ECA-8265-4A3A4FFE698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E2F48A8-EC36-49D8-B7DC-EFF7AE9DA16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Exemple SQL — matérialiser un compteur</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0F013543-3DBB-4B7C-AD45-21E26FB6C851}"/>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Pour un catalogue de films, nb_avis est une valeur calculée à partir des avis, pas une seconde source de vérité. Une vue matérialisée stocke le résultat de l’agrégation pour accélérer certaines lectures.
Elle ne se met pas à jour seule : prévoir quand lancer REFRESH, mesurer son coût et indiquer la fraîcheur attendue. Si le compteur doit être instantané, choisir un autre mécanisme de maintien.</a:t>
            </a:r>
            <a:endParaRPr sz="2025"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8216DA3B-6BC4-4B0D-8AA1-D0EC24256DFE}"/>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lang="fr-FR" sz="1350" b="1">
                <a:solidFill>
                  <a:srgbClr val="AD4C21"/>
                </a:solidFill>
                <a:latin typeface="Aptos"/>
                <a:ea typeface="Aptos"/>
                <a:cs typeface="Aptos"/>
              </a:rPr>
              <a:t>EXEMPLE COMMENTÉ · CINÉMA</a:t>
            </a:r>
            <a:endParaRPr sz="1350" b="1">
              <a:solidFill>
                <a:srgbClr val="AD4C21"/>
              </a:solidFill>
              <a:latin typeface="Aptos"/>
              <a:ea typeface="Aptos"/>
              <a:cs typeface="Aptos"/>
            </a:endParaRPr>
          </a:p>
        </p:txBody>
      </p:sp>
      <p:sp>
        <p:nvSpPr>
          <p:cNvPr id="6" name="Rectangle 5">
            <a:extLst>
              <a:ext uri="{FF2B5EF4-FFF2-40B4-BE49-F238E27FC236}">
                <a16:creationId xmlns:a16="http://schemas.microsoft.com/office/drawing/2014/main" id="{D779A06E-09BC-4AEC-A2E9-508CAC45247F}"/>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lang="fr-FR" sz="1800" b="0">
                <a:solidFill>
                  <a:srgbClr val="173044"/>
                </a:solidFill>
                <a:latin typeface="Consolas"/>
                <a:ea typeface="Consolas"/>
                <a:cs typeface="Consolas"/>
              </a:rPr>
              <a:t>CREATE MATERIALIZED VIEW stats_films AS
SELECT f.id, count(a.id) AS nb_avis
FROM films f
LEFT JOIN avis a ON a.film_id = f.id
GROUP BY f.id;
-- À planifier selon la fraîcheur voulue :
REFRESH MATERIALIZED VIEW stats_films;</a:t>
            </a:r>
            <a:endParaRPr sz="1800" b="0">
              <a:solidFill>
                <a:srgbClr val="173044"/>
              </a:solidFill>
              <a:latin typeface="Consolas"/>
              <a:ea typeface="Consolas"/>
              <a:cs typeface="Consolas"/>
            </a:endParaRPr>
          </a:p>
        </p:txBody>
      </p:sp>
      <p:sp>
        <p:nvSpPr>
          <p:cNvPr id="7" name="Rectangle 6">
            <a:extLst>
              <a:ext uri="{FF2B5EF4-FFF2-40B4-BE49-F238E27FC236}">
                <a16:creationId xmlns:a16="http://schemas.microsoft.com/office/drawing/2014/main" id="{587B7FFC-82BE-4BE9-93D2-76D0197F01C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639528DA-314B-4A1B-8E3D-96DB73A64D9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Les tables films et avis restent la source de vérité ; REFRESH recalcule la copie dérivée.</a:t>
            </a:r>
            <a:endParaRPr sz="1875" b="0">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6E17E5BB-B804-48C9-B02B-A7F078333B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9C97AA61-BD89-4AA4-924A-C019D1F18A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25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653783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41980D0C-8E04-4F29-A60A-FD16A4BBE94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9E36252A-67F7-425F-BE05-B3B4A540467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4 : index spécialisés</a:t>
            </a:r>
          </a:p>
        </p:txBody>
      </p:sp>
      <p:sp>
        <p:nvSpPr>
          <p:cNvPr id="4" name="Rectangle 3">
            <a:extLst>
              <a:ext uri="{FF2B5EF4-FFF2-40B4-BE49-F238E27FC236}">
                <a16:creationId xmlns:a16="http://schemas.microsoft.com/office/drawing/2014/main" id="{01BC4056-B2EC-4B7A-AEDA-AB8DF56D81D6}"/>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C476783F-CA3B-4A46-9148-8AA92D83A9EB}"/>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Créer les variantes partielle et GIN dans le laboratoire. Comparer leurs requêtes avec un filtre qui correspond au prédicat et un filtre qui ne correspond pas. Observer la taille et l’usage des index.</a:t>
            </a:r>
          </a:p>
        </p:txBody>
      </p:sp>
      <p:sp>
        <p:nvSpPr>
          <p:cNvPr id="6" name="Rectangle 5">
            <a:extLst>
              <a:ext uri="{FF2B5EF4-FFF2-40B4-BE49-F238E27FC236}">
                <a16:creationId xmlns:a16="http://schemas.microsoft.com/office/drawing/2014/main" id="{795F1293-1B2C-4A32-9665-C6E7AC189608}"/>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AE32824C-E3C2-4157-8316-9BE22ABBF6B1}"/>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Sur la petite table produits, un Seq Scan peut rester rationnel. Expliquer ce résultat et proposer un test à plus grand volume. Pour GiST, créer deux périodes qui se chevauchent et une période disjointe.</a:t>
            </a:r>
          </a:p>
        </p:txBody>
      </p:sp>
      <p:sp>
        <p:nvSpPr>
          <p:cNvPr id="8" name="Rectangle 7">
            <a:extLst>
              <a:ext uri="{FF2B5EF4-FFF2-40B4-BE49-F238E27FC236}">
                <a16:creationId xmlns:a16="http://schemas.microsoft.com/office/drawing/2014/main" id="{C56CB1B5-1933-4F55-BD7D-EDA5AD5AAE3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D9F472C2-D8EF-4178-ADB5-D6B556FC6B1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Livrable : choix d’index, opérateurs, résultats et conditions. Temps prévu : 1 h.</a:t>
            </a:r>
          </a:p>
        </p:txBody>
      </p:sp>
      <p:sp>
        <p:nvSpPr>
          <p:cNvPr id="10" name="Rectangle 9">
            <a:extLst>
              <a:ext uri="{FF2B5EF4-FFF2-40B4-BE49-F238E27FC236}">
                <a16:creationId xmlns:a16="http://schemas.microsoft.com/office/drawing/2014/main" id="{3BDF0C6E-760D-409E-A15A-AB270C001AA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E73E2591-38CD-4BC4-BA1D-D52984A82CD8}"/>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26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87637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9" name="Image 1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ED03091-2F3B-4E77-8306-38FFC8A78C8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7350F350-CB0D-496A-918C-CCD106BFA3D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Migration de schéma compatible</a:t>
            </a:r>
          </a:p>
        </p:txBody>
      </p:sp>
      <p:sp>
        <p:nvSpPr>
          <p:cNvPr id="4" name="Rectangle 3">
            <a:extLst>
              <a:ext uri="{FF2B5EF4-FFF2-40B4-BE49-F238E27FC236}">
                <a16:creationId xmlns:a16="http://schemas.microsoft.com/office/drawing/2014/main" id="{567E1685-9CF3-4843-AF2E-A5CBC8552A2C}"/>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Une migration progressive maintient une compatibilité temporaire entre les versions de l’application. Pour une nouvelle colonne, on peut ajouter la structure, adapter le code, remplir les anciennes lignes et renforcer ensuite les contraintes.</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Une opération sur une grande table peut attendre un verrou ou consommer des ressources. La migration prévoit une fenêtre, une surveillance et un retour arrière. Le SQL qui réussit sur 1 000 lignes n’est pas une preuve suffisante pour un volume de production.</a:t>
            </a:r>
          </a:p>
        </p:txBody>
      </p:sp>
      <p:sp>
        <p:nvSpPr>
          <p:cNvPr id="5" name="Rectangle : coins arrondis 4">
            <a:extLst>
              <a:ext uri="{FF2B5EF4-FFF2-40B4-BE49-F238E27FC236}">
                <a16:creationId xmlns:a16="http://schemas.microsoft.com/office/drawing/2014/main" id="{B96B18E9-1721-41C3-B616-8D1DD541E2BD}"/>
              </a:ext>
            </a:extLst>
          </p:cNvPr>
          <p:cNvSpPr>
            <a:spLocks noGrp="1"/>
          </p:cNvSpPr>
          <p:nvPr/>
        </p:nvSpPr>
        <p:spPr>
          <a:xfrm>
            <a:off x="7524750"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Ajout</a:t>
            </a:r>
          </a:p>
          <a:p>
            <a:pPr algn="ctr">
              <a:defRPr sz="1875" b="1">
                <a:solidFill>
                  <a:srgbClr val="FFFFFF"/>
                </a:solidFill>
                <a:latin typeface="Aptos"/>
                <a:ea typeface="Aptos"/>
                <a:cs typeface="Aptos"/>
              </a:defRPr>
            </a:pPr>
            <a:r>
              <a:rPr sz="1875" b="1">
                <a:solidFill>
                  <a:srgbClr val="FFFFFF"/>
                </a:solidFill>
                <a:latin typeface="Aptos"/>
                <a:ea typeface="Aptos"/>
                <a:cs typeface="Aptos"/>
              </a:rPr>
              <a:t>compatible</a:t>
            </a:r>
          </a:p>
        </p:txBody>
      </p:sp>
      <p:sp>
        <p:nvSpPr>
          <p:cNvPr id="6" name="Rectangle : coins arrondis 5">
            <a:extLst>
              <a:ext uri="{FF2B5EF4-FFF2-40B4-BE49-F238E27FC236}">
                <a16:creationId xmlns:a16="http://schemas.microsoft.com/office/drawing/2014/main" id="{03131222-8A16-4F8B-AFE7-9E63F436DB1D}"/>
              </a:ext>
            </a:extLst>
          </p:cNvPr>
          <p:cNvSpPr>
            <a:spLocks noGrp="1"/>
          </p:cNvSpPr>
          <p:nvPr/>
        </p:nvSpPr>
        <p:spPr>
          <a:xfrm>
            <a:off x="11557635"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Code</a:t>
            </a:r>
          </a:p>
          <a:p>
            <a:pPr algn="ctr">
              <a:defRPr sz="1875" b="1">
                <a:solidFill>
                  <a:srgbClr val="FFFFFF"/>
                </a:solidFill>
                <a:latin typeface="Aptos"/>
                <a:ea typeface="Aptos"/>
                <a:cs typeface="Aptos"/>
              </a:defRPr>
            </a:pPr>
            <a:r>
              <a:rPr sz="1875" b="1">
                <a:solidFill>
                  <a:srgbClr val="FFFFFF"/>
                </a:solidFill>
                <a:latin typeface="Aptos"/>
                <a:ea typeface="Aptos"/>
                <a:cs typeface="Aptos"/>
              </a:rPr>
              <a:t>adapté</a:t>
            </a:r>
          </a:p>
        </p:txBody>
      </p:sp>
      <p:sp>
        <p:nvSpPr>
          <p:cNvPr id="7" name="Rectangle : coins arrondis 6">
            <a:extLst>
              <a:ext uri="{FF2B5EF4-FFF2-40B4-BE49-F238E27FC236}">
                <a16:creationId xmlns:a16="http://schemas.microsoft.com/office/drawing/2014/main" id="{E91873FD-6C58-4F17-8F56-8C67567C5771}"/>
              </a:ext>
            </a:extLst>
          </p:cNvPr>
          <p:cNvSpPr>
            <a:spLocks noGrp="1"/>
          </p:cNvSpPr>
          <p:nvPr/>
        </p:nvSpPr>
        <p:spPr>
          <a:xfrm>
            <a:off x="11557635"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Remplissage</a:t>
            </a:r>
          </a:p>
          <a:p>
            <a:pPr algn="ctr">
              <a:defRPr sz="1875" b="1">
                <a:solidFill>
                  <a:srgbClr val="FFFFFF"/>
                </a:solidFill>
                <a:latin typeface="Aptos"/>
                <a:ea typeface="Aptos"/>
                <a:cs typeface="Aptos"/>
              </a:defRPr>
            </a:pPr>
            <a:r>
              <a:rPr sz="1875" b="1">
                <a:solidFill>
                  <a:srgbClr val="FFFFFF"/>
                </a:solidFill>
                <a:latin typeface="Aptos"/>
                <a:ea typeface="Aptos"/>
                <a:cs typeface="Aptos"/>
              </a:rPr>
              <a:t>contrôlé</a:t>
            </a:r>
          </a:p>
        </p:txBody>
      </p:sp>
      <p:sp>
        <p:nvSpPr>
          <p:cNvPr id="8" name="Rectangle : coins arrondis 7">
            <a:extLst>
              <a:ext uri="{FF2B5EF4-FFF2-40B4-BE49-F238E27FC236}">
                <a16:creationId xmlns:a16="http://schemas.microsoft.com/office/drawing/2014/main" id="{F96F4832-B715-4DCE-93F1-DE26CB6FE74D}"/>
              </a:ext>
            </a:extLst>
          </p:cNvPr>
          <p:cNvSpPr>
            <a:spLocks noGrp="1"/>
          </p:cNvSpPr>
          <p:nvPr/>
        </p:nvSpPr>
        <p:spPr>
          <a:xfrm>
            <a:off x="7524750"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Contrainte</a:t>
            </a:r>
          </a:p>
          <a:p>
            <a:pPr algn="ctr">
              <a:defRPr sz="1875" b="1">
                <a:solidFill>
                  <a:srgbClr val="FFFFFF"/>
                </a:solidFill>
                <a:latin typeface="Aptos"/>
                <a:ea typeface="Aptos"/>
                <a:cs typeface="Aptos"/>
              </a:defRPr>
            </a:pPr>
            <a:r>
              <a:rPr sz="1875" b="1">
                <a:solidFill>
                  <a:srgbClr val="FFFFFF"/>
                </a:solidFill>
                <a:latin typeface="Aptos"/>
                <a:ea typeface="Aptos"/>
                <a:cs typeface="Aptos"/>
              </a:rPr>
              <a:t>validée</a:t>
            </a:r>
          </a:p>
        </p:txBody>
      </p:sp>
      <p:sp>
        <p:nvSpPr>
          <p:cNvPr id="9" name="Flèche : droite 8">
            <a:extLst>
              <a:ext uri="{FF2B5EF4-FFF2-40B4-BE49-F238E27FC236}">
                <a16:creationId xmlns:a16="http://schemas.microsoft.com/office/drawing/2014/main" id="{5E744478-F48C-4B6F-B9A8-71800239B592}"/>
              </a:ext>
            </a:extLst>
          </p:cNvPr>
          <p:cNvSpPr>
            <a:spLocks noGrp="1"/>
          </p:cNvSpPr>
          <p:nvPr/>
        </p:nvSpPr>
        <p:spPr>
          <a:xfrm>
            <a:off x="10502265" y="2657475"/>
            <a:ext cx="998220" cy="114300"/>
          </a:xfrm>
          <a:prstGeom prst="rightArrow">
            <a:avLst/>
          </a:prstGeom>
          <a:solidFill>
            <a:srgbClr val="69E0E3"/>
          </a:solidFill>
          <a:ln w="0">
            <a:noFill/>
          </a:ln>
        </p:spPr>
        <p:txBody>
          <a:bodyPr/>
          <a:lstStyle/>
          <a:p>
            <a:endParaRPr lang="fr-FR"/>
          </a:p>
        </p:txBody>
      </p:sp>
      <p:sp>
        <p:nvSpPr>
          <p:cNvPr id="10" name="Rectangle 9">
            <a:extLst>
              <a:ext uri="{FF2B5EF4-FFF2-40B4-BE49-F238E27FC236}">
                <a16:creationId xmlns:a16="http://schemas.microsoft.com/office/drawing/2014/main" id="{521C24B0-9B37-4816-996D-600BFE1CC133}"/>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version</a:t>
            </a:r>
          </a:p>
        </p:txBody>
      </p:sp>
      <p:sp>
        <p:nvSpPr>
          <p:cNvPr id="11" name="Flèche : droite 10">
            <a:extLst>
              <a:ext uri="{FF2B5EF4-FFF2-40B4-BE49-F238E27FC236}">
                <a16:creationId xmlns:a16="http://schemas.microsoft.com/office/drawing/2014/main" id="{5424446A-3820-4910-87F4-3CED9B201241}"/>
              </a:ext>
            </a:extLst>
          </p:cNvPr>
          <p:cNvSpPr>
            <a:spLocks noGrp="1"/>
          </p:cNvSpPr>
          <p:nvPr/>
        </p:nvSpPr>
        <p:spPr>
          <a:xfrm rot="5400000">
            <a:off x="12708255" y="3500438"/>
            <a:ext cx="619125" cy="114300"/>
          </a:xfrm>
          <a:prstGeom prst="rightArrow">
            <a:avLst/>
          </a:prstGeom>
          <a:solidFill>
            <a:srgbClr val="69E0E3"/>
          </a:solidFill>
          <a:ln w="0">
            <a:noFill/>
          </a:ln>
        </p:spPr>
        <p:txBody>
          <a:bodyPr/>
          <a:lstStyle/>
          <a:p>
            <a:endParaRPr lang="fr-FR"/>
          </a:p>
        </p:txBody>
      </p:sp>
      <p:sp>
        <p:nvSpPr>
          <p:cNvPr id="12" name="Rectangle 11">
            <a:extLst>
              <a:ext uri="{FF2B5EF4-FFF2-40B4-BE49-F238E27FC236}">
                <a16:creationId xmlns:a16="http://schemas.microsoft.com/office/drawing/2014/main" id="{D599625F-2BC1-4CF8-A9D2-AC6CC404F725}"/>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lots</a:t>
            </a:r>
          </a:p>
        </p:txBody>
      </p:sp>
      <p:sp>
        <p:nvSpPr>
          <p:cNvPr id="13" name="Flèche : droite 12">
            <a:extLst>
              <a:ext uri="{FF2B5EF4-FFF2-40B4-BE49-F238E27FC236}">
                <a16:creationId xmlns:a16="http://schemas.microsoft.com/office/drawing/2014/main" id="{0976909D-12F2-4ED1-8CAF-C738CEBF12F1}"/>
              </a:ext>
            </a:extLst>
          </p:cNvPr>
          <p:cNvSpPr>
            <a:spLocks noGrp="1"/>
          </p:cNvSpPr>
          <p:nvPr/>
        </p:nvSpPr>
        <p:spPr>
          <a:xfrm rot="10800000">
            <a:off x="10502265" y="4343400"/>
            <a:ext cx="998220" cy="114300"/>
          </a:xfrm>
          <a:prstGeom prst="rightArrow">
            <a:avLst/>
          </a:prstGeom>
          <a:solidFill>
            <a:srgbClr val="69E0E3"/>
          </a:solidFill>
          <a:ln w="0">
            <a:noFill/>
          </a:ln>
        </p:spPr>
        <p:txBody>
          <a:bodyPr/>
          <a:lstStyle/>
          <a:p>
            <a:endParaRPr lang="fr-FR"/>
          </a:p>
        </p:txBody>
      </p:sp>
      <p:sp>
        <p:nvSpPr>
          <p:cNvPr id="14" name="Rectangle 13">
            <a:extLst>
              <a:ext uri="{FF2B5EF4-FFF2-40B4-BE49-F238E27FC236}">
                <a16:creationId xmlns:a16="http://schemas.microsoft.com/office/drawing/2014/main" id="{80442F00-BBA5-4CFC-8F51-DF30EBFE5CB5}"/>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vérification</a:t>
            </a:r>
          </a:p>
        </p:txBody>
      </p:sp>
      <p:sp>
        <p:nvSpPr>
          <p:cNvPr id="15" name="Rectangle 14">
            <a:extLst>
              <a:ext uri="{FF2B5EF4-FFF2-40B4-BE49-F238E27FC236}">
                <a16:creationId xmlns:a16="http://schemas.microsoft.com/office/drawing/2014/main" id="{47687FCF-A525-4707-AD91-BC9BB24AC5E3}"/>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6" name="Rectangle 15">
            <a:extLst>
              <a:ext uri="{FF2B5EF4-FFF2-40B4-BE49-F238E27FC236}">
                <a16:creationId xmlns:a16="http://schemas.microsoft.com/office/drawing/2014/main" id="{9F3303F9-2A84-4FE3-8BE6-E2A30F70F78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Les étapes et les contraintes sont documentées avec le déploiement.</a:t>
            </a:r>
          </a:p>
        </p:txBody>
      </p:sp>
      <p:sp>
        <p:nvSpPr>
          <p:cNvPr id="17" name="Rectangle 16">
            <a:extLst>
              <a:ext uri="{FF2B5EF4-FFF2-40B4-BE49-F238E27FC236}">
                <a16:creationId xmlns:a16="http://schemas.microsoft.com/office/drawing/2014/main" id="{3085E4E4-8F68-474A-8A9E-857F11DB1DD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8" name="Rectangle 17">
            <a:extLst>
              <a:ext uri="{FF2B5EF4-FFF2-40B4-BE49-F238E27FC236}">
                <a16:creationId xmlns:a16="http://schemas.microsoft.com/office/drawing/2014/main" id="{668D99D1-A04D-4D61-8DCF-0A54C7FB5D52}"/>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27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2030512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5B5FCE6-E43A-4ECA-8265-4A3A4FFE698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E2F48A8-EC36-49D8-B7DC-EFF7AE9DA16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Exemple SQL — migrer sans rupture</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0F013543-3DBB-4B7C-AD45-21E26FB6C851}"/>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Une bibliothèque ajoute le consentement à une newsletter. Première étape : créer une colonne nullable ; l’ancienne version de l’application continue de fonctionner. La nouvelle version gère provisoirement NULL et écrit explicitement true ou false.
Après remplissage des lignes existantes et vérification, fixer la valeur par défaut puis la contrainte NOT NULL. Sur une grande table, traiter la mise à jour par lots et tester les verrous en préproduction.</a:t>
            </a:r>
            <a:endParaRPr sz="2025"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8216DA3B-6BC4-4B0D-8AA1-D0EC24256DFE}"/>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lang="fr-FR" sz="1350" b="1">
                <a:solidFill>
                  <a:srgbClr val="AD4C21"/>
                </a:solidFill>
                <a:latin typeface="Aptos"/>
                <a:ea typeface="Aptos"/>
                <a:cs typeface="Aptos"/>
              </a:rPr>
              <a:t>EXEMPLE COMMENTÉ · BIBLIOTHÈQUE</a:t>
            </a:r>
            <a:endParaRPr sz="1350" b="1">
              <a:solidFill>
                <a:srgbClr val="AD4C21"/>
              </a:solidFill>
              <a:latin typeface="Aptos"/>
              <a:ea typeface="Aptos"/>
              <a:cs typeface="Aptos"/>
            </a:endParaRPr>
          </a:p>
        </p:txBody>
      </p:sp>
      <p:sp>
        <p:nvSpPr>
          <p:cNvPr id="6" name="Rectangle 5">
            <a:extLst>
              <a:ext uri="{FF2B5EF4-FFF2-40B4-BE49-F238E27FC236}">
                <a16:creationId xmlns:a16="http://schemas.microsoft.com/office/drawing/2014/main" id="{D779A06E-09BC-4AEC-A2E9-508CAC45247F}"/>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lang="fr-FR" sz="1800" b="0">
                <a:solidFill>
                  <a:srgbClr val="173044"/>
                </a:solidFill>
                <a:latin typeface="Consolas"/>
                <a:ea typeface="Consolas"/>
                <a:cs typeface="Consolas"/>
              </a:rPr>
              <a:t>ALTER TABLE lecteurs
  ADD COLUMN newsletter_ok boolean;
-- Déployer le code qui gère NULL.
-- Puis traiter par lots en production :
UPDATE lecteurs SET newsletter_ok = false
WHERE newsletter_ok IS NULL;
ALTER TABLE lecteurs
  ALTER COLUMN newsletter_ok SET DEFAULT false,
  ALTER COLUMN newsletter_ok SET NOT NULL;</a:t>
            </a:r>
            <a:endParaRPr sz="1800" b="0">
              <a:solidFill>
                <a:srgbClr val="173044"/>
              </a:solidFill>
              <a:latin typeface="Consolas"/>
              <a:ea typeface="Consolas"/>
              <a:cs typeface="Consolas"/>
            </a:endParaRPr>
          </a:p>
        </p:txBody>
      </p:sp>
      <p:sp>
        <p:nvSpPr>
          <p:cNvPr id="7" name="Rectangle 6">
            <a:extLst>
              <a:ext uri="{FF2B5EF4-FFF2-40B4-BE49-F238E27FC236}">
                <a16:creationId xmlns:a16="http://schemas.microsoft.com/office/drawing/2014/main" id="{587B7FFC-82BE-4BE9-93D2-76D0197F01C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639528DA-314B-4A1B-8E3D-96DB73A64D9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Ordre de déploiement : ajout compatible → code → remplissage → contrainte, avec contrôle avant la dernière étape.</a:t>
            </a:r>
            <a:endParaRPr sz="1875" b="0">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6E17E5BB-B804-48C9-B02B-A7F078333B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9C97AA61-BD89-4AA4-924A-C019D1F18A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28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651159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5B5FCE6-E43A-4ECA-8265-4A3A4FFE6987}"/>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E2F48A8-EC36-49D8-B7DC-EFF7AE9DA16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CREATE INDEX CONCURRENTLY</a:t>
            </a:r>
          </a:p>
        </p:txBody>
      </p:sp>
      <p:sp>
        <p:nvSpPr>
          <p:cNvPr id="4" name="Rectangle 3">
            <a:extLst>
              <a:ext uri="{FF2B5EF4-FFF2-40B4-BE49-F238E27FC236}">
                <a16:creationId xmlns:a16="http://schemas.microsoft.com/office/drawing/2014/main" id="{0F013543-3DBB-4B7C-AD45-21E26FB6C851}"/>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création concurrente évite de bloquer les écritures comme une construction ordinaire, mais demande davantage de travail et présente des contraintes. Elle ne s’exécute pas dans un bloc de transaction utilisateur.</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construction interrompue peut laisser un index invalide. Le déploiement vérifie son état, les erreurs et la pression sur les ressources. Une commande concurrente n’est pas une promesse d’absence d’impact.</a:t>
            </a:r>
          </a:p>
        </p:txBody>
      </p:sp>
      <p:sp>
        <p:nvSpPr>
          <p:cNvPr id="5" name="Rectangle 4">
            <a:extLst>
              <a:ext uri="{FF2B5EF4-FFF2-40B4-BE49-F238E27FC236}">
                <a16:creationId xmlns:a16="http://schemas.microsoft.com/office/drawing/2014/main" id="{8216DA3B-6BC4-4B0D-8AA1-D0EC24256DFE}"/>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D779A06E-09BC-4AEC-A2E9-508CAC45247F}"/>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INDEX CONCURRENTLY</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idx_hist_prod ON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(client_id, created_at DESC, id DESC);</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Exécuter hors BEGIN/COMMIT.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Contrôler ensuite la validité</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et l’usage attendu.</a:t>
            </a:r>
          </a:p>
        </p:txBody>
      </p:sp>
      <p:sp>
        <p:nvSpPr>
          <p:cNvPr id="7" name="Rectangle 6">
            <a:extLst>
              <a:ext uri="{FF2B5EF4-FFF2-40B4-BE49-F238E27FC236}">
                <a16:creationId xmlns:a16="http://schemas.microsoft.com/office/drawing/2014/main" id="{587B7FFC-82BE-4BE9-93D2-76D0197F01C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639528DA-314B-4A1B-8E3D-96DB73A64D9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laboratoire peut utiliser CREATE INDEX ordinaire. La variante concurrente relève de la procédure de déploiement.</a:t>
            </a:r>
          </a:p>
        </p:txBody>
      </p:sp>
      <p:sp>
        <p:nvSpPr>
          <p:cNvPr id="9" name="Rectangle 8">
            <a:extLst>
              <a:ext uri="{FF2B5EF4-FFF2-40B4-BE49-F238E27FC236}">
                <a16:creationId xmlns:a16="http://schemas.microsoft.com/office/drawing/2014/main" id="{6E17E5BB-B804-48C9-B02B-A7F078333B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9C97AA61-BD89-4AA4-924A-C019D1F18A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29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273794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B124A88-8647-4523-A9D7-930A8D217A4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A3B374DA-2B2D-473A-9817-B81E2FDA0A3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Pourquoi modifier une table peut bloquer les lectures</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30D387C7-233A-4865-AAFE-B493F0FF6656}"/>
              </a:ext>
            </a:extLst>
          </p:cNvPr>
          <p:cNvSpPr>
            <a:spLocks noGrp="1"/>
          </p:cNvSpPr>
          <p:nvPr/>
        </p:nvSpPr>
        <p:spPr>
          <a:xfrm>
            <a:off x="666750" y="2603500"/>
            <a:ext cx="6477000" cy="3746500"/>
          </a:xfrm>
          <a:prstGeom prst="rect">
            <a:avLst/>
          </a:prstGeom>
          <a:noFill/>
          <a:ln w="0">
            <a:noFill/>
          </a:ln>
        </p:spPr>
        <p:txBody>
          <a:bodyPr>
            <a:noAutofit/>
          </a:bodyPr>
          <a:lstStyle/>
          <a:p>
            <a:pPr>
              <a:defRPr sz="2550" b="0">
                <a:solidFill>
                  <a:srgbClr val="173044"/>
                </a:solidFill>
                <a:latin typeface="Aptos"/>
                <a:ea typeface="Aptos"/>
                <a:cs typeface="Aptos"/>
              </a:defRPr>
            </a:pPr>
            <a:r>
              <a:rPr lang="fr-FR" sz="2550" b="0">
                <a:solidFill>
                  <a:srgbClr val="173044"/>
                </a:solidFill>
                <a:latin typeface="Aptos"/>
                <a:ea typeface="Aptos"/>
                <a:cs typeface="Aptos"/>
              </a:rPr>
              <a:t>DDL : « langage de définition des données » ; modifie la structure (ex. ALTER TABLE).
ACCESS SHARE : verrou de lecture d’un SELECT. Les lectures coexistent.
ACCESS EXCLUSIVE : verrou exclusif ; il bloque les lectures quand il est détenu.</a:t>
            </a:r>
            <a:endParaRPr sz="2550"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0492C1C1-037A-442D-B6BB-24299161BCE7}"/>
              </a:ext>
            </a:extLst>
          </p:cNvPr>
          <p:cNvSpPr>
            <a:spLocks noGrp="1"/>
          </p:cNvSpPr>
          <p:nvPr/>
        </p:nvSpPr>
        <p:spPr>
          <a:xfrm>
            <a:off x="7937500" y="2603500"/>
            <a:ext cx="6540500" cy="3746500"/>
          </a:xfrm>
          <a:prstGeom prst="rect">
            <a:avLst/>
          </a:prstGeom>
          <a:noFill/>
          <a:ln w="0">
            <a:noFill/>
          </a:ln>
        </p:spPr>
        <p:txBody>
          <a:bodyPr>
            <a:noAutofit/>
          </a:bodyPr>
          <a:lstStyle/>
          <a:p>
            <a:pPr>
              <a:defRPr sz="2250" b="0">
                <a:solidFill>
                  <a:srgbClr val="173044"/>
                </a:solidFill>
                <a:latin typeface="Aptos"/>
                <a:ea typeface="Aptos"/>
                <a:cs typeface="Aptos"/>
              </a:defRPr>
            </a:pPr>
            <a:r>
              <a:rPr lang="fr-FR" sz="2250" b="0">
                <a:solidFill>
                  <a:srgbClr val="173044"/>
                </a:solidFill>
                <a:latin typeface="Aptos"/>
                <a:ea typeface="Aptos"/>
                <a:cs typeface="Aptos"/>
              </a:rPr>
              <a:t>1. Un SELECT lit la table lecteurs. Sa transaction reste ouverte : elle garde ACCESS SHARE.
2. Un ALTER TABLE demande ACCESS EXCLUSIVE et attend la fin de cette transaction.
3. Un autre SELECT arrive ensuite : il peut lui aussi attendre derrière la modification.</a:t>
            </a:r>
            <a:endParaRPr sz="2250"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D0BEE8A9-72FC-4084-BAA5-40E1FDB8544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8AC88394-DD99-4083-9FF4-2EF78ACE7C6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COMMIT termine la transaction et libère ses verrous. Le schéma suivant montre les trois sessions.</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55EEB65F-F7C6-4828-97F1-D15BAD04EDC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CF4413DB-EA13-46CF-8688-B2CCAC28B45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30 / 48</a:t>
            </a:r>
            <a:endParaRPr sz="1275" b="0">
              <a:solidFill>
                <a:srgbClr val="3F5B66"/>
              </a:solidFill>
              <a:latin typeface="Aptos"/>
              <a:ea typeface="Aptos"/>
              <a:cs typeface="Aptos"/>
            </a:endParaRPr>
          </a:p>
        </p:txBody>
      </p:sp>
      <p:sp>
        <p:nvSpPr>
          <p:cNvPr id="11" name="ZoneTexte 10">
            <a:extLst>
              <a:ext uri="{FF2B5EF4-FFF2-40B4-BE49-F238E27FC236}">
                <a16:creationId xmlns:a16="http://schemas.microsoft.com/office/drawing/2014/main" id="{71CCE82D-DEB9-4C13-8E26-5816AD9CADA5}"/>
              </a:ext>
            </a:extLst>
          </p:cNvPr>
          <p:cNvSpPr txBox="1"/>
          <p:nvPr/>
        </p:nvSpPr>
        <p:spPr>
          <a:xfrm>
            <a:off x="666750" y="2095500"/>
            <a:ext cx="6477000" cy="317500"/>
          </a:xfrm>
          <a:prstGeom prst="rect">
            <a:avLst/>
          </a:prstGeom>
          <a:noFill/>
        </p:spPr>
        <p:txBody>
          <a:bodyPr vertOverflow="overflow" vert="horz" wrap="square" rtlCol="0" anchor="t">
            <a:spAutoFit/>
          </a:bodyPr>
          <a:lstStyle/>
          <a:p>
            <a:pPr algn="l"/>
            <a:r>
              <a:rPr lang="fr-FR" sz="1200" b="1">
                <a:solidFill>
                  <a:srgbClr val="B34D26"/>
                </a:solidFill>
                <a:latin typeface="Aptos"/>
              </a:rPr>
              <a:t>LES MOTS À CONNAÎTRE</a:t>
            </a:r>
          </a:p>
        </p:txBody>
      </p:sp>
      <p:sp>
        <p:nvSpPr>
          <p:cNvPr id="12" name="ZoneTexte 11">
            <a:extLst>
              <a:ext uri="{FF2B5EF4-FFF2-40B4-BE49-F238E27FC236}">
                <a16:creationId xmlns:a16="http://schemas.microsoft.com/office/drawing/2014/main" id="{D88CE031-4EE1-41EE-9B30-8C77BEC55B2F}"/>
              </a:ext>
            </a:extLst>
          </p:cNvPr>
          <p:cNvSpPr txBox="1"/>
          <p:nvPr/>
        </p:nvSpPr>
        <p:spPr>
          <a:xfrm>
            <a:off x="7937500" y="2095500"/>
            <a:ext cx="6540500" cy="317500"/>
          </a:xfrm>
          <a:prstGeom prst="rect">
            <a:avLst/>
          </a:prstGeom>
          <a:noFill/>
        </p:spPr>
        <p:txBody>
          <a:bodyPr vertOverflow="overflow" vert="horz" wrap="square" rtlCol="0" anchor="t">
            <a:spAutoFit/>
          </a:bodyPr>
          <a:lstStyle/>
          <a:p>
            <a:pPr algn="l"/>
            <a:r>
              <a:rPr lang="fr-FR" sz="1200" b="1">
                <a:solidFill>
                  <a:srgbClr val="B34D26"/>
                </a:solidFill>
                <a:latin typeface="Aptos"/>
              </a:rPr>
              <a:t>EXEMPLE SUR LA TABLE « LECTEURS »</a:t>
            </a:r>
          </a:p>
        </p:txBody>
      </p:sp>
    </p:spTree>
    <p:extLst>
      <p:ext uri="{BB962C8B-B14F-4D97-AF65-F5344CB8AC3E}">
        <p14:creationId xmlns:p14="http://schemas.microsoft.com/office/powerpoint/2010/main" val="2443747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B124A88-8647-4523-A9D7-930A8D217A4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A3B374DA-2B2D-473A-9817-B81E2FDA0A3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Trois sessions : comment se forme la file</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30D387C7-233A-4865-AAFE-B493F0FF6656}"/>
              </a:ext>
            </a:extLst>
          </p:cNvPr>
          <p:cNvSpPr>
            <a:spLocks noGrp="1"/>
          </p:cNvSpPr>
          <p:nvPr/>
        </p:nvSpPr>
        <p:spPr>
          <a:xfrm>
            <a:off x="666750" y="2095500"/>
            <a:ext cx="13525500" cy="723900"/>
          </a:xfrm>
          <a:prstGeom prst="rect">
            <a:avLst/>
          </a:prstGeom>
          <a:noFill/>
          <a:ln w="0">
            <a:noFill/>
          </a:ln>
        </p:spPr>
        <p:txBody>
          <a:bodyPr>
            <a:noAutofit/>
          </a:bodyPr>
          <a:lstStyle/>
          <a:p>
            <a:pPr>
              <a:defRPr sz="2550" b="0">
                <a:solidFill>
                  <a:srgbClr val="173044"/>
                </a:solidFill>
                <a:latin typeface="Aptos"/>
                <a:ea typeface="Aptos"/>
                <a:cs typeface="Aptos"/>
              </a:defRPr>
            </a:pPr>
            <a:r>
              <a:rPr lang="fr-FR" sz="2550" b="0">
                <a:solidFill>
                  <a:srgbClr val="173044"/>
                </a:solidFill>
                <a:latin typeface="Aptos"/>
                <a:ea typeface="Aptos"/>
                <a:cs typeface="Aptos"/>
              </a:rPr>
              <a:t>Exemple simplifié sur la table lecteurs : une lecture reste dans une transaction ouverte quand une modification du schéma est lancée.</a:t>
            </a:r>
            <a:endParaRPr sz="2550"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0492C1C1-037A-442D-B6BB-24299161BCE7}"/>
              </a:ext>
            </a:extLst>
          </p:cNvPr>
          <p:cNvSpPr>
            <a:spLocks noGrp="1"/>
          </p:cNvSpPr>
          <p:nvPr/>
        </p:nvSpPr>
        <p:spPr>
          <a:xfrm>
            <a:off x="666750" y="5524500"/>
            <a:ext cx="13525500" cy="787400"/>
          </a:xfrm>
          <a:prstGeom prst="rect">
            <a:avLst/>
          </a:prstGeom>
          <a:noFill/>
          <a:ln w="0">
            <a:noFill/>
          </a:ln>
        </p:spPr>
        <p:txBody>
          <a:bodyPr>
            <a:noAutofit/>
          </a:bodyPr>
          <a:lstStyle/>
          <a:p>
            <a:pPr>
              <a:defRPr sz="2250" b="0">
                <a:solidFill>
                  <a:srgbClr val="173044"/>
                </a:solidFill>
                <a:latin typeface="Aptos"/>
                <a:ea typeface="Aptos"/>
                <a:cs typeface="Aptos"/>
              </a:defRPr>
            </a:pPr>
            <a:r>
              <a:rPr lang="fr-FR" sz="2250" b="0">
                <a:solidFill>
                  <a:srgbClr val="173044"/>
                </a:solidFill>
                <a:latin typeface="Aptos"/>
                <a:ea typeface="Aptos"/>
                <a:cs typeface="Aptos"/>
              </a:rPr>
              <a:t>A détient le verrou ; B attend. C arrive plus tard et peut patienter derrière B, même si C est une simple lecture.</a:t>
            </a:r>
            <a:endParaRPr sz="2250"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D0BEE8A9-72FC-4084-BAA5-40E1FDB8544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8AC88394-DD99-4083-9FF4-2EF78ACE7C6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À la fin de A, B peut obtenir son verrou ; C reprend après la libération par B.</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55EEB65F-F7C6-4828-97F1-D15BAD04EDC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CF4413DB-EA13-46CF-8688-B2CCAC28B45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31 / 48</a:t>
            </a:r>
            <a:endParaRPr sz="1275" b="0">
              <a:solidFill>
                <a:srgbClr val="3F5B66"/>
              </a:solidFill>
              <a:latin typeface="Aptos"/>
              <a:ea typeface="Aptos"/>
              <a:cs typeface="Aptos"/>
            </a:endParaRPr>
          </a:p>
        </p:txBody>
      </p:sp>
      <p:sp>
        <p:nvSpPr>
          <p:cNvPr id="11" name="Rectangle 10">
            <a:extLst>
              <a:ext uri="{FF2B5EF4-FFF2-40B4-BE49-F238E27FC236}">
                <a16:creationId xmlns:a16="http://schemas.microsoft.com/office/drawing/2014/main" id="{AA601426-30E8-4C60-943F-2395174BFCB3}"/>
              </a:ext>
            </a:extLst>
          </p:cNvPr>
          <p:cNvSpPr/>
          <p:nvPr/>
        </p:nvSpPr>
        <p:spPr>
          <a:xfrm>
            <a:off x="698500" y="3175000"/>
            <a:ext cx="3898900" cy="1866900"/>
          </a:xfrm>
          <a:prstGeom prst="rect">
            <a:avLst/>
          </a:prstGeom>
          <a:solidFill>
            <a:srgbClr val="173044"/>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fr-FR" sz="1700">
                <a:solidFill>
                  <a:srgbClr val="FFFFFF"/>
                </a:solidFill>
                <a:latin typeface="Aptos"/>
              </a:rPr>
              <a:t>SESSION A
SELECT sur lecteurs
transaction encore ouverte
ACCESS SHARE détenu</a:t>
            </a:r>
          </a:p>
        </p:txBody>
      </p:sp>
      <p:sp>
        <p:nvSpPr>
          <p:cNvPr id="12" name="Flèche : droite 11">
            <a:extLst>
              <a:ext uri="{FF2B5EF4-FFF2-40B4-BE49-F238E27FC236}">
                <a16:creationId xmlns:a16="http://schemas.microsoft.com/office/drawing/2014/main" id="{BD760EE0-8279-48BE-B470-E275D07E2BD4}"/>
              </a:ext>
            </a:extLst>
          </p:cNvPr>
          <p:cNvSpPr/>
          <p:nvPr/>
        </p:nvSpPr>
        <p:spPr>
          <a:xfrm>
            <a:off x="4673600" y="3987800"/>
            <a:ext cx="571500" cy="177800"/>
          </a:xfrm>
          <a:prstGeom prst="rightArrow">
            <a:avLst/>
          </a:prstGeom>
          <a:solidFill>
            <a:srgbClr val="B34D26"/>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3" name="Rectangle 12">
            <a:extLst>
              <a:ext uri="{FF2B5EF4-FFF2-40B4-BE49-F238E27FC236}">
                <a16:creationId xmlns:a16="http://schemas.microsoft.com/office/drawing/2014/main" id="{48FC006D-11AF-45BC-8F83-D8FEE5CD1637}"/>
              </a:ext>
            </a:extLst>
          </p:cNvPr>
          <p:cNvSpPr/>
          <p:nvPr/>
        </p:nvSpPr>
        <p:spPr>
          <a:xfrm>
            <a:off x="5372100" y="3175000"/>
            <a:ext cx="3898900" cy="1866900"/>
          </a:xfrm>
          <a:prstGeom prst="rect">
            <a:avLst/>
          </a:prstGeom>
          <a:solidFill>
            <a:srgbClr val="A84422"/>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fr-FR" sz="1700">
                <a:solidFill>
                  <a:srgbClr val="FFFFFF"/>
                </a:solidFill>
                <a:latin typeface="Aptos"/>
              </a:rPr>
              <a:t>SESSION B
ALTER TABLE lecteurs
ACCESS EXCLUSIVE attendu</a:t>
            </a:r>
          </a:p>
        </p:txBody>
      </p:sp>
      <p:sp>
        <p:nvSpPr>
          <p:cNvPr id="14" name="Flèche : droite 13">
            <a:extLst>
              <a:ext uri="{FF2B5EF4-FFF2-40B4-BE49-F238E27FC236}">
                <a16:creationId xmlns:a16="http://schemas.microsoft.com/office/drawing/2014/main" id="{730F169C-5244-41D9-8BBC-2A2B9683EEA0}"/>
              </a:ext>
            </a:extLst>
          </p:cNvPr>
          <p:cNvSpPr/>
          <p:nvPr/>
        </p:nvSpPr>
        <p:spPr>
          <a:xfrm>
            <a:off x="9347200" y="3987800"/>
            <a:ext cx="571500" cy="177800"/>
          </a:xfrm>
          <a:prstGeom prst="rightArrow">
            <a:avLst/>
          </a:prstGeom>
          <a:solidFill>
            <a:srgbClr val="B34D26"/>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5" name="Rectangle 14">
            <a:extLst>
              <a:ext uri="{FF2B5EF4-FFF2-40B4-BE49-F238E27FC236}">
                <a16:creationId xmlns:a16="http://schemas.microsoft.com/office/drawing/2014/main" id="{CD06A3E7-B1D5-4D91-A4BA-649171E0AE04}"/>
              </a:ext>
            </a:extLst>
          </p:cNvPr>
          <p:cNvSpPr/>
          <p:nvPr/>
        </p:nvSpPr>
        <p:spPr>
          <a:xfrm>
            <a:off x="10045700" y="3175000"/>
            <a:ext cx="3898900" cy="1866900"/>
          </a:xfrm>
          <a:prstGeom prst="rect">
            <a:avLst/>
          </a:prstGeom>
          <a:solidFill>
            <a:srgbClr val="173044"/>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fr-FR" sz="1700">
                <a:solidFill>
                  <a:srgbClr val="FFFFFF"/>
                </a:solidFill>
                <a:latin typeface="Aptos"/>
              </a:rPr>
              <a:t>SESSION C
SELECT arrivé ensuite
lecture en attente</a:t>
            </a:r>
          </a:p>
        </p:txBody>
      </p:sp>
    </p:spTree>
    <p:extLst>
      <p:ext uri="{BB962C8B-B14F-4D97-AF65-F5344CB8AC3E}">
        <p14:creationId xmlns:p14="http://schemas.microsoft.com/office/powerpoint/2010/main" val="52375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B124A88-8647-4523-A9D7-930A8D217A4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A3B374DA-2B2D-473A-9817-B81E2FDA0A3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Limiter l’attente : observer, abandonner, réessayer</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30D387C7-233A-4865-AAFE-B493F0FF6656}"/>
              </a:ext>
            </a:extLst>
          </p:cNvPr>
          <p:cNvSpPr>
            <a:spLocks noGrp="1"/>
          </p:cNvSpPr>
          <p:nvPr/>
        </p:nvSpPr>
        <p:spPr>
          <a:xfrm>
            <a:off x="666750" y="2095500"/>
            <a:ext cx="13525500" cy="889000"/>
          </a:xfrm>
          <a:prstGeom prst="rect">
            <a:avLst/>
          </a:prstGeom>
          <a:noFill/>
          <a:ln w="0">
            <a:noFill/>
          </a:ln>
        </p:spPr>
        <p:txBody>
          <a:bodyPr>
            <a:noAutofit/>
          </a:bodyPr>
          <a:lstStyle/>
          <a:p>
            <a:pPr>
              <a:defRPr sz="2550" b="0">
                <a:solidFill>
                  <a:srgbClr val="173044"/>
                </a:solidFill>
                <a:latin typeface="Aptos"/>
                <a:ea typeface="Aptos"/>
                <a:cs typeface="Aptos"/>
              </a:defRPr>
            </a:pPr>
            <a:r>
              <a:rPr lang="fr-FR" sz="2550" b="0">
                <a:solidFill>
                  <a:srgbClr val="173044"/>
                </a:solidFill>
                <a:latin typeface="Aptos"/>
                <a:ea typeface="Aptos"/>
                <a:cs typeface="Aptos"/>
              </a:rPr>
              <a:t>Une limite d’attente permet de ne pas laisser une migration bloquée longtemps dans la file. L’échec est prévu dans la procédure, pas traité comme une surprise.</a:t>
            </a:r>
            <a:endParaRPr sz="2550"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0492C1C1-037A-442D-B6BB-24299161BCE7}"/>
              </a:ext>
            </a:extLst>
          </p:cNvPr>
          <p:cNvSpPr>
            <a:spLocks noGrp="1"/>
          </p:cNvSpPr>
          <p:nvPr/>
        </p:nvSpPr>
        <p:spPr>
          <a:xfrm>
            <a:off x="666750" y="5524500"/>
            <a:ext cx="13525500" cy="863600"/>
          </a:xfrm>
          <a:prstGeom prst="rect">
            <a:avLst/>
          </a:prstGeom>
          <a:noFill/>
          <a:ln w="0">
            <a:noFill/>
          </a:ln>
        </p:spPr>
        <p:txBody>
          <a:bodyPr>
            <a:noAutofit/>
          </a:bodyPr>
          <a:lstStyle/>
          <a:p>
            <a:pPr>
              <a:defRPr sz="2250" b="0">
                <a:solidFill>
                  <a:srgbClr val="173044"/>
                </a:solidFill>
                <a:latin typeface="Aptos"/>
                <a:ea typeface="Aptos"/>
                <a:cs typeface="Aptos"/>
              </a:defRPr>
            </a:pPr>
            <a:r>
              <a:rPr lang="fr-FR" sz="2250" b="0">
                <a:solidFill>
                  <a:srgbClr val="173044"/>
                </a:solidFill>
                <a:latin typeface="Aptos"/>
                <a:ea typeface="Aptos"/>
                <a:cs typeface="Aptos"/>
              </a:rPr>
              <a:t>Exemple de session de déploiement : SET lock_timeout = '2s' ; puis exécuter le DDL. Si le verrou reste indisponible, la commande échoue ; rechercher le bloqueur et réessayer dans une fenêtre adaptée.</a:t>
            </a:r>
            <a:endParaRPr sz="2250"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D0BEE8A9-72FC-4084-BAA5-40E1FDB8544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8AC88394-DD99-4083-9FF4-2EF78ACE7C6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lock_timeout limite l’attente d’un verrou, pas la durée totale du DDL après acquisition.</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55EEB65F-F7C6-4828-97F1-D15BAD04EDC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CF4413DB-EA13-46CF-8688-B2CCAC28B45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32 / 48</a:t>
            </a:r>
            <a:endParaRPr sz="1275" b="0">
              <a:solidFill>
                <a:srgbClr val="3F5B66"/>
              </a:solidFill>
              <a:latin typeface="Aptos"/>
              <a:ea typeface="Aptos"/>
              <a:cs typeface="Aptos"/>
            </a:endParaRPr>
          </a:p>
        </p:txBody>
      </p:sp>
      <p:sp>
        <p:nvSpPr>
          <p:cNvPr id="11" name="Rectangle 10">
            <a:extLst>
              <a:ext uri="{FF2B5EF4-FFF2-40B4-BE49-F238E27FC236}">
                <a16:creationId xmlns:a16="http://schemas.microsoft.com/office/drawing/2014/main" id="{EE6B60CB-636E-4BC2-A2A2-4B26F8AF60A0}"/>
              </a:ext>
            </a:extLst>
          </p:cNvPr>
          <p:cNvSpPr/>
          <p:nvPr/>
        </p:nvSpPr>
        <p:spPr>
          <a:xfrm>
            <a:off x="698500" y="3429000"/>
            <a:ext cx="3898900" cy="1549400"/>
          </a:xfrm>
          <a:prstGeom prst="rect">
            <a:avLst/>
          </a:prstGeom>
          <a:solidFill>
            <a:srgbClr val="173044"/>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fr-FR" sz="1700">
                <a:solidFill>
                  <a:srgbClr val="FFFFFF"/>
                </a:solidFill>
                <a:latin typeface="Aptos"/>
              </a:rPr>
              <a:t>1  OBSERVER
Sessions en attente
et transaction bloqueuse</a:t>
            </a:r>
          </a:p>
        </p:txBody>
      </p:sp>
      <p:sp>
        <p:nvSpPr>
          <p:cNvPr id="12" name="Flèche : droite 11">
            <a:extLst>
              <a:ext uri="{FF2B5EF4-FFF2-40B4-BE49-F238E27FC236}">
                <a16:creationId xmlns:a16="http://schemas.microsoft.com/office/drawing/2014/main" id="{551FF898-BE33-4104-B3F0-904C4EB4CDEC}"/>
              </a:ext>
            </a:extLst>
          </p:cNvPr>
          <p:cNvSpPr/>
          <p:nvPr/>
        </p:nvSpPr>
        <p:spPr>
          <a:xfrm>
            <a:off x="4673600" y="4089400"/>
            <a:ext cx="571500" cy="177800"/>
          </a:xfrm>
          <a:prstGeom prst="rightArrow">
            <a:avLst/>
          </a:prstGeom>
          <a:solidFill>
            <a:srgbClr val="B34D26"/>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3" name="Rectangle 12">
            <a:extLst>
              <a:ext uri="{FF2B5EF4-FFF2-40B4-BE49-F238E27FC236}">
                <a16:creationId xmlns:a16="http://schemas.microsoft.com/office/drawing/2014/main" id="{61DF5CEA-CFCA-4838-93EC-A367D4FA387E}"/>
              </a:ext>
            </a:extLst>
          </p:cNvPr>
          <p:cNvSpPr/>
          <p:nvPr/>
        </p:nvSpPr>
        <p:spPr>
          <a:xfrm>
            <a:off x="5372100" y="3429000"/>
            <a:ext cx="3898900" cy="1549400"/>
          </a:xfrm>
          <a:prstGeom prst="rect">
            <a:avLst/>
          </a:prstGeom>
          <a:solidFill>
            <a:srgbClr val="A84422"/>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fr-FR" sz="1700">
                <a:solidFill>
                  <a:srgbClr val="FFFFFF"/>
                </a:solidFill>
                <a:latin typeface="Aptos"/>
              </a:rPr>
              <a:t>2  BORNER
SET lock_timeout = '2s'
DDL ou erreur rapide</a:t>
            </a:r>
          </a:p>
        </p:txBody>
      </p:sp>
      <p:sp>
        <p:nvSpPr>
          <p:cNvPr id="14" name="Flèche : droite 13">
            <a:extLst>
              <a:ext uri="{FF2B5EF4-FFF2-40B4-BE49-F238E27FC236}">
                <a16:creationId xmlns:a16="http://schemas.microsoft.com/office/drawing/2014/main" id="{4270A3D8-B2F0-47BD-8AA1-5D66CB9F56A7}"/>
              </a:ext>
            </a:extLst>
          </p:cNvPr>
          <p:cNvSpPr/>
          <p:nvPr/>
        </p:nvSpPr>
        <p:spPr>
          <a:xfrm>
            <a:off x="9347200" y="4089400"/>
            <a:ext cx="571500" cy="177800"/>
          </a:xfrm>
          <a:prstGeom prst="rightArrow">
            <a:avLst/>
          </a:prstGeom>
          <a:solidFill>
            <a:srgbClr val="B34D26"/>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5" name="Rectangle 14">
            <a:extLst>
              <a:ext uri="{FF2B5EF4-FFF2-40B4-BE49-F238E27FC236}">
                <a16:creationId xmlns:a16="http://schemas.microsoft.com/office/drawing/2014/main" id="{40639546-16AF-483C-8A9F-C70AD7642BDC}"/>
              </a:ext>
            </a:extLst>
          </p:cNvPr>
          <p:cNvSpPr/>
          <p:nvPr/>
        </p:nvSpPr>
        <p:spPr>
          <a:xfrm>
            <a:off x="10045700" y="3429000"/>
            <a:ext cx="3898900" cy="1549400"/>
          </a:xfrm>
          <a:prstGeom prst="rect">
            <a:avLst/>
          </a:prstGeom>
          <a:solidFill>
            <a:srgbClr val="173044"/>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fr-FR" sz="1700">
                <a:solidFill>
                  <a:srgbClr val="FFFFFF"/>
                </a:solidFill>
                <a:latin typeface="Aptos"/>
              </a:rPr>
              <a:t>3  REPRENDRE
Corriger la cause
puis réessayer</a:t>
            </a:r>
          </a:p>
        </p:txBody>
      </p:sp>
    </p:spTree>
    <p:extLst>
      <p:ext uri="{BB962C8B-B14F-4D97-AF65-F5344CB8AC3E}">
        <p14:creationId xmlns:p14="http://schemas.microsoft.com/office/powerpoint/2010/main" val="2442318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ED01F59-B4AE-4BE6-9B5F-80EB31D86DC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856AE0F5-6B50-4F7D-AEB7-698ED5F0904F}"/>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4 bis : migration de schéma</a:t>
            </a:r>
          </a:p>
        </p:txBody>
      </p:sp>
      <p:sp>
        <p:nvSpPr>
          <p:cNvPr id="4" name="Rectangle 3">
            <a:extLst>
              <a:ext uri="{FF2B5EF4-FFF2-40B4-BE49-F238E27FC236}">
                <a16:creationId xmlns:a16="http://schemas.microsoft.com/office/drawing/2014/main" id="{F65AF423-BCF9-41E4-B171-B4E6BDBF9AF3}"/>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E7D8E51E-65C8-4151-B328-E3195CAC481A}"/>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F6F3ED"/>
                </a:solidFill>
                <a:latin typeface="Aptos"/>
                <a:ea typeface="Aptos"/>
                <a:cs typeface="Aptos"/>
              </a:defRPr>
            </a:pPr>
            <a:r>
              <a:rPr sz="2025" b="0" dirty="0" err="1">
                <a:solidFill>
                  <a:srgbClr val="F6F3ED"/>
                </a:solidFill>
                <a:latin typeface="Aptos"/>
                <a:ea typeface="Aptos"/>
                <a:cs typeface="Aptos"/>
              </a:rPr>
              <a:t>ShopFlow</a:t>
            </a:r>
            <a:r>
              <a:rPr sz="2025" b="0" dirty="0">
                <a:solidFill>
                  <a:srgbClr val="F6F3ED"/>
                </a:solidFill>
                <a:latin typeface="Aptos"/>
                <a:ea typeface="Aptos"/>
                <a:cs typeface="Aptos"/>
              </a:rPr>
              <a:t> </a:t>
            </a:r>
            <a:r>
              <a:rPr sz="2025" b="0" dirty="0" err="1">
                <a:solidFill>
                  <a:srgbClr val="F6F3ED"/>
                </a:solidFill>
                <a:latin typeface="Aptos"/>
                <a:ea typeface="Aptos"/>
                <a:cs typeface="Aptos"/>
              </a:rPr>
              <a:t>ajoute</a:t>
            </a:r>
            <a:r>
              <a:rPr sz="2025" b="0" dirty="0">
                <a:solidFill>
                  <a:srgbClr val="F6F3ED"/>
                </a:solidFill>
                <a:latin typeface="Aptos"/>
                <a:ea typeface="Aptos"/>
                <a:cs typeface="Aptos"/>
              </a:rPr>
              <a:t> </a:t>
            </a:r>
            <a:r>
              <a:rPr sz="2025" b="0" dirty="0" err="1">
                <a:solidFill>
                  <a:srgbClr val="F6F3ED"/>
                </a:solidFill>
                <a:latin typeface="Aptos"/>
                <a:ea typeface="Aptos"/>
                <a:cs typeface="Aptos"/>
              </a:rPr>
              <a:t>newsletter_ok</a:t>
            </a:r>
            <a:r>
              <a:rPr sz="2025" b="0" dirty="0">
                <a:solidFill>
                  <a:srgbClr val="F6F3ED"/>
                </a:solidFill>
                <a:latin typeface="Aptos"/>
                <a:ea typeface="Aptos"/>
                <a:cs typeface="Aptos"/>
              </a:rPr>
              <a:t> aux clients. </a:t>
            </a:r>
            <a:r>
              <a:rPr sz="2025" b="0" dirty="0" err="1">
                <a:solidFill>
                  <a:srgbClr val="F6F3ED"/>
                </a:solidFill>
                <a:latin typeface="Aptos"/>
                <a:ea typeface="Aptos"/>
                <a:cs typeface="Aptos"/>
              </a:rPr>
              <a:t>L’exercice</a:t>
            </a:r>
            <a:r>
              <a:rPr sz="2025" b="0" dirty="0">
                <a:solidFill>
                  <a:srgbClr val="F6F3ED"/>
                </a:solidFill>
                <a:latin typeface="Aptos"/>
                <a:ea typeface="Aptos"/>
                <a:cs typeface="Aptos"/>
              </a:rPr>
              <a:t> </a:t>
            </a:r>
            <a:r>
              <a:rPr sz="2025" b="0" dirty="0" err="1">
                <a:solidFill>
                  <a:srgbClr val="F6F3ED"/>
                </a:solidFill>
                <a:latin typeface="Aptos"/>
                <a:ea typeface="Aptos"/>
                <a:cs typeface="Aptos"/>
              </a:rPr>
              <a:t>reprend</a:t>
            </a:r>
            <a:r>
              <a:rPr sz="2025" b="0" dirty="0">
                <a:solidFill>
                  <a:srgbClr val="F6F3ED"/>
                </a:solidFill>
                <a:latin typeface="Aptos"/>
                <a:ea typeface="Aptos"/>
                <a:cs typeface="Aptos"/>
              </a:rPr>
              <a:t> le </a:t>
            </a:r>
            <a:r>
              <a:rPr sz="2025" b="0" dirty="0" err="1">
                <a:solidFill>
                  <a:srgbClr val="F6F3ED"/>
                </a:solidFill>
                <a:latin typeface="Aptos"/>
                <a:ea typeface="Aptos"/>
                <a:cs typeface="Aptos"/>
              </a:rPr>
              <a:t>scénario</a:t>
            </a:r>
            <a:r>
              <a:rPr sz="2025" b="0" dirty="0">
                <a:solidFill>
                  <a:srgbClr val="F6F3ED"/>
                </a:solidFill>
                <a:latin typeface="Aptos"/>
                <a:ea typeface="Aptos"/>
                <a:cs typeface="Aptos"/>
              </a:rPr>
              <a:t> de </a:t>
            </a:r>
            <a:r>
              <a:rPr sz="2025" b="0" dirty="0" err="1">
                <a:solidFill>
                  <a:srgbClr val="F6F3ED"/>
                </a:solidFill>
                <a:latin typeface="Aptos"/>
                <a:ea typeface="Aptos"/>
                <a:cs typeface="Aptos"/>
              </a:rPr>
              <a:t>consentement</a:t>
            </a:r>
            <a:r>
              <a:rPr sz="2025" b="0" dirty="0">
                <a:solidFill>
                  <a:srgbClr val="F6F3ED"/>
                </a:solidFill>
                <a:latin typeface="Aptos"/>
                <a:ea typeface="Aptos"/>
                <a:cs typeface="Aptos"/>
              </a:rPr>
              <a:t> de la slide 28 sur </a:t>
            </a:r>
            <a:r>
              <a:rPr sz="2025" b="0" dirty="0" err="1">
                <a:solidFill>
                  <a:srgbClr val="F6F3ED"/>
                </a:solidFill>
                <a:latin typeface="Aptos"/>
                <a:ea typeface="Aptos"/>
                <a:cs typeface="Aptos"/>
              </a:rPr>
              <a:t>une</a:t>
            </a:r>
            <a:r>
              <a:rPr sz="2025" b="0" dirty="0">
                <a:solidFill>
                  <a:srgbClr val="F6F3ED"/>
                </a:solidFill>
                <a:latin typeface="Aptos"/>
                <a:ea typeface="Aptos"/>
                <a:cs typeface="Aptos"/>
              </a:rPr>
              <a:t> </a:t>
            </a:r>
            <a:r>
              <a:rPr sz="2025" b="0" dirty="0" err="1">
                <a:solidFill>
                  <a:srgbClr val="F6F3ED"/>
                </a:solidFill>
                <a:latin typeface="Aptos"/>
                <a:ea typeface="Aptos"/>
                <a:cs typeface="Aptos"/>
              </a:rPr>
              <a:t>copie</a:t>
            </a:r>
            <a:r>
              <a:rPr sz="2025" b="0" dirty="0">
                <a:solidFill>
                  <a:srgbClr val="F6F3ED"/>
                </a:solidFill>
                <a:latin typeface="Aptos"/>
                <a:ea typeface="Aptos"/>
                <a:cs typeface="Aptos"/>
              </a:rPr>
              <a:t> de </a:t>
            </a:r>
            <a:r>
              <a:rPr sz="2025" b="0" dirty="0" err="1">
                <a:solidFill>
                  <a:srgbClr val="F6F3ED"/>
                </a:solidFill>
                <a:latin typeface="Aptos"/>
                <a:ea typeface="Aptos"/>
                <a:cs typeface="Aptos"/>
              </a:rPr>
              <a:t>shopflow.clients</a:t>
            </a:r>
            <a:r>
              <a:rPr sz="2025" b="0" dirty="0">
                <a:solidFill>
                  <a:srgbClr val="F6F3ED"/>
                </a:solidFill>
                <a:latin typeface="Aptos"/>
                <a:ea typeface="Aptos"/>
                <a:cs typeface="Aptos"/>
              </a:rPr>
              <a:t>.</a:t>
            </a:r>
          </a:p>
          <a:p>
            <a:endParaRPr sz="2025" b="0" dirty="0">
              <a:solidFill>
                <a:srgbClr val="F6F3ED"/>
              </a:solidFill>
              <a:latin typeface="Aptos"/>
              <a:ea typeface="Aptos"/>
              <a:cs typeface="Aptos"/>
            </a:endParaRPr>
          </a:p>
          <a:p>
            <a:pPr>
              <a:defRPr sz="2025" b="0">
                <a:solidFill>
                  <a:srgbClr val="F6F3ED"/>
                </a:solidFill>
                <a:latin typeface="Aptos"/>
                <a:ea typeface="Aptos"/>
                <a:cs typeface="Aptos"/>
              </a:defRPr>
            </a:pPr>
            <a:r>
              <a:rPr sz="2025" b="0" dirty="0" err="1">
                <a:solidFill>
                  <a:srgbClr val="F6F3ED"/>
                </a:solidFill>
                <a:latin typeface="Aptos"/>
                <a:ea typeface="Aptos"/>
                <a:cs typeface="Aptos"/>
              </a:rPr>
              <a:t>Ajoutez</a:t>
            </a:r>
            <a:r>
              <a:rPr sz="2025" b="0" dirty="0">
                <a:solidFill>
                  <a:srgbClr val="F6F3ED"/>
                </a:solidFill>
                <a:latin typeface="Aptos"/>
                <a:ea typeface="Aptos"/>
                <a:cs typeface="Aptos"/>
              </a:rPr>
              <a:t> la </a:t>
            </a:r>
            <a:r>
              <a:rPr sz="2025" b="0" dirty="0" err="1">
                <a:solidFill>
                  <a:srgbClr val="F6F3ED"/>
                </a:solidFill>
                <a:latin typeface="Aptos"/>
                <a:ea typeface="Aptos"/>
                <a:cs typeface="Aptos"/>
              </a:rPr>
              <a:t>colonne</a:t>
            </a:r>
            <a:r>
              <a:rPr sz="2025" b="0" dirty="0">
                <a:solidFill>
                  <a:srgbClr val="F6F3ED"/>
                </a:solidFill>
                <a:latin typeface="Aptos"/>
                <a:ea typeface="Aptos"/>
                <a:cs typeface="Aptos"/>
              </a:rPr>
              <a:t>, </a:t>
            </a:r>
            <a:r>
              <a:rPr sz="2025" b="0" dirty="0" err="1">
                <a:solidFill>
                  <a:srgbClr val="F6F3ED"/>
                </a:solidFill>
                <a:latin typeface="Aptos"/>
                <a:ea typeface="Aptos"/>
                <a:cs typeface="Aptos"/>
              </a:rPr>
              <a:t>simulez</a:t>
            </a:r>
            <a:r>
              <a:rPr sz="2025" b="0" dirty="0">
                <a:solidFill>
                  <a:srgbClr val="F6F3ED"/>
                </a:solidFill>
                <a:latin typeface="Aptos"/>
                <a:ea typeface="Aptos"/>
                <a:cs typeface="Aptos"/>
              </a:rPr>
              <a:t> les deux versions du code, </a:t>
            </a:r>
            <a:r>
              <a:rPr sz="2025" b="0" dirty="0" err="1">
                <a:solidFill>
                  <a:srgbClr val="F6F3ED"/>
                </a:solidFill>
                <a:latin typeface="Aptos"/>
                <a:ea typeface="Aptos"/>
                <a:cs typeface="Aptos"/>
              </a:rPr>
              <a:t>remplissez</a:t>
            </a:r>
            <a:r>
              <a:rPr sz="2025" b="0" dirty="0">
                <a:solidFill>
                  <a:srgbClr val="F6F3ED"/>
                </a:solidFill>
                <a:latin typeface="Aptos"/>
                <a:ea typeface="Aptos"/>
                <a:cs typeface="Aptos"/>
              </a:rPr>
              <a:t> les </a:t>
            </a:r>
            <a:r>
              <a:rPr sz="2025" b="0" dirty="0" err="1">
                <a:solidFill>
                  <a:srgbClr val="F6F3ED"/>
                </a:solidFill>
                <a:latin typeface="Aptos"/>
                <a:ea typeface="Aptos"/>
                <a:cs typeface="Aptos"/>
              </a:rPr>
              <a:t>anciennes</a:t>
            </a:r>
            <a:r>
              <a:rPr sz="2025" b="0" dirty="0">
                <a:solidFill>
                  <a:srgbClr val="F6F3ED"/>
                </a:solidFill>
                <a:latin typeface="Aptos"/>
                <a:ea typeface="Aptos"/>
                <a:cs typeface="Aptos"/>
              </a:rPr>
              <a:t> </a:t>
            </a:r>
            <a:r>
              <a:rPr sz="2025" b="0" dirty="0" err="1">
                <a:solidFill>
                  <a:srgbClr val="F6F3ED"/>
                </a:solidFill>
                <a:latin typeface="Aptos"/>
                <a:ea typeface="Aptos"/>
                <a:cs typeface="Aptos"/>
              </a:rPr>
              <a:t>lignes</a:t>
            </a:r>
            <a:r>
              <a:rPr sz="2025" b="0" dirty="0">
                <a:solidFill>
                  <a:srgbClr val="F6F3ED"/>
                </a:solidFill>
                <a:latin typeface="Aptos"/>
                <a:ea typeface="Aptos"/>
                <a:cs typeface="Aptos"/>
              </a:rPr>
              <a:t> et </a:t>
            </a:r>
            <a:r>
              <a:rPr sz="2025" b="0" dirty="0" err="1">
                <a:solidFill>
                  <a:srgbClr val="F6F3ED"/>
                </a:solidFill>
                <a:latin typeface="Aptos"/>
                <a:ea typeface="Aptos"/>
                <a:cs typeface="Aptos"/>
              </a:rPr>
              <a:t>renforcez</a:t>
            </a:r>
            <a:r>
              <a:rPr sz="2025" b="0" dirty="0">
                <a:solidFill>
                  <a:srgbClr val="F6F3ED"/>
                </a:solidFill>
                <a:latin typeface="Aptos"/>
                <a:ea typeface="Aptos"/>
                <a:cs typeface="Aptos"/>
              </a:rPr>
              <a:t> la </a:t>
            </a:r>
            <a:r>
              <a:rPr sz="2025" b="0" dirty="0" err="1">
                <a:solidFill>
                  <a:srgbClr val="F6F3ED"/>
                </a:solidFill>
                <a:latin typeface="Aptos"/>
                <a:ea typeface="Aptos"/>
                <a:cs typeface="Aptos"/>
              </a:rPr>
              <a:t>contrainte</a:t>
            </a:r>
            <a:r>
              <a:rPr sz="2025" b="0" dirty="0">
                <a:solidFill>
                  <a:srgbClr val="F6F3ED"/>
                </a:solidFill>
                <a:latin typeface="Aptos"/>
                <a:ea typeface="Aptos"/>
                <a:cs typeface="Aptos"/>
              </a:rPr>
              <a:t>.</a:t>
            </a:r>
            <a:endParaRPr lang="fr-FR" sz="2025" b="0" dirty="0">
              <a:solidFill>
                <a:srgbClr val="F6F3ED"/>
              </a:solidFill>
              <a:latin typeface="Aptos"/>
              <a:ea typeface="Aptos"/>
              <a:cs typeface="Aptos"/>
            </a:endParaRPr>
          </a:p>
          <a:p>
            <a:pPr>
              <a:defRPr sz="2025" b="0">
                <a:solidFill>
                  <a:srgbClr val="F6F3ED"/>
                </a:solidFill>
                <a:latin typeface="Aptos"/>
                <a:ea typeface="Aptos"/>
                <a:cs typeface="Aptos"/>
              </a:defRPr>
            </a:pPr>
            <a:endParaRPr lang="fr-FR" sz="2025" dirty="0">
              <a:solidFill>
                <a:srgbClr val="F6F3ED"/>
              </a:solidFill>
              <a:latin typeface="Aptos"/>
              <a:ea typeface="Aptos"/>
              <a:cs typeface="Aptos"/>
            </a:endParaRPr>
          </a:p>
          <a:p>
            <a:pPr>
              <a:defRPr sz="2025" b="0">
                <a:solidFill>
                  <a:srgbClr val="F6F3ED"/>
                </a:solidFill>
                <a:latin typeface="Aptos"/>
                <a:ea typeface="Aptos"/>
                <a:cs typeface="Aptos"/>
              </a:defRPr>
            </a:pPr>
            <a:r>
              <a:rPr lang="fr-FR" sz="2025" b="0" dirty="0">
                <a:solidFill>
                  <a:srgbClr val="F6F3ED"/>
                </a:solidFill>
                <a:latin typeface="Aptos"/>
                <a:ea typeface="Aptos"/>
                <a:cs typeface="Aptos"/>
              </a:rPr>
              <a:t>LIRE_EN_PREMIER.txt vous guide</a:t>
            </a:r>
            <a:endParaRPr sz="2025" b="0" dirty="0">
              <a:solidFill>
                <a:srgbClr val="F6F3ED"/>
              </a:solidFill>
              <a:latin typeface="Aptos"/>
              <a:ea typeface="Aptos"/>
              <a:cs typeface="Aptos"/>
            </a:endParaRPr>
          </a:p>
        </p:txBody>
      </p:sp>
      <p:sp>
        <p:nvSpPr>
          <p:cNvPr id="6" name="Rectangle 5">
            <a:extLst>
              <a:ext uri="{FF2B5EF4-FFF2-40B4-BE49-F238E27FC236}">
                <a16:creationId xmlns:a16="http://schemas.microsoft.com/office/drawing/2014/main" id="{372AFED5-4EB6-4757-B55C-87030719C78D}"/>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OBJECTIF ET DURÉE</a:t>
            </a:r>
          </a:p>
        </p:txBody>
      </p:sp>
      <p:sp>
        <p:nvSpPr>
          <p:cNvPr id="7" name="Rectangle 6">
            <a:extLst>
              <a:ext uri="{FF2B5EF4-FFF2-40B4-BE49-F238E27FC236}">
                <a16:creationId xmlns:a16="http://schemas.microsoft.com/office/drawing/2014/main" id="{FF0BD5E2-E812-4CEC-90AA-6DC2C6F46A33}"/>
              </a:ext>
            </a:extLst>
          </p:cNvPr>
          <p:cNvSpPr>
            <a:spLocks noGrp="1"/>
          </p:cNvSpPr>
          <p:nvPr/>
        </p:nvSpPr>
        <p:spPr>
          <a:xfrm>
            <a:off x="7524750" y="2524125"/>
            <a:ext cx="7048500" cy="4000500"/>
          </a:xfrm>
          <a:prstGeom prst="rect">
            <a:avLst/>
          </a:prstGeom>
          <a:noFill/>
          <a:ln w="0">
            <a:noFill/>
          </a:ln>
        </p:spPr>
        <p:txBody>
          <a:bodyPr>
            <a:noAutofit/>
          </a:bodyPr>
          <a:lstStyle/>
          <a:p>
            <a:pPr>
              <a:defRPr sz="2025" b="0">
                <a:solidFill>
                  <a:srgbClr val="F6F3ED"/>
                </a:solidFill>
                <a:latin typeface="Aptos"/>
                <a:ea typeface="Aptos"/>
                <a:cs typeface="Aptos"/>
              </a:defRPr>
            </a:pPr>
            <a:r>
              <a:rPr sz="2025" b="0" dirty="0">
                <a:solidFill>
                  <a:srgbClr val="F6F3ED"/>
                </a:solidFill>
                <a:latin typeface="Aptos"/>
                <a:ea typeface="Aptos"/>
                <a:cs typeface="Aptos"/>
              </a:rPr>
              <a:t>À la fin, les champs </a:t>
            </a:r>
            <a:r>
              <a:rPr sz="2025" b="0" dirty="0" err="1">
                <a:solidFill>
                  <a:srgbClr val="F6F3ED"/>
                </a:solidFill>
                <a:latin typeface="Aptos"/>
                <a:ea typeface="Aptos"/>
                <a:cs typeface="Aptos"/>
              </a:rPr>
              <a:t>historiques</a:t>
            </a:r>
            <a:r>
              <a:rPr sz="2025" b="0" dirty="0">
                <a:solidFill>
                  <a:srgbClr val="F6F3ED"/>
                </a:solidFill>
                <a:latin typeface="Aptos"/>
                <a:ea typeface="Aptos"/>
                <a:cs typeface="Aptos"/>
              </a:rPr>
              <a:t> </a:t>
            </a:r>
            <a:r>
              <a:rPr sz="2025" b="0" dirty="0" err="1">
                <a:solidFill>
                  <a:srgbClr val="F6F3ED"/>
                </a:solidFill>
                <a:latin typeface="Aptos"/>
                <a:ea typeface="Aptos"/>
                <a:cs typeface="Aptos"/>
              </a:rPr>
              <a:t>restent</a:t>
            </a:r>
            <a:r>
              <a:rPr sz="2025" b="0" dirty="0">
                <a:solidFill>
                  <a:srgbClr val="F6F3ED"/>
                </a:solidFill>
                <a:latin typeface="Aptos"/>
                <a:ea typeface="Aptos"/>
                <a:cs typeface="Aptos"/>
              </a:rPr>
              <a:t> </a:t>
            </a:r>
            <a:r>
              <a:rPr sz="2025" b="0" dirty="0" err="1">
                <a:solidFill>
                  <a:srgbClr val="F6F3ED"/>
                </a:solidFill>
                <a:latin typeface="Aptos"/>
                <a:ea typeface="Aptos"/>
                <a:cs typeface="Aptos"/>
              </a:rPr>
              <a:t>identiques</a:t>
            </a:r>
            <a:r>
              <a:rPr sz="2025" b="0" dirty="0">
                <a:solidFill>
                  <a:srgbClr val="F6F3ED"/>
                </a:solidFill>
                <a:latin typeface="Aptos"/>
                <a:ea typeface="Aptos"/>
                <a:cs typeface="Aptos"/>
              </a:rPr>
              <a:t>, </a:t>
            </a:r>
            <a:r>
              <a:rPr sz="2025" b="0" dirty="0" err="1">
                <a:solidFill>
                  <a:srgbClr val="F6F3ED"/>
                </a:solidFill>
                <a:latin typeface="Aptos"/>
                <a:ea typeface="Aptos"/>
                <a:cs typeface="Aptos"/>
              </a:rPr>
              <a:t>aucune</a:t>
            </a:r>
            <a:r>
              <a:rPr sz="2025" b="0" dirty="0">
                <a:solidFill>
                  <a:srgbClr val="F6F3ED"/>
                </a:solidFill>
                <a:latin typeface="Aptos"/>
                <a:ea typeface="Aptos"/>
                <a:cs typeface="Aptos"/>
              </a:rPr>
              <a:t> </a:t>
            </a:r>
            <a:r>
              <a:rPr sz="2025" b="0" dirty="0" err="1">
                <a:solidFill>
                  <a:srgbClr val="F6F3ED"/>
                </a:solidFill>
                <a:latin typeface="Aptos"/>
                <a:ea typeface="Aptos"/>
                <a:cs typeface="Aptos"/>
              </a:rPr>
              <a:t>valeur</a:t>
            </a:r>
            <a:r>
              <a:rPr sz="2025" b="0" dirty="0">
                <a:solidFill>
                  <a:srgbClr val="F6F3ED"/>
                </a:solidFill>
                <a:latin typeface="Aptos"/>
                <a:ea typeface="Aptos"/>
                <a:cs typeface="Aptos"/>
              </a:rPr>
              <a:t> NULL ne </a:t>
            </a:r>
            <a:r>
              <a:rPr sz="2025" b="0" dirty="0" err="1">
                <a:solidFill>
                  <a:srgbClr val="F6F3ED"/>
                </a:solidFill>
                <a:latin typeface="Aptos"/>
                <a:ea typeface="Aptos"/>
                <a:cs typeface="Aptos"/>
              </a:rPr>
              <a:t>subsiste</a:t>
            </a:r>
            <a:r>
              <a:rPr sz="2025" b="0" dirty="0">
                <a:solidFill>
                  <a:srgbClr val="F6F3ED"/>
                </a:solidFill>
                <a:latin typeface="Aptos"/>
                <a:ea typeface="Aptos"/>
                <a:cs typeface="Aptos"/>
              </a:rPr>
              <a:t> et le retour arrière </a:t>
            </a:r>
            <a:r>
              <a:rPr sz="2025" b="0" dirty="0" err="1">
                <a:solidFill>
                  <a:srgbClr val="F6F3ED"/>
                </a:solidFill>
                <a:latin typeface="Aptos"/>
                <a:ea typeface="Aptos"/>
                <a:cs typeface="Aptos"/>
              </a:rPr>
              <a:t>fonctionne</a:t>
            </a:r>
            <a:r>
              <a:rPr sz="2025" b="0" dirty="0">
                <a:solidFill>
                  <a:srgbClr val="F6F3ED"/>
                </a:solidFill>
                <a:latin typeface="Aptos"/>
                <a:ea typeface="Aptos"/>
                <a:cs typeface="Aptos"/>
              </a:rPr>
              <a:t>.</a:t>
            </a:r>
          </a:p>
          <a:p>
            <a:endParaRPr lang="fr-FR" sz="2025" b="0" dirty="0">
              <a:solidFill>
                <a:srgbClr val="F6F3ED"/>
              </a:solidFill>
              <a:latin typeface="Aptos"/>
              <a:ea typeface="Aptos"/>
              <a:cs typeface="Aptos"/>
            </a:endParaRPr>
          </a:p>
          <a:p>
            <a:pPr>
              <a:defRPr sz="2025" b="0">
                <a:solidFill>
                  <a:srgbClr val="F6F3ED"/>
                </a:solidFill>
                <a:latin typeface="Aptos"/>
                <a:ea typeface="Aptos"/>
                <a:cs typeface="Aptos"/>
              </a:defRPr>
            </a:pPr>
            <a:r>
              <a:rPr lang="fr-FR" sz="2025" b="0" dirty="0">
                <a:solidFill>
                  <a:srgbClr val="F6F3ED"/>
                </a:solidFill>
                <a:latin typeface="Aptos"/>
                <a:ea typeface="Aptos"/>
                <a:cs typeface="Aptos"/>
              </a:rPr>
              <a:t>60 min : préparation 10, migration 20, contrôles 10, verrous 15, retour arrière 5. Garder 30 min pour le bilan.</a:t>
            </a:r>
          </a:p>
        </p:txBody>
      </p:sp>
      <p:sp>
        <p:nvSpPr>
          <p:cNvPr id="8" name="Rectangle 7">
            <a:extLst>
              <a:ext uri="{FF2B5EF4-FFF2-40B4-BE49-F238E27FC236}">
                <a16:creationId xmlns:a16="http://schemas.microsoft.com/office/drawing/2014/main" id="{0875B24D-D809-40AC-A443-5E8415072765}"/>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7F2B851B-64FE-4649-8801-EC997640C213}"/>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Les fichiers 01 à 09 du dossier Atelier_4bis accompagnent les étapes. PostgreSQL 18, client SQL en autocommit.</a:t>
            </a:r>
          </a:p>
        </p:txBody>
      </p:sp>
      <p:sp>
        <p:nvSpPr>
          <p:cNvPr id="10" name="Rectangle 9">
            <a:extLst>
              <a:ext uri="{FF2B5EF4-FFF2-40B4-BE49-F238E27FC236}">
                <a16:creationId xmlns:a16="http://schemas.microsoft.com/office/drawing/2014/main" id="{BA45E3C0-0168-4028-9661-169A4D7E139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A8E7613B-4862-43E2-97A5-4F8733E82FB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33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4953195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274BE9E-F934-4CB7-B89D-B3B07F8A9E6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DB2F8475-91F6-4264-B000-336E4D5A90A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4 bis : préparation du laboratoire</a:t>
            </a:r>
          </a:p>
        </p:txBody>
      </p:sp>
      <p:sp>
        <p:nvSpPr>
          <p:cNvPr id="4" name="Rectangle 3">
            <a:extLst>
              <a:ext uri="{FF2B5EF4-FFF2-40B4-BE49-F238E27FC236}">
                <a16:creationId xmlns:a16="http://schemas.microsoft.com/office/drawing/2014/main" id="{8627D04B-0D40-4AAB-B700-961830034DB7}"/>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MANIPULATION GUIDÉE</a:t>
            </a:r>
          </a:p>
        </p:txBody>
      </p:sp>
      <p:sp>
        <p:nvSpPr>
          <p:cNvPr id="5" name="Rectangle 4">
            <a:extLst>
              <a:ext uri="{FF2B5EF4-FFF2-40B4-BE49-F238E27FC236}">
                <a16:creationId xmlns:a16="http://schemas.microsoft.com/office/drawing/2014/main" id="{71DCBC00-2C0A-4A49-BB9A-EE533DC906F4}"/>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Exécutez 01_preparation.sql une fois, après les scripts de démarrage ShopFlow.</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La table clients_migration_tp conserve les clés et les contraintes de clients. La référence garde les valeurs historiques pour la comparaison finale.</a:t>
            </a:r>
          </a:p>
        </p:txBody>
      </p:sp>
      <p:sp>
        <p:nvSpPr>
          <p:cNvPr id="6" name="Rectangle 5">
            <a:extLst>
              <a:ext uri="{FF2B5EF4-FFF2-40B4-BE49-F238E27FC236}">
                <a16:creationId xmlns:a16="http://schemas.microsoft.com/office/drawing/2014/main" id="{A1BADE74-55EA-49C9-9321-DA708C3C21F3}"/>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SQL À EXÉCUTER</a:t>
            </a:r>
          </a:p>
        </p:txBody>
      </p:sp>
      <p:sp>
        <p:nvSpPr>
          <p:cNvPr id="7" name="Rectangle 6">
            <a:extLst>
              <a:ext uri="{FF2B5EF4-FFF2-40B4-BE49-F238E27FC236}">
                <a16:creationId xmlns:a16="http://schemas.microsoft.com/office/drawing/2014/main" id="{A99A847A-6975-4DEF-8BEE-57CF18CD6FA4}"/>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CREATE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(LIKE shopflow.clients INCLUDING ALL);</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INSERT INTO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(id,email,nom)</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id,email,nom FROM shopflow.clients;</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count(*)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shopflow.clients_migration_tp;</a:t>
            </a:r>
          </a:p>
        </p:txBody>
      </p:sp>
      <p:sp>
        <p:nvSpPr>
          <p:cNvPr id="8" name="Rectangle 7">
            <a:extLst>
              <a:ext uri="{FF2B5EF4-FFF2-40B4-BE49-F238E27FC236}">
                <a16:creationId xmlns:a16="http://schemas.microsoft.com/office/drawing/2014/main" id="{8B790F47-E5BE-4591-B5FC-FE88AC8B6CA8}"/>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0DFEAD4F-0E11-439D-83CC-3B25D9556410}"/>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Attendu : 1 000 clients avec le jeu initial. Travaillez uniquement sur la copie. Conservez la version et le volume observés.</a:t>
            </a:r>
          </a:p>
        </p:txBody>
      </p:sp>
      <p:sp>
        <p:nvSpPr>
          <p:cNvPr id="10" name="Rectangle 9">
            <a:extLst>
              <a:ext uri="{FF2B5EF4-FFF2-40B4-BE49-F238E27FC236}">
                <a16:creationId xmlns:a16="http://schemas.microsoft.com/office/drawing/2014/main" id="{349D1F61-48A6-430E-95C6-738B2DA69C2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5189F3DE-5824-430F-8F9A-F4140D9F23E3}"/>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34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5224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066E16B-CB6A-4213-B0B2-70A9E726128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EA8FA98E-B6FB-4788-8323-89AD79CF0109}"/>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4 bis : ajout compatible de la colonne</a:t>
            </a:r>
          </a:p>
        </p:txBody>
      </p:sp>
      <p:sp>
        <p:nvSpPr>
          <p:cNvPr id="4" name="Rectangle 3">
            <a:extLst>
              <a:ext uri="{FF2B5EF4-FFF2-40B4-BE49-F238E27FC236}">
                <a16:creationId xmlns:a16="http://schemas.microsoft.com/office/drawing/2014/main" id="{154EC389-DAC6-4B04-BFB0-6E429E87DC2C}"/>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MANIPULATION GUIDÉE</a:t>
            </a:r>
          </a:p>
        </p:txBody>
      </p:sp>
      <p:sp>
        <p:nvSpPr>
          <p:cNvPr id="5" name="Rectangle 4">
            <a:extLst>
              <a:ext uri="{FF2B5EF4-FFF2-40B4-BE49-F238E27FC236}">
                <a16:creationId xmlns:a16="http://schemas.microsoft.com/office/drawing/2014/main" id="{3A9EFE05-0FB9-43FF-9AC6-E4434FA920B6}"/>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Exécutez 02_ajout_colonne.sql commande par commande.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Ajoutez newsletter_ok nullable. Les anciennes lignes prennent NULL. L’ancien lecteur continue de demander id, email et nom.</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Conservez le contrôle initial avant tout remplissage.</a:t>
            </a:r>
          </a:p>
        </p:txBody>
      </p:sp>
      <p:sp>
        <p:nvSpPr>
          <p:cNvPr id="6" name="Rectangle 5">
            <a:extLst>
              <a:ext uri="{FF2B5EF4-FFF2-40B4-BE49-F238E27FC236}">
                <a16:creationId xmlns:a16="http://schemas.microsoft.com/office/drawing/2014/main" id="{1BC88A2C-B3B8-4FCC-B529-54B5AD4F24A0}"/>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SQL À EXÉCUTER</a:t>
            </a:r>
          </a:p>
        </p:txBody>
      </p:sp>
      <p:sp>
        <p:nvSpPr>
          <p:cNvPr id="7" name="Rectangle 6">
            <a:extLst>
              <a:ext uri="{FF2B5EF4-FFF2-40B4-BE49-F238E27FC236}">
                <a16:creationId xmlns:a16="http://schemas.microsoft.com/office/drawing/2014/main" id="{E29B2585-77E4-470A-AAC9-E8EE4AA4E1CC}"/>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SET lock_timeout = '2s';</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ADD COLUMN newsletter_ok boolean;</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count(*) AS nb_null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newsletter_ok IS NULL;</a:t>
            </a:r>
          </a:p>
        </p:txBody>
      </p:sp>
      <p:sp>
        <p:nvSpPr>
          <p:cNvPr id="8" name="Rectangle 7">
            <a:extLst>
              <a:ext uri="{FF2B5EF4-FFF2-40B4-BE49-F238E27FC236}">
                <a16:creationId xmlns:a16="http://schemas.microsoft.com/office/drawing/2014/main" id="{CC986E49-A863-44F3-A449-805E79CA062E}"/>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CDDECB0F-A345-45CC-B32D-AF025577447C}"/>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Attendu : 1 000 NULL. lock_timeout borne l’attente du verrou. Il ne borne pas la durée totale de la commande.</a:t>
            </a:r>
          </a:p>
        </p:txBody>
      </p:sp>
      <p:sp>
        <p:nvSpPr>
          <p:cNvPr id="10" name="Rectangle 9">
            <a:extLst>
              <a:ext uri="{FF2B5EF4-FFF2-40B4-BE49-F238E27FC236}">
                <a16:creationId xmlns:a16="http://schemas.microsoft.com/office/drawing/2014/main" id="{E830838B-5AB4-4AA5-9BEF-2728DE20D7D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8F4C024D-9052-476E-B06F-45E935737E2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35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3222014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E83C99D-2DBA-4746-9D0A-953E69980F7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A3FD7723-CAE5-4600-9EA6-60713CA7F6A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4 bis : compatibilité des deux versions</a:t>
            </a:r>
          </a:p>
        </p:txBody>
      </p:sp>
      <p:sp>
        <p:nvSpPr>
          <p:cNvPr id="4" name="Rectangle 3">
            <a:extLst>
              <a:ext uri="{FF2B5EF4-FFF2-40B4-BE49-F238E27FC236}">
                <a16:creationId xmlns:a16="http://schemas.microsoft.com/office/drawing/2014/main" id="{527ED1B4-2A49-4C93-914F-0A8D10B5ED3F}"/>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MANIPULATION GUIDÉE</a:t>
            </a:r>
          </a:p>
        </p:txBody>
      </p:sp>
      <p:sp>
        <p:nvSpPr>
          <p:cNvPr id="5" name="Rectangle 4">
            <a:extLst>
              <a:ext uri="{FF2B5EF4-FFF2-40B4-BE49-F238E27FC236}">
                <a16:creationId xmlns:a16="http://schemas.microsoft.com/office/drawing/2014/main" id="{7E13F93F-E33C-475A-B2FE-970D1D997C02}"/>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Exécutez 03_compatibilite.sql. Testez l’ancien lecteur et le nouveau lecteur.</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Simulez les insertions anciennes et nouvelles dans une transaction de test, puis faites ROLLBACK.</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Fixez ensuite le défaut false. Les insertions</a:t>
            </a:r>
          </a:p>
          <a:p>
            <a:pPr>
              <a:defRPr sz="2025" b="0">
                <a:solidFill>
                  <a:srgbClr val="173044"/>
                </a:solidFill>
                <a:latin typeface="Aptos"/>
                <a:ea typeface="Aptos"/>
                <a:cs typeface="Aptos"/>
              </a:defRPr>
            </a:pPr>
            <a:r>
              <a:rPr sz="2025" b="0">
                <a:solidFill>
                  <a:srgbClr val="173044"/>
                </a:solidFill>
                <a:latin typeface="Aptos"/>
                <a:ea typeface="Aptos"/>
                <a:cs typeface="Aptos"/>
              </a:rPr>
              <a:t>qui omettent la colonne recevront cette valeur.</a:t>
            </a:r>
          </a:p>
        </p:txBody>
      </p:sp>
      <p:sp>
        <p:nvSpPr>
          <p:cNvPr id="6" name="Rectangle 5">
            <a:extLst>
              <a:ext uri="{FF2B5EF4-FFF2-40B4-BE49-F238E27FC236}">
                <a16:creationId xmlns:a16="http://schemas.microsoft.com/office/drawing/2014/main" id="{A58D8067-7643-413C-BAF2-C9D6FF9656E3}"/>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SQL À EXÉCUTER</a:t>
            </a:r>
          </a:p>
        </p:txBody>
      </p:sp>
      <p:sp>
        <p:nvSpPr>
          <p:cNvPr id="7" name="Rectangle 6">
            <a:extLst>
              <a:ext uri="{FF2B5EF4-FFF2-40B4-BE49-F238E27FC236}">
                <a16:creationId xmlns:a16="http://schemas.microsoft.com/office/drawing/2014/main" id="{F3812BD5-CD5C-4D9A-858C-E4220ABEF3D8}"/>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Ancien lecteur</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id,email,nom</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shopflow.clients_migration_tp LIMIT 5;</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Nouveau lecteur</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id,email,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COALESCE(newsletter_ok,false) AS autorisee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shopflow.clients_migration_tp LIMIT 5;</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ALTER COLUMN newsletter_ok</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SET DEFAULT false;</a:t>
            </a:r>
          </a:p>
        </p:txBody>
      </p:sp>
      <p:sp>
        <p:nvSpPr>
          <p:cNvPr id="8" name="Rectangle 7">
            <a:extLst>
              <a:ext uri="{FF2B5EF4-FFF2-40B4-BE49-F238E27FC236}">
                <a16:creationId xmlns:a16="http://schemas.microsoft.com/office/drawing/2014/main" id="{004A1D65-1D50-477C-9F09-821FA66E53FB}"/>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055EFE48-55AB-488F-9E01-6D0DCEC999F9}"/>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Dans l’exercice, NULL signifie absence d’autorisation. Le défaut s’applique aux écritures suivantes. Les lignes existantes restent NULL.</a:t>
            </a:r>
          </a:p>
        </p:txBody>
      </p:sp>
      <p:sp>
        <p:nvSpPr>
          <p:cNvPr id="10" name="Rectangle 9">
            <a:extLst>
              <a:ext uri="{FF2B5EF4-FFF2-40B4-BE49-F238E27FC236}">
                <a16:creationId xmlns:a16="http://schemas.microsoft.com/office/drawing/2014/main" id="{F68E3FD2-B89D-4C0D-BEF6-7CB5D55E6B5E}"/>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46669C86-3F97-4BDB-A582-503A756ECA6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36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264312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695B8D6-06FF-41CA-8F87-68B92F135C5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908B537A-5132-4CA5-807E-1AA4744CB84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4 bis : remplissage par lots</a:t>
            </a:r>
          </a:p>
        </p:txBody>
      </p:sp>
      <p:sp>
        <p:nvSpPr>
          <p:cNvPr id="4" name="Rectangle 3">
            <a:extLst>
              <a:ext uri="{FF2B5EF4-FFF2-40B4-BE49-F238E27FC236}">
                <a16:creationId xmlns:a16="http://schemas.microsoft.com/office/drawing/2014/main" id="{9CEC28FE-7ADB-4C91-901B-DA61607133A7}"/>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MANIPULATION GUIDÉE</a:t>
            </a:r>
          </a:p>
        </p:txBody>
      </p:sp>
      <p:sp>
        <p:nvSpPr>
          <p:cNvPr id="5" name="Rectangle 4">
            <a:extLst>
              <a:ext uri="{FF2B5EF4-FFF2-40B4-BE49-F238E27FC236}">
                <a16:creationId xmlns:a16="http://schemas.microsoft.com/office/drawing/2014/main" id="{138E7ED3-3BF6-4D76-966F-091353A7261B}"/>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173044"/>
                </a:solidFill>
                <a:latin typeface="Aptos"/>
                <a:ea typeface="Aptos"/>
                <a:cs typeface="Aptos"/>
              </a:defRPr>
            </a:pPr>
            <a:r>
              <a:rPr sz="2025" b="0" dirty="0">
                <a:solidFill>
                  <a:srgbClr val="173044"/>
                </a:solidFill>
                <a:latin typeface="Aptos"/>
                <a:ea typeface="Aptos"/>
                <a:cs typeface="Aptos"/>
              </a:rPr>
              <a:t>Dans 04_remplissage_lot.sql, </a:t>
            </a:r>
            <a:r>
              <a:rPr sz="2025" b="0" dirty="0" err="1">
                <a:solidFill>
                  <a:srgbClr val="173044"/>
                </a:solidFill>
                <a:latin typeface="Aptos"/>
                <a:ea typeface="Aptos"/>
                <a:cs typeface="Aptos"/>
              </a:rPr>
              <a:t>sélectionnez</a:t>
            </a:r>
            <a:r>
              <a:rPr sz="2025" b="0" dirty="0">
                <a:solidFill>
                  <a:srgbClr val="173044"/>
                </a:solidFill>
                <a:latin typeface="Aptos"/>
                <a:ea typeface="Aptos"/>
                <a:cs typeface="Aptos"/>
              </a:rPr>
              <a:t> le bloc WITH et </a:t>
            </a:r>
            <a:r>
              <a:rPr sz="2025" b="0" dirty="0" err="1">
                <a:solidFill>
                  <a:srgbClr val="173044"/>
                </a:solidFill>
                <a:latin typeface="Aptos"/>
                <a:ea typeface="Aptos"/>
                <a:cs typeface="Aptos"/>
              </a:rPr>
              <a:t>relancez</a:t>
            </a:r>
            <a:r>
              <a:rPr sz="2025" b="0" dirty="0">
                <a:solidFill>
                  <a:srgbClr val="173044"/>
                </a:solidFill>
                <a:latin typeface="Aptos"/>
                <a:ea typeface="Aptos"/>
                <a:cs typeface="Aptos"/>
              </a:rPr>
              <a:t>-le </a:t>
            </a:r>
            <a:r>
              <a:rPr sz="2025" b="0" dirty="0" err="1">
                <a:solidFill>
                  <a:srgbClr val="173044"/>
                </a:solidFill>
                <a:latin typeface="Aptos"/>
                <a:ea typeface="Aptos"/>
                <a:cs typeface="Aptos"/>
              </a:rPr>
              <a:t>jusqu’à</a:t>
            </a:r>
            <a:r>
              <a:rPr sz="2025" b="0" dirty="0">
                <a:solidFill>
                  <a:srgbClr val="173044"/>
                </a:solidFill>
                <a:latin typeface="Aptos"/>
                <a:ea typeface="Aptos"/>
                <a:cs typeface="Aptos"/>
              </a:rPr>
              <a:t> </a:t>
            </a:r>
            <a:r>
              <a:rPr sz="2025" b="0" dirty="0" err="1">
                <a:solidFill>
                  <a:srgbClr val="173044"/>
                </a:solidFill>
                <a:latin typeface="Aptos"/>
                <a:ea typeface="Aptos"/>
                <a:cs typeface="Aptos"/>
              </a:rPr>
              <a:t>obtenir</a:t>
            </a:r>
            <a:r>
              <a:rPr sz="2025" b="0" dirty="0">
                <a:solidFill>
                  <a:srgbClr val="173044"/>
                </a:solidFill>
                <a:latin typeface="Aptos"/>
                <a:ea typeface="Aptos"/>
                <a:cs typeface="Aptos"/>
              </a:rPr>
              <a:t> 0.</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err="1">
                <a:solidFill>
                  <a:srgbClr val="173044"/>
                </a:solidFill>
                <a:latin typeface="Aptos"/>
                <a:ea typeface="Aptos"/>
                <a:cs typeface="Aptos"/>
              </a:rPr>
              <a:t>Chaque</a:t>
            </a:r>
            <a:r>
              <a:rPr sz="2025" b="0" dirty="0">
                <a:solidFill>
                  <a:srgbClr val="173044"/>
                </a:solidFill>
                <a:latin typeface="Aptos"/>
                <a:ea typeface="Aptos"/>
                <a:cs typeface="Aptos"/>
              </a:rPr>
              <a:t> </a:t>
            </a:r>
            <a:r>
              <a:rPr sz="2025" b="0" dirty="0" err="1">
                <a:solidFill>
                  <a:srgbClr val="173044"/>
                </a:solidFill>
                <a:latin typeface="Aptos"/>
                <a:ea typeface="Aptos"/>
                <a:cs typeface="Aptos"/>
              </a:rPr>
              <a:t>exécution</a:t>
            </a:r>
            <a:r>
              <a:rPr sz="2025" b="0" dirty="0">
                <a:solidFill>
                  <a:srgbClr val="173044"/>
                </a:solidFill>
                <a:latin typeface="Aptos"/>
                <a:ea typeface="Aptos"/>
                <a:cs typeface="Aptos"/>
              </a:rPr>
              <a:t> </a:t>
            </a:r>
            <a:r>
              <a:rPr sz="2025" b="0" dirty="0" err="1">
                <a:solidFill>
                  <a:srgbClr val="173044"/>
                </a:solidFill>
                <a:latin typeface="Aptos"/>
                <a:ea typeface="Aptos"/>
                <a:cs typeface="Aptos"/>
              </a:rPr>
              <a:t>traite</a:t>
            </a:r>
            <a:r>
              <a:rPr sz="2025" b="0" dirty="0">
                <a:solidFill>
                  <a:srgbClr val="173044"/>
                </a:solidFill>
                <a:latin typeface="Aptos"/>
                <a:ea typeface="Aptos"/>
                <a:cs typeface="Aptos"/>
              </a:rPr>
              <a:t> au plus 200 </a:t>
            </a:r>
            <a:r>
              <a:rPr sz="2025" b="0" dirty="0" err="1">
                <a:solidFill>
                  <a:srgbClr val="173044"/>
                </a:solidFill>
                <a:latin typeface="Aptos"/>
                <a:ea typeface="Aptos"/>
                <a:cs typeface="Aptos"/>
              </a:rPr>
              <a:t>lignes</a:t>
            </a:r>
            <a:r>
              <a:rPr sz="2025" b="0" dirty="0">
                <a:solidFill>
                  <a:srgbClr val="173044"/>
                </a:solidFill>
                <a:latin typeface="Aptos"/>
                <a:ea typeface="Aptos"/>
                <a:cs typeface="Aptos"/>
              </a:rPr>
              <a:t> et </a:t>
            </a:r>
            <a:r>
              <a:rPr sz="2025" b="0" dirty="0" err="1">
                <a:solidFill>
                  <a:srgbClr val="173044"/>
                </a:solidFill>
                <a:latin typeface="Aptos"/>
                <a:ea typeface="Aptos"/>
                <a:cs typeface="Aptos"/>
              </a:rPr>
              <a:t>valide</a:t>
            </a:r>
            <a:r>
              <a:rPr sz="2025" b="0" dirty="0">
                <a:solidFill>
                  <a:srgbClr val="173044"/>
                </a:solidFill>
                <a:latin typeface="Aptos"/>
                <a:ea typeface="Aptos"/>
                <a:cs typeface="Aptos"/>
              </a:rPr>
              <a:t> son lot </a:t>
            </a:r>
            <a:r>
              <a:rPr sz="2025" b="1" i="1" dirty="0" err="1">
                <a:solidFill>
                  <a:srgbClr val="173044"/>
                </a:solidFill>
                <a:latin typeface="Aptos"/>
                <a:ea typeface="Aptos"/>
                <a:cs typeface="Aptos"/>
              </a:rPr>
              <a:t>en</a:t>
            </a:r>
            <a:r>
              <a:rPr sz="2025" b="1" i="1" dirty="0">
                <a:solidFill>
                  <a:srgbClr val="173044"/>
                </a:solidFill>
                <a:latin typeface="Aptos"/>
                <a:ea typeface="Aptos"/>
                <a:cs typeface="Aptos"/>
              </a:rPr>
              <a:t> </a:t>
            </a:r>
            <a:r>
              <a:rPr sz="2025" b="1" i="1" dirty="0" err="1">
                <a:solidFill>
                  <a:srgbClr val="173044"/>
                </a:solidFill>
                <a:latin typeface="Aptos"/>
                <a:ea typeface="Aptos"/>
                <a:cs typeface="Aptos"/>
              </a:rPr>
              <a:t>autocommit</a:t>
            </a:r>
            <a:r>
              <a:rPr sz="2025" b="0" dirty="0">
                <a:solidFill>
                  <a:srgbClr val="173044"/>
                </a:solidFill>
                <a:latin typeface="Aptos"/>
                <a:ea typeface="Aptos"/>
                <a:cs typeface="Aptos"/>
              </a:rPr>
              <a:t>. </a:t>
            </a:r>
            <a:r>
              <a:rPr sz="2025" b="0" dirty="0" err="1">
                <a:solidFill>
                  <a:srgbClr val="173044"/>
                </a:solidFill>
                <a:latin typeface="Aptos"/>
                <a:ea typeface="Aptos"/>
                <a:cs typeface="Aptos"/>
              </a:rPr>
              <a:t>Notez</a:t>
            </a:r>
            <a:r>
              <a:rPr sz="2025" b="0" dirty="0">
                <a:solidFill>
                  <a:srgbClr val="173044"/>
                </a:solidFill>
                <a:latin typeface="Aptos"/>
                <a:ea typeface="Aptos"/>
                <a:cs typeface="Aptos"/>
              </a:rPr>
              <a:t> le </a:t>
            </a:r>
            <a:r>
              <a:rPr sz="2025" b="0" dirty="0" err="1">
                <a:solidFill>
                  <a:srgbClr val="173044"/>
                </a:solidFill>
                <a:latin typeface="Aptos"/>
                <a:ea typeface="Aptos"/>
                <a:cs typeface="Aptos"/>
              </a:rPr>
              <a:t>nombre</a:t>
            </a:r>
            <a:r>
              <a:rPr sz="2025" b="0" dirty="0">
                <a:solidFill>
                  <a:srgbClr val="173044"/>
                </a:solidFill>
                <a:latin typeface="Aptos"/>
                <a:ea typeface="Aptos"/>
                <a:cs typeface="Aptos"/>
              </a:rPr>
              <a:t> de </a:t>
            </a:r>
            <a:r>
              <a:rPr sz="2025" b="0" dirty="0" err="1">
                <a:solidFill>
                  <a:srgbClr val="173044"/>
                </a:solidFill>
                <a:latin typeface="Aptos"/>
                <a:ea typeface="Aptos"/>
                <a:cs typeface="Aptos"/>
              </a:rPr>
              <a:t>lignes</a:t>
            </a:r>
            <a:r>
              <a:rPr sz="2025" b="0" dirty="0">
                <a:solidFill>
                  <a:srgbClr val="173044"/>
                </a:solidFill>
                <a:latin typeface="Aptos"/>
                <a:ea typeface="Aptos"/>
                <a:cs typeface="Aptos"/>
              </a:rPr>
              <a:t> et la durée de </a:t>
            </a:r>
            <a:r>
              <a:rPr sz="2025" b="0" dirty="0" err="1">
                <a:solidFill>
                  <a:srgbClr val="173044"/>
                </a:solidFill>
                <a:latin typeface="Aptos"/>
                <a:ea typeface="Aptos"/>
                <a:cs typeface="Aptos"/>
              </a:rPr>
              <a:t>chaque</a:t>
            </a:r>
            <a:r>
              <a:rPr sz="2025" b="0" dirty="0">
                <a:solidFill>
                  <a:srgbClr val="173044"/>
                </a:solidFill>
                <a:latin typeface="Aptos"/>
                <a:ea typeface="Aptos"/>
                <a:cs typeface="Aptos"/>
              </a:rPr>
              <a:t> passage.</a:t>
            </a:r>
          </a:p>
          <a:p>
            <a:endParaRPr sz="2025" b="0" dirty="0">
              <a:solidFill>
                <a:srgbClr val="173044"/>
              </a:solidFill>
              <a:latin typeface="Aptos"/>
              <a:ea typeface="Aptos"/>
              <a:cs typeface="Aptos"/>
            </a:endParaRPr>
          </a:p>
          <a:p>
            <a:pPr>
              <a:defRPr sz="2025" b="0">
                <a:solidFill>
                  <a:srgbClr val="173044"/>
                </a:solidFill>
                <a:latin typeface="Aptos"/>
                <a:ea typeface="Aptos"/>
                <a:cs typeface="Aptos"/>
              </a:defRPr>
            </a:pPr>
            <a:r>
              <a:rPr sz="2025" b="0" dirty="0" err="1">
                <a:solidFill>
                  <a:srgbClr val="173044"/>
                </a:solidFill>
                <a:latin typeface="Aptos"/>
                <a:ea typeface="Aptos"/>
                <a:cs typeface="Aptos"/>
              </a:rPr>
              <a:t>Contrôlez</a:t>
            </a:r>
            <a:r>
              <a:rPr sz="2025" b="0" dirty="0">
                <a:solidFill>
                  <a:srgbClr val="173044"/>
                </a:solidFill>
                <a:latin typeface="Aptos"/>
                <a:ea typeface="Aptos"/>
                <a:cs typeface="Aptos"/>
              </a:rPr>
              <a:t> les NULL </a:t>
            </a:r>
            <a:r>
              <a:rPr sz="2025" b="0" dirty="0" err="1">
                <a:solidFill>
                  <a:srgbClr val="173044"/>
                </a:solidFill>
                <a:latin typeface="Aptos"/>
                <a:ea typeface="Aptos"/>
                <a:cs typeface="Aptos"/>
              </a:rPr>
              <a:t>restants</a:t>
            </a:r>
            <a:r>
              <a:rPr sz="2025" b="0" dirty="0">
                <a:solidFill>
                  <a:srgbClr val="173044"/>
                </a:solidFill>
                <a:latin typeface="Aptos"/>
                <a:ea typeface="Aptos"/>
                <a:cs typeface="Aptos"/>
              </a:rPr>
              <a:t> entre les lots.</a:t>
            </a:r>
          </a:p>
        </p:txBody>
      </p:sp>
      <p:sp>
        <p:nvSpPr>
          <p:cNvPr id="6" name="Rectangle 5">
            <a:extLst>
              <a:ext uri="{FF2B5EF4-FFF2-40B4-BE49-F238E27FC236}">
                <a16:creationId xmlns:a16="http://schemas.microsoft.com/office/drawing/2014/main" id="{BE33F2D9-2BBC-4140-B064-46B4574A9791}"/>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SQL À EXÉCUTER</a:t>
            </a:r>
          </a:p>
        </p:txBody>
      </p:sp>
      <p:sp>
        <p:nvSpPr>
          <p:cNvPr id="7" name="Rectangle 6">
            <a:extLst>
              <a:ext uri="{FF2B5EF4-FFF2-40B4-BE49-F238E27FC236}">
                <a16:creationId xmlns:a16="http://schemas.microsoft.com/office/drawing/2014/main" id="{52C08DD2-6C5E-4ABB-95C5-58F7C6823CF4}"/>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WITH lot AS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SELECT id FROM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WHERE newsletter_ok IS 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ORDER BY id LIMIT 200</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maj AS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UPDATE shopflow.clients_migration_tp 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SET newsletter_ok=false FROM lot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WHERE c.id=lot.id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AND c.newsletter_ok IS 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RETURNING c.id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count(*) AS nb_mises_a_jour FROM maj;</a:t>
            </a:r>
          </a:p>
        </p:txBody>
      </p:sp>
      <p:sp>
        <p:nvSpPr>
          <p:cNvPr id="8" name="Rectangle 7">
            <a:extLst>
              <a:ext uri="{FF2B5EF4-FFF2-40B4-BE49-F238E27FC236}">
                <a16:creationId xmlns:a16="http://schemas.microsoft.com/office/drawing/2014/main" id="{13E0DA16-F335-41B3-B68D-8EBA35304C26}"/>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B925396D-D21F-4C0E-8AB8-99C1D6445703}"/>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Attendu : cinq lots de 200, puis 0. Relancer après 0 modifie encore 0 ligne. Le filtre conserve les valeurs déjà renseignées.</a:t>
            </a:r>
          </a:p>
        </p:txBody>
      </p:sp>
      <p:sp>
        <p:nvSpPr>
          <p:cNvPr id="10" name="Rectangle 9">
            <a:extLst>
              <a:ext uri="{FF2B5EF4-FFF2-40B4-BE49-F238E27FC236}">
                <a16:creationId xmlns:a16="http://schemas.microsoft.com/office/drawing/2014/main" id="{626F6B66-1AD5-466B-A28F-AA94F6477D1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EC4B658B-A5C3-4D6B-9649-1F98682CC4B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37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742834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a:extLst>
            <a:ext uri="{FF2B5EF4-FFF2-40B4-BE49-F238E27FC236}">
              <a16:creationId xmlns:a16="http://schemas.microsoft.com/office/drawing/2014/main" id="{C39E4C7E-D776-0819-029C-5F543C2B3D7E}"/>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64419BE3-3C14-DBA3-C6B6-C3BD597FD534}"/>
              </a:ext>
            </a:extLst>
          </p:cNvPr>
          <p:cNvPicPr>
            <a:picLocks noChangeAspect="1"/>
          </p:cNvPicPr>
          <p:nvPr/>
        </p:nvPicPr>
        <p:blipFill>
          <a:blip r:embed="rId3"/>
          <a:srcRect t="27" b="27"/>
          <a:stretch>
            <a:fillRect/>
          </a:stretch>
        </p:blipFill>
        <p:spPr>
          <a:xfrm>
            <a:off x="0" y="7226"/>
            <a:ext cx="15240000" cy="8572500"/>
          </a:xfrm>
          <a:prstGeom prst="rect">
            <a:avLst/>
          </a:prstGeom>
        </p:spPr>
      </p:pic>
      <p:sp>
        <p:nvSpPr>
          <p:cNvPr id="2" name="Rectangle 1">
            <a:extLst>
              <a:ext uri="{FF2B5EF4-FFF2-40B4-BE49-F238E27FC236}">
                <a16:creationId xmlns:a16="http://schemas.microsoft.com/office/drawing/2014/main" id="{2C761044-E069-082F-A808-89B6AB44F3C5}"/>
              </a:ext>
            </a:extLst>
          </p:cNvPr>
          <p:cNvSpPr>
            <a:spLocks noGrp="1"/>
          </p:cNvSpPr>
          <p:nvPr/>
        </p:nvSpPr>
        <p:spPr>
          <a:xfrm>
            <a:off x="666750" y="285750"/>
            <a:ext cx="13716000" cy="2667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1">
                <a:solidFill>
                  <a:srgbClr val="AD4C21"/>
                </a:solidFill>
                <a:latin typeface="Aptos"/>
                <a:ea typeface="Aptos"/>
                <a:cs typeface="Aptos"/>
              </a:defRPr>
            </a:pPr>
            <a:r>
              <a:rPr kumimoji="0" sz="1350" b="1" i="0" u="none" strike="noStrike" kern="1200" cap="none" spc="0" normalizeH="0" baseline="0" noProof="0">
                <a:ln>
                  <a:noFill/>
                </a:ln>
                <a:solidFill>
                  <a:srgbClr val="AD4C21"/>
                </a:solidFill>
                <a:effectLst/>
                <a:uLnTx/>
                <a:uFillTx/>
                <a:latin typeface="Aptos"/>
                <a:ea typeface="Aptos"/>
                <a:cs typeface="Aptos"/>
              </a:rPr>
              <a:t>JOUR 2   /   OPTIMISATION BDD</a:t>
            </a:r>
          </a:p>
        </p:txBody>
      </p:sp>
      <p:sp>
        <p:nvSpPr>
          <p:cNvPr id="3" name="Rectangle 2">
            <a:extLst>
              <a:ext uri="{FF2B5EF4-FFF2-40B4-BE49-F238E27FC236}">
                <a16:creationId xmlns:a16="http://schemas.microsoft.com/office/drawing/2014/main" id="{AC349ABF-7E67-12FE-3EF6-32A8ECD9CA6B}"/>
              </a:ext>
            </a:extLst>
          </p:cNvPr>
          <p:cNvSpPr>
            <a:spLocks noGrp="1"/>
          </p:cNvSpPr>
          <p:nvPr/>
        </p:nvSpPr>
        <p:spPr>
          <a:xfrm>
            <a:off x="666750" y="790575"/>
            <a:ext cx="13525500" cy="11334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b="1">
                <a:solidFill>
                  <a:srgbClr val="173044"/>
                </a:solidFill>
                <a:latin typeface="Aptos"/>
                <a:ea typeface="Aptos"/>
                <a:cs typeface="Aptos"/>
              </a:defRPr>
            </a:pPr>
            <a:r>
              <a:rPr kumimoji="0" sz="3600" b="1" i="0" u="none" strike="noStrike" kern="1200" cap="none" spc="0" normalizeH="0" baseline="0" noProof="0" dirty="0">
                <a:ln>
                  <a:noFill/>
                </a:ln>
                <a:solidFill>
                  <a:srgbClr val="173044"/>
                </a:solidFill>
                <a:effectLst/>
                <a:uLnTx/>
                <a:uFillTx/>
                <a:latin typeface="Aptos"/>
                <a:ea typeface="Aptos"/>
                <a:cs typeface="Aptos"/>
              </a:rPr>
              <a:t>4 bis : </a:t>
            </a:r>
            <a:r>
              <a:rPr lang="fr-FR" sz="3600" b="1" dirty="0">
                <a:solidFill>
                  <a:srgbClr val="173044"/>
                </a:solidFill>
                <a:latin typeface="Aptos"/>
                <a:ea typeface="Aptos"/>
                <a:cs typeface="Aptos"/>
              </a:rPr>
              <a:t>Autocommit</a:t>
            </a:r>
            <a:endParaRPr kumimoji="0" sz="3600" b="1" i="0" u="none" strike="noStrike" kern="1200" cap="none" spc="0" normalizeH="0" baseline="0" noProof="0" dirty="0">
              <a:ln>
                <a:noFill/>
              </a:ln>
              <a:solidFill>
                <a:srgbClr val="173044"/>
              </a:solidFill>
              <a:effectLst/>
              <a:uLnTx/>
              <a:uFillTx/>
              <a:latin typeface="Aptos"/>
              <a:ea typeface="Aptos"/>
              <a:cs typeface="Aptos"/>
            </a:endParaRPr>
          </a:p>
        </p:txBody>
      </p:sp>
      <p:sp>
        <p:nvSpPr>
          <p:cNvPr id="4" name="Rectangle 3">
            <a:extLst>
              <a:ext uri="{FF2B5EF4-FFF2-40B4-BE49-F238E27FC236}">
                <a16:creationId xmlns:a16="http://schemas.microsoft.com/office/drawing/2014/main" id="{CA5B3A02-70AF-E582-E063-725964EF67B1}"/>
              </a:ext>
            </a:extLst>
          </p:cNvPr>
          <p:cNvSpPr>
            <a:spLocks noGrp="1"/>
          </p:cNvSpPr>
          <p:nvPr/>
        </p:nvSpPr>
        <p:spPr>
          <a:xfrm>
            <a:off x="666750" y="2076450"/>
            <a:ext cx="6191250" cy="304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1">
                <a:solidFill>
                  <a:srgbClr val="AD4C21"/>
                </a:solidFill>
                <a:latin typeface="Aptos"/>
                <a:ea typeface="Aptos"/>
                <a:cs typeface="Aptos"/>
              </a:defRPr>
            </a:pPr>
            <a:r>
              <a:rPr kumimoji="0" sz="1350" b="1" i="0" u="none" strike="noStrike" kern="1200" cap="none" spc="0" normalizeH="0" baseline="0" noProof="0">
                <a:ln>
                  <a:noFill/>
                </a:ln>
                <a:solidFill>
                  <a:srgbClr val="AD4C21"/>
                </a:solidFill>
                <a:effectLst/>
                <a:uLnTx/>
                <a:uFillTx/>
                <a:latin typeface="Aptos"/>
                <a:ea typeface="Aptos"/>
                <a:cs typeface="Aptos"/>
              </a:rPr>
              <a:t>MANIPULATION GUIDÉE</a:t>
            </a:r>
          </a:p>
        </p:txBody>
      </p:sp>
      <p:sp>
        <p:nvSpPr>
          <p:cNvPr id="5" name="Rectangle 4">
            <a:extLst>
              <a:ext uri="{FF2B5EF4-FFF2-40B4-BE49-F238E27FC236}">
                <a16:creationId xmlns:a16="http://schemas.microsoft.com/office/drawing/2014/main" id="{4FF120BA-98FB-9C05-F921-895962DB002A}"/>
              </a:ext>
            </a:extLst>
          </p:cNvPr>
          <p:cNvSpPr>
            <a:spLocks noGrp="1"/>
          </p:cNvSpPr>
          <p:nvPr/>
        </p:nvSpPr>
        <p:spPr>
          <a:xfrm>
            <a:off x="666750" y="2524125"/>
            <a:ext cx="6191250" cy="4000500"/>
          </a:xfrm>
          <a:prstGeom prst="rect">
            <a:avLst/>
          </a:prstGeom>
          <a:noFill/>
          <a:ln w="0">
            <a:noFill/>
          </a:ln>
        </p:spPr>
        <p:txBody>
          <a:bodyPr>
            <a:noAutofit/>
          </a:bodyPr>
          <a:lstStyle/>
          <a:p>
            <a:pPr lvl="0"/>
            <a:r>
              <a:rPr lang="fr-FR" b="1" dirty="0"/>
              <a:t>Dans </a:t>
            </a:r>
            <a:r>
              <a:rPr lang="fr-FR" b="1" dirty="0" err="1"/>
              <a:t>pgAdmin</a:t>
            </a:r>
            <a:r>
              <a:rPr lang="fr-FR" b="1" dirty="0"/>
              <a:t> (Query Tool)</a:t>
            </a:r>
            <a:r>
              <a:rPr lang="fr-FR" dirty="0"/>
              <a:t> : </a:t>
            </a:r>
          </a:p>
          <a:p>
            <a:pPr lvl="0"/>
            <a:endParaRPr lang="fr-FR" dirty="0"/>
          </a:p>
          <a:p>
            <a:pPr lvl="0"/>
            <a:r>
              <a:rPr lang="fr-FR" dirty="0"/>
              <a:t>ouvre le menu déroulant à côté de </a:t>
            </a:r>
            <a:r>
              <a:rPr lang="fr-FR" b="1" dirty="0" err="1"/>
              <a:t>Execute</a:t>
            </a:r>
            <a:r>
              <a:rPr lang="fr-FR" b="1" dirty="0"/>
              <a:t> script</a:t>
            </a:r>
            <a:r>
              <a:rPr lang="fr-FR" dirty="0"/>
              <a:t> et coche </a:t>
            </a:r>
            <a:r>
              <a:rPr lang="fr-FR" b="1" dirty="0"/>
              <a:t>Auto commit?</a:t>
            </a:r>
            <a:r>
              <a:rPr lang="fr-FR" dirty="0"/>
              <a:t>. </a:t>
            </a:r>
          </a:p>
          <a:p>
            <a:pPr lvl="0"/>
            <a:endParaRPr lang="fr-FR" dirty="0"/>
          </a:p>
          <a:p>
            <a:pPr lvl="0"/>
            <a:r>
              <a:rPr lang="fr-FR" dirty="0"/>
              <a:t>Sélectionne uniquement le bloc WITH … ; </a:t>
            </a:r>
            <a:r>
              <a:rPr lang="fr-FR" dirty="0" err="1"/>
              <a:t>poue</a:t>
            </a:r>
            <a:r>
              <a:rPr lang="fr-FR" dirty="0"/>
              <a:t> exécuter le code SQL (pas de BEGIN … COMMIT)</a:t>
            </a:r>
          </a:p>
          <a:p>
            <a:pPr lvl="0"/>
            <a:endParaRPr lang="fr-FR" dirty="0"/>
          </a:p>
          <a:p>
            <a:pPr lvl="0"/>
            <a:endParaRPr lang="fr-FR" dirty="0"/>
          </a:p>
          <a:p>
            <a:pPr lvl="0"/>
            <a:endParaRPr lang="fr-FR" dirty="0"/>
          </a:p>
          <a:p>
            <a:pPr lvl="0"/>
            <a:endParaRPr lang="fr-FR" dirty="0"/>
          </a:p>
          <a:p>
            <a:r>
              <a:rPr lang="fr-FR" b="1" dirty="0"/>
              <a:t>Dans le terminal </a:t>
            </a:r>
            <a:r>
              <a:rPr lang="fr-FR" dirty="0" err="1"/>
              <a:t>psql</a:t>
            </a:r>
            <a:r>
              <a:rPr lang="fr-FR" dirty="0"/>
              <a:t> : l’autocommit est normalement déjà activé. </a:t>
            </a:r>
          </a:p>
          <a:p>
            <a:endParaRPr lang="fr-FR" dirty="0"/>
          </a:p>
          <a:p>
            <a:r>
              <a:rPr lang="fr-FR" dirty="0"/>
              <a:t>Si besoin, tape </a:t>
            </a:r>
            <a:r>
              <a:rPr lang="fr-FR" b="1" i="1" dirty="0"/>
              <a:t>\set AUTOCOMMIT on</a:t>
            </a:r>
            <a:r>
              <a:rPr lang="fr-FR" dirty="0"/>
              <a:t> dans </a:t>
            </a:r>
            <a:r>
              <a:rPr lang="fr-FR" dirty="0" err="1"/>
              <a:t>psql</a:t>
            </a:r>
            <a:r>
              <a:rPr lang="fr-FR" dirty="0"/>
              <a:t> (ce n’est </a:t>
            </a:r>
            <a:r>
              <a:rPr lang="fr-FR" b="1" dirty="0"/>
              <a:t>pas</a:t>
            </a:r>
            <a:r>
              <a:rPr lang="fr-FR" dirty="0"/>
              <a:t> une instruction SQL à mettre dans le fichier)</a:t>
            </a:r>
          </a:p>
          <a:p>
            <a:endParaRPr lang="fr-FR" dirty="0"/>
          </a:p>
          <a:p>
            <a:pPr lvl="0"/>
            <a:endParaRPr lang="fr-FR" dirty="0"/>
          </a:p>
        </p:txBody>
      </p:sp>
      <p:sp>
        <p:nvSpPr>
          <p:cNvPr id="10" name="Rectangle 9">
            <a:extLst>
              <a:ext uri="{FF2B5EF4-FFF2-40B4-BE49-F238E27FC236}">
                <a16:creationId xmlns:a16="http://schemas.microsoft.com/office/drawing/2014/main" id="{1AD2E9BB-279D-A7D3-1DB2-78FD640BB1F7}"/>
              </a:ext>
            </a:extLst>
          </p:cNvPr>
          <p:cNvSpPr>
            <a:spLocks noGrp="1"/>
          </p:cNvSpPr>
          <p:nvPr/>
        </p:nvSpPr>
        <p:spPr>
          <a:xfrm>
            <a:off x="666750" y="8172450"/>
            <a:ext cx="10001250" cy="247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75" b="0">
                <a:solidFill>
                  <a:srgbClr val="3F5B66"/>
                </a:solidFill>
                <a:latin typeface="Aptos"/>
                <a:ea typeface="Aptos"/>
                <a:cs typeface="Aptos"/>
              </a:defRPr>
            </a:pPr>
            <a:r>
              <a:rPr kumimoji="0" sz="1275" b="0" i="0" u="none" strike="noStrike" kern="1200" cap="none" spc="0" normalizeH="0" baseline="0" noProof="0">
                <a:ln>
                  <a:noFill/>
                </a:ln>
                <a:solidFill>
                  <a:srgbClr val="3F5B66"/>
                </a:solidFill>
                <a:effectLst/>
                <a:uLnTx/>
                <a:uFillTx/>
                <a:latin typeface="Aptos"/>
                <a:ea typeface="Aptos"/>
                <a:cs typeface="Aptos"/>
              </a:rPr>
              <a:t>SUP DE VINCI   /   M2   /   2026–2027</a:t>
            </a:r>
          </a:p>
        </p:txBody>
      </p:sp>
      <p:sp>
        <p:nvSpPr>
          <p:cNvPr id="11" name="Rectangle 10">
            <a:extLst>
              <a:ext uri="{FF2B5EF4-FFF2-40B4-BE49-F238E27FC236}">
                <a16:creationId xmlns:a16="http://schemas.microsoft.com/office/drawing/2014/main" id="{BACE8920-E402-156C-2379-8E4A1B59050C}"/>
              </a:ext>
            </a:extLst>
          </p:cNvPr>
          <p:cNvSpPr>
            <a:spLocks noGrp="1"/>
          </p:cNvSpPr>
          <p:nvPr/>
        </p:nvSpPr>
        <p:spPr>
          <a:xfrm>
            <a:off x="13335000" y="8172450"/>
            <a:ext cx="1428750" cy="247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75" b="0">
                <a:solidFill>
                  <a:srgbClr val="3F5B66"/>
                </a:solidFill>
                <a:latin typeface="Aptos"/>
                <a:ea typeface="Aptos"/>
                <a:cs typeface="Aptos"/>
              </a:defRPr>
            </a:pPr>
            <a:r>
              <a:rPr kumimoji="0" lang="fr-FR" sz="1275" b="0" i="0" u="none" strike="noStrike" kern="1200" cap="none" spc="0" normalizeH="0" baseline="0" noProof="0">
                <a:ln>
                  <a:noFill/>
                </a:ln>
                <a:solidFill>
                  <a:srgbClr val="3F5B66"/>
                </a:solidFill>
                <a:effectLst/>
                <a:uLnTx/>
                <a:uFillTx/>
                <a:latin typeface="Aptos"/>
                <a:ea typeface="Aptos"/>
                <a:cs typeface="Aptos"/>
              </a:rPr>
              <a:t>38 / 48</a:t>
            </a:r>
            <a:endParaRPr kumimoji="0" sz="1275" b="0" i="0" u="none" strike="noStrike" kern="1200" cap="none" spc="0" normalizeH="0" baseline="0" noProof="0">
              <a:ln>
                <a:noFill/>
              </a:ln>
              <a:solidFill>
                <a:srgbClr val="3F5B66"/>
              </a:solidFill>
              <a:effectLst/>
              <a:uLnTx/>
              <a:uFillTx/>
              <a:latin typeface="Aptos"/>
              <a:ea typeface="Aptos"/>
              <a:cs typeface="Aptos"/>
            </a:endParaRPr>
          </a:p>
        </p:txBody>
      </p:sp>
    </p:spTree>
    <p:extLst>
      <p:ext uri="{BB962C8B-B14F-4D97-AF65-F5344CB8AC3E}">
        <p14:creationId xmlns:p14="http://schemas.microsoft.com/office/powerpoint/2010/main" val="9137529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933060B-820A-4551-9D23-79E66A39319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B645D469-2BB7-4C19-BEB0-CE18B637CF4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4 bis : contrainte progressive</a:t>
            </a:r>
          </a:p>
        </p:txBody>
      </p:sp>
      <p:sp>
        <p:nvSpPr>
          <p:cNvPr id="4" name="Rectangle 3">
            <a:extLst>
              <a:ext uri="{FF2B5EF4-FFF2-40B4-BE49-F238E27FC236}">
                <a16:creationId xmlns:a16="http://schemas.microsoft.com/office/drawing/2014/main" id="{5E722465-8ECC-4859-B4F9-3C8BE37031A5}"/>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MANIPULATION GUIDÉE</a:t>
            </a:r>
          </a:p>
        </p:txBody>
      </p:sp>
      <p:sp>
        <p:nvSpPr>
          <p:cNvPr id="5" name="Rectangle 4">
            <a:extLst>
              <a:ext uri="{FF2B5EF4-FFF2-40B4-BE49-F238E27FC236}">
                <a16:creationId xmlns:a16="http://schemas.microsoft.com/office/drawing/2014/main" id="{A7828D8A-A3F2-4965-B254-907974E59089}"/>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Exécutez 05_contrainte_progressive.sql après un contrôle à 0 NULL.</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Ajoutez un CHECK NOT VALID. PostgreSQL applique la règle aux nouvelles écritures, mais reporte la vérification des lignes déjà présentes.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Conservez l’état convalidated = false.</a:t>
            </a:r>
          </a:p>
        </p:txBody>
      </p:sp>
      <p:sp>
        <p:nvSpPr>
          <p:cNvPr id="6" name="Rectangle 5">
            <a:extLst>
              <a:ext uri="{FF2B5EF4-FFF2-40B4-BE49-F238E27FC236}">
                <a16:creationId xmlns:a16="http://schemas.microsoft.com/office/drawing/2014/main" id="{2DC16C8F-9C15-4F92-816B-669C7DA25E6E}"/>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SQL À EXÉCUTER</a:t>
            </a:r>
          </a:p>
        </p:txBody>
      </p:sp>
      <p:sp>
        <p:nvSpPr>
          <p:cNvPr id="7" name="Rectangle 6">
            <a:extLst>
              <a:ext uri="{FF2B5EF4-FFF2-40B4-BE49-F238E27FC236}">
                <a16:creationId xmlns:a16="http://schemas.microsoft.com/office/drawing/2014/main" id="{07330262-E525-40E1-A22E-72D9CC97332A}"/>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ADD CONSTRAINT clients_newsletter_nn_tp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CHECK (newsletter_ok IS NOT 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NOT VALID;</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conname,convalidated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pg_constraint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conrelid =</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'shopflow.clients_migration_tp'::regclass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AND conname='clients_newsletter_nn_tp';</a:t>
            </a:r>
          </a:p>
        </p:txBody>
      </p:sp>
      <p:sp>
        <p:nvSpPr>
          <p:cNvPr id="8" name="Rectangle 7">
            <a:extLst>
              <a:ext uri="{FF2B5EF4-FFF2-40B4-BE49-F238E27FC236}">
                <a16:creationId xmlns:a16="http://schemas.microsoft.com/office/drawing/2014/main" id="{5935BE33-840E-4579-BF96-F67A4D8A95E3}"/>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D45BBB38-8032-4179-890B-69BDED0DD1C4}"/>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séparation entre ajout et validation permet de planifier le contrôle des anciennes lignes dans une étape distincte.</a:t>
            </a:r>
          </a:p>
        </p:txBody>
      </p:sp>
      <p:sp>
        <p:nvSpPr>
          <p:cNvPr id="10" name="Rectangle 9">
            <a:extLst>
              <a:ext uri="{FF2B5EF4-FFF2-40B4-BE49-F238E27FC236}">
                <a16:creationId xmlns:a16="http://schemas.microsoft.com/office/drawing/2014/main" id="{5EA51955-3D1C-42BD-8C85-ED02ECF0201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4F72E282-FBA8-4FA4-B734-DCE0521B3B1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39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68002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EAC7FDA3-93E5-4F33-9D7A-502AECC6391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23B44EA0-4287-40A4-8B50-4D2E0E6495B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4 bis : validation et contrôles finaux</a:t>
            </a:r>
          </a:p>
        </p:txBody>
      </p:sp>
      <p:sp>
        <p:nvSpPr>
          <p:cNvPr id="4" name="Rectangle 3">
            <a:extLst>
              <a:ext uri="{FF2B5EF4-FFF2-40B4-BE49-F238E27FC236}">
                <a16:creationId xmlns:a16="http://schemas.microsoft.com/office/drawing/2014/main" id="{E98D6C18-435F-4BDA-BE81-2F0028CBF7C4}"/>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MANIPULATION GUIDÉE</a:t>
            </a:r>
          </a:p>
        </p:txBody>
      </p:sp>
      <p:sp>
        <p:nvSpPr>
          <p:cNvPr id="5" name="Rectangle 4">
            <a:extLst>
              <a:ext uri="{FF2B5EF4-FFF2-40B4-BE49-F238E27FC236}">
                <a16:creationId xmlns:a16="http://schemas.microsoft.com/office/drawing/2014/main" id="{F07B6EDC-09F2-496F-B2ED-FE62F1852CAB}"/>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Exécutez 06_validation.sql, puis les blocs de 07_controles.sql séparément.</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Attendus : CHECK validé, colonne NOT NULL, défaut false, 1 000 clients et 0 NULL.</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L’insertion qui omet la colonne reçoit false. Le test qui écrit NULL échoue. La comparaison des champs historiques retourne 0 écart.</a:t>
            </a:r>
          </a:p>
        </p:txBody>
      </p:sp>
      <p:sp>
        <p:nvSpPr>
          <p:cNvPr id="6" name="Rectangle 5">
            <a:extLst>
              <a:ext uri="{FF2B5EF4-FFF2-40B4-BE49-F238E27FC236}">
                <a16:creationId xmlns:a16="http://schemas.microsoft.com/office/drawing/2014/main" id="{9FF3659E-B591-4D20-A028-261CEFC63274}"/>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SQL À EXÉCUTER</a:t>
            </a:r>
          </a:p>
        </p:txBody>
      </p:sp>
      <p:sp>
        <p:nvSpPr>
          <p:cNvPr id="7" name="Rectangle 6">
            <a:extLst>
              <a:ext uri="{FF2B5EF4-FFF2-40B4-BE49-F238E27FC236}">
                <a16:creationId xmlns:a16="http://schemas.microsoft.com/office/drawing/2014/main" id="{57996E25-F39C-4B9F-924D-39E619D424C6}"/>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VALIDATE CONSTRAINT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clients_newsletter_nn_tp;</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ALTER COLUMN newsletter_ok SET NOT NULL;</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Test isolé, hors transaction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UPDATE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SET newsletter_ok=NULL WHERE id=1;</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Erreur attendue : 23502</a:t>
            </a:r>
          </a:p>
        </p:txBody>
      </p:sp>
      <p:sp>
        <p:nvSpPr>
          <p:cNvPr id="8" name="Rectangle 7">
            <a:extLst>
              <a:ext uri="{FF2B5EF4-FFF2-40B4-BE49-F238E27FC236}">
                <a16:creationId xmlns:a16="http://schemas.microsoft.com/office/drawing/2014/main" id="{7837499B-47A4-44DF-AD6B-CE492AB2D387}"/>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09FDE96B-AFAF-4628-BEF1-89A498932FD3}"/>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Conservez le CHECK valide pendant SET NOT NULL pour éviter un second scan. Lancez le test d’erreur seul, puis les contrôles.</a:t>
            </a:r>
          </a:p>
        </p:txBody>
      </p:sp>
      <p:sp>
        <p:nvSpPr>
          <p:cNvPr id="10" name="Rectangle 9">
            <a:extLst>
              <a:ext uri="{FF2B5EF4-FFF2-40B4-BE49-F238E27FC236}">
                <a16:creationId xmlns:a16="http://schemas.microsoft.com/office/drawing/2014/main" id="{8E9EDFE4-AC00-4007-8DAF-18788E0628E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2AF11DEB-5037-4DE0-985F-EFEC5E5B206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40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73982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9F7B7838-0AE3-4A11-99AF-6BCCB353CE7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513B1A21-9BB3-42DC-BCF7-67D7F634592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4 bis : attente de verrou en deux sessions</a:t>
            </a:r>
          </a:p>
        </p:txBody>
      </p:sp>
      <p:sp>
        <p:nvSpPr>
          <p:cNvPr id="4" name="Rectangle 3">
            <a:extLst>
              <a:ext uri="{FF2B5EF4-FFF2-40B4-BE49-F238E27FC236}">
                <a16:creationId xmlns:a16="http://schemas.microsoft.com/office/drawing/2014/main" id="{55015D3F-D306-474A-963D-BC8B1EFC1F21}"/>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SESSION A</a:t>
            </a:r>
          </a:p>
        </p:txBody>
      </p:sp>
      <p:sp>
        <p:nvSpPr>
          <p:cNvPr id="5" name="Rectangle 4">
            <a:extLst>
              <a:ext uri="{FF2B5EF4-FFF2-40B4-BE49-F238E27FC236}">
                <a16:creationId xmlns:a16="http://schemas.microsoft.com/office/drawing/2014/main" id="{6AE476C8-CA63-42D0-896D-94B1A4FBDCD1}"/>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Ouvrez deux connexions distinctes à la même base. Dans A, exécutez BEGIN et le SELECT. Gardez la transaction ouverte.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Dans B, lancez SET puis ALTER séparément. Conservez l’erreur 55P03 après environ 2 s.</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Faites COMMIT dans A. Relancez le même ALTER dans B et vérifiez sa réussite.</a:t>
            </a:r>
          </a:p>
        </p:txBody>
      </p:sp>
      <p:sp>
        <p:nvSpPr>
          <p:cNvPr id="6" name="Rectangle 5">
            <a:extLst>
              <a:ext uri="{FF2B5EF4-FFF2-40B4-BE49-F238E27FC236}">
                <a16:creationId xmlns:a16="http://schemas.microsoft.com/office/drawing/2014/main" id="{E1E90973-612B-40BD-B615-6C8639EDCCF0}"/>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SQL À EXÉCUTER</a:t>
            </a:r>
          </a:p>
        </p:txBody>
      </p:sp>
      <p:sp>
        <p:nvSpPr>
          <p:cNvPr id="7" name="Rectangle 6">
            <a:extLst>
              <a:ext uri="{FF2B5EF4-FFF2-40B4-BE49-F238E27FC236}">
                <a16:creationId xmlns:a16="http://schemas.microsoft.com/office/drawing/2014/main" id="{9061D9A5-F32C-4EFB-A697-4C7421676AD0}"/>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F6F3ED"/>
                </a:solidFill>
                <a:latin typeface="Consolas"/>
                <a:ea typeface="Consolas"/>
                <a:cs typeface="Consolas"/>
              </a:defRPr>
            </a:pPr>
            <a:r>
              <a:rPr sz="1800" b="0">
                <a:solidFill>
                  <a:srgbClr val="F6F3ED"/>
                </a:solidFill>
                <a:latin typeface="Consolas"/>
                <a:ea typeface="Consolas"/>
                <a:cs typeface="Consolas"/>
              </a:rPr>
              <a:t>-- A : transaction ouverte</a:t>
            </a: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BEGIN;</a:t>
            </a: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SELECT id FROM shopflow.clients_migration_tp</a:t>
            </a: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LIMIT 1;</a:t>
            </a: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 COMMIT après l’erreur de B</a:t>
            </a:r>
          </a:p>
          <a:p>
            <a:endParaRPr sz="1800" b="0">
              <a:solidFill>
                <a:srgbClr val="F6F3ED"/>
              </a:solidFill>
              <a:latin typeface="Consolas"/>
              <a:ea typeface="Consolas"/>
              <a:cs typeface="Consolas"/>
            </a:endParaRP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 B : autocommit</a:t>
            </a: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SET lock_timeout='2s';</a:t>
            </a: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ALTER TABLE shopflow.clients_migration_tp</a:t>
            </a:r>
          </a:p>
          <a:p>
            <a:pPr>
              <a:defRPr sz="1800" b="0">
                <a:solidFill>
                  <a:srgbClr val="F6F3ED"/>
                </a:solidFill>
                <a:latin typeface="Consolas"/>
                <a:ea typeface="Consolas"/>
                <a:cs typeface="Consolas"/>
              </a:defRPr>
            </a:pPr>
            <a:r>
              <a:rPr sz="1800" b="0">
                <a:solidFill>
                  <a:srgbClr val="F6F3ED"/>
                </a:solidFill>
                <a:latin typeface="Consolas"/>
                <a:ea typeface="Consolas"/>
                <a:cs typeface="Consolas"/>
              </a:rPr>
              <a:t>  ADD COLUMN test_verrou integer;</a:t>
            </a:r>
          </a:p>
        </p:txBody>
      </p:sp>
      <p:sp>
        <p:nvSpPr>
          <p:cNvPr id="8" name="Rectangle 7">
            <a:extLst>
              <a:ext uri="{FF2B5EF4-FFF2-40B4-BE49-F238E27FC236}">
                <a16:creationId xmlns:a16="http://schemas.microsoft.com/office/drawing/2014/main" id="{2030E0C5-4445-432E-9602-EF4CA6CFBF82}"/>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008D3E3B-96A8-440E-98BB-2931A20CF0D6}"/>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Fichiers 08_verrous_session_A.sql et 08_verrous_session_B.sql. Après réussite, B supprime uniquement test_verrou.</a:t>
            </a:r>
          </a:p>
        </p:txBody>
      </p:sp>
      <p:sp>
        <p:nvSpPr>
          <p:cNvPr id="10" name="Rectangle 9">
            <a:extLst>
              <a:ext uri="{FF2B5EF4-FFF2-40B4-BE49-F238E27FC236}">
                <a16:creationId xmlns:a16="http://schemas.microsoft.com/office/drawing/2014/main" id="{397BDDD7-BBDD-469E-9927-DC09B078B5A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B8950CE4-F56A-4150-B2DF-028FB35F3E0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41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7797353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7608F0D-558F-42F9-8025-8C82DDF67659}"/>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20C99BE4-E271-4033-9390-4547C851212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4 bis : retour arrière et limites</a:t>
            </a:r>
          </a:p>
        </p:txBody>
      </p:sp>
      <p:sp>
        <p:nvSpPr>
          <p:cNvPr id="4" name="Rectangle 3">
            <a:extLst>
              <a:ext uri="{FF2B5EF4-FFF2-40B4-BE49-F238E27FC236}">
                <a16:creationId xmlns:a16="http://schemas.microsoft.com/office/drawing/2014/main" id="{70CD0338-C393-42FF-9F9D-050C134E2766}"/>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MANIPULATION GUIDÉE</a:t>
            </a:r>
          </a:p>
        </p:txBody>
      </p:sp>
      <p:sp>
        <p:nvSpPr>
          <p:cNvPr id="5" name="Rectangle 4">
            <a:extLst>
              <a:ext uri="{FF2B5EF4-FFF2-40B4-BE49-F238E27FC236}">
                <a16:creationId xmlns:a16="http://schemas.microsoft.com/office/drawing/2014/main" id="{C38DB174-51AA-46D8-A1A5-305D15638353}"/>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Après capture des résultats, exécutez 09_retour_arriere.sql. Arrêtez d’abord les requêtes qui utilisent newsletter_ok.</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Retirez le CHECK, NOT NULL et le défaut. La colonne et ses valeurs existent encore.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Terminez sur la copie par DROP COLUMN. Vérifiez l’absence de la colonne et 0 écart sur les champs historiques.</a:t>
            </a:r>
          </a:p>
        </p:txBody>
      </p:sp>
      <p:sp>
        <p:nvSpPr>
          <p:cNvPr id="6" name="Rectangle 5">
            <a:extLst>
              <a:ext uri="{FF2B5EF4-FFF2-40B4-BE49-F238E27FC236}">
                <a16:creationId xmlns:a16="http://schemas.microsoft.com/office/drawing/2014/main" id="{E4A5FB28-D996-4F02-8838-CF6FA7A1DF58}"/>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SQL À EXÉCUTER</a:t>
            </a:r>
          </a:p>
        </p:txBody>
      </p:sp>
      <p:sp>
        <p:nvSpPr>
          <p:cNvPr id="7" name="Rectangle 6">
            <a:extLst>
              <a:ext uri="{FF2B5EF4-FFF2-40B4-BE49-F238E27FC236}">
                <a16:creationId xmlns:a16="http://schemas.microsoft.com/office/drawing/2014/main" id="{80C0F163-A4F5-4F6B-BD9C-6192B5194CDD}"/>
              </a:ext>
            </a:extLst>
          </p:cNvPr>
          <p:cNvSpPr>
            <a:spLocks noGrp="1"/>
          </p:cNvSpPr>
          <p:nvPr/>
        </p:nvSpPr>
        <p:spPr>
          <a:xfrm>
            <a:off x="7524750" y="2524125"/>
            <a:ext cx="7048500" cy="4048125"/>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BEGIN;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DROP CONSTRAINT clients_newsletter_nn_tp;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ALTER COLUMN newsletter_ok DROP NOT NULL,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ALTER COLUMN newsletter_ok DROP DEFAULT;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COMMIT;</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Fin du TP sur la copie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ALTER TABLE shopflow.clients_migration_tp</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DROP COLUMN newsletter_ok;</a:t>
            </a:r>
          </a:p>
        </p:txBody>
      </p:sp>
      <p:sp>
        <p:nvSpPr>
          <p:cNvPr id="8" name="Rectangle 7">
            <a:extLst>
              <a:ext uri="{FF2B5EF4-FFF2-40B4-BE49-F238E27FC236}">
                <a16:creationId xmlns:a16="http://schemas.microsoft.com/office/drawing/2014/main" id="{8604754A-0DD2-42C1-B760-6219F710E6C8}"/>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8AA12558-311C-4EFF-A60D-978A4988E832}"/>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DROP COLUMN détruit les valeurs de cette colonne. En production, prévoir leur conservation et le retour de la version applicative.</a:t>
            </a:r>
          </a:p>
        </p:txBody>
      </p:sp>
      <p:sp>
        <p:nvSpPr>
          <p:cNvPr id="10" name="Rectangle 9">
            <a:extLst>
              <a:ext uri="{FF2B5EF4-FFF2-40B4-BE49-F238E27FC236}">
                <a16:creationId xmlns:a16="http://schemas.microsoft.com/office/drawing/2014/main" id="{8AD0EA75-BF29-41F9-937B-DD84369EE6D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54325033-81D8-4FED-9A97-2DA4B8AF77E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42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228476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6011919-94D2-4E99-8D3D-514B44BF027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25D39D82-BE87-47DD-BB42-98FBE3D0827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4 bis : preuves de migration à rendre</a:t>
            </a:r>
          </a:p>
        </p:txBody>
      </p:sp>
      <p:sp>
        <p:nvSpPr>
          <p:cNvPr id="4" name="Rectangle 3">
            <a:extLst>
              <a:ext uri="{FF2B5EF4-FFF2-40B4-BE49-F238E27FC236}">
                <a16:creationId xmlns:a16="http://schemas.microsoft.com/office/drawing/2014/main" id="{F12C7662-21B5-48F8-92F7-15B901A84E6A}"/>
              </a:ext>
            </a:extLst>
          </p:cNvPr>
          <p:cNvSpPr>
            <a:spLocks noGrp="1"/>
          </p:cNvSpPr>
          <p:nvPr/>
        </p:nvSpPr>
        <p:spPr>
          <a:xfrm>
            <a:off x="666750" y="2076450"/>
            <a:ext cx="6191250" cy="3048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TRACES À JOINDRE</a:t>
            </a:r>
          </a:p>
        </p:txBody>
      </p:sp>
      <p:sp>
        <p:nvSpPr>
          <p:cNvPr id="5" name="Rectangle 4">
            <a:extLst>
              <a:ext uri="{FF2B5EF4-FFF2-40B4-BE49-F238E27FC236}">
                <a16:creationId xmlns:a16="http://schemas.microsoft.com/office/drawing/2014/main" id="{4A115738-C0C1-4C95-A8DA-47DA58518635}"/>
              </a:ext>
            </a:extLst>
          </p:cNvPr>
          <p:cNvSpPr>
            <a:spLocks noGrp="1"/>
          </p:cNvSpPr>
          <p:nvPr/>
        </p:nvSpPr>
        <p:spPr>
          <a:xfrm>
            <a:off x="666750" y="2524125"/>
            <a:ext cx="6191250" cy="400050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01. SQL d’ajout, défaut, lots et contrainte.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02. Volumes et NULL avant, pendant et après. Nombre et durée de chaque lot.</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03. Compatibilité des lecteurs, défaut et rejet de NULL. Comparaison historique à 0 écart.</a:t>
            </a:r>
          </a:p>
        </p:txBody>
      </p:sp>
      <p:sp>
        <p:nvSpPr>
          <p:cNvPr id="6" name="Rectangle 5">
            <a:extLst>
              <a:ext uri="{FF2B5EF4-FFF2-40B4-BE49-F238E27FC236}">
                <a16:creationId xmlns:a16="http://schemas.microsoft.com/office/drawing/2014/main" id="{DD518BCE-979E-40CB-B58E-60CC0092AA2B}"/>
              </a:ext>
            </a:extLst>
          </p:cNvPr>
          <p:cNvSpPr>
            <a:spLocks noGrp="1"/>
          </p:cNvSpPr>
          <p:nvPr/>
        </p:nvSpPr>
        <p:spPr>
          <a:xfrm>
            <a:off x="7524750" y="2076450"/>
            <a:ext cx="7048500" cy="3048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EXÉCUTION ET DÉCISION</a:t>
            </a:r>
          </a:p>
        </p:txBody>
      </p:sp>
      <p:sp>
        <p:nvSpPr>
          <p:cNvPr id="7" name="Rectangle 6">
            <a:extLst>
              <a:ext uri="{FF2B5EF4-FFF2-40B4-BE49-F238E27FC236}">
                <a16:creationId xmlns:a16="http://schemas.microsoft.com/office/drawing/2014/main" id="{DD6F8263-E36A-4E53-82C8-7AF9F5C440DD}"/>
              </a:ext>
            </a:extLst>
          </p:cNvPr>
          <p:cNvSpPr>
            <a:spLocks noGrp="1"/>
          </p:cNvSpPr>
          <p:nvPr/>
        </p:nvSpPr>
        <p:spPr>
          <a:xfrm>
            <a:off x="7524750" y="2524125"/>
            <a:ext cx="7048500" cy="400050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04. État de contrainte avant et après validation.</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05. Verrou : erreur de B, COMMIT de A et réussite de B, avec la chronologie.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06. SQL de retour arrière et contrôles. Limites du laboratoire et précautions de déploiement.</a:t>
            </a:r>
          </a:p>
        </p:txBody>
      </p:sp>
      <p:sp>
        <p:nvSpPr>
          <p:cNvPr id="8" name="Rectangle 7">
            <a:extLst>
              <a:ext uri="{FF2B5EF4-FFF2-40B4-BE49-F238E27FC236}">
                <a16:creationId xmlns:a16="http://schemas.microsoft.com/office/drawing/2014/main" id="{A57D9D8E-447E-41B2-99F2-E249B6078521}"/>
              </a:ext>
            </a:extLst>
          </p:cNvPr>
          <p:cNvSpPr>
            <a:spLocks noGrp="1"/>
          </p:cNvSpPr>
          <p:nvPr/>
        </p:nvSpPr>
        <p:spPr>
          <a:xfrm>
            <a:off x="666750" y="67627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485BE4D6-8E36-417C-8AAA-C5F32E2310CB}"/>
              </a:ext>
            </a:extLst>
          </p:cNvPr>
          <p:cNvSpPr>
            <a:spLocks noGrp="1"/>
          </p:cNvSpPr>
          <p:nvPr/>
        </p:nvSpPr>
        <p:spPr>
          <a:xfrm>
            <a:off x="666750" y="7181850"/>
            <a:ext cx="13525500" cy="74295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Les plans avant/après et le coût d’écriture viennent des ateliers 3 et 4. L’atelier 4 bis apporte la migration et les preuves de fiabilité.</a:t>
            </a:r>
          </a:p>
        </p:txBody>
      </p:sp>
      <p:sp>
        <p:nvSpPr>
          <p:cNvPr id="10" name="Rectangle 9">
            <a:extLst>
              <a:ext uri="{FF2B5EF4-FFF2-40B4-BE49-F238E27FC236}">
                <a16:creationId xmlns:a16="http://schemas.microsoft.com/office/drawing/2014/main" id="{6C89FA85-7184-4494-93E1-7CF0239D90C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F3BBC99D-FDA9-4919-AAF8-BF3DAAC642F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43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7089940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4EB37D9D-A4BE-4316-B4CF-0676E705756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C551F7E-268E-4D3E-9EC2-B6541314768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 plan de décision pour ShopFlow</a:t>
            </a:r>
          </a:p>
        </p:txBody>
      </p:sp>
      <p:sp>
        <p:nvSpPr>
          <p:cNvPr id="4" name="Rectangle 3">
            <a:extLst>
              <a:ext uri="{FF2B5EF4-FFF2-40B4-BE49-F238E27FC236}">
                <a16:creationId xmlns:a16="http://schemas.microsoft.com/office/drawing/2014/main" id="{CF8217E3-9439-4962-912C-7EA28EF15254}"/>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L’historique donne une hypothèse d’index composé. Le traitement des commandes en attente donne une hypothèse partielle. Le catalogue flexible donne une hypothèse GIN. Chaque hypothèse répond à une requête distincte.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 choix final tient compte de la fréquence des appels, du coût des écritures, de la taille et des contraintes. On peut garder moins d’index que dans le laboratoire si les bénéfices ne compensent pas les coûts.</a:t>
            </a:r>
          </a:p>
        </p:txBody>
      </p:sp>
      <p:graphicFrame>
        <p:nvGraphicFramePr>
          <p:cNvPr id="14" name="Tableau 13"/>
          <p:cNvGraphicFramePr/>
          <p:nvPr/>
        </p:nvGraphicFramePr>
        <p:xfrm>
          <a:off x="7334250" y="2381250"/>
          <a:ext cx="7239000" cy="37147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742950">
                <a:tc>
                  <a:txBody>
                    <a:bodyPr/>
                    <a:lstStyle/>
                    <a:p>
                      <a:r>
                        <a:rPr sz="1800" b="1">
                          <a:solidFill>
                            <a:srgbClr val="FFFFFF"/>
                          </a:solidFill>
                          <a:latin typeface="Aptos"/>
                          <a:ea typeface="Aptos"/>
                          <a:cs typeface="Aptos"/>
                        </a:rPr>
                        <a:t>Besoin</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Option à tester</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Historique client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B-tree composé</a:t>
                      </a: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File à traiter</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Index partiel</a:t>
                      </a:r>
                    </a:p>
                  </a:txBody>
                  <a:tcPr marL="142875" marR="142875" marT="114300" marB="114300" anchor="ctr">
                    <a:solidFill>
                      <a:srgbClr val="F2DEC6"/>
                    </a:solidFill>
                  </a:tcPr>
                </a:tc>
                <a:extLst>
                  <a:ext uri="{0D108BD9-81ED-4DB2-BD59-A6C34878D82A}">
                    <a16:rowId xmlns:a16="http://schemas.microsoft.com/office/drawing/2014/main" val="10002"/>
                  </a:ext>
                </a:extLst>
              </a:tr>
              <a:tr h="742950">
                <a:tc>
                  <a:txBody>
                    <a:bodyPr/>
                    <a:lstStyle/>
                    <a:p>
                      <a:r>
                        <a:rPr sz="1800">
                          <a:solidFill>
                            <a:srgbClr val="173044"/>
                          </a:solidFill>
                          <a:latin typeface="Aptos"/>
                          <a:ea typeface="Aptos"/>
                          <a:cs typeface="Aptos"/>
                        </a:rPr>
                        <a:t>Attributs flexibles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GIN ou colonne typée</a:t>
                      </a:r>
                    </a:p>
                  </a:txBody>
                  <a:tcPr marL="142875" marR="142875" marT="114300" marB="114300" anchor="ctr">
                    <a:solidFill>
                      <a:srgbClr val="F2DEC6"/>
                    </a:solidFill>
                  </a:tcPr>
                </a:tc>
                <a:extLst>
                  <a:ext uri="{0D108BD9-81ED-4DB2-BD59-A6C34878D82A}">
                    <a16:rowId xmlns:a16="http://schemas.microsoft.com/office/drawing/2014/main" val="10003"/>
                  </a:ext>
                </a:extLst>
              </a:tr>
              <a:tr h="742950">
                <a:tc>
                  <a:txBody>
                    <a:bodyPr/>
                    <a:lstStyle/>
                    <a:p>
                      <a:r>
                        <a:rPr sz="1800">
                          <a:solidFill>
                            <a:srgbClr val="173044"/>
                          </a:solidFill>
                          <a:latin typeface="Aptos"/>
                          <a:ea typeface="Aptos"/>
                          <a:cs typeface="Aptos"/>
                        </a:rPr>
                        <a:t>Import fréquent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Limiter les index</a:t>
                      </a:r>
                    </a:p>
                  </a:txBody>
                  <a:tcPr marL="142875" marR="142875" marT="114300" marB="114300" anchor="ctr">
                    <a:solidFill>
                      <a:srgbClr val="F2DEC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A1798EC2-C23F-48B8-B30B-79F100AE071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C62DF0F9-3B1F-41F8-ADE6-CAC31E6801A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dossier présente aussi les variantes rejetées et leur raison.</a:t>
            </a:r>
          </a:p>
        </p:txBody>
      </p:sp>
      <p:sp>
        <p:nvSpPr>
          <p:cNvPr id="8" name="Rectangle 7">
            <a:extLst>
              <a:ext uri="{FF2B5EF4-FFF2-40B4-BE49-F238E27FC236}">
                <a16:creationId xmlns:a16="http://schemas.microsoft.com/office/drawing/2014/main" id="{BB85BE86-FAC7-48B5-98B5-66B5AFF33E0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38FD9024-CB23-434E-A63E-246712ADF65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44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732552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02C892A-7F63-45E4-A1D5-3C7E43CA00A4}"/>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D2D9D6E-30A7-42AE-BA28-46D5A5F6015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Une comparaison honnête des résultats</a:t>
            </a:r>
          </a:p>
        </p:txBody>
      </p:sp>
      <p:sp>
        <p:nvSpPr>
          <p:cNvPr id="4" name="Rectangle 3">
            <a:extLst>
              <a:ext uri="{FF2B5EF4-FFF2-40B4-BE49-F238E27FC236}">
                <a16:creationId xmlns:a16="http://schemas.microsoft.com/office/drawing/2014/main" id="{B1EB49DE-85C5-469D-B5F1-89A0444B4383}"/>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BEFC44EE-0D64-4596-963E-FAE0ABDECD7A}"/>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plan modifié est un mécanisme observé. Une durée réduite est un effet mesuré. La démonstration relie les deux sans annoncer un pourcentage universel. Les résultats dépendent du jeu, du cache et de la charge.</a:t>
            </a:r>
          </a:p>
        </p:txBody>
      </p:sp>
      <p:sp>
        <p:nvSpPr>
          <p:cNvPr id="6" name="Rectangle 5">
            <a:extLst>
              <a:ext uri="{FF2B5EF4-FFF2-40B4-BE49-F238E27FC236}">
                <a16:creationId xmlns:a16="http://schemas.microsoft.com/office/drawing/2014/main" id="{21BD8654-0004-4446-A25B-2F2575D8C727}"/>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B056BDBB-9401-4529-A005-E878602C4E7B}"/>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Si la médiane s’améliore et que le p95 se dégrade, on recherche la variabilité ou les attentes. Si les écritures ralentissent, on expose ce compromis au lieu de ne présenter que la lecture la plus favorable.</a:t>
            </a:r>
          </a:p>
        </p:txBody>
      </p:sp>
      <p:sp>
        <p:nvSpPr>
          <p:cNvPr id="8" name="Rectangle 7">
            <a:extLst>
              <a:ext uri="{FF2B5EF4-FFF2-40B4-BE49-F238E27FC236}">
                <a16:creationId xmlns:a16="http://schemas.microsoft.com/office/drawing/2014/main" id="{0C700A3E-DC70-4A50-8DAF-73DE0D96AF5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6F4C2CCB-ACED-4CE6-B43B-A8C04C6D208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Les graphiques du dossier portent leurs unités, leur protocole et la mention de leur origine.</a:t>
            </a:r>
          </a:p>
        </p:txBody>
      </p:sp>
      <p:sp>
        <p:nvSpPr>
          <p:cNvPr id="10" name="Rectangle 9">
            <a:extLst>
              <a:ext uri="{FF2B5EF4-FFF2-40B4-BE49-F238E27FC236}">
                <a16:creationId xmlns:a16="http://schemas.microsoft.com/office/drawing/2014/main" id="{1E099678-EFA9-4464-B697-25F1FCDC34F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979F03F8-5BE3-4130-A8BB-D0030254F74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45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921290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27FA96B-5053-41AD-9375-350BE78B02F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2   /   OPTIMISATION BDD</a:t>
            </a:r>
          </a:p>
        </p:txBody>
      </p:sp>
      <p:sp>
        <p:nvSpPr>
          <p:cNvPr id="3" name="Rectangle 2">
            <a:extLst>
              <a:ext uri="{FF2B5EF4-FFF2-40B4-BE49-F238E27FC236}">
                <a16:creationId xmlns:a16="http://schemas.microsoft.com/office/drawing/2014/main" id="{75F00F99-6DF3-447E-B11C-EFC718CE79D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Questions sur les index</a:t>
            </a:r>
          </a:p>
        </p:txBody>
      </p:sp>
      <p:sp>
        <p:nvSpPr>
          <p:cNvPr id="4" name="Rectangle 3">
            <a:extLst>
              <a:ext uri="{FF2B5EF4-FFF2-40B4-BE49-F238E27FC236}">
                <a16:creationId xmlns:a16="http://schemas.microsoft.com/office/drawing/2014/main" id="{E88B8E55-E3FA-4253-94C3-85B5C82A58DE}"/>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1. Pourquoi l’index composé commence-t-il par client_id ?</a:t>
            </a:r>
          </a:p>
          <a:p>
            <a:pPr>
              <a:defRPr sz="2550" b="0">
                <a:solidFill>
                  <a:srgbClr val="173044"/>
                </a:solidFill>
                <a:latin typeface="Aptos"/>
                <a:ea typeface="Aptos"/>
                <a:cs typeface="Aptos"/>
              </a:defRPr>
            </a:pPr>
            <a:r>
              <a:rPr sz="2550" b="0">
                <a:solidFill>
                  <a:srgbClr val="173044"/>
                </a:solidFill>
                <a:latin typeface="Aptos"/>
                <a:ea typeface="Aptos"/>
                <a:cs typeface="Aptos"/>
              </a:rPr>
              <a:t>2. Pourquoi INCLUDE ne garantit-il pas zéro Heap Fetches ?</a:t>
            </a:r>
          </a:p>
          <a:p>
            <a:pPr>
              <a:defRPr sz="2550" b="0">
                <a:solidFill>
                  <a:srgbClr val="173044"/>
                </a:solidFill>
                <a:latin typeface="Aptos"/>
                <a:ea typeface="Aptos"/>
                <a:cs typeface="Aptos"/>
              </a:defRPr>
            </a:pPr>
            <a:r>
              <a:rPr sz="2550" b="0">
                <a:solidFill>
                  <a:srgbClr val="173044"/>
                </a:solidFill>
                <a:latin typeface="Aptos"/>
                <a:ea typeface="Aptos"/>
                <a:cs typeface="Aptos"/>
              </a:rPr>
              <a:t>3. Quelle différence entre un index partiel et une partition ?</a:t>
            </a:r>
          </a:p>
        </p:txBody>
      </p:sp>
      <p:sp>
        <p:nvSpPr>
          <p:cNvPr id="5" name="Rectangle 4">
            <a:extLst>
              <a:ext uri="{FF2B5EF4-FFF2-40B4-BE49-F238E27FC236}">
                <a16:creationId xmlns:a16="http://schemas.microsoft.com/office/drawing/2014/main" id="{89BB1506-0CD8-4B88-BEC5-D6E0F1BB083D}"/>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4. Pourquoi un index GIN ne remplace-t-il pas tous les filtres JSON ?</a:t>
            </a:r>
          </a:p>
          <a:p>
            <a:pPr>
              <a:defRPr sz="2250" b="0">
                <a:solidFill>
                  <a:srgbClr val="173044"/>
                </a:solidFill>
                <a:latin typeface="Aptos"/>
                <a:ea typeface="Aptos"/>
                <a:cs typeface="Aptos"/>
              </a:defRPr>
            </a:pPr>
            <a:r>
              <a:rPr sz="2250" b="0">
                <a:solidFill>
                  <a:srgbClr val="173044"/>
                </a:solidFill>
                <a:latin typeface="Aptos"/>
                <a:ea typeface="Aptos"/>
                <a:cs typeface="Aptos"/>
              </a:rPr>
              <a:t>5. Quel coût observe-t-on sur les écritures ?</a:t>
            </a:r>
          </a:p>
          <a:p>
            <a:pPr>
              <a:defRPr sz="2250" b="0">
                <a:solidFill>
                  <a:srgbClr val="173044"/>
                </a:solidFill>
                <a:latin typeface="Aptos"/>
                <a:ea typeface="Aptos"/>
                <a:cs typeface="Aptos"/>
              </a:defRPr>
            </a:pPr>
            <a:r>
              <a:rPr sz="2250" b="0">
                <a:solidFill>
                  <a:srgbClr val="173044"/>
                </a:solidFill>
                <a:latin typeface="Aptos"/>
                <a:ea typeface="Aptos"/>
                <a:cs typeface="Aptos"/>
              </a:rPr>
              <a:t>6. Pourquoi un compteur d’usage nul ne suffit-il pas à supprimer un index ?</a:t>
            </a:r>
          </a:p>
        </p:txBody>
      </p:sp>
      <p:sp>
        <p:nvSpPr>
          <p:cNvPr id="6" name="Rectangle 5">
            <a:extLst>
              <a:ext uri="{FF2B5EF4-FFF2-40B4-BE49-F238E27FC236}">
                <a16:creationId xmlns:a16="http://schemas.microsoft.com/office/drawing/2014/main" id="{44B88DF7-4074-46D8-AA92-F4115866343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0C3F8D99-D16A-42C9-9B21-6BE9D5D2C88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Donner un exemple de requête pour chaque réponse.</a:t>
            </a:r>
          </a:p>
        </p:txBody>
      </p:sp>
      <p:sp>
        <p:nvSpPr>
          <p:cNvPr id="8" name="Rectangle 7">
            <a:extLst>
              <a:ext uri="{FF2B5EF4-FFF2-40B4-BE49-F238E27FC236}">
                <a16:creationId xmlns:a16="http://schemas.microsoft.com/office/drawing/2014/main" id="{A930E04F-9995-417C-ADF2-DC98835E14C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AA601B2C-6CC7-48C9-9477-2A287AD423A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46 / 48</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290131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2E2311C5-4C85-43A5-B7DB-9E92E389801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4222270F-C7DD-4BB6-B1CB-8428BAC296B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Correction et limites</a:t>
            </a:r>
          </a:p>
        </p:txBody>
      </p:sp>
      <p:sp>
        <p:nvSpPr>
          <p:cNvPr id="4" name="Rectangle 3">
            <a:extLst>
              <a:ext uri="{FF2B5EF4-FFF2-40B4-BE49-F238E27FC236}">
                <a16:creationId xmlns:a16="http://schemas.microsoft.com/office/drawing/2014/main" id="{750DE249-3F5C-47A3-9E56-F95BC430CF57}"/>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a:solidFill>
                  <a:srgbClr val="F6F3ED"/>
                </a:solidFill>
                <a:latin typeface="Aptos"/>
                <a:ea typeface="Aptos"/>
                <a:cs typeface="Aptos"/>
              </a:rPr>
              <a:t>Le groupe client borne l’historique avant son tri. INCLUDE fournit des valeurs, tandis que la visibilité peut encore imposer des visites à la table. Un index partiel ajoute un accès sur un sous-ensemble, une partition sépare le stockage des lignes.</a:t>
            </a:r>
          </a:p>
        </p:txBody>
      </p:sp>
      <p:sp>
        <p:nvSpPr>
          <p:cNvPr id="5" name="Rectangle 4">
            <a:extLst>
              <a:ext uri="{FF2B5EF4-FFF2-40B4-BE49-F238E27FC236}">
                <a16:creationId xmlns:a16="http://schemas.microsoft.com/office/drawing/2014/main" id="{B713B333-CBE6-47BC-B7FD-D9D83032EDCF}"/>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Les opérateurs conditionnent GIN. Les écritures maintiennent les index. Un index peut protéger une contrainte ou servir à un usage rare. Ces réponses rendent la décision de schéma vérifiable et maintenable.</a:t>
            </a:r>
          </a:p>
        </p:txBody>
      </p:sp>
      <p:sp>
        <p:nvSpPr>
          <p:cNvPr id="6" name="Rectangle 5">
            <a:extLst>
              <a:ext uri="{FF2B5EF4-FFF2-40B4-BE49-F238E27FC236}">
                <a16:creationId xmlns:a16="http://schemas.microsoft.com/office/drawing/2014/main" id="{2AC17E3A-ACDB-4FA9-AE1D-6786E159ADB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8101BD35-291A-42F3-911A-EE2C87E5616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Les mesures du laboratoire doivent accompagner ces explications.</a:t>
            </a:r>
          </a:p>
        </p:txBody>
      </p:sp>
      <p:sp>
        <p:nvSpPr>
          <p:cNvPr id="8" name="Rectangle 7">
            <a:extLst>
              <a:ext uri="{FF2B5EF4-FFF2-40B4-BE49-F238E27FC236}">
                <a16:creationId xmlns:a16="http://schemas.microsoft.com/office/drawing/2014/main" id="{7064AF88-EFDE-4447-A348-FE89C9B765D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748648EA-62EA-471A-95E5-A2AB0417482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47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992001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9D5C8AB-2973-44A0-84AB-2C4E35506821}"/>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2   /   OPTIMISATION BDD</a:t>
            </a:r>
          </a:p>
        </p:txBody>
      </p:sp>
      <p:sp>
        <p:nvSpPr>
          <p:cNvPr id="3" name="Rectangle 2">
            <a:extLst>
              <a:ext uri="{FF2B5EF4-FFF2-40B4-BE49-F238E27FC236}">
                <a16:creationId xmlns:a16="http://schemas.microsoft.com/office/drawing/2014/main" id="{A9EF53A0-FB49-4C3C-ABD4-C55B8DAD2D9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Preuve B4C8 à conserver</a:t>
            </a:r>
          </a:p>
        </p:txBody>
      </p:sp>
      <p:sp>
        <p:nvSpPr>
          <p:cNvPr id="4" name="Rectangle 3">
            <a:extLst>
              <a:ext uri="{FF2B5EF4-FFF2-40B4-BE49-F238E27FC236}">
                <a16:creationId xmlns:a16="http://schemas.microsoft.com/office/drawing/2014/main" id="{D1DDD267-F500-48B8-AA13-E7B39D6F34B1}"/>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a:solidFill>
                  <a:srgbClr val="F6F3ED"/>
                </a:solidFill>
                <a:latin typeface="Aptos"/>
                <a:ea typeface="Aptos"/>
                <a:cs typeface="Aptos"/>
              </a:rPr>
              <a:t>Ateliers 3 et 4 : besoin applicatif, SQL initial, DDL d’indexation et plans avant/après. Conservez l’équivalence des résultats, les mesures de lecture et un coût d’écriture.</a:t>
            </a:r>
          </a:p>
        </p:txBody>
      </p:sp>
      <p:sp>
        <p:nvSpPr>
          <p:cNvPr id="5" name="Rectangle 4">
            <a:extLst>
              <a:ext uri="{FF2B5EF4-FFF2-40B4-BE49-F238E27FC236}">
                <a16:creationId xmlns:a16="http://schemas.microsoft.com/office/drawing/2014/main" id="{770E480C-F193-4E07-8AC3-22CAE7B700B5}"/>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Atelier 4 bis : DDL de migration, remplissage par lots, états de contrainte et contrôles. Joignez la chronologie du test de verrou et le retour arrière vérifié.</a:t>
            </a:r>
          </a:p>
        </p:txBody>
      </p:sp>
      <p:sp>
        <p:nvSpPr>
          <p:cNvPr id="6" name="Rectangle 5">
            <a:extLst>
              <a:ext uri="{FF2B5EF4-FFF2-40B4-BE49-F238E27FC236}">
                <a16:creationId xmlns:a16="http://schemas.microsoft.com/office/drawing/2014/main" id="{4DBDA1C0-E716-4868-BD9A-973BAA31638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161DAB92-9405-46D3-AE53-7BDE298A08C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La justification relie les choix d’index et la procédure de migration à leurs preuves. Sources : PostgreSQL 18.</a:t>
            </a:r>
          </a:p>
        </p:txBody>
      </p:sp>
      <p:sp>
        <p:nvSpPr>
          <p:cNvPr id="8" name="Rectangle 7">
            <a:extLst>
              <a:ext uri="{FF2B5EF4-FFF2-40B4-BE49-F238E27FC236}">
                <a16:creationId xmlns:a16="http://schemas.microsoft.com/office/drawing/2014/main" id="{6634ACD4-6EB2-45F3-96D5-1D18B8EF326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ACD0EE23-EFB9-48D3-AA8D-B11FC34ABDC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48 / 48</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2373498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E0088B-CE81-4574-AFBF-EEDE0B55677E}">
  <we:reference id="wa200010215" version="2.0.0.1" store="en-US" storeType="OMEX"/>
  <we:alternateReferences>
    <we:reference id="wa200010215" version="2.0.0.1" store="" storeType="OMEX"/>
  </we:alternateReferences>
  <we:properties>
    <we:property name="bps.codex_control.document_id" value="&quot;d5904ec4-bfac-4043-bf36-e269a45417c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TotalTime>
  <Words>14207</Words>
  <Application>Microsoft Office PowerPoint</Application>
  <DocSecurity>0</DocSecurity>
  <PresentationFormat>Personnalisé</PresentationFormat>
  <Paragraphs>1095</Paragraphs>
  <Slides>48</Slides>
  <Notes>48</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48</vt:i4>
      </vt:variant>
    </vt:vector>
  </HeadingPairs>
  <TitlesOfParts>
    <vt:vector size="54" baseType="lpstr">
      <vt:lpstr>Aptos</vt:lpstr>
      <vt:lpstr>Arial</vt:lpstr>
      <vt:lpstr>Calibri</vt:lpstr>
      <vt:lpstr>Consolas</vt:lpstr>
      <vt:lpstr>ChatGPT</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bruno dernier</cp:lastModifiedBy>
  <cp:revision>12</cp:revision>
  <dcterms:created xsi:type="dcterms:W3CDTF">2026-10-01T16:04:55Z</dcterms:created>
  <dcterms:modified xsi:type="dcterms:W3CDTF">2026-10-05T20:59:13Z</dcterms:modified>
</cp:coreProperties>
</file>